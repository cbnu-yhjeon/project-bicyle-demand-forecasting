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8" r:id="rId3"/>
    <p:sldId id="257" r:id="rId4"/>
    <p:sldId id="259" r:id="rId5"/>
    <p:sldId id="277" r:id="rId6"/>
    <p:sldId id="260" r:id="rId7"/>
    <p:sldId id="274" r:id="rId8"/>
    <p:sldId id="263" r:id="rId9"/>
    <p:sldId id="279" r:id="rId10"/>
    <p:sldId id="281" r:id="rId11"/>
    <p:sldId id="282" r:id="rId12"/>
    <p:sldId id="273" r:id="rId13"/>
    <p:sldId id="276" r:id="rId14"/>
    <p:sldId id="264" r:id="rId15"/>
    <p:sldId id="287" r:id="rId16"/>
    <p:sldId id="288" r:id="rId17"/>
    <p:sldId id="297" r:id="rId18"/>
    <p:sldId id="289" r:id="rId19"/>
    <p:sldId id="293" r:id="rId20"/>
    <p:sldId id="294" r:id="rId21"/>
    <p:sldId id="296" r:id="rId22"/>
    <p:sldId id="299" r:id="rId23"/>
    <p:sldId id="301" r:id="rId24"/>
    <p:sldId id="302" r:id="rId25"/>
    <p:sldId id="266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61091" autoAdjust="0"/>
  </p:normalViewPr>
  <p:slideViewPr>
    <p:cSldViewPr snapToGrid="0" snapToObjects="1">
      <p:cViewPr>
        <p:scale>
          <a:sx n="66" d="100"/>
          <a:sy n="66" d="100"/>
        </p:scale>
        <p:origin x="2274" y="48"/>
      </p:cViewPr>
      <p:guideLst/>
    </p:cSldViewPr>
  </p:slideViewPr>
  <p:outlineViewPr>
    <p:cViewPr>
      <p:scale>
        <a:sx n="33" d="100"/>
        <a:sy n="33" d="100"/>
      </p:scale>
      <p:origin x="0" y="-38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719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안녕하세요</a:t>
            </a:r>
            <a:r>
              <a:rPr lang="en-US" altLang="ko-KR" dirty="0"/>
              <a:t>. Open Mind </a:t>
            </a:r>
            <a:r>
              <a:rPr lang="ko-KR" altLang="en-US" dirty="0"/>
              <a:t>팀의 발표자 </a:t>
            </a:r>
            <a:r>
              <a:rPr lang="ko-KR" altLang="en-US" dirty="0" err="1"/>
              <a:t>전양호</a:t>
            </a:r>
            <a:r>
              <a:rPr lang="ko-KR" altLang="en-US" dirty="0"/>
              <a:t> 입니다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자전거 대여 수요 예측 분석 프로젝트의 </a:t>
            </a:r>
            <a:r>
              <a:rPr lang="ko-KR" altLang="en-US" dirty="0"/>
              <a:t> 발표를 시작하겠습니다</a:t>
            </a:r>
            <a:r>
              <a:rPr lang="en-US" altLang="ko-KR" dirty="0"/>
              <a:t>.</a:t>
            </a:r>
            <a:br>
              <a:rPr lang="en-US" altLang="ko-KR" dirty="0"/>
            </a:br>
            <a:endParaRPr lang="en-US" altLang="ko-KR" dirty="0"/>
          </a:p>
          <a:p>
            <a:r>
              <a:rPr lang="ko-KR" altLang="en-US" dirty="0"/>
              <a:t>저희는 **</a:t>
            </a:r>
            <a:r>
              <a:rPr lang="en-US" altLang="ko-KR" dirty="0"/>
              <a:t>UCI Bike Sharing Dataset(</a:t>
            </a:r>
            <a:r>
              <a:rPr lang="ko-KR" altLang="en-US" dirty="0"/>
              <a:t>워싱턴 </a:t>
            </a:r>
            <a:r>
              <a:rPr lang="en-US" altLang="ko-KR" dirty="0"/>
              <a:t>D.C.)**</a:t>
            </a:r>
            <a:r>
              <a:rPr lang="ko-KR" altLang="en-US" dirty="0"/>
              <a:t>과 </a:t>
            </a:r>
            <a:r>
              <a:rPr lang="ko-KR" altLang="en-US" b="1" dirty="0"/>
              <a:t>서울시 </a:t>
            </a:r>
            <a:r>
              <a:rPr lang="ko-KR" altLang="en-US" b="1" dirty="0" err="1"/>
              <a:t>따릉이</a:t>
            </a:r>
            <a:r>
              <a:rPr lang="ko-KR" altLang="en-US" b="1" dirty="0"/>
              <a:t> 데이터</a:t>
            </a:r>
            <a:r>
              <a:rPr lang="ko-KR" altLang="en-US" dirty="0"/>
              <a:t>를 활용해서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자전거 대여 수요를 예측하는 </a:t>
            </a:r>
            <a:r>
              <a:rPr lang="ko-KR" altLang="en-US" b="1" dirty="0" err="1"/>
              <a:t>머신러닝</a:t>
            </a:r>
            <a:r>
              <a:rPr lang="ko-KR" altLang="en-US" b="1" dirty="0"/>
              <a:t> 모델을 개발</a:t>
            </a:r>
            <a:r>
              <a:rPr lang="ko-KR" altLang="en-US" dirty="0"/>
              <a:t>하고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단순 예측 정확도뿐 아니라 </a:t>
            </a:r>
            <a:r>
              <a:rPr lang="ko-KR" altLang="en-US" b="1" dirty="0"/>
              <a:t>시간</a:t>
            </a:r>
            <a:r>
              <a:rPr lang="en-US" altLang="ko-KR" b="1" dirty="0"/>
              <a:t>·</a:t>
            </a:r>
            <a:r>
              <a:rPr lang="ko-KR" altLang="en-US" b="1" dirty="0"/>
              <a:t>날씨</a:t>
            </a:r>
            <a:r>
              <a:rPr lang="en-US" altLang="ko-KR" b="1" dirty="0"/>
              <a:t>·</a:t>
            </a:r>
            <a:r>
              <a:rPr lang="ko-KR" altLang="en-US" b="1" dirty="0"/>
              <a:t>공간</a:t>
            </a:r>
            <a:r>
              <a:rPr lang="en-US" altLang="ko-KR" b="1" dirty="0"/>
              <a:t>(POI)</a:t>
            </a:r>
            <a:r>
              <a:rPr lang="ko-KR" altLang="en-US" dirty="0"/>
              <a:t> 요인이 수요에 어떤 방식으로 </a:t>
            </a:r>
            <a:r>
              <a:rPr lang="ko-KR" altLang="en-US" dirty="0" err="1"/>
              <a:t>작동하는지까지</a:t>
            </a:r>
            <a:r>
              <a:rPr lang="ko-KR" altLang="en-US" dirty="0"/>
              <a:t> 해석했습니다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오늘 발표는 “모델이 </a:t>
            </a:r>
            <a:r>
              <a:rPr lang="ko-KR" altLang="en-US" dirty="0" err="1"/>
              <a:t>무엇이냐”보다</a:t>
            </a:r>
            <a:r>
              <a:rPr lang="en-US" altLang="ko-KR" dirty="0"/>
              <a:t>, </a:t>
            </a:r>
            <a:r>
              <a:rPr lang="ko-KR" altLang="en-US" b="1" dirty="0"/>
              <a:t>도시별 수요 구조가 어떻게 다르고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그 차이를 </a:t>
            </a:r>
            <a:r>
              <a:rPr lang="ko-KR" altLang="en-US" b="1" dirty="0"/>
              <a:t>운영 관점에서 어떻게 활용할 수 있는지</a:t>
            </a:r>
            <a:r>
              <a:rPr lang="ko-KR" altLang="en-US" dirty="0"/>
              <a:t>를 중심으로 정리해드리겠습니다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b="1" dirty="0"/>
              <a:t>----------</a:t>
            </a:r>
          </a:p>
          <a:p>
            <a:r>
              <a:rPr lang="ko-KR" altLang="en-US" b="1" dirty="0"/>
              <a:t>전환 멘트</a:t>
            </a:r>
            <a:endParaRPr lang="ko-KR" altLang="en-US" dirty="0"/>
          </a:p>
          <a:p>
            <a:r>
              <a:rPr lang="ko-KR" altLang="en-US" dirty="0"/>
              <a:t>먼저 프로젝트를 수행한 팀 소개부터 간단히 말씀드리겠습니다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Open Mind </a:t>
            </a:r>
            <a:r>
              <a:rPr lang="ko-KR" altLang="en-US" dirty="0"/>
              <a:t>팀은 박사과정 </a:t>
            </a:r>
            <a:r>
              <a:rPr lang="en-US" altLang="ko-KR" dirty="0"/>
              <a:t>2</a:t>
            </a:r>
            <a:r>
              <a:rPr lang="ko-KR" altLang="en-US" dirty="0"/>
              <a:t>명</a:t>
            </a:r>
            <a:r>
              <a:rPr lang="en-US" altLang="ko-KR" dirty="0"/>
              <a:t>, </a:t>
            </a:r>
            <a:r>
              <a:rPr lang="ko-KR" altLang="en-US" dirty="0"/>
              <a:t>석사과정 </a:t>
            </a:r>
            <a:r>
              <a:rPr lang="en-US" altLang="ko-KR" dirty="0"/>
              <a:t>2</a:t>
            </a:r>
            <a:r>
              <a:rPr lang="ko-KR" altLang="en-US" dirty="0"/>
              <a:t>명으로 구성되어 있고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각 팀원이 산업 현장에서 맡고 있는 역할이 달라서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이번 프로젝트도 “분석</a:t>
            </a:r>
            <a:r>
              <a:rPr lang="en-US" altLang="ko-KR" dirty="0"/>
              <a:t>/</a:t>
            </a:r>
            <a:r>
              <a:rPr lang="ko-KR" altLang="en-US" dirty="0"/>
              <a:t>모델링</a:t>
            </a:r>
            <a:r>
              <a:rPr lang="en-US" altLang="ko-KR" dirty="0"/>
              <a:t>/</a:t>
            </a:r>
            <a:r>
              <a:rPr lang="ko-KR" altLang="en-US" dirty="0"/>
              <a:t>문서화</a:t>
            </a:r>
            <a:r>
              <a:rPr lang="en-US" altLang="ko-KR" dirty="0"/>
              <a:t>/</a:t>
            </a:r>
            <a:r>
              <a:rPr lang="ko-KR" altLang="en-US" dirty="0" err="1"/>
              <a:t>협업”을</a:t>
            </a:r>
            <a:r>
              <a:rPr lang="ko-KR" altLang="en-US" dirty="0"/>
              <a:t> 역할 기반으로 분담해 진행했습니다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특히 이번 프로젝트는 결과만 보여주는 게 아니라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b="1" dirty="0"/>
              <a:t>데이터 명세</a:t>
            </a:r>
            <a:r>
              <a:rPr lang="en-US" altLang="ko-KR" b="1" dirty="0"/>
              <a:t>, </a:t>
            </a:r>
            <a:r>
              <a:rPr lang="ko-KR" altLang="en-US" b="1" dirty="0" err="1"/>
              <a:t>전처리</a:t>
            </a:r>
            <a:r>
              <a:rPr lang="ko-KR" altLang="en-US" b="1" dirty="0"/>
              <a:t> 명세</a:t>
            </a:r>
            <a:r>
              <a:rPr lang="en-US" altLang="ko-KR" b="1" dirty="0"/>
              <a:t>, </a:t>
            </a:r>
            <a:r>
              <a:rPr lang="ko-KR" altLang="en-US" b="1" dirty="0"/>
              <a:t>검증 전략</a:t>
            </a:r>
            <a:r>
              <a:rPr lang="en-US" altLang="ko-KR" b="1" dirty="0"/>
              <a:t>, </a:t>
            </a:r>
            <a:r>
              <a:rPr lang="ko-KR" altLang="en-US" b="1" dirty="0"/>
              <a:t>해석 결과</a:t>
            </a:r>
            <a:r>
              <a:rPr lang="ko-KR" altLang="en-US" dirty="0"/>
              <a:t>까지 산출물을 체계적으로 남겨</a:t>
            </a:r>
            <a:br>
              <a:rPr lang="ko-KR" altLang="en-US" dirty="0"/>
            </a:br>
            <a:r>
              <a:rPr lang="ko-KR" altLang="en-US" b="1" dirty="0"/>
              <a:t>재현 가능한 분석</a:t>
            </a:r>
            <a:r>
              <a:rPr lang="ko-KR" altLang="en-US" dirty="0"/>
              <a:t>으로 만드는 것을 중요한 목표로 두었습니다</a:t>
            </a:r>
            <a:r>
              <a:rPr lang="en-US" altLang="ko-KR" dirty="0"/>
              <a:t>.</a:t>
            </a:r>
          </a:p>
          <a:p>
            <a:endParaRPr lang="en-US" altLang="ko-KR" b="1" dirty="0"/>
          </a:p>
          <a:p>
            <a:r>
              <a:rPr lang="ko-KR" altLang="en-US" b="1" dirty="0"/>
              <a:t>전환 멘트</a:t>
            </a:r>
            <a:endParaRPr lang="ko-KR" altLang="en-US" dirty="0"/>
          </a:p>
          <a:p>
            <a:r>
              <a:rPr lang="ko-KR" altLang="en-US" dirty="0"/>
              <a:t>이제 이 프로젝트를 왜 했고</a:t>
            </a:r>
            <a:r>
              <a:rPr lang="en-US" altLang="ko-KR" dirty="0"/>
              <a:t>, </a:t>
            </a:r>
            <a:r>
              <a:rPr lang="ko-KR" altLang="en-US" dirty="0"/>
              <a:t>무엇을 달성하려 했는지 개요로 넘어가겠습니다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/>
              <a:t>발표 대본</a:t>
            </a:r>
            <a:endParaRPr lang="ko-KR" altLang="en-US" dirty="0"/>
          </a:p>
          <a:p>
            <a:r>
              <a:rPr lang="ko-KR" altLang="en-US" dirty="0"/>
              <a:t>프로젝트 목적은 한 문장으로 정리하면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b="1" dirty="0"/>
              <a:t>자전거 공유 시스템의 운영 효율을 높이기 위해 수요 예측 모델을 개발</a:t>
            </a:r>
            <a:r>
              <a:rPr lang="ko-KR" altLang="en-US" dirty="0"/>
              <a:t>하는 것입니다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여기서 “운영 </a:t>
            </a:r>
            <a:r>
              <a:rPr lang="ko-KR" altLang="en-US" dirty="0" err="1"/>
              <a:t>효율”이라는</a:t>
            </a:r>
            <a:r>
              <a:rPr lang="ko-KR" altLang="en-US" dirty="0"/>
              <a:t> 건 단순히 맞추는 게 아니라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실제 현장에서는 </a:t>
            </a:r>
            <a:r>
              <a:rPr lang="ko-KR" altLang="en-US" b="1" dirty="0"/>
              <a:t>재배치</a:t>
            </a:r>
            <a:r>
              <a:rPr lang="en-US" altLang="ko-KR" b="1" dirty="0"/>
              <a:t>, </a:t>
            </a:r>
            <a:r>
              <a:rPr lang="ko-KR" altLang="en-US" b="1" dirty="0"/>
              <a:t>공급</a:t>
            </a:r>
            <a:r>
              <a:rPr lang="en-US" altLang="ko-KR" b="1" dirty="0"/>
              <a:t>(</a:t>
            </a:r>
            <a:r>
              <a:rPr lang="ko-KR" altLang="en-US" b="1" dirty="0"/>
              <a:t>보유대수</a:t>
            </a:r>
            <a:r>
              <a:rPr lang="en-US" altLang="ko-KR" b="1" dirty="0"/>
              <a:t>), </a:t>
            </a:r>
            <a:r>
              <a:rPr lang="ko-KR" altLang="en-US" b="1" dirty="0"/>
              <a:t>운영 인력 배치</a:t>
            </a:r>
            <a:r>
              <a:rPr lang="ko-KR" altLang="en-US" dirty="0"/>
              <a:t> 같은 의사결정이 필요하기 때문에</a:t>
            </a:r>
            <a:br>
              <a:rPr lang="ko-KR" altLang="en-US" dirty="0"/>
            </a:br>
            <a:r>
              <a:rPr lang="ko-KR" altLang="en-US" dirty="0"/>
              <a:t>최소한 “언제</a:t>
            </a:r>
            <a:r>
              <a:rPr lang="en-US" altLang="ko-KR" dirty="0"/>
              <a:t>, </a:t>
            </a:r>
            <a:r>
              <a:rPr lang="ko-KR" altLang="en-US" dirty="0"/>
              <a:t>어디가</a:t>
            </a:r>
            <a:r>
              <a:rPr lang="en-US" altLang="ko-KR" dirty="0"/>
              <a:t>, </a:t>
            </a:r>
            <a:r>
              <a:rPr lang="ko-KR" altLang="en-US" dirty="0"/>
              <a:t>얼마나 수요가 높을 가능성이 </a:t>
            </a:r>
            <a:r>
              <a:rPr lang="ko-KR" altLang="en-US" dirty="0" err="1"/>
              <a:t>큰지”에</a:t>
            </a:r>
            <a:r>
              <a:rPr lang="ko-KR" altLang="en-US" dirty="0"/>
              <a:t> 대한 기준선을 제공해야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이를 위해 저희는</a:t>
            </a:r>
          </a:p>
          <a:p>
            <a:r>
              <a:rPr lang="ko-KR" altLang="en-US" dirty="0"/>
              <a:t>날씨</a:t>
            </a:r>
            <a:r>
              <a:rPr lang="en-US" altLang="ko-KR" dirty="0"/>
              <a:t>, </a:t>
            </a:r>
            <a:r>
              <a:rPr lang="ko-KR" altLang="en-US" dirty="0"/>
              <a:t>시간</a:t>
            </a:r>
            <a:r>
              <a:rPr lang="en-US" altLang="ko-KR" dirty="0"/>
              <a:t>, </a:t>
            </a:r>
            <a:r>
              <a:rPr lang="ko-KR" altLang="en-US" dirty="0"/>
              <a:t>요일</a:t>
            </a:r>
            <a:r>
              <a:rPr lang="en-US" altLang="ko-KR" dirty="0"/>
              <a:t>, </a:t>
            </a:r>
            <a:r>
              <a:rPr lang="ko-KR" altLang="en-US" dirty="0"/>
              <a:t>계절 같은 환경 요인의 영향 분석</a:t>
            </a:r>
          </a:p>
          <a:p>
            <a:r>
              <a:rPr lang="en-US" altLang="ko-KR" dirty="0"/>
              <a:t>WDC</a:t>
            </a:r>
            <a:r>
              <a:rPr lang="ko-KR" altLang="en-US" dirty="0"/>
              <a:t>와 서울이라는 서로 다른 도시 데이터를 동시에 분석</a:t>
            </a:r>
          </a:p>
          <a:p>
            <a:r>
              <a:rPr lang="ko-KR" altLang="en-US" dirty="0" err="1"/>
              <a:t>머신러닝</a:t>
            </a:r>
            <a:r>
              <a:rPr lang="ko-KR" altLang="en-US" dirty="0"/>
              <a:t> 모델 </a:t>
            </a:r>
            <a:r>
              <a:rPr lang="en-US" altLang="ko-KR" dirty="0"/>
              <a:t>+ SHAP </a:t>
            </a:r>
            <a:r>
              <a:rPr lang="ko-KR" altLang="en-US" dirty="0"/>
              <a:t>해석을 통해 </a:t>
            </a:r>
            <a:r>
              <a:rPr lang="ko-KR" altLang="en-US" b="1" dirty="0"/>
              <a:t>구조를 설명</a:t>
            </a:r>
            <a:endParaRPr lang="en-US" altLang="ko-KR" b="1" dirty="0"/>
          </a:p>
          <a:p>
            <a:r>
              <a:rPr lang="ko-KR" altLang="en-US" dirty="0"/>
              <a:t>운영 개선 방안 제시</a:t>
            </a:r>
            <a:br>
              <a:rPr lang="ko-KR" altLang="en-US" dirty="0"/>
            </a:br>
            <a:r>
              <a:rPr lang="ko-KR" altLang="en-US" dirty="0"/>
              <a:t>이 네 가지를 목표로 잡았습니다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그리고 워싱턴은 </a:t>
            </a:r>
            <a:r>
              <a:rPr lang="en-US" altLang="ko-KR" dirty="0"/>
              <a:t>UCI </a:t>
            </a:r>
            <a:r>
              <a:rPr lang="ko-KR" altLang="en-US" dirty="0"/>
              <a:t>데이터에 더해 </a:t>
            </a:r>
            <a:r>
              <a:rPr lang="en-US" altLang="ko-KR" dirty="0"/>
              <a:t>Open-</a:t>
            </a:r>
            <a:r>
              <a:rPr lang="en-US" altLang="ko-KR" dirty="0" err="1"/>
              <a:t>Meteo</a:t>
            </a:r>
            <a:r>
              <a:rPr lang="en-US" altLang="ko-KR" dirty="0"/>
              <a:t> </a:t>
            </a:r>
            <a:r>
              <a:rPr lang="ko-KR" altLang="en-US" dirty="0"/>
              <a:t>기상 데이터를 결합했고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서울은 </a:t>
            </a:r>
            <a:r>
              <a:rPr lang="ko-KR" altLang="en-US" dirty="0" err="1"/>
              <a:t>따릉이</a:t>
            </a:r>
            <a:r>
              <a:rPr lang="ko-KR" altLang="en-US" dirty="0"/>
              <a:t> 대여 이력 </a:t>
            </a:r>
            <a:r>
              <a:rPr lang="en-US" altLang="ko-KR" dirty="0"/>
              <a:t>+ ASOS </a:t>
            </a:r>
            <a:r>
              <a:rPr lang="ko-KR" altLang="en-US" dirty="0"/>
              <a:t>관측 데이터를 결합했습니다</a:t>
            </a:r>
            <a:r>
              <a:rPr lang="en-US" altLang="ko-KR" dirty="0"/>
              <a:t>.</a:t>
            </a:r>
          </a:p>
          <a:p>
            <a:endParaRPr lang="en-US" altLang="ko-KR" b="1" dirty="0"/>
          </a:p>
          <a:p>
            <a:r>
              <a:rPr lang="ko-KR" altLang="en-US" b="1" dirty="0"/>
              <a:t>강조 포인트</a:t>
            </a:r>
            <a:r>
              <a:rPr lang="en-US" altLang="ko-KR" b="1" dirty="0"/>
              <a:t>(</a:t>
            </a:r>
            <a:r>
              <a:rPr lang="ko-KR" altLang="en-US" b="1" dirty="0"/>
              <a:t>말로 콕 찍기</a:t>
            </a:r>
            <a:r>
              <a:rPr lang="en-US" altLang="ko-KR" b="1" dirty="0"/>
              <a:t>)</a:t>
            </a:r>
            <a:endParaRPr lang="ko-KR" altLang="en-US" dirty="0"/>
          </a:p>
          <a:p>
            <a:r>
              <a:rPr lang="ko-KR" altLang="en-US" dirty="0"/>
              <a:t>오늘 결론은 “어떤 모델이 </a:t>
            </a:r>
            <a:r>
              <a:rPr lang="en-US" altLang="ko-KR" dirty="0"/>
              <a:t>1</a:t>
            </a:r>
            <a:r>
              <a:rPr lang="ko-KR" altLang="en-US" dirty="0" err="1"/>
              <a:t>등이냐”도</a:t>
            </a:r>
            <a:r>
              <a:rPr lang="ko-KR" altLang="en-US" dirty="0"/>
              <a:t> 있지만</a:t>
            </a:r>
            <a:r>
              <a:rPr lang="en-US" altLang="ko-KR" dirty="0"/>
              <a:t>, </a:t>
            </a:r>
            <a:r>
              <a:rPr lang="ko-KR" altLang="en-US" dirty="0"/>
              <a:t>더 중요한 건</a:t>
            </a:r>
            <a:br>
              <a:rPr lang="ko-KR" altLang="en-US" dirty="0"/>
            </a:br>
            <a:r>
              <a:rPr lang="ko-KR" altLang="en-US" b="1" dirty="0"/>
              <a:t>도시마다 수요를 만드는 조건의 구조가 다르다</a:t>
            </a:r>
            <a:r>
              <a:rPr lang="ko-KR" altLang="en-US" dirty="0"/>
              <a:t>는 점입니다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b="1" dirty="0"/>
              <a:t>전환 멘트</a:t>
            </a:r>
            <a:endParaRPr lang="ko-KR" altLang="en-US" dirty="0"/>
          </a:p>
          <a:p>
            <a:r>
              <a:rPr lang="ko-KR" altLang="en-US" dirty="0"/>
              <a:t>다음은 한 달 동안 어떻게 일을 쪼개서 진행했는지 일정과 방식입니다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일정은 </a:t>
            </a:r>
            <a:r>
              <a:rPr lang="en-US" altLang="ko-KR" dirty="0"/>
              <a:t>4</a:t>
            </a:r>
            <a:r>
              <a:rPr lang="ko-KR" altLang="en-US" dirty="0"/>
              <a:t>주로 나눴습니다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1</a:t>
            </a:r>
            <a:r>
              <a:rPr lang="ko-KR" altLang="en-US" dirty="0"/>
              <a:t>주차는 데이터 수집</a:t>
            </a:r>
            <a:r>
              <a:rPr lang="en-US" altLang="ko-KR" dirty="0"/>
              <a:t>/</a:t>
            </a:r>
            <a:r>
              <a:rPr lang="ko-KR" altLang="en-US" dirty="0"/>
              <a:t>정리로</a:t>
            </a:r>
            <a:r>
              <a:rPr lang="en-US" altLang="ko-KR" dirty="0"/>
              <a:t>, </a:t>
            </a:r>
            <a:r>
              <a:rPr lang="ko-KR" altLang="en-US" dirty="0"/>
              <a:t>원천 데이터 병합과 결측</a:t>
            </a:r>
            <a:r>
              <a:rPr lang="en-US" altLang="ko-KR" dirty="0"/>
              <a:t>/</a:t>
            </a:r>
            <a:r>
              <a:rPr lang="ko-KR" altLang="en-US" dirty="0"/>
              <a:t>형식 통일을 했고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2</a:t>
            </a:r>
            <a:r>
              <a:rPr lang="ko-KR" altLang="en-US" dirty="0"/>
              <a:t>주차는 </a:t>
            </a:r>
            <a:r>
              <a:rPr lang="ko-KR" altLang="en-US" dirty="0" err="1"/>
              <a:t>전처리</a:t>
            </a:r>
            <a:r>
              <a:rPr lang="ko-KR" altLang="en-US" dirty="0"/>
              <a:t> 및 </a:t>
            </a:r>
            <a:r>
              <a:rPr lang="en-US" altLang="ko-KR" dirty="0"/>
              <a:t>EDA</a:t>
            </a:r>
            <a:r>
              <a:rPr lang="ko-KR" altLang="en-US" dirty="0"/>
              <a:t>를 팀 전체 동일 환경에서 공동으로 진행했습니다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3</a:t>
            </a:r>
            <a:r>
              <a:rPr lang="ko-KR" altLang="en-US" dirty="0"/>
              <a:t>주차는 모델을 개인별로 분담해서 </a:t>
            </a:r>
            <a:r>
              <a:rPr lang="en-US" altLang="ko-KR" dirty="0"/>
              <a:t>RF, </a:t>
            </a:r>
            <a:r>
              <a:rPr lang="en-US" altLang="ko-KR" dirty="0" err="1"/>
              <a:t>XGBoost</a:t>
            </a:r>
            <a:r>
              <a:rPr lang="en-US" altLang="ko-KR" dirty="0"/>
              <a:t>, </a:t>
            </a:r>
            <a:r>
              <a:rPr lang="en-US" altLang="ko-KR" dirty="0" err="1"/>
              <a:t>LightGBM</a:t>
            </a:r>
            <a:r>
              <a:rPr lang="ko-KR" altLang="en-US" dirty="0"/>
              <a:t>을 동일 </a:t>
            </a:r>
            <a:r>
              <a:rPr lang="en-US" altLang="ko-KR" dirty="0"/>
              <a:t>split </a:t>
            </a:r>
            <a:r>
              <a:rPr lang="ko-KR" altLang="en-US" dirty="0"/>
              <a:t>기준으로 학습했고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4</a:t>
            </a:r>
            <a:r>
              <a:rPr lang="ko-KR" altLang="en-US" dirty="0"/>
              <a:t>주차는 앙상블과 </a:t>
            </a:r>
            <a:r>
              <a:rPr lang="en-US" altLang="ko-KR" dirty="0"/>
              <a:t>SHAP </a:t>
            </a:r>
            <a:r>
              <a:rPr lang="ko-KR" altLang="en-US" dirty="0"/>
              <a:t>해석</a:t>
            </a:r>
            <a:r>
              <a:rPr lang="en-US" altLang="ko-KR" dirty="0"/>
              <a:t>, </a:t>
            </a:r>
            <a:r>
              <a:rPr lang="ko-KR" altLang="en-US" dirty="0"/>
              <a:t>보고서 정리를 통해 최종 결과물을 완성했습니다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협업은 </a:t>
            </a:r>
            <a:r>
              <a:rPr lang="en-US" altLang="ko-KR" dirty="0"/>
              <a:t>GitHub</a:t>
            </a:r>
            <a:r>
              <a:rPr lang="ko-KR" altLang="en-US" dirty="0"/>
              <a:t>로 코드 버전관리</a:t>
            </a:r>
            <a:r>
              <a:rPr lang="en-US" altLang="ko-KR" dirty="0"/>
              <a:t>, Drive</a:t>
            </a:r>
            <a:r>
              <a:rPr lang="ko-KR" altLang="en-US" dirty="0"/>
              <a:t>로 데이터 공유</a:t>
            </a:r>
            <a:r>
              <a:rPr lang="en-US" altLang="ko-KR" dirty="0"/>
              <a:t>, MS365</a:t>
            </a:r>
            <a:r>
              <a:rPr lang="ko-KR" altLang="en-US" dirty="0"/>
              <a:t>로 문서화를 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 구조가 중요한 이유는</a:t>
            </a:r>
            <a:r>
              <a:rPr lang="en-US" altLang="ko-KR" dirty="0"/>
              <a:t>, “</a:t>
            </a:r>
            <a:r>
              <a:rPr lang="ko-KR" altLang="en-US" dirty="0"/>
              <a:t>그때그때 </a:t>
            </a:r>
            <a:r>
              <a:rPr lang="ko-KR" altLang="en-US" dirty="0" err="1"/>
              <a:t>분석”이</a:t>
            </a:r>
            <a:r>
              <a:rPr lang="ko-KR" altLang="en-US" dirty="0"/>
              <a:t> 아니라 </a:t>
            </a:r>
            <a:r>
              <a:rPr lang="ko-KR" altLang="en-US" b="1" dirty="0"/>
              <a:t>반복 재현 가능한 프로젝트</a:t>
            </a:r>
            <a:r>
              <a:rPr lang="ko-KR" altLang="en-US" dirty="0"/>
              <a:t>로 남기기 위해서입니다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b="1" dirty="0"/>
              <a:t>전환 멘트</a:t>
            </a:r>
            <a:endParaRPr lang="ko-KR" altLang="en-US" dirty="0"/>
          </a:p>
          <a:p>
            <a:r>
              <a:rPr lang="ko-KR" altLang="en-US" dirty="0"/>
              <a:t>그래서 다음 슬라이드에서는 실제로 어떤 산출물을 남겼는지 보여드리겠습니다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CE456-4BB2-4A6C-D6EA-9FE317636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FD1CDF-2736-04AD-521E-4E29C90F7D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92A845-976C-75FF-32B9-ECAAF33C90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산출물은 크게 </a:t>
            </a:r>
            <a:r>
              <a:rPr lang="en-US" altLang="ko-KR" dirty="0"/>
              <a:t>4</a:t>
            </a:r>
            <a:r>
              <a:rPr lang="ko-KR" altLang="en-US" dirty="0"/>
              <a:t>단계로 정리했습니다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데이터 수집</a:t>
            </a:r>
            <a:r>
              <a:rPr lang="en-US" altLang="ko-KR" dirty="0"/>
              <a:t>/</a:t>
            </a:r>
            <a:r>
              <a:rPr lang="ko-KR" altLang="en-US" dirty="0"/>
              <a:t>정리 단계</a:t>
            </a:r>
            <a:r>
              <a:rPr lang="en-US" altLang="ko-KR" dirty="0"/>
              <a:t>: </a:t>
            </a:r>
            <a:r>
              <a:rPr lang="ko-KR" altLang="en-US" dirty="0"/>
              <a:t>원천 스키마</a:t>
            </a:r>
            <a:r>
              <a:rPr lang="en-US" altLang="ko-KR" dirty="0"/>
              <a:t>, </a:t>
            </a:r>
            <a:r>
              <a:rPr lang="ko-KR" altLang="en-US" dirty="0"/>
              <a:t>품질 검사 가이드</a:t>
            </a:r>
            <a:r>
              <a:rPr lang="en-US" altLang="ko-KR" dirty="0"/>
              <a:t>, </a:t>
            </a:r>
            <a:r>
              <a:rPr lang="ko-KR" altLang="en-US" dirty="0"/>
              <a:t>라이선스 문서</a:t>
            </a:r>
          </a:p>
          <a:p>
            <a:r>
              <a:rPr lang="ko-KR" altLang="en-US" dirty="0" err="1"/>
              <a:t>전처리</a:t>
            </a:r>
            <a:r>
              <a:rPr lang="en-US" altLang="ko-KR" dirty="0"/>
              <a:t>/EDA </a:t>
            </a:r>
            <a:r>
              <a:rPr lang="ko-KR" altLang="en-US" dirty="0"/>
              <a:t>단계</a:t>
            </a:r>
            <a:r>
              <a:rPr lang="en-US" altLang="ko-KR" dirty="0"/>
              <a:t>: EDA </a:t>
            </a:r>
            <a:r>
              <a:rPr lang="ko-KR" altLang="en-US" dirty="0"/>
              <a:t>보고서</a:t>
            </a:r>
            <a:r>
              <a:rPr lang="en-US" altLang="ko-KR" dirty="0"/>
              <a:t>, </a:t>
            </a:r>
            <a:r>
              <a:rPr lang="ko-KR" altLang="en-US" dirty="0"/>
              <a:t>인사이트 종합</a:t>
            </a:r>
            <a:r>
              <a:rPr lang="en-US" altLang="ko-KR" dirty="0"/>
              <a:t>, </a:t>
            </a:r>
            <a:r>
              <a:rPr lang="ko-KR" altLang="en-US" dirty="0"/>
              <a:t>최종 스키마 요약</a:t>
            </a:r>
          </a:p>
          <a:p>
            <a:r>
              <a:rPr lang="ko-KR" altLang="en-US" dirty="0"/>
              <a:t>개별 모델링 단계</a:t>
            </a:r>
            <a:r>
              <a:rPr lang="en-US" altLang="ko-KR" dirty="0"/>
              <a:t>: </a:t>
            </a:r>
            <a:r>
              <a:rPr lang="ko-KR" altLang="en-US" dirty="0" err="1"/>
              <a:t>전처리</a:t>
            </a:r>
            <a:r>
              <a:rPr lang="ko-KR" altLang="en-US" dirty="0"/>
              <a:t> 명세서</a:t>
            </a:r>
            <a:r>
              <a:rPr lang="en-US" altLang="ko-KR" dirty="0"/>
              <a:t>, </a:t>
            </a:r>
            <a:r>
              <a:rPr lang="ko-KR" altLang="en-US" dirty="0"/>
              <a:t>모델 파이프라인 정의</a:t>
            </a:r>
            <a:r>
              <a:rPr lang="en-US" altLang="ko-KR" dirty="0"/>
              <a:t>, </a:t>
            </a:r>
            <a:r>
              <a:rPr lang="ko-KR" altLang="en-US" dirty="0"/>
              <a:t>검증</a:t>
            </a:r>
            <a:r>
              <a:rPr lang="en-US" altLang="ko-KR" dirty="0"/>
              <a:t>/</a:t>
            </a:r>
            <a:r>
              <a:rPr lang="ko-KR" altLang="en-US" dirty="0"/>
              <a:t>평가 보고서</a:t>
            </a:r>
          </a:p>
          <a:p>
            <a:r>
              <a:rPr lang="ko-KR" altLang="en-US" dirty="0"/>
              <a:t>앙상블</a:t>
            </a:r>
            <a:r>
              <a:rPr lang="en-US" altLang="ko-KR" dirty="0"/>
              <a:t>/</a:t>
            </a:r>
            <a:r>
              <a:rPr lang="ko-KR" altLang="en-US" dirty="0"/>
              <a:t>결론 단계</a:t>
            </a:r>
            <a:r>
              <a:rPr lang="en-US" altLang="ko-KR" dirty="0"/>
              <a:t>: </a:t>
            </a:r>
            <a:r>
              <a:rPr lang="ko-KR" altLang="en-US" dirty="0"/>
              <a:t>앙상블 성능 비교</a:t>
            </a:r>
            <a:r>
              <a:rPr lang="en-US" altLang="ko-KR" dirty="0"/>
              <a:t>, SHAP </a:t>
            </a:r>
            <a:r>
              <a:rPr lang="ko-KR" altLang="en-US" dirty="0"/>
              <a:t>분석 결과</a:t>
            </a:r>
            <a:r>
              <a:rPr lang="en-US" altLang="ko-KR" dirty="0"/>
              <a:t>, </a:t>
            </a:r>
            <a:r>
              <a:rPr lang="ko-KR" altLang="en-US" dirty="0"/>
              <a:t>최종 결론 문서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“</a:t>
            </a:r>
            <a:r>
              <a:rPr lang="ko-KR" altLang="en-US" dirty="0"/>
              <a:t>모델만 돌린 </a:t>
            </a:r>
            <a:r>
              <a:rPr lang="ko-KR" altLang="en-US" dirty="0" err="1"/>
              <a:t>프로젝트”가</a:t>
            </a:r>
            <a:r>
              <a:rPr lang="ko-KR" altLang="en-US" dirty="0"/>
              <a:t> 아니라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b="1" dirty="0"/>
              <a:t>왜 그렇게 </a:t>
            </a:r>
            <a:r>
              <a:rPr lang="ko-KR" altLang="en-US" b="1" dirty="0" err="1"/>
              <a:t>했는지의</a:t>
            </a:r>
            <a:r>
              <a:rPr lang="ko-KR" altLang="en-US" b="1" dirty="0"/>
              <a:t> 근거</a:t>
            </a:r>
            <a:r>
              <a:rPr lang="ko-KR" altLang="en-US" dirty="0"/>
              <a:t>가 문서로 남아있는 형태로 마무리했습니다</a:t>
            </a:r>
            <a:r>
              <a:rPr lang="en-US" altLang="ko-KR" dirty="0"/>
              <a:t>.</a:t>
            </a:r>
            <a:br>
              <a:rPr lang="en-US" altLang="ko-KR" dirty="0"/>
            </a:br>
            <a:endParaRPr lang="en-US" altLang="ko-KR" dirty="0"/>
          </a:p>
          <a:p>
            <a:r>
              <a:rPr lang="ko-KR" altLang="en-US" b="1" dirty="0"/>
              <a:t>전환 멘트</a:t>
            </a:r>
            <a:endParaRPr lang="ko-KR" altLang="en-US" dirty="0"/>
          </a:p>
          <a:p>
            <a:r>
              <a:rPr lang="ko-KR" altLang="en-US" dirty="0"/>
              <a:t>이제부터는 데이터가 어떤 구조였는지</a:t>
            </a:r>
            <a:r>
              <a:rPr lang="en-US" altLang="ko-KR" dirty="0"/>
              <a:t>, WDC</a:t>
            </a:r>
            <a:r>
              <a:rPr lang="ko-KR" altLang="en-US" dirty="0"/>
              <a:t>부터 빠르게 소개하겠습니다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A8BA2-2921-B5B7-C23C-B86DCA3849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4502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/>
              <a:t>발표 대본</a:t>
            </a:r>
            <a:endParaRPr lang="ko-KR" altLang="en-US" dirty="0"/>
          </a:p>
          <a:p>
            <a:r>
              <a:rPr lang="ko-KR" altLang="en-US" dirty="0"/>
              <a:t>워싱턴 </a:t>
            </a:r>
            <a:r>
              <a:rPr lang="en-US" altLang="ko-KR" dirty="0"/>
              <a:t>D.C.</a:t>
            </a:r>
            <a:r>
              <a:rPr lang="ko-KR" altLang="en-US" dirty="0"/>
              <a:t>는 </a:t>
            </a:r>
            <a:r>
              <a:rPr lang="en-US" altLang="ko-KR" dirty="0"/>
              <a:t>UCI Bike Sharing Dataset</a:t>
            </a:r>
            <a:r>
              <a:rPr lang="ko-KR" altLang="en-US" dirty="0"/>
              <a:t>을 사용했습니다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시간 단위 </a:t>
            </a:r>
            <a:r>
              <a:rPr lang="ko-KR" altLang="en-US" dirty="0" err="1"/>
              <a:t>대여량</a:t>
            </a:r>
            <a:r>
              <a:rPr lang="en-US" altLang="ko-KR" dirty="0"/>
              <a:t>(hour.csv)</a:t>
            </a:r>
            <a:r>
              <a:rPr lang="ko-KR" altLang="en-US" dirty="0"/>
              <a:t>을 기반으로 하고</a:t>
            </a:r>
            <a:r>
              <a:rPr lang="en-US" altLang="ko-KR" dirty="0"/>
              <a:t>, </a:t>
            </a:r>
            <a:r>
              <a:rPr lang="ko-KR" altLang="en-US" dirty="0"/>
              <a:t>주요 변수는 계절</a:t>
            </a:r>
            <a:r>
              <a:rPr lang="en-US" altLang="ko-KR" dirty="0"/>
              <a:t>, </a:t>
            </a:r>
            <a:r>
              <a:rPr lang="ko-KR" altLang="en-US" dirty="0"/>
              <a:t>월</a:t>
            </a:r>
            <a:r>
              <a:rPr lang="en-US" altLang="ko-KR" dirty="0"/>
              <a:t>, </a:t>
            </a:r>
            <a:r>
              <a:rPr lang="ko-KR" altLang="en-US" dirty="0"/>
              <a:t>시간</a:t>
            </a:r>
            <a:r>
              <a:rPr lang="en-US" altLang="ko-KR" dirty="0"/>
              <a:t>, </a:t>
            </a:r>
            <a:r>
              <a:rPr lang="ko-KR" altLang="en-US" dirty="0"/>
              <a:t>요일</a:t>
            </a:r>
            <a:r>
              <a:rPr lang="en-US" altLang="ko-KR" dirty="0"/>
              <a:t>, </a:t>
            </a:r>
            <a:r>
              <a:rPr lang="ko-KR" altLang="en-US" dirty="0"/>
              <a:t>근무일</a:t>
            </a:r>
            <a:r>
              <a:rPr lang="en-US" altLang="ko-KR" dirty="0"/>
              <a:t>/</a:t>
            </a:r>
            <a:r>
              <a:rPr lang="ko-KR" altLang="en-US" dirty="0"/>
              <a:t>공휴일</a:t>
            </a:r>
            <a:r>
              <a:rPr lang="en-US" altLang="ko-KR" dirty="0"/>
              <a:t>, </a:t>
            </a:r>
            <a:r>
              <a:rPr lang="ko-KR" altLang="en-US" dirty="0"/>
              <a:t>날씨 상태</a:t>
            </a:r>
            <a:r>
              <a:rPr lang="en-US" altLang="ko-KR" dirty="0"/>
              <a:t>, </a:t>
            </a:r>
            <a:r>
              <a:rPr lang="ko-KR" altLang="en-US" dirty="0"/>
              <a:t>기온</a:t>
            </a:r>
            <a:r>
              <a:rPr lang="en-US" altLang="ko-KR" dirty="0"/>
              <a:t>, </a:t>
            </a:r>
            <a:r>
              <a:rPr lang="ko-KR" altLang="en-US" dirty="0"/>
              <a:t>습도</a:t>
            </a:r>
            <a:r>
              <a:rPr lang="en-US" altLang="ko-KR" dirty="0"/>
              <a:t>, </a:t>
            </a:r>
            <a:r>
              <a:rPr lang="ko-KR" altLang="en-US" dirty="0"/>
              <a:t>풍속 등입니다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여기서 포인트는</a:t>
            </a:r>
            <a:r>
              <a:rPr lang="en-US" altLang="ko-KR" dirty="0"/>
              <a:t>, </a:t>
            </a:r>
            <a:r>
              <a:rPr lang="ko-KR" altLang="en-US" dirty="0"/>
              <a:t>이 데이터는 “수요량이 그냥 쌓이는 </a:t>
            </a:r>
            <a:r>
              <a:rPr lang="ko-KR" altLang="en-US" dirty="0" err="1"/>
              <a:t>시계열”이</a:t>
            </a:r>
            <a:r>
              <a:rPr lang="ko-KR" altLang="en-US" dirty="0"/>
              <a:t> 아니라</a:t>
            </a:r>
            <a:br>
              <a:rPr lang="ko-KR" altLang="en-US" dirty="0"/>
            </a:br>
            <a:r>
              <a:rPr lang="ko-KR" altLang="en-US" dirty="0"/>
              <a:t>이미 변수 구성이 </a:t>
            </a:r>
            <a:r>
              <a:rPr lang="ko-KR" altLang="en-US" b="1" dirty="0"/>
              <a:t>시간</a:t>
            </a:r>
            <a:r>
              <a:rPr lang="en-US" altLang="ko-KR" b="1" dirty="0"/>
              <a:t>/</a:t>
            </a:r>
            <a:r>
              <a:rPr lang="ko-KR" altLang="en-US" b="1" dirty="0"/>
              <a:t>날씨 맥락을 설명하기 좋은 형태</a:t>
            </a:r>
            <a:r>
              <a:rPr lang="ko-KR" altLang="en-US" dirty="0"/>
              <a:t>로 되어 있다는 점입니다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그리고 저희는 실제 도시 환경을 더 반영하기 위해</a:t>
            </a:r>
            <a:br>
              <a:rPr lang="ko-KR" altLang="en-US" dirty="0"/>
            </a:br>
            <a:r>
              <a:rPr lang="en-US" altLang="ko-KR" dirty="0"/>
              <a:t>Open-</a:t>
            </a:r>
            <a:r>
              <a:rPr lang="en-US" altLang="ko-KR" dirty="0" err="1"/>
              <a:t>Meteo</a:t>
            </a:r>
            <a:r>
              <a:rPr lang="en-US" altLang="ko-KR" dirty="0"/>
              <a:t> API </a:t>
            </a:r>
            <a:r>
              <a:rPr lang="ko-KR" altLang="en-US" dirty="0"/>
              <a:t>기반의 기상 데이터를 추가로 활용했습니다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원본 </a:t>
            </a:r>
            <a:r>
              <a:rPr lang="en-US" altLang="ko-KR" dirty="0"/>
              <a:t>UCI </a:t>
            </a:r>
            <a:r>
              <a:rPr lang="ko-KR" altLang="en-US" dirty="0"/>
              <a:t>변수만 보는 게 아니라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“</a:t>
            </a:r>
            <a:r>
              <a:rPr lang="ko-KR" altLang="en-US" dirty="0"/>
              <a:t>실제 운영 환경에서 날씨 상태가 수요를 어떻게 </a:t>
            </a:r>
            <a:r>
              <a:rPr lang="ko-KR" altLang="en-US" dirty="0" err="1"/>
              <a:t>바꾸는지”를</a:t>
            </a:r>
            <a:r>
              <a:rPr lang="ko-KR" altLang="en-US" dirty="0"/>
              <a:t> 더 정교하게 보기 위한 확장이라고 보시면 됩니다</a:t>
            </a:r>
            <a:r>
              <a:rPr lang="en-US" altLang="ko-KR" dirty="0"/>
              <a:t>.</a:t>
            </a:r>
          </a:p>
          <a:p>
            <a:endParaRPr lang="en-US" altLang="ko-KR" b="1" dirty="0"/>
          </a:p>
          <a:p>
            <a:r>
              <a:rPr lang="ko-KR" altLang="en-US" b="1" dirty="0"/>
              <a:t>현장 멘트</a:t>
            </a:r>
            <a:r>
              <a:rPr lang="en-US" altLang="ko-KR" b="1" dirty="0"/>
              <a:t>(</a:t>
            </a:r>
            <a:r>
              <a:rPr lang="ko-KR" altLang="en-US" b="1" dirty="0"/>
              <a:t>청중 이해 보조</a:t>
            </a:r>
            <a:r>
              <a:rPr lang="en-US" altLang="ko-KR" b="1" dirty="0"/>
              <a:t>)</a:t>
            </a:r>
            <a:endParaRPr lang="ko-KR" altLang="en-US" dirty="0"/>
          </a:p>
          <a:p>
            <a:r>
              <a:rPr lang="ko-KR" altLang="en-US" dirty="0"/>
              <a:t>한마디로 </a:t>
            </a:r>
            <a:r>
              <a:rPr lang="en-US" altLang="ko-KR" dirty="0"/>
              <a:t>WDC </a:t>
            </a:r>
            <a:r>
              <a:rPr lang="ko-KR" altLang="en-US" dirty="0"/>
              <a:t>데이터는 </a:t>
            </a:r>
            <a:r>
              <a:rPr lang="ko-KR" altLang="en-US" b="1" dirty="0"/>
              <a:t>레저</a:t>
            </a:r>
            <a:r>
              <a:rPr lang="en-US" altLang="ko-KR" b="1" dirty="0"/>
              <a:t>/</a:t>
            </a:r>
            <a:r>
              <a:rPr lang="ko-KR" altLang="en-US" b="1" dirty="0"/>
              <a:t>관광 수요도 섞여 있는 도시형 수요</a:t>
            </a:r>
            <a:r>
              <a:rPr lang="ko-KR" altLang="en-US" dirty="0"/>
              <a:t>를 담고 있어서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시간뿐 아니라 날씨가 더 크게 작동할 가능성이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b="1" dirty="0"/>
              <a:t>전환 멘트</a:t>
            </a:r>
            <a:endParaRPr lang="ko-KR" altLang="en-US" dirty="0"/>
          </a:p>
          <a:p>
            <a:r>
              <a:rPr lang="ko-KR" altLang="en-US" dirty="0"/>
              <a:t>다음은 서울 데이터입니다</a:t>
            </a:r>
            <a:r>
              <a:rPr lang="en-US" altLang="ko-KR" dirty="0"/>
              <a:t>. </a:t>
            </a:r>
            <a:r>
              <a:rPr lang="ko-KR" altLang="en-US" dirty="0"/>
              <a:t>서울은 데이터 볼륨도 크고</a:t>
            </a:r>
            <a:r>
              <a:rPr lang="en-US" altLang="ko-KR" dirty="0"/>
              <a:t>, </a:t>
            </a:r>
            <a:r>
              <a:rPr lang="ko-KR" altLang="en-US" dirty="0"/>
              <a:t>공간 인프라 영향이 더 강합니다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35503-2D7B-F65B-D9FE-9756EA300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EE4991-C838-5745-6B24-C755668655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1A65C5-21B3-F6A0-259A-B43823DB83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/>
              <a:t>발표 대본</a:t>
            </a:r>
            <a:endParaRPr lang="ko-KR" altLang="en-US" dirty="0"/>
          </a:p>
          <a:p>
            <a:r>
              <a:rPr lang="ko-KR" altLang="en-US" dirty="0"/>
              <a:t>서울 데이터는 서울 열린 데이터 광장의 </a:t>
            </a:r>
            <a:r>
              <a:rPr lang="ko-KR" altLang="en-US" dirty="0" err="1"/>
              <a:t>따릉이</a:t>
            </a:r>
            <a:r>
              <a:rPr lang="ko-KR" altLang="en-US" dirty="0"/>
              <a:t> 대여 이력입니다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2020</a:t>
            </a:r>
            <a:r>
              <a:rPr lang="ko-KR" altLang="en-US" dirty="0"/>
              <a:t>년부터 </a:t>
            </a:r>
            <a:r>
              <a:rPr lang="en-US" altLang="ko-KR" dirty="0"/>
              <a:t>2025</a:t>
            </a:r>
            <a:r>
              <a:rPr lang="ko-KR" altLang="en-US" dirty="0"/>
              <a:t>년 </a:t>
            </a:r>
            <a:r>
              <a:rPr lang="en-US" altLang="ko-KR" dirty="0"/>
              <a:t>6</a:t>
            </a:r>
            <a:r>
              <a:rPr lang="ko-KR" altLang="en-US" dirty="0" err="1"/>
              <a:t>월까지로</a:t>
            </a:r>
            <a:r>
              <a:rPr lang="ko-KR" altLang="en-US" dirty="0"/>
              <a:t> 기간이 길고</a:t>
            </a:r>
            <a:r>
              <a:rPr lang="en-US" altLang="ko-KR" dirty="0"/>
              <a:t>, </a:t>
            </a:r>
            <a:r>
              <a:rPr lang="ko-KR" altLang="en-US" dirty="0"/>
              <a:t>시간</a:t>
            </a:r>
            <a:r>
              <a:rPr lang="en-US" altLang="ko-KR" dirty="0"/>
              <a:t>×</a:t>
            </a:r>
            <a:r>
              <a:rPr lang="ko-KR" altLang="en-US" dirty="0"/>
              <a:t>대여소 단위로 </a:t>
            </a:r>
            <a:r>
              <a:rPr lang="ko-KR" altLang="en-US" dirty="0" err="1"/>
              <a:t>대여량이</a:t>
            </a:r>
            <a:r>
              <a:rPr lang="ko-KR" altLang="en-US" dirty="0"/>
              <a:t> 기록되어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변수는 대여 시간</a:t>
            </a:r>
            <a:r>
              <a:rPr lang="en-US" altLang="ko-KR" dirty="0"/>
              <a:t>, </a:t>
            </a:r>
            <a:r>
              <a:rPr lang="ko-KR" altLang="en-US" dirty="0"/>
              <a:t>대여소 </a:t>
            </a:r>
            <a:r>
              <a:rPr lang="en-US" altLang="ko-KR" dirty="0"/>
              <a:t>ID/</a:t>
            </a:r>
            <a:r>
              <a:rPr lang="ko-KR" altLang="en-US" dirty="0"/>
              <a:t>이름</a:t>
            </a:r>
            <a:r>
              <a:rPr lang="en-US" altLang="ko-KR" dirty="0"/>
              <a:t>, </a:t>
            </a:r>
            <a:r>
              <a:rPr lang="ko-KR" altLang="en-US" dirty="0" err="1"/>
              <a:t>대여권</a:t>
            </a:r>
            <a:r>
              <a:rPr lang="ko-KR" altLang="en-US" dirty="0"/>
              <a:t> 종류</a:t>
            </a:r>
            <a:r>
              <a:rPr lang="en-US" altLang="ko-KR" dirty="0"/>
              <a:t>, </a:t>
            </a:r>
            <a:r>
              <a:rPr lang="ko-KR" altLang="en-US" dirty="0"/>
              <a:t>성별</a:t>
            </a:r>
            <a:r>
              <a:rPr lang="en-US" altLang="ko-KR" dirty="0"/>
              <a:t>/</a:t>
            </a:r>
            <a:r>
              <a:rPr lang="ko-KR" altLang="en-US" dirty="0"/>
              <a:t>연령대 같은 사용자 요소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그리고 칼로리</a:t>
            </a:r>
            <a:r>
              <a:rPr lang="en-US" altLang="ko-KR" dirty="0"/>
              <a:t>/</a:t>
            </a:r>
            <a:r>
              <a:rPr lang="ko-KR" altLang="en-US" dirty="0"/>
              <a:t>탄소저감 같은 행동</a:t>
            </a:r>
            <a:r>
              <a:rPr lang="en-US" altLang="ko-KR" dirty="0"/>
              <a:t>·</a:t>
            </a:r>
            <a:r>
              <a:rPr lang="ko-KR" altLang="en-US" dirty="0"/>
              <a:t>활동량 지표도 포함됩니다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그리고 </a:t>
            </a:r>
            <a:r>
              <a:rPr lang="ko-KR" altLang="en-US" dirty="0" err="1"/>
              <a:t>기상자료개방포털</a:t>
            </a:r>
            <a:r>
              <a:rPr lang="ko-KR" altLang="en-US" dirty="0"/>
              <a:t> </a:t>
            </a:r>
            <a:r>
              <a:rPr lang="en-US" altLang="ko-KR" dirty="0"/>
              <a:t>ASOS </a:t>
            </a:r>
            <a:r>
              <a:rPr lang="ko-KR" altLang="en-US" dirty="0"/>
              <a:t>관측 데이터를 결합해서</a:t>
            </a:r>
            <a:br>
              <a:rPr lang="ko-KR" altLang="en-US" dirty="0"/>
            </a:br>
            <a:r>
              <a:rPr lang="ko-KR" altLang="en-US" dirty="0"/>
              <a:t>실제 도시 환경에서 기상 조건이 수요에 미치는 영향을 함께 분석했습니다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서울 데이터의 특징은</a:t>
            </a:r>
            <a:r>
              <a:rPr lang="en-US" altLang="ko-KR" dirty="0"/>
              <a:t>, </a:t>
            </a:r>
            <a:r>
              <a:rPr lang="ko-KR" altLang="en-US" dirty="0"/>
              <a:t>워싱턴과 다르게</a:t>
            </a:r>
            <a:br>
              <a:rPr lang="ko-KR" altLang="en-US" dirty="0"/>
            </a:br>
            <a:r>
              <a:rPr lang="ko-KR" altLang="en-US" b="1" dirty="0"/>
              <a:t>지하철</a:t>
            </a:r>
            <a:r>
              <a:rPr lang="en-US" altLang="ko-KR" b="1" dirty="0"/>
              <a:t>/</a:t>
            </a:r>
            <a:r>
              <a:rPr lang="ko-KR" altLang="en-US" b="1" dirty="0"/>
              <a:t>버스 환승 인프라와 출퇴근 목적</a:t>
            </a:r>
            <a:r>
              <a:rPr lang="ko-KR" altLang="en-US" dirty="0"/>
              <a:t>이 강하게 나타나는 경향이 있어서</a:t>
            </a:r>
            <a:br>
              <a:rPr lang="ko-KR" altLang="en-US" dirty="0"/>
            </a:br>
            <a:r>
              <a:rPr lang="en-US" altLang="ko-KR" dirty="0"/>
              <a:t>POI</a:t>
            </a:r>
            <a:r>
              <a:rPr lang="ko-KR" altLang="en-US" dirty="0"/>
              <a:t>나 접근성 같은 공간 요인을 넣었을 때 설명력이 크게 달라질 수 있습니다</a:t>
            </a:r>
            <a:r>
              <a:rPr lang="en-US" altLang="ko-KR" dirty="0"/>
              <a:t>.</a:t>
            </a:r>
          </a:p>
          <a:p>
            <a:endParaRPr lang="en-US" altLang="ko-KR" b="1" dirty="0"/>
          </a:p>
          <a:p>
            <a:r>
              <a:rPr lang="ko-KR" altLang="en-US" b="1" dirty="0"/>
              <a:t>전환 멘트</a:t>
            </a:r>
            <a:endParaRPr lang="ko-KR" altLang="en-US" dirty="0"/>
          </a:p>
          <a:p>
            <a:r>
              <a:rPr lang="ko-KR" altLang="en-US" dirty="0"/>
              <a:t>그럼 이 서로 다른 두 도시 데이터를 어떻게 같은 파이프라인에서 다뤘는지</a:t>
            </a:r>
            <a:r>
              <a:rPr lang="en-US" altLang="ko-KR" dirty="0"/>
              <a:t>, </a:t>
            </a:r>
            <a:r>
              <a:rPr lang="ko-KR" altLang="en-US" dirty="0"/>
              <a:t>처리 과정을 정리하겠습니다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2D1BF-9B23-B36F-1ACA-04EF4758A4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3955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데이터 처리는 크게 </a:t>
            </a:r>
            <a:r>
              <a:rPr lang="en-US" altLang="ko-KR" dirty="0"/>
              <a:t>5</a:t>
            </a:r>
            <a:r>
              <a:rPr lang="ko-KR" altLang="en-US" dirty="0"/>
              <a:t>단계로 진행했습니다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원천 수집</a:t>
            </a:r>
            <a:r>
              <a:rPr lang="en-US" altLang="ko-KR" dirty="0"/>
              <a:t>: </a:t>
            </a:r>
            <a:r>
              <a:rPr lang="ko-KR" altLang="en-US" dirty="0"/>
              <a:t>서울과 </a:t>
            </a:r>
            <a:r>
              <a:rPr lang="en-US" altLang="ko-KR" dirty="0"/>
              <a:t>WDC</a:t>
            </a:r>
            <a:r>
              <a:rPr lang="ko-KR" altLang="en-US" dirty="0"/>
              <a:t>의 시간별 대여 정보 </a:t>
            </a:r>
            <a:r>
              <a:rPr lang="en-US" altLang="ko-KR" dirty="0"/>
              <a:t>+ </a:t>
            </a:r>
            <a:r>
              <a:rPr lang="ko-KR" altLang="en-US" dirty="0"/>
              <a:t>시간대의 날씨 데이터 수집</a:t>
            </a:r>
          </a:p>
          <a:p>
            <a:r>
              <a:rPr lang="ko-KR" altLang="en-US" dirty="0"/>
              <a:t>시간 파생 변수 생성</a:t>
            </a:r>
            <a:r>
              <a:rPr lang="en-US" altLang="ko-KR" dirty="0"/>
              <a:t>: year/month/day/hour</a:t>
            </a:r>
            <a:r>
              <a:rPr lang="ko-KR" altLang="en-US" dirty="0"/>
              <a:t>를 만들고</a:t>
            </a:r>
            <a:r>
              <a:rPr lang="en-US" altLang="ko-KR" dirty="0"/>
              <a:t>, </a:t>
            </a:r>
            <a:r>
              <a:rPr lang="ko-KR" altLang="en-US" b="1" dirty="0"/>
              <a:t>쿼터</a:t>
            </a:r>
            <a:r>
              <a:rPr lang="en-US" altLang="ko-KR" b="1" dirty="0"/>
              <a:t>(quarter) </a:t>
            </a:r>
            <a:r>
              <a:rPr lang="ko-KR" altLang="en-US" b="1" dirty="0"/>
              <a:t>플래그</a:t>
            </a:r>
            <a:r>
              <a:rPr lang="ko-KR" altLang="en-US" dirty="0"/>
              <a:t>를 생성했습니다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결측값</a:t>
            </a:r>
            <a:r>
              <a:rPr lang="ko-KR" altLang="en-US" dirty="0"/>
              <a:t> 처리</a:t>
            </a:r>
            <a:r>
              <a:rPr lang="en-US" altLang="ko-KR" dirty="0"/>
              <a:t>: </a:t>
            </a:r>
            <a:r>
              <a:rPr lang="ko-KR" altLang="en-US" dirty="0"/>
              <a:t>날씨 데이터 날짜 불일치 해결</a:t>
            </a:r>
            <a:r>
              <a:rPr lang="en-US" altLang="ko-KR" dirty="0"/>
              <a:t>, </a:t>
            </a:r>
            <a:r>
              <a:rPr lang="ko-KR" altLang="en-US" dirty="0"/>
              <a:t>결측 방어 처리</a:t>
            </a:r>
          </a:p>
          <a:p>
            <a:r>
              <a:rPr lang="ko-KR" altLang="en-US" dirty="0"/>
              <a:t>피처</a:t>
            </a:r>
            <a:r>
              <a:rPr lang="en-US" altLang="ko-KR" dirty="0"/>
              <a:t>/</a:t>
            </a:r>
            <a:r>
              <a:rPr lang="ko-KR" altLang="en-US" dirty="0"/>
              <a:t>컬럼 정리</a:t>
            </a:r>
            <a:r>
              <a:rPr lang="en-US" altLang="ko-KR" dirty="0"/>
              <a:t>: </a:t>
            </a:r>
            <a:r>
              <a:rPr lang="ko-KR" altLang="en-US" dirty="0"/>
              <a:t>서울 컬럼 영문화</a:t>
            </a:r>
            <a:r>
              <a:rPr lang="en-US" altLang="ko-KR" dirty="0"/>
              <a:t>, </a:t>
            </a:r>
            <a:r>
              <a:rPr lang="ko-KR" altLang="en-US" dirty="0"/>
              <a:t>필요한 변수만 선택</a:t>
            </a:r>
            <a:r>
              <a:rPr lang="en-US" altLang="ko-KR" dirty="0"/>
              <a:t>/</a:t>
            </a:r>
            <a:r>
              <a:rPr lang="ko-KR" altLang="en-US" dirty="0"/>
              <a:t>명명</a:t>
            </a:r>
          </a:p>
          <a:p>
            <a:r>
              <a:rPr lang="ko-KR" altLang="en-US" dirty="0"/>
              <a:t>날씨 상태 카테고리화</a:t>
            </a:r>
            <a:r>
              <a:rPr lang="en-US" altLang="ko-KR" dirty="0"/>
              <a:t>: </a:t>
            </a:r>
            <a:r>
              <a:rPr lang="ko-KR" altLang="en-US" dirty="0"/>
              <a:t>단순 강수</a:t>
            </a:r>
            <a:r>
              <a:rPr lang="en-US" altLang="ko-KR" dirty="0"/>
              <a:t>·</a:t>
            </a:r>
            <a:r>
              <a:rPr lang="ko-KR" altLang="en-US" dirty="0"/>
              <a:t>적설 플래그뿐 아니라 확장 지수 구성</a:t>
            </a:r>
          </a:p>
          <a:p>
            <a:r>
              <a:rPr lang="ko-KR" altLang="en-US" dirty="0"/>
              <a:t>그리고 마지막으로 </a:t>
            </a:r>
            <a:r>
              <a:rPr lang="en-US" altLang="ko-KR" dirty="0"/>
              <a:t>POI + </a:t>
            </a:r>
            <a:r>
              <a:rPr lang="ko-KR" altLang="en-US" dirty="0"/>
              <a:t>날씨 </a:t>
            </a:r>
            <a:r>
              <a:rPr lang="en-US" altLang="ko-KR" dirty="0"/>
              <a:t>+ </a:t>
            </a:r>
            <a:r>
              <a:rPr lang="ko-KR" altLang="en-US" dirty="0"/>
              <a:t>대여 데이터를 조인해서</a:t>
            </a:r>
            <a:br>
              <a:rPr lang="ko-KR" altLang="en-US" dirty="0"/>
            </a:br>
            <a:r>
              <a:rPr lang="ko-KR" altLang="en-US" dirty="0"/>
              <a:t>최종 통합 </a:t>
            </a:r>
            <a:r>
              <a:rPr lang="en-US" altLang="ko-KR" dirty="0"/>
              <a:t>CSV</a:t>
            </a:r>
            <a:r>
              <a:rPr lang="ko-KR" altLang="en-US" dirty="0"/>
              <a:t>를 만들었습니다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여기서 핵심은</a:t>
            </a:r>
            <a:r>
              <a:rPr lang="en-US" altLang="ko-KR" dirty="0"/>
              <a:t>, </a:t>
            </a:r>
            <a:r>
              <a:rPr lang="ko-KR" altLang="en-US" dirty="0"/>
              <a:t>이 전체 과정이 “노트북 한 번 돌리는” 방식이 아니라</a:t>
            </a:r>
            <a:br>
              <a:rPr lang="ko-KR" altLang="en-US" dirty="0"/>
            </a:br>
            <a:r>
              <a:rPr lang="ko-KR" altLang="en-US" b="1" dirty="0"/>
              <a:t>스크립트 기반으로 재현 가능하게</a:t>
            </a:r>
            <a:r>
              <a:rPr lang="ko-KR" altLang="en-US" dirty="0"/>
              <a:t> 구성되어 있다는 점입니다</a:t>
            </a:r>
            <a:r>
              <a:rPr lang="en-US" altLang="ko-KR" dirty="0"/>
              <a:t>.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이제부터는 </a:t>
            </a:r>
            <a:r>
              <a:rPr lang="en-US" altLang="ko-KR" dirty="0"/>
              <a:t>EDA </a:t>
            </a:r>
            <a:r>
              <a:rPr lang="ko-KR" altLang="en-US" dirty="0"/>
              <a:t>결과로 넘어가서</a:t>
            </a:r>
            <a:r>
              <a:rPr lang="en-US" altLang="ko-KR" dirty="0"/>
              <a:t>, </a:t>
            </a:r>
            <a:r>
              <a:rPr lang="ko-KR" altLang="en-US" dirty="0"/>
              <a:t>수요가 어떤 구조를 갖는지 서울 기준 데이터로 핵심만 보여드리겠습니다</a:t>
            </a:r>
            <a:r>
              <a:rPr lang="en-US" altLang="ko-KR" dirty="0"/>
              <a:t>. </a:t>
            </a:r>
            <a:r>
              <a:rPr lang="ko-KR" altLang="en-US" dirty="0"/>
              <a:t>먼저 시간입니다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6C727-E578-AE3A-5002-B8B819185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FC4D85-6841-394B-5455-165DA57602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D435E2-28EF-708E-9B8C-A446F0F720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/>
              <a:t>발표 대본</a:t>
            </a:r>
            <a:endParaRPr lang="ko-KR" altLang="en-US" dirty="0"/>
          </a:p>
          <a:p>
            <a:r>
              <a:rPr lang="ko-KR" altLang="en-US" dirty="0"/>
              <a:t>시간 분석에서 가장 중요한 관찰은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수요가 단순 누적 추세형 </a:t>
            </a:r>
            <a:r>
              <a:rPr lang="ko-KR" altLang="en-US" dirty="0" err="1"/>
              <a:t>시계열이라기보다</a:t>
            </a:r>
            <a:br>
              <a:rPr lang="ko-KR" altLang="en-US" dirty="0"/>
            </a:br>
            <a:r>
              <a:rPr lang="ko-KR" altLang="en-US" b="1" dirty="0"/>
              <a:t>시간대</a:t>
            </a:r>
            <a:r>
              <a:rPr lang="en-US" altLang="ko-KR" b="1" dirty="0"/>
              <a:t>·</a:t>
            </a:r>
            <a:r>
              <a:rPr lang="ko-KR" altLang="en-US" b="1" dirty="0"/>
              <a:t>요일</a:t>
            </a:r>
            <a:r>
              <a:rPr lang="en-US" altLang="ko-KR" b="1" dirty="0"/>
              <a:t>·</a:t>
            </a:r>
            <a:r>
              <a:rPr lang="ko-KR" altLang="en-US" b="1" dirty="0"/>
              <a:t>계절에 따라 반복되는 주기적 구조</a:t>
            </a:r>
            <a:r>
              <a:rPr lang="ko-KR" altLang="en-US" dirty="0"/>
              <a:t>라는 점입니다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출근 시간대</a:t>
            </a:r>
            <a:r>
              <a:rPr lang="en-US" altLang="ko-KR" dirty="0"/>
              <a:t>(</a:t>
            </a:r>
            <a:r>
              <a:rPr lang="ko-KR" altLang="en-US" dirty="0"/>
              <a:t>대략 </a:t>
            </a:r>
            <a:r>
              <a:rPr lang="en-US" altLang="ko-KR" dirty="0"/>
              <a:t>05–06</a:t>
            </a:r>
            <a:r>
              <a:rPr lang="ko-KR" altLang="en-US" dirty="0"/>
              <a:t>시</a:t>
            </a:r>
            <a:r>
              <a:rPr lang="en-US" altLang="ko-KR" dirty="0"/>
              <a:t>)</a:t>
            </a:r>
            <a:r>
              <a:rPr lang="ko-KR" altLang="en-US" dirty="0"/>
              <a:t>에서 상승하고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퇴근 시간대</a:t>
            </a:r>
            <a:r>
              <a:rPr lang="en-US" altLang="ko-KR" dirty="0"/>
              <a:t>(18–21</a:t>
            </a:r>
            <a:r>
              <a:rPr lang="ko-KR" altLang="en-US" dirty="0"/>
              <a:t>시</a:t>
            </a:r>
            <a:r>
              <a:rPr lang="en-US" altLang="ko-KR" dirty="0"/>
              <a:t>)</a:t>
            </a:r>
            <a:r>
              <a:rPr lang="ko-KR" altLang="en-US" dirty="0"/>
              <a:t>에서 다시 상승하는 패턴이 관찰됩니다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그리고 </a:t>
            </a:r>
            <a:r>
              <a:rPr lang="en-US" altLang="ko-KR" dirty="0" err="1"/>
              <a:t>workingday</a:t>
            </a:r>
            <a:r>
              <a:rPr lang="en-US" altLang="ko-KR" dirty="0"/>
              <a:t> </a:t>
            </a:r>
            <a:r>
              <a:rPr lang="ko-KR" altLang="en-US" dirty="0"/>
              <a:t>패턴</a:t>
            </a:r>
            <a:r>
              <a:rPr lang="en-US" altLang="ko-KR" dirty="0"/>
              <a:t>, </a:t>
            </a:r>
            <a:r>
              <a:rPr lang="ko-KR" altLang="en-US" dirty="0"/>
              <a:t>즉 근무일 여부에 따라 수요 형태가 뚜렷하게 달라집니다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월별로는 봄</a:t>
            </a:r>
            <a:r>
              <a:rPr lang="en-US" altLang="ko-KR" dirty="0"/>
              <a:t>/</a:t>
            </a:r>
            <a:r>
              <a:rPr lang="ko-KR" altLang="en-US" dirty="0"/>
              <a:t>가을이 최고점이고 여름에 일시적 하락이 나타나는데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이는 날씨 변수와의 상호작용이 있다는 신호로 볼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이 슬라이드의 결론 문장은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“</a:t>
            </a:r>
            <a:r>
              <a:rPr lang="ko-KR" altLang="en-US" dirty="0"/>
              <a:t>과거 수요 자체보다 해당 시점의 맥락적 시간 정보가 더 중요하다” 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즉 예측은 ‘</a:t>
            </a:r>
            <a:r>
              <a:rPr lang="ko-KR" altLang="en-US" dirty="0" err="1"/>
              <a:t>과거값’이</a:t>
            </a:r>
            <a:r>
              <a:rPr lang="ko-KR" altLang="en-US" dirty="0"/>
              <a:t> 아니라 </a:t>
            </a:r>
            <a:r>
              <a:rPr lang="ko-KR" altLang="en-US" b="1" dirty="0"/>
              <a:t>시간 구조를 얼마나 잘 표현하느냐</a:t>
            </a:r>
            <a:r>
              <a:rPr lang="ko-KR" altLang="en-US" dirty="0"/>
              <a:t>가 성능을 좌우합니다</a:t>
            </a:r>
            <a:r>
              <a:rPr lang="en-US" altLang="ko-KR" dirty="0"/>
              <a:t>.</a:t>
            </a:r>
          </a:p>
          <a:p>
            <a:endParaRPr lang="en-US" altLang="ko-KR" b="1" dirty="0"/>
          </a:p>
          <a:p>
            <a:r>
              <a:rPr lang="ko-KR" altLang="en-US" b="1" dirty="0"/>
              <a:t>전환 멘트</a:t>
            </a:r>
            <a:endParaRPr lang="ko-KR" altLang="en-US" dirty="0"/>
          </a:p>
          <a:p>
            <a:r>
              <a:rPr lang="ko-KR" altLang="en-US" dirty="0"/>
              <a:t>시간만으로는 설명이 끝나지 않습니다</a:t>
            </a:r>
            <a:r>
              <a:rPr lang="en-US" altLang="ko-KR" dirty="0"/>
              <a:t>. </a:t>
            </a:r>
            <a:r>
              <a:rPr lang="ko-KR" altLang="en-US" dirty="0"/>
              <a:t>다음은 날씨입니다</a:t>
            </a:r>
            <a:r>
              <a:rPr lang="en-US" altLang="ko-KR" dirty="0"/>
              <a:t>. </a:t>
            </a:r>
            <a:r>
              <a:rPr lang="ko-KR" altLang="en-US" dirty="0"/>
              <a:t>날씨는 상관이 낮아도 ‘</a:t>
            </a:r>
            <a:r>
              <a:rPr lang="ko-KR" altLang="en-US" dirty="0" err="1"/>
              <a:t>조건’으로</a:t>
            </a:r>
            <a:r>
              <a:rPr lang="ko-KR" altLang="en-US" dirty="0"/>
              <a:t> 작동합니다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A8BED-0535-4A87-A548-722326ACED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9560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56903-44F9-FBCC-4C04-6E4FB4123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EE38C6-688B-E6C8-65C7-09A7277790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CD9C25-B353-2825-EBB2-78E247A5DE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날씨 변수는 흥미롭게도 단순 상관계수는 낮은 경우가 많았습니다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그런데 실제 분포를 보면</a:t>
            </a:r>
            <a:r>
              <a:rPr lang="en-US" altLang="ko-KR" dirty="0"/>
              <a:t>, </a:t>
            </a:r>
            <a:r>
              <a:rPr lang="ko-KR" altLang="en-US" b="1" dirty="0" err="1"/>
              <a:t>임계값</a:t>
            </a:r>
            <a:r>
              <a:rPr lang="ko-KR" altLang="en-US" dirty="0" err="1"/>
              <a:t>이</a:t>
            </a:r>
            <a:r>
              <a:rPr lang="ko-KR" altLang="en-US" dirty="0"/>
              <a:t>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예를 들어 비가 조금 온다고 선형으로 수요가 조금씩 떨어지는 게 아니라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특정 강수</a:t>
            </a:r>
            <a:r>
              <a:rPr lang="en-US" altLang="ko-KR" dirty="0"/>
              <a:t>/</a:t>
            </a:r>
            <a:r>
              <a:rPr lang="ko-KR" altLang="en-US" dirty="0"/>
              <a:t>습도</a:t>
            </a:r>
            <a:r>
              <a:rPr lang="en-US" altLang="ko-KR" dirty="0"/>
              <a:t>/</a:t>
            </a:r>
            <a:r>
              <a:rPr lang="ko-KR" altLang="en-US" dirty="0"/>
              <a:t>구름</a:t>
            </a:r>
            <a:r>
              <a:rPr lang="en-US" altLang="ko-KR" dirty="0"/>
              <a:t>/</a:t>
            </a:r>
            <a:r>
              <a:rPr lang="ko-KR" altLang="en-US" dirty="0"/>
              <a:t>일조 조합이 되면</a:t>
            </a:r>
            <a:br>
              <a:rPr lang="ko-KR" altLang="en-US" dirty="0"/>
            </a:br>
            <a:r>
              <a:rPr lang="ko-KR" altLang="en-US" dirty="0"/>
              <a:t>수요가 “구조적으로 꺼지는” 구간이 생깁니다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저희 인사이트는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자전거 수요는 개별 날씨 변수의 선형 영향보다는</a:t>
            </a:r>
            <a:br>
              <a:rPr lang="ko-KR" altLang="en-US" dirty="0"/>
            </a:br>
            <a:r>
              <a:rPr lang="ko-KR" altLang="en-US" dirty="0"/>
              <a:t>**기온</a:t>
            </a:r>
            <a:r>
              <a:rPr lang="en-US" altLang="ko-KR" dirty="0"/>
              <a:t>·</a:t>
            </a:r>
            <a:r>
              <a:rPr lang="ko-KR" altLang="en-US" dirty="0"/>
              <a:t>습도</a:t>
            </a:r>
            <a:r>
              <a:rPr lang="en-US" altLang="ko-KR" dirty="0"/>
              <a:t>·</a:t>
            </a:r>
            <a:r>
              <a:rPr lang="ko-KR" altLang="en-US" dirty="0"/>
              <a:t>강수</a:t>
            </a:r>
            <a:r>
              <a:rPr lang="en-US" altLang="ko-KR" dirty="0"/>
              <a:t>·</a:t>
            </a:r>
            <a:r>
              <a:rPr lang="ko-KR" altLang="en-US" dirty="0"/>
              <a:t>일사량 같은 조합된 ‘환경 상태’**에 의해</a:t>
            </a:r>
            <a:br>
              <a:rPr lang="ko-KR" altLang="en-US" dirty="0"/>
            </a:br>
            <a:r>
              <a:rPr lang="ko-KR" altLang="en-US" dirty="0"/>
              <a:t>조건부로 형성되는 특성이 강하다는 것입니다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이것 때문에 모델도 선형회귀보다는</a:t>
            </a:r>
            <a:br>
              <a:rPr lang="ko-KR" altLang="en-US" dirty="0"/>
            </a:br>
            <a:r>
              <a:rPr lang="ko-KR" altLang="en-US" dirty="0" err="1"/>
              <a:t>임계값</a:t>
            </a:r>
            <a:r>
              <a:rPr lang="en-US" altLang="ko-KR" dirty="0"/>
              <a:t>/</a:t>
            </a:r>
            <a:r>
              <a:rPr lang="ko-KR" altLang="en-US" dirty="0"/>
              <a:t>상호작용을 잘 잡는 트리 계열을 선택하는 논리로 이어집니다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b="1" dirty="0"/>
              <a:t>전환 멘트</a:t>
            </a:r>
            <a:endParaRPr lang="ko-KR" altLang="en-US" dirty="0"/>
          </a:p>
          <a:p>
            <a:r>
              <a:rPr lang="ko-KR" altLang="en-US" dirty="0"/>
              <a:t>그럼 공간은 어떨까요</a:t>
            </a:r>
            <a:r>
              <a:rPr lang="en-US" altLang="ko-KR" dirty="0"/>
              <a:t>? POI</a:t>
            </a:r>
            <a:r>
              <a:rPr lang="ko-KR" altLang="en-US" dirty="0"/>
              <a:t>는 상관이 낮아도 ‘</a:t>
            </a:r>
            <a:r>
              <a:rPr lang="ko-KR" altLang="en-US" dirty="0" err="1"/>
              <a:t>상한’을</a:t>
            </a:r>
            <a:r>
              <a:rPr lang="ko-KR" altLang="en-US" dirty="0"/>
              <a:t> 규정하는 역할을 합니다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300BE-8A1F-EE62-72EF-AD44C092AC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237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F8A29-C40C-AB1C-27D1-797985EFF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C7FEB8-CBBF-79EE-D121-B8201309C5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996925-1934-5D36-3980-70C8A47468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/>
              <a:t>발표 대본</a:t>
            </a:r>
            <a:endParaRPr lang="ko-KR" altLang="en-US" dirty="0"/>
          </a:p>
          <a:p>
            <a:r>
              <a:rPr lang="en-US" altLang="ko-KR" dirty="0"/>
              <a:t>POI </a:t>
            </a:r>
            <a:r>
              <a:rPr lang="ko-KR" altLang="en-US" dirty="0"/>
              <a:t>변수는 “가까우면 무조건 많이 </a:t>
            </a:r>
            <a:r>
              <a:rPr lang="ko-KR" altLang="en-US" dirty="0" err="1"/>
              <a:t>탄다”처럼</a:t>
            </a:r>
            <a:r>
              <a:rPr lang="ko-KR" altLang="en-US" dirty="0"/>
              <a:t> 단순하지 않았습니다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핵심은</a:t>
            </a:r>
            <a:r>
              <a:rPr lang="en-US" altLang="ko-KR" dirty="0"/>
              <a:t>, POI</a:t>
            </a:r>
            <a:r>
              <a:rPr lang="ko-KR" altLang="en-US" dirty="0"/>
              <a:t>가 수요를 직접 올리는 게 아니라</a:t>
            </a:r>
            <a:br>
              <a:rPr lang="ko-KR" altLang="en-US" dirty="0"/>
            </a:br>
            <a:endParaRPr lang="en-US" altLang="ko-KR" dirty="0"/>
          </a:p>
          <a:p>
            <a:r>
              <a:rPr lang="ko-KR" altLang="en-US" b="1" dirty="0"/>
              <a:t>수요가 발생할 수 있는 ‘잠재적 </a:t>
            </a:r>
            <a:r>
              <a:rPr lang="ko-KR" altLang="en-US" b="1" dirty="0" err="1"/>
              <a:t>상한’을</a:t>
            </a:r>
            <a:r>
              <a:rPr lang="ko-KR" altLang="en-US" b="1" dirty="0"/>
              <a:t> 규정</a:t>
            </a:r>
            <a:r>
              <a:rPr lang="ko-KR" altLang="en-US" dirty="0"/>
              <a:t>한다는 점입니다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예를 들어 인접 지하철이 </a:t>
            </a:r>
            <a:r>
              <a:rPr lang="en-US" altLang="ko-KR" dirty="0"/>
              <a:t>1km </a:t>
            </a:r>
            <a:r>
              <a:rPr lang="ko-KR" altLang="en-US" dirty="0"/>
              <a:t>내에 있으면 고수요가 가능해지고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버스 정류장이 </a:t>
            </a:r>
            <a:r>
              <a:rPr lang="en-US" altLang="ko-KR" dirty="0"/>
              <a:t>200m </a:t>
            </a:r>
            <a:r>
              <a:rPr lang="ko-KR" altLang="en-US" dirty="0"/>
              <a:t>내에 있으면 고수요가 집중됩니다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학교는 </a:t>
            </a:r>
            <a:r>
              <a:rPr lang="en-US" altLang="ko-KR" dirty="0"/>
              <a:t>500m~1km </a:t>
            </a:r>
            <a:r>
              <a:rPr lang="ko-KR" altLang="en-US" dirty="0"/>
              <a:t>구간에서 고수요가 몰리는 경향이 나타났습니다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공원은 분산이 넓고 패턴이 완만하지만 특정 구간에서 상한이 올라갑니다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결론은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시간과 날씨 조건이 같아도 </a:t>
            </a:r>
            <a:r>
              <a:rPr lang="en-US" altLang="ko-KR" dirty="0"/>
              <a:t>POI </a:t>
            </a:r>
            <a:r>
              <a:rPr lang="ko-KR" altLang="en-US" dirty="0"/>
              <a:t>접근성이 낮으면 대규모 수요가 잘 안 나오고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반대로 접근성이 높으면 높은 수요가 “가능해지는” 구조입니다</a:t>
            </a:r>
            <a:r>
              <a:rPr lang="en-US" altLang="ko-KR" dirty="0"/>
              <a:t>.</a:t>
            </a:r>
          </a:p>
          <a:p>
            <a:endParaRPr lang="en-US" altLang="ko-KR" b="1" dirty="0"/>
          </a:p>
          <a:p>
            <a:r>
              <a:rPr lang="ko-KR" altLang="en-US" b="1" dirty="0"/>
              <a:t>전환 멘트</a:t>
            </a:r>
            <a:endParaRPr lang="ko-KR" altLang="en-US" dirty="0"/>
          </a:p>
          <a:p>
            <a:r>
              <a:rPr lang="ko-KR" altLang="en-US" dirty="0"/>
              <a:t>이 구조가 두 도시에 동일하게 나타나는지 확인하기 위해 도시 비교를 했습니다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F99EFE-383C-7293-01C6-FDFA72074F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18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도시 비교에서 차이가 분명했습니다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워싱턴 </a:t>
            </a:r>
            <a:r>
              <a:rPr lang="en-US" altLang="ko-KR" dirty="0"/>
              <a:t>D.C.</a:t>
            </a:r>
            <a:r>
              <a:rPr lang="ko-KR" altLang="en-US" dirty="0"/>
              <a:t>는 레저</a:t>
            </a:r>
            <a:r>
              <a:rPr lang="en-US" altLang="ko-KR" dirty="0"/>
              <a:t>+</a:t>
            </a:r>
            <a:r>
              <a:rPr lang="ko-KR" altLang="en-US" dirty="0"/>
              <a:t>출퇴근 혼합이고</a:t>
            </a:r>
            <a:r>
              <a:rPr lang="en-US" altLang="ko-KR" dirty="0"/>
              <a:t>, </a:t>
            </a:r>
            <a:r>
              <a:rPr lang="ko-KR" altLang="en-US" dirty="0"/>
              <a:t>주말 수요가 더 우세한 경향이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날씨 민감도도 더 높게 나타납니다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반면 서울은 출퇴근 중심이고</a:t>
            </a:r>
            <a:br>
              <a:rPr lang="ko-KR" altLang="en-US" dirty="0"/>
            </a:br>
            <a:r>
              <a:rPr lang="ko-KR" altLang="en-US" dirty="0"/>
              <a:t>지하철</a:t>
            </a:r>
            <a:r>
              <a:rPr lang="en-US" altLang="ko-KR" dirty="0"/>
              <a:t>/</a:t>
            </a:r>
            <a:r>
              <a:rPr lang="ko-KR" altLang="en-US" dirty="0"/>
              <a:t>버스 등 인프라 연계형 수요 구조가 강해서</a:t>
            </a:r>
            <a:br>
              <a:rPr lang="ko-KR" altLang="en-US" dirty="0"/>
            </a:br>
            <a:r>
              <a:rPr lang="ko-KR" altLang="en-US" dirty="0"/>
              <a:t>지리적 요인이 훨씬 강하게 작동합니다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출퇴근 피크도 서울은 더 뚜렷한 이중 피크 구조로 나타나고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계절성은 서울이 여름</a:t>
            </a:r>
            <a:r>
              <a:rPr lang="en-US" altLang="ko-KR" dirty="0"/>
              <a:t>/</a:t>
            </a:r>
            <a:r>
              <a:rPr lang="ko-KR" altLang="en-US" dirty="0"/>
              <a:t>겨울 감소가 더 분명합니다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따라서 “하나의 모델</a:t>
            </a:r>
            <a:r>
              <a:rPr lang="en-US" altLang="ko-KR" dirty="0"/>
              <a:t>/</a:t>
            </a:r>
            <a:r>
              <a:rPr lang="ko-KR" altLang="en-US" dirty="0"/>
              <a:t>하나의 </a:t>
            </a:r>
            <a:r>
              <a:rPr lang="ko-KR" altLang="en-US" dirty="0" err="1"/>
              <a:t>전처리”로</a:t>
            </a:r>
            <a:r>
              <a:rPr lang="ko-KR" altLang="en-US" dirty="0"/>
              <a:t> 두 도시를 동일하게 다루면</a:t>
            </a:r>
            <a:br>
              <a:rPr lang="ko-KR" altLang="en-US" dirty="0"/>
            </a:br>
            <a:r>
              <a:rPr lang="ko-KR" altLang="en-US" dirty="0"/>
              <a:t>최적이 아닐 가능성이 높다는 결론으로 이어집니다</a:t>
            </a:r>
            <a:r>
              <a:rPr lang="en-US" altLang="ko-KR" dirty="0"/>
              <a:t>.</a:t>
            </a:r>
          </a:p>
          <a:p>
            <a:endParaRPr lang="en-US" altLang="ko-KR" b="1" dirty="0"/>
          </a:p>
          <a:p>
            <a:r>
              <a:rPr lang="ko-KR" altLang="en-US" b="1" dirty="0"/>
              <a:t>전환 멘트</a:t>
            </a:r>
            <a:endParaRPr lang="ko-KR" altLang="en-US" dirty="0"/>
          </a:p>
          <a:p>
            <a:r>
              <a:rPr lang="ko-KR" altLang="en-US" dirty="0"/>
              <a:t>여기까지의 </a:t>
            </a:r>
            <a:r>
              <a:rPr lang="en-US" altLang="ko-KR" dirty="0"/>
              <a:t>EDA</a:t>
            </a:r>
            <a:r>
              <a:rPr lang="ko-KR" altLang="en-US" dirty="0"/>
              <a:t>를 한 문장으로 요약하면</a:t>
            </a:r>
            <a:r>
              <a:rPr lang="en-US" altLang="ko-KR" dirty="0"/>
              <a:t>, </a:t>
            </a:r>
            <a:r>
              <a:rPr lang="ko-KR" altLang="en-US" dirty="0"/>
              <a:t>다음 슬라이드의 종합 결론입니다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종합 결론은 </a:t>
            </a:r>
            <a:r>
              <a:rPr lang="ko-KR" altLang="en-US" dirty="0" err="1"/>
              <a:t>이겁니다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b="1" dirty="0"/>
              <a:t>자전거 수요는 시간대 </a:t>
            </a:r>
            <a:r>
              <a:rPr lang="en-US" altLang="ko-KR" b="1" dirty="0"/>
              <a:t>× </a:t>
            </a:r>
            <a:r>
              <a:rPr lang="ko-KR" altLang="en-US" b="1" dirty="0"/>
              <a:t>기상 </a:t>
            </a:r>
            <a:r>
              <a:rPr lang="en-US" altLang="ko-KR" b="1" dirty="0"/>
              <a:t>× </a:t>
            </a:r>
            <a:r>
              <a:rPr lang="ko-KR" altLang="en-US" b="1" dirty="0"/>
              <a:t>입지</a:t>
            </a:r>
            <a:r>
              <a:rPr lang="en-US" altLang="ko-KR" b="1" dirty="0"/>
              <a:t>(POI)</a:t>
            </a:r>
            <a:r>
              <a:rPr lang="ko-KR" altLang="en-US" b="1" dirty="0"/>
              <a:t>의 결합 효과로 결정된다</a:t>
            </a:r>
            <a:r>
              <a:rPr lang="en-US" altLang="ko-KR" b="1" dirty="0"/>
              <a:t>.</a:t>
            </a:r>
            <a:endParaRPr lang="ko-KR" altLang="en-US" dirty="0"/>
          </a:p>
          <a:p>
            <a:r>
              <a:rPr lang="ko-KR" altLang="en-US" dirty="0"/>
              <a:t>그리고 이 구조는 공통이지만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도시별 이용 목적과 인프라 구조가 달라서</a:t>
            </a:r>
            <a:br>
              <a:rPr lang="ko-KR" altLang="en-US" dirty="0"/>
            </a:br>
            <a:r>
              <a:rPr lang="ko-KR" altLang="en-US" dirty="0"/>
              <a:t>변수 중요도와 최적 모델링 전략은 달라져야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결론을 그대로 모델링 전략에 반영한 것이 다음 파트입니다</a:t>
            </a:r>
            <a:r>
              <a:rPr lang="en-US" altLang="ko-KR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문제 정의는 </a:t>
            </a:r>
            <a:r>
              <a:rPr lang="en-US" altLang="ko-KR" dirty="0" err="1"/>
              <a:t>rental_count</a:t>
            </a:r>
            <a:r>
              <a:rPr lang="ko-KR" altLang="en-US" dirty="0"/>
              <a:t>를 예측하는 회귀 문제입니다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그리고 학습은 도시 단위로 분리해서 진행했습니다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데이터 스키마 차이는 코드에서 흡수하고</a:t>
            </a:r>
            <a:r>
              <a:rPr lang="en-US" altLang="ko-KR" dirty="0"/>
              <a:t>, “</a:t>
            </a:r>
            <a:r>
              <a:rPr lang="ko-KR" altLang="en-US" dirty="0"/>
              <a:t>학습 </a:t>
            </a:r>
            <a:r>
              <a:rPr lang="ko-KR" altLang="en-US" dirty="0" err="1"/>
              <a:t>철학”은</a:t>
            </a:r>
            <a:r>
              <a:rPr lang="ko-KR" altLang="en-US" dirty="0"/>
              <a:t> 동일하게 가져갔습니다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피처는 </a:t>
            </a:r>
            <a:r>
              <a:rPr lang="en-US" altLang="ko-KR" dirty="0"/>
              <a:t>EDA </a:t>
            </a:r>
            <a:r>
              <a:rPr lang="ko-KR" altLang="en-US" dirty="0"/>
              <a:t>결과를 반영해 </a:t>
            </a:r>
            <a:r>
              <a:rPr lang="en-US" altLang="ko-KR" b="1" dirty="0"/>
              <a:t>Time + Weather + POI </a:t>
            </a:r>
            <a:r>
              <a:rPr lang="ko-KR" altLang="en-US" b="1" dirty="0"/>
              <a:t>결합</a:t>
            </a:r>
            <a:r>
              <a:rPr lang="ko-KR" altLang="en-US" dirty="0"/>
              <a:t>으로 설계했습니다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Time: month, weekend, </a:t>
            </a:r>
            <a:r>
              <a:rPr lang="en-US" altLang="ko-KR" dirty="0" err="1"/>
              <a:t>quarter_flag</a:t>
            </a:r>
            <a:endParaRPr lang="en-US" altLang="ko-KR" dirty="0"/>
          </a:p>
          <a:p>
            <a:r>
              <a:rPr lang="en-US" altLang="ko-KR" dirty="0"/>
              <a:t>Weather: temperature, precipitation, windspeed, humidity, sunshine(</a:t>
            </a:r>
            <a:r>
              <a:rPr lang="ko-KR" altLang="en-US" dirty="0"/>
              <a:t>또는 일사량 계열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POI: Holding quantity(</a:t>
            </a:r>
            <a:r>
              <a:rPr lang="ko-KR" altLang="en-US" dirty="0"/>
              <a:t>보유</a:t>
            </a:r>
            <a:r>
              <a:rPr lang="en-US" altLang="ko-KR" dirty="0"/>
              <a:t>/</a:t>
            </a:r>
            <a:r>
              <a:rPr lang="ko-KR" altLang="en-US" dirty="0"/>
              <a:t>공급</a:t>
            </a:r>
            <a:r>
              <a:rPr lang="en-US" altLang="ko-KR" dirty="0"/>
              <a:t>), POI </a:t>
            </a:r>
            <a:r>
              <a:rPr lang="ko-KR" altLang="en-US" dirty="0"/>
              <a:t>거리</a:t>
            </a:r>
            <a:r>
              <a:rPr lang="en-US" altLang="ko-KR" dirty="0"/>
              <a:t>, </a:t>
            </a:r>
            <a:r>
              <a:rPr lang="ko-KR" altLang="en-US" dirty="0"/>
              <a:t>반경별 개수</a:t>
            </a:r>
            <a:r>
              <a:rPr lang="en-US" altLang="ko-KR" dirty="0"/>
              <a:t>(100~2000m)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여기서 전략적 의미는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“</a:t>
            </a:r>
            <a:r>
              <a:rPr lang="ko-KR" altLang="en-US" dirty="0"/>
              <a:t>수요는 조건부 </a:t>
            </a:r>
            <a:r>
              <a:rPr lang="ko-KR" altLang="en-US" dirty="0" err="1"/>
              <a:t>구조”라는</a:t>
            </a:r>
            <a:r>
              <a:rPr lang="ko-KR" altLang="en-US" dirty="0"/>
              <a:t> 인사이트를</a:t>
            </a:r>
            <a:br>
              <a:rPr lang="ko-KR" altLang="en-US" dirty="0"/>
            </a:br>
            <a:r>
              <a:rPr lang="ko-KR" altLang="en-US" dirty="0"/>
              <a:t>단순 설명이 아니라 </a:t>
            </a:r>
            <a:r>
              <a:rPr lang="ko-KR" altLang="en-US" b="1" dirty="0"/>
              <a:t>피처 그룹화 </a:t>
            </a:r>
            <a:r>
              <a:rPr lang="en-US" altLang="ko-KR" b="1" dirty="0"/>
              <a:t>+ </a:t>
            </a:r>
            <a:r>
              <a:rPr lang="ko-KR" altLang="en-US" b="1" dirty="0"/>
              <a:t>결합 구조</a:t>
            </a:r>
            <a:r>
              <a:rPr lang="ko-KR" altLang="en-US" dirty="0"/>
              <a:t>로 모델에 주입한 것입니다</a:t>
            </a:r>
            <a:r>
              <a:rPr lang="en-US" altLang="ko-KR" dirty="0"/>
              <a:t>.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b="1" dirty="0"/>
              <a:t>전환 멘트</a:t>
            </a:r>
            <a:endParaRPr lang="en-US" altLang="ko-KR" dirty="0"/>
          </a:p>
          <a:p>
            <a:r>
              <a:rPr lang="ko-KR" altLang="en-US" dirty="0"/>
              <a:t>다음은 전처리와 검증 전략입니다</a:t>
            </a:r>
            <a:r>
              <a:rPr lang="en-US" altLang="ko-KR" dirty="0"/>
              <a:t>. </a:t>
            </a:r>
            <a:r>
              <a:rPr lang="ko-KR" altLang="en-US" dirty="0"/>
              <a:t>특히 </a:t>
            </a:r>
            <a:r>
              <a:rPr lang="en-US" altLang="ko-KR" dirty="0"/>
              <a:t>IQR </a:t>
            </a:r>
            <a:r>
              <a:rPr lang="ko-KR" altLang="en-US" dirty="0"/>
              <a:t>적용 여부를 두 버전으로 비교한 이유가 중요합니다</a:t>
            </a:r>
            <a:r>
              <a:rPr lang="en-US" altLang="ko-KR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E087A-5F3A-7DBB-0E15-5D0218AC3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99A660-83A9-D030-ED50-99507009C9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F1F69F-B052-8677-8912-D0B2032C6A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데이터 분할은 시계열 홀드아웃으로</a:t>
            </a:r>
            <a:br>
              <a:rPr lang="ko-KR" altLang="en-US" dirty="0"/>
            </a:br>
            <a:r>
              <a:rPr lang="ko-KR" altLang="en-US" dirty="0" err="1"/>
              <a:t>과거→미래</a:t>
            </a:r>
            <a:r>
              <a:rPr lang="ko-KR" altLang="en-US" dirty="0"/>
              <a:t> 순서를 유지해 </a:t>
            </a:r>
            <a:r>
              <a:rPr lang="ko-KR" altLang="en-US" b="1" dirty="0"/>
              <a:t>시간 누수</a:t>
            </a:r>
            <a:r>
              <a:rPr lang="ko-KR" altLang="en-US" dirty="0"/>
              <a:t>를 방지했습니다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비율은 </a:t>
            </a:r>
            <a:r>
              <a:rPr lang="en-US" altLang="ko-KR" dirty="0"/>
              <a:t>Train 70%, Val 15%, Test 15%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그리고 전처리는 두 버전으로 비교했습니다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IQR </a:t>
            </a:r>
            <a:r>
              <a:rPr lang="ko-KR" altLang="en-US" dirty="0"/>
              <a:t>적용 버전</a:t>
            </a:r>
            <a:r>
              <a:rPr lang="en-US" altLang="ko-KR" dirty="0"/>
              <a:t>: </a:t>
            </a:r>
            <a:r>
              <a:rPr lang="ko-KR" altLang="en-US" dirty="0"/>
              <a:t>수치형 피처에서 이상치를 제거해 일반 구간 </a:t>
            </a:r>
            <a:r>
              <a:rPr lang="en-US" altLang="ko-KR" dirty="0"/>
              <a:t>RMSE </a:t>
            </a:r>
            <a:r>
              <a:rPr lang="ko-KR" altLang="en-US" dirty="0"/>
              <a:t>안정화를 노림</a:t>
            </a:r>
          </a:p>
          <a:p>
            <a:r>
              <a:rPr lang="en-US" altLang="ko-KR" dirty="0"/>
              <a:t>IQR </a:t>
            </a:r>
            <a:r>
              <a:rPr lang="ko-KR" altLang="en-US" dirty="0"/>
              <a:t>미적용 버전</a:t>
            </a:r>
            <a:r>
              <a:rPr lang="en-US" altLang="ko-KR" dirty="0"/>
              <a:t>: </a:t>
            </a:r>
            <a:r>
              <a:rPr lang="ko-KR" altLang="en-US" dirty="0"/>
              <a:t>이상치를 제거하지 않고 원본 분포를 유지해 운영환경의 변동성까지 학습</a:t>
            </a:r>
          </a:p>
          <a:p>
            <a:r>
              <a:rPr lang="ko-KR" altLang="en-US" dirty="0"/>
              <a:t>이 비교의 목적은 명확합니다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운영에서는 “평균적인 날의 안정적인 </a:t>
            </a:r>
            <a:r>
              <a:rPr lang="ko-KR" altLang="en-US" dirty="0" err="1"/>
              <a:t>예측”이</a:t>
            </a:r>
            <a:r>
              <a:rPr lang="ko-KR" altLang="en-US" dirty="0"/>
              <a:t> 중요한지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아니면 “피크까지 포함한 변동성 </a:t>
            </a:r>
            <a:r>
              <a:rPr lang="ko-KR" altLang="en-US" dirty="0" err="1"/>
              <a:t>대응”이</a:t>
            </a:r>
            <a:r>
              <a:rPr lang="ko-KR" altLang="en-US" dirty="0"/>
              <a:t> 중요한지를 판단해야 하기 때문입니다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전처리는 단순 </a:t>
            </a:r>
            <a:r>
              <a:rPr lang="en-US" altLang="ko-KR" dirty="0"/>
              <a:t>cleaning</a:t>
            </a:r>
            <a:r>
              <a:rPr lang="ko-KR" altLang="en-US" dirty="0"/>
              <a:t>이 아니라 </a:t>
            </a:r>
            <a:r>
              <a:rPr lang="ko-KR" altLang="en-US" b="1" dirty="0"/>
              <a:t>운영 목표와 연결되는 설계 변수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b="1" dirty="0"/>
              <a:t>전환 멘트</a:t>
            </a:r>
            <a:endParaRPr lang="ko-KR" altLang="en-US" dirty="0"/>
          </a:p>
          <a:p>
            <a:r>
              <a:rPr lang="ko-KR" altLang="en-US" dirty="0"/>
              <a:t>이제 어떤 모델을 선택했고</a:t>
            </a:r>
            <a:r>
              <a:rPr lang="en-US" altLang="ko-KR" dirty="0"/>
              <a:t>, </a:t>
            </a:r>
            <a:r>
              <a:rPr lang="ko-KR" altLang="en-US" dirty="0"/>
              <a:t>어떤 방식으로 튜닝</a:t>
            </a:r>
            <a:r>
              <a:rPr lang="en-US" altLang="ko-KR" dirty="0"/>
              <a:t>/</a:t>
            </a:r>
            <a:r>
              <a:rPr lang="ko-KR" altLang="en-US" dirty="0"/>
              <a:t>평가했는지 학습 전략으로 넘어가겠습니다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2AD565-7414-0581-59C6-A4DA992C71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906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DEBE6-54AB-D0D2-2197-B31881860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B50AD8-9AC8-4D21-7E3A-09EC46010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B85976-4F67-B50A-3F87-2BC5121315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모델은 트리 기반으로 통일했습니다</a:t>
            </a:r>
            <a:r>
              <a:rPr lang="en-US" altLang="ko-KR" dirty="0"/>
              <a:t>: </a:t>
            </a:r>
            <a:r>
              <a:rPr lang="en-US" altLang="ko-KR" dirty="0" err="1"/>
              <a:t>RandomForest</a:t>
            </a:r>
            <a:r>
              <a:rPr lang="en-US" altLang="ko-KR" dirty="0"/>
              <a:t>, </a:t>
            </a:r>
            <a:r>
              <a:rPr lang="en-US" altLang="ko-KR" dirty="0" err="1"/>
              <a:t>XGBoost</a:t>
            </a:r>
            <a:r>
              <a:rPr lang="en-US" altLang="ko-KR" dirty="0"/>
              <a:t>, </a:t>
            </a:r>
            <a:r>
              <a:rPr lang="en-US" altLang="ko-KR" dirty="0" err="1"/>
              <a:t>LightGBM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이유는 </a:t>
            </a:r>
            <a:r>
              <a:rPr lang="en-US" altLang="ko-KR" dirty="0"/>
              <a:t>EDA</a:t>
            </a:r>
            <a:r>
              <a:rPr lang="ko-KR" altLang="en-US" dirty="0"/>
              <a:t>에서 확인한 것처럼</a:t>
            </a:r>
            <a:br>
              <a:rPr lang="ko-KR" altLang="en-US" dirty="0"/>
            </a:br>
            <a:r>
              <a:rPr lang="ko-KR" altLang="en-US" dirty="0"/>
              <a:t>시간</a:t>
            </a:r>
            <a:r>
              <a:rPr lang="en-US" altLang="ko-KR" dirty="0"/>
              <a:t>×</a:t>
            </a:r>
            <a:r>
              <a:rPr lang="ko-KR" altLang="en-US" dirty="0"/>
              <a:t>날씨</a:t>
            </a:r>
            <a:r>
              <a:rPr lang="en-US" altLang="ko-KR" dirty="0"/>
              <a:t>×POI</a:t>
            </a:r>
            <a:r>
              <a:rPr lang="ko-KR" altLang="en-US" dirty="0"/>
              <a:t>의 </a:t>
            </a:r>
            <a:r>
              <a:rPr lang="ko-KR" altLang="en-US" b="1" dirty="0"/>
              <a:t>비선형 상호작용</a:t>
            </a:r>
            <a:r>
              <a:rPr lang="ko-KR" altLang="en-US" dirty="0"/>
              <a:t>과 </a:t>
            </a:r>
            <a:r>
              <a:rPr lang="ko-KR" altLang="en-US" b="1" dirty="0" err="1"/>
              <a:t>임계값</a:t>
            </a:r>
            <a:r>
              <a:rPr lang="ko-KR" altLang="en-US" b="1" dirty="0"/>
              <a:t> 구조</a:t>
            </a:r>
            <a:r>
              <a:rPr lang="ko-KR" altLang="en-US" dirty="0"/>
              <a:t>를 자동으로 학습하기 위해서입니다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하이퍼파라미터는</a:t>
            </a:r>
            <a:r>
              <a:rPr lang="ko-KR" altLang="en-US" dirty="0"/>
              <a:t> </a:t>
            </a:r>
            <a:r>
              <a:rPr lang="en-US" altLang="ko-KR" dirty="0" err="1"/>
              <a:t>RandomizedSearchCV</a:t>
            </a:r>
            <a:r>
              <a:rPr lang="ko-KR" altLang="en-US" dirty="0"/>
              <a:t>로 자동 탐색했고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튜닝용 샘플은 최대 </a:t>
            </a:r>
            <a:r>
              <a:rPr lang="en-US" altLang="ko-KR" dirty="0"/>
              <a:t>200,000</a:t>
            </a:r>
            <a:r>
              <a:rPr lang="ko-KR" altLang="en-US" dirty="0"/>
              <a:t>행을 사용했습니다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그리고 모든 모델에 동일 파이프라인을 적용해 공정 비교가 가능하도록 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학습 프로세스는</a:t>
            </a:r>
            <a:br>
              <a:rPr lang="ko-KR" altLang="en-US" dirty="0"/>
            </a:br>
            <a:endParaRPr lang="en-US" altLang="ko-KR" dirty="0"/>
          </a:p>
          <a:p>
            <a:r>
              <a:rPr lang="en-US" altLang="ko-KR" dirty="0"/>
              <a:t>(1) train</a:t>
            </a:r>
            <a:r>
              <a:rPr lang="ko-KR" altLang="en-US" dirty="0"/>
              <a:t>으로 튜닝 → </a:t>
            </a:r>
            <a:r>
              <a:rPr lang="en-US" altLang="ko-KR" dirty="0"/>
              <a:t>(2) </a:t>
            </a:r>
            <a:r>
              <a:rPr lang="en-US" altLang="ko-KR" dirty="0" err="1"/>
              <a:t>train+val</a:t>
            </a:r>
            <a:r>
              <a:rPr lang="ko-KR" altLang="en-US" dirty="0"/>
              <a:t>로 </a:t>
            </a:r>
            <a:r>
              <a:rPr lang="ko-KR" altLang="en-US" dirty="0" err="1"/>
              <a:t>재학습</a:t>
            </a:r>
            <a:r>
              <a:rPr lang="ko-KR" altLang="en-US" dirty="0"/>
              <a:t> → </a:t>
            </a:r>
            <a:r>
              <a:rPr lang="en-US" altLang="ko-KR" dirty="0"/>
              <a:t>(3) test</a:t>
            </a:r>
            <a:r>
              <a:rPr lang="ko-KR" altLang="en-US" dirty="0"/>
              <a:t>로 최종평가입니다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평가지표는 </a:t>
            </a:r>
            <a:r>
              <a:rPr lang="en-US" altLang="ko-KR" dirty="0"/>
              <a:t>RMSE</a:t>
            </a:r>
            <a:r>
              <a:rPr lang="ko-KR" altLang="en-US" dirty="0"/>
              <a:t>와 </a:t>
            </a:r>
            <a:r>
              <a:rPr lang="en-US" altLang="ko-KR" dirty="0"/>
              <a:t>R²</a:t>
            </a:r>
            <a:r>
              <a:rPr lang="ko-KR" altLang="en-US" dirty="0"/>
              <a:t>를 사용했습니다</a:t>
            </a:r>
            <a:r>
              <a:rPr lang="en-US" altLang="ko-KR" dirty="0"/>
              <a:t>.</a:t>
            </a:r>
          </a:p>
          <a:p>
            <a:endParaRPr lang="en-US" altLang="ko-KR" b="1" dirty="0"/>
          </a:p>
          <a:p>
            <a:r>
              <a:rPr lang="ko-KR" altLang="en-US" b="1" dirty="0"/>
              <a:t>전환 멘트</a:t>
            </a:r>
            <a:endParaRPr lang="ko-KR" altLang="en-US" dirty="0"/>
          </a:p>
          <a:p>
            <a:r>
              <a:rPr lang="ko-KR" altLang="en-US" dirty="0"/>
              <a:t>그럼 실제 결과로 들어가겠습니다</a:t>
            </a:r>
            <a:r>
              <a:rPr lang="en-US" altLang="ko-KR" dirty="0"/>
              <a:t>. </a:t>
            </a:r>
            <a:r>
              <a:rPr lang="ko-KR" altLang="en-US" dirty="0"/>
              <a:t>먼저 단일 모델 성능 비교입니다</a:t>
            </a:r>
            <a:r>
              <a:rPr lang="en-US" altLang="ko-KR" dirty="0"/>
              <a:t>.</a:t>
            </a:r>
          </a:p>
          <a:p>
            <a:br>
              <a:rPr lang="en-US" altLang="ko-KR" dirty="0"/>
            </a:br>
            <a:endParaRPr lang="en-US" altLang="ko-KR" dirty="0"/>
          </a:p>
          <a:p>
            <a:r>
              <a:rPr lang="en-US" altLang="ko-KR" dirty="0"/>
              <a:t>Note)</a:t>
            </a:r>
            <a:br>
              <a:rPr lang="en-US" altLang="ko-KR" dirty="0"/>
            </a:br>
            <a:r>
              <a:rPr lang="ko-KR" altLang="en-US" b="1" dirty="0"/>
              <a:t>“</a:t>
            </a:r>
            <a:r>
              <a:rPr lang="en-US" altLang="ko-KR" b="1" dirty="0" err="1"/>
              <a:t>RandomizedSearchCV</a:t>
            </a:r>
            <a:r>
              <a:rPr lang="ko-KR" altLang="en-US" b="1" dirty="0"/>
              <a:t>로 자동 </a:t>
            </a:r>
            <a:r>
              <a:rPr lang="ko-KR" altLang="en-US" b="1" dirty="0" err="1"/>
              <a:t>튜닝한다”는</a:t>
            </a:r>
            <a:r>
              <a:rPr lang="ko-KR" altLang="en-US" b="1" dirty="0"/>
              <a:t> 게 무슨 의미인가</a:t>
            </a:r>
            <a:r>
              <a:rPr lang="en-US" altLang="ko-KR" b="1" dirty="0"/>
              <a:t>?</a:t>
            </a:r>
          </a:p>
          <a:p>
            <a:r>
              <a:rPr lang="ko-KR" altLang="en-US" dirty="0"/>
              <a:t>👉 </a:t>
            </a:r>
            <a:r>
              <a:rPr lang="ko-KR" altLang="en-US" b="1" dirty="0"/>
              <a:t>맞다</a:t>
            </a:r>
            <a:r>
              <a:rPr lang="en-US" altLang="ko-KR" b="1" dirty="0"/>
              <a:t>. </a:t>
            </a:r>
            <a:r>
              <a:rPr lang="ko-KR" altLang="en-US" b="1" dirty="0"/>
              <a:t>현재 코드는 </a:t>
            </a:r>
            <a:r>
              <a:rPr lang="en-US" altLang="ko-KR" b="1" dirty="0" err="1"/>
              <a:t>RandomizedSearchCV</a:t>
            </a:r>
            <a:r>
              <a:rPr lang="ko-KR" altLang="en-US" b="1" dirty="0"/>
              <a:t>를 사용해서 </a:t>
            </a:r>
            <a:r>
              <a:rPr lang="ko-KR" altLang="en-US" b="1" dirty="0" err="1"/>
              <a:t>하이퍼파라미터를</a:t>
            </a:r>
            <a:r>
              <a:rPr lang="ko-KR" altLang="en-US" b="1" dirty="0"/>
              <a:t> 자동 탐색한다</a:t>
            </a:r>
            <a:r>
              <a:rPr lang="en-US" altLang="ko-KR" b="1" dirty="0"/>
              <a:t>.</a:t>
            </a:r>
            <a:endParaRPr lang="ko-KR" altLang="en-US" dirty="0"/>
          </a:p>
          <a:p>
            <a:r>
              <a:rPr lang="ko-KR" altLang="en-US" dirty="0"/>
              <a:t>의미를 풀면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우리가 미리 정의한 </a:t>
            </a:r>
            <a:r>
              <a:rPr lang="ko-KR" altLang="en-US" b="1" dirty="0" err="1"/>
              <a:t>하이퍼파라미터</a:t>
            </a:r>
            <a:r>
              <a:rPr lang="ko-KR" altLang="en-US" b="1" dirty="0"/>
              <a:t> 후보 공간</a:t>
            </a:r>
            <a:r>
              <a:rPr lang="en-US" altLang="ko-KR" b="1" dirty="0"/>
              <a:t>(</a:t>
            </a:r>
            <a:r>
              <a:rPr lang="en-US" altLang="ko-KR" b="1" dirty="0" err="1"/>
              <a:t>param_distributions</a:t>
            </a:r>
            <a:r>
              <a:rPr lang="en-US" altLang="ko-KR" b="1" dirty="0"/>
              <a:t>)</a:t>
            </a:r>
            <a:r>
              <a:rPr lang="ko-KR" altLang="en-US" dirty="0"/>
              <a:t> 에서</a:t>
            </a:r>
          </a:p>
          <a:p>
            <a:r>
              <a:rPr lang="ko-KR" altLang="en-US" b="1" dirty="0"/>
              <a:t>무작위</a:t>
            </a:r>
            <a:r>
              <a:rPr lang="en-US" altLang="ko-KR" b="1" dirty="0"/>
              <a:t>(Random)</a:t>
            </a:r>
            <a:r>
              <a:rPr lang="ko-KR" altLang="en-US" b="1" dirty="0"/>
              <a:t>로 조합을 뽑아</a:t>
            </a:r>
            <a:endParaRPr lang="ko-KR" altLang="en-US" dirty="0"/>
          </a:p>
          <a:p>
            <a:r>
              <a:rPr lang="ko-KR" altLang="en-US" dirty="0"/>
              <a:t>각 조합에 대해 </a:t>
            </a:r>
            <a:r>
              <a:rPr lang="ko-KR" altLang="en-US" b="1" dirty="0"/>
              <a:t>교차검증</a:t>
            </a:r>
            <a:r>
              <a:rPr lang="en-US" altLang="ko-KR" b="1" dirty="0"/>
              <a:t>(cv)</a:t>
            </a:r>
            <a:r>
              <a:rPr lang="ko-KR" altLang="en-US" dirty="0"/>
              <a:t> 으로 성능을 평가하고</a:t>
            </a:r>
          </a:p>
          <a:p>
            <a:r>
              <a:rPr lang="ko-KR" altLang="en-US" b="1" dirty="0"/>
              <a:t>가장 성능이 좋은 파라미터 조합을 자동으로 선택</a:t>
            </a:r>
            <a:r>
              <a:rPr lang="ko-KR" altLang="en-US" dirty="0"/>
              <a:t>한다는 뜻이다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사람이 하나하나 파라미터를 손으로 바꾸는 게 아니라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b="1" dirty="0"/>
              <a:t>코드가 정해진 횟수만큼 자동 실험 → 최적 조합 선택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dirty="0" err="1"/>
              <a:t>하이퍼</a:t>
            </a:r>
            <a:r>
              <a:rPr lang="ko-KR" altLang="en-US" dirty="0"/>
              <a:t> 파라미터 최적화를 위한 </a:t>
            </a:r>
            <a:r>
              <a:rPr lang="ko-KR" altLang="en-US" dirty="0" err="1"/>
              <a:t>모델별</a:t>
            </a:r>
            <a:r>
              <a:rPr lang="ko-KR" altLang="en-US" dirty="0"/>
              <a:t> 실제 반복 횟수</a:t>
            </a:r>
            <a:r>
              <a:rPr lang="en-US" altLang="ko-KR" dirty="0"/>
              <a:t>) </a:t>
            </a:r>
            <a:r>
              <a:rPr lang="ko-KR" altLang="en-US" dirty="0"/>
              <a:t>공통 구간 </a:t>
            </a:r>
            <a:r>
              <a:rPr lang="en-US" altLang="ko-KR" dirty="0"/>
              <a:t>3 (</a:t>
            </a:r>
            <a:r>
              <a:rPr lang="ko-KR" altLang="en-US" dirty="0"/>
              <a:t>교차검증 영역</a:t>
            </a:r>
            <a:r>
              <a:rPr lang="en-US" altLang="ko-KR" dirty="0"/>
              <a:t>) RF = 5, XGB = 8 LGBM = 8</a:t>
            </a:r>
            <a:endParaRPr lang="ko-KR" altLang="en-US" dirty="0"/>
          </a:p>
          <a:p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DF6468-0A9F-0DEA-673C-FC96D9C4E9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152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914BC-34D5-C245-EDBC-4630DB521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208096-9048-6E09-F8B3-C5EAEBAA4E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A54612-FC04-D8E8-070C-7DF7C96891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단일 모델 성능 비교 결과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두 도시 모두에서 </a:t>
            </a:r>
            <a:r>
              <a:rPr lang="en-US" altLang="ko-KR" b="1" dirty="0" err="1"/>
              <a:t>LightGBM</a:t>
            </a:r>
            <a:r>
              <a:rPr lang="ko-KR" altLang="en-US" b="1" dirty="0"/>
              <a:t>이 가장 안정적인 성능</a:t>
            </a:r>
            <a:r>
              <a:rPr lang="ko-KR" altLang="en-US" dirty="0"/>
              <a:t>을 보였습니다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또한 도시별로 </a:t>
            </a:r>
            <a:r>
              <a:rPr lang="ko-KR" altLang="en-US" dirty="0" err="1"/>
              <a:t>전처리</a:t>
            </a:r>
            <a:r>
              <a:rPr lang="ko-KR" altLang="en-US" dirty="0"/>
              <a:t> 최적 선택이 달랐습니다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서울은 </a:t>
            </a:r>
            <a:r>
              <a:rPr lang="en-US" altLang="ko-KR" b="1" dirty="0"/>
              <a:t>IQR </a:t>
            </a:r>
            <a:r>
              <a:rPr lang="ko-KR" altLang="en-US" b="1" dirty="0"/>
              <a:t>적용이 성능 향상에 효과적</a:t>
            </a:r>
            <a:r>
              <a:rPr lang="ko-KR" altLang="en-US" dirty="0"/>
              <a:t>이었고</a:t>
            </a:r>
            <a:r>
              <a:rPr lang="en-US" altLang="ko-KR" dirty="0"/>
              <a:t>,</a:t>
            </a:r>
          </a:p>
          <a:p>
            <a:r>
              <a:rPr lang="ko-KR" altLang="en-US" b="1" dirty="0"/>
              <a:t>워싱턴은 </a:t>
            </a:r>
            <a:r>
              <a:rPr lang="en-US" altLang="ko-KR" b="1" dirty="0"/>
              <a:t>No-IQR </a:t>
            </a:r>
            <a:r>
              <a:rPr lang="ko-KR" altLang="en-US" b="1" dirty="0"/>
              <a:t>전략이 데이터 다양성을 유지하면서 성능이 더 좋았습니다</a:t>
            </a:r>
            <a:r>
              <a:rPr lang="en-US" altLang="ko-KR" b="1" dirty="0"/>
              <a:t>.</a:t>
            </a:r>
            <a:endParaRPr lang="ko-KR" altLang="en-US" dirty="0"/>
          </a:p>
          <a:p>
            <a:r>
              <a:rPr lang="ko-KR" altLang="en-US" dirty="0"/>
              <a:t>이 결과는 “모델이 무조건 </a:t>
            </a:r>
            <a:r>
              <a:rPr lang="ko-KR" altLang="en-US" dirty="0" err="1"/>
              <a:t>중요”가</a:t>
            </a:r>
            <a:r>
              <a:rPr lang="ko-KR" altLang="en-US" dirty="0"/>
              <a:t> 아니라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b="1" dirty="0"/>
              <a:t>데이터 분포 특성과 목표에 맞는 </a:t>
            </a:r>
            <a:r>
              <a:rPr lang="ko-KR" altLang="en-US" b="1" dirty="0" err="1"/>
              <a:t>전처리</a:t>
            </a:r>
            <a:r>
              <a:rPr lang="ko-KR" altLang="en-US" b="1" dirty="0"/>
              <a:t> 선택이 성능을 좌우</a:t>
            </a:r>
            <a:r>
              <a:rPr lang="ko-KR" altLang="en-US" dirty="0"/>
              <a:t>한다는 메시지로 연결됩니다</a:t>
            </a:r>
            <a:r>
              <a:rPr lang="en-US" altLang="ko-KR" dirty="0"/>
              <a:t>.</a:t>
            </a:r>
          </a:p>
          <a:p>
            <a:b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</a:br>
            <a:endParaRPr lang="en-US" altLang="ko-KR" sz="1200" dirty="0">
              <a:solidFill>
                <a:srgbClr val="374151"/>
              </a:solidFill>
              <a:latin typeface="Noto Sans KR" pitchFamily="34" charset="0"/>
              <a:ea typeface="Noto Sans KR" pitchFamily="34" charset="-122"/>
            </a:endParaRPr>
          </a:p>
          <a:p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Note)</a:t>
            </a:r>
            <a:b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ko-KR" altLang="en-US" b="1" dirty="0"/>
              <a:t>📌 </a:t>
            </a:r>
            <a:r>
              <a:rPr lang="en-US" altLang="ko-KR" b="1" dirty="0"/>
              <a:t>IQR </a:t>
            </a:r>
            <a:r>
              <a:rPr lang="ko-KR" altLang="en-US" b="1" dirty="0"/>
              <a:t>적용 여부에 따른 차이 분석</a:t>
            </a:r>
          </a:p>
          <a:p>
            <a:r>
              <a:rPr lang="ko-KR" altLang="en-US" b="1" dirty="0"/>
              <a:t>✅ </a:t>
            </a:r>
            <a:r>
              <a:rPr lang="en-US" altLang="ko-KR" b="1" dirty="0"/>
              <a:t>Seoul </a:t>
            </a:r>
            <a:r>
              <a:rPr lang="ko-KR" altLang="en-US" b="1" dirty="0"/>
              <a:t>데이터</a:t>
            </a:r>
          </a:p>
          <a:p>
            <a:r>
              <a:rPr lang="en-US" altLang="ko-KR" b="1" dirty="0"/>
              <a:t>IQR </a:t>
            </a:r>
            <a:r>
              <a:rPr lang="ko-KR" altLang="en-US" b="1" dirty="0"/>
              <a:t>기반 이상치 제거 적용 시 성능 개선 효과가 명확하게 나타남</a:t>
            </a:r>
            <a:endParaRPr lang="ko-KR" altLang="en-US" dirty="0"/>
          </a:p>
          <a:p>
            <a:r>
              <a:rPr lang="ko-KR" altLang="en-US" dirty="0"/>
              <a:t>데이터 분포가 비교적 안정적이고 품질이 높아</a:t>
            </a:r>
            <a:br>
              <a:rPr lang="ko-KR" altLang="en-US" dirty="0"/>
            </a:br>
            <a:r>
              <a:rPr lang="ko-KR" altLang="en-US" b="1" dirty="0" err="1"/>
              <a:t>극단값</a:t>
            </a:r>
            <a:r>
              <a:rPr lang="ko-KR" altLang="en-US" b="1" dirty="0"/>
              <a:t> 제거를 통해 노이즈가 감소하면서 모델의 일반화 성능이 향상됨</a:t>
            </a:r>
            <a:endParaRPr lang="ko-KR" altLang="en-US" dirty="0"/>
          </a:p>
          <a:p>
            <a:r>
              <a:rPr lang="ko-KR" altLang="en-US" dirty="0"/>
              <a:t>예시</a:t>
            </a:r>
            <a:r>
              <a:rPr lang="en-US" altLang="ko-KR" dirty="0"/>
              <a:t>: </a:t>
            </a:r>
            <a:r>
              <a:rPr lang="en-US" altLang="ko-KR" dirty="0" err="1"/>
              <a:t>LightGBM</a:t>
            </a:r>
            <a:r>
              <a:rPr lang="en-US" altLang="ko-KR" dirty="0"/>
              <a:t> </a:t>
            </a:r>
            <a:r>
              <a:rPr lang="ko-KR" altLang="en-US" dirty="0"/>
              <a:t>기준 </a:t>
            </a:r>
            <a:r>
              <a:rPr lang="en-US" altLang="ko-KR" dirty="0"/>
              <a:t>RMSE</a:t>
            </a:r>
            <a:br>
              <a:rPr lang="en-US" altLang="ko-KR" dirty="0"/>
            </a:br>
            <a:r>
              <a:rPr lang="en-US" altLang="ko-KR" dirty="0"/>
              <a:t>→ </a:t>
            </a:r>
            <a:r>
              <a:rPr lang="en-US" altLang="ko-KR" b="1" dirty="0"/>
              <a:t>IQR </a:t>
            </a:r>
            <a:r>
              <a:rPr lang="ko-KR" altLang="en-US" b="1" dirty="0"/>
              <a:t>적용</a:t>
            </a:r>
            <a:r>
              <a:rPr lang="en-US" altLang="ko-KR" b="1" dirty="0"/>
              <a:t>: 6.007 / No-IQR: 7.481</a:t>
            </a:r>
            <a:endParaRPr lang="ko-KR" altLang="en-US" dirty="0"/>
          </a:p>
          <a:p>
            <a:r>
              <a:rPr lang="ko-KR" altLang="en-US" b="1" dirty="0"/>
              <a:t>⚠ </a:t>
            </a:r>
            <a:r>
              <a:rPr lang="en-US" altLang="ko-KR" b="1" dirty="0"/>
              <a:t>Washington DC </a:t>
            </a:r>
            <a:r>
              <a:rPr lang="ko-KR" altLang="en-US" b="1" dirty="0"/>
              <a:t>데이터</a:t>
            </a:r>
          </a:p>
          <a:p>
            <a:r>
              <a:rPr lang="en-US" altLang="ko-KR" b="1" dirty="0"/>
              <a:t>No-IQR </a:t>
            </a:r>
            <a:r>
              <a:rPr lang="ko-KR" altLang="en-US" b="1" dirty="0"/>
              <a:t>전략이 </a:t>
            </a:r>
            <a:r>
              <a:rPr lang="en-US" altLang="ko-KR" b="1" dirty="0"/>
              <a:t>IQR </a:t>
            </a:r>
            <a:r>
              <a:rPr lang="ko-KR" altLang="en-US" b="1" dirty="0"/>
              <a:t>적용 대비 더 우수한 성능을 기록</a:t>
            </a:r>
            <a:endParaRPr lang="ko-KR" altLang="en-US" dirty="0"/>
          </a:p>
          <a:p>
            <a:r>
              <a:rPr lang="ko-KR" altLang="en-US" dirty="0"/>
              <a:t>원본 데이터 분포가 넓고 패턴이 다양하여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b="1" dirty="0"/>
              <a:t>IQR </a:t>
            </a:r>
            <a:r>
              <a:rPr lang="ko-KR" altLang="en-US" b="1" dirty="0"/>
              <a:t>적용 시 전체 데이터의 약 </a:t>
            </a:r>
            <a:r>
              <a:rPr lang="en-US" altLang="ko-KR" b="1" dirty="0"/>
              <a:t>84%</a:t>
            </a:r>
            <a:r>
              <a:rPr lang="ko-KR" altLang="en-US" b="1" dirty="0"/>
              <a:t>가 제거되며 정보 손실 발생</a:t>
            </a:r>
            <a:endParaRPr lang="ko-KR" altLang="en-US" dirty="0"/>
          </a:p>
          <a:p>
            <a:r>
              <a:rPr lang="ko-KR" altLang="en-US" dirty="0"/>
              <a:t>이로 인해 데이터 다양성이 감소하고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결과적으로 </a:t>
            </a:r>
            <a:r>
              <a:rPr lang="ko-KR" altLang="en-US" b="1" dirty="0"/>
              <a:t>모델 성능이 오히려 저하되는 현상이 관찰됨</a:t>
            </a:r>
            <a:endParaRPr lang="ko-KR" altLang="en-US" dirty="0"/>
          </a:p>
          <a:p>
            <a:pPr marL="0" indent="0">
              <a:lnSpc>
                <a:spcPts val="1800"/>
              </a:lnSpc>
              <a:buFont typeface="Arial" panose="020B0604020202020204" pitchFamily="34" charset="0"/>
              <a:buNone/>
            </a:pPr>
            <a:endParaRPr lang="en-US" altLang="ko-KR" sz="1200" dirty="0">
              <a:solidFill>
                <a:srgbClr val="374151"/>
              </a:solidFill>
              <a:latin typeface="Noto Sans KR" pitchFamily="34" charset="0"/>
              <a:ea typeface="Noto Sans KR" pitchFamily="34" charset="-122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03C71-BCAB-83C4-D14E-D37F764B5E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8739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6EC80-169E-E36C-2677-A4505A027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840FB3-0B3B-D9A4-D24D-A2EE3221F5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858C08-9987-4B67-2F7E-7050656358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다음은 앙상블입니다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저희는 단순 평균이 아니라 </a:t>
            </a:r>
            <a:r>
              <a:rPr lang="en-US" altLang="ko-KR" b="1" dirty="0"/>
              <a:t>Weighted Average(</a:t>
            </a:r>
            <a:r>
              <a:rPr lang="ko-KR" altLang="en-US" b="1" dirty="0"/>
              <a:t>가중 평균</a:t>
            </a:r>
            <a:r>
              <a:rPr lang="en-US" altLang="ko-KR" b="1" dirty="0"/>
              <a:t>)</a:t>
            </a:r>
            <a:r>
              <a:rPr lang="ko-KR" altLang="en-US" dirty="0"/>
              <a:t> 앙상블을 적용했습니다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이유는 두 가지입니다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 err="1"/>
              <a:t>모델별</a:t>
            </a:r>
            <a:r>
              <a:rPr lang="ko-KR" altLang="en-US" dirty="0"/>
              <a:t> 성능 편차가 명확했고</a:t>
            </a:r>
          </a:p>
          <a:p>
            <a:r>
              <a:rPr lang="ko-KR" altLang="en-US" dirty="0"/>
              <a:t>모델마다 강점 피처 조합이 조금씩 달랐기 때문입니다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그래서 “똑같이 </a:t>
            </a:r>
            <a:r>
              <a:rPr lang="en-US" altLang="ko-KR" dirty="0"/>
              <a:t>1/N</a:t>
            </a:r>
            <a:r>
              <a:rPr lang="ko-KR" altLang="en-US" dirty="0"/>
              <a:t>로 </a:t>
            </a:r>
            <a:r>
              <a:rPr lang="ko-KR" altLang="en-US" dirty="0" err="1"/>
              <a:t>평균”이</a:t>
            </a:r>
            <a:r>
              <a:rPr lang="ko-KR" altLang="en-US" dirty="0"/>
              <a:t> 아니라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검증 성능이 좋은 모델의 기여도를 높여서</a:t>
            </a:r>
            <a:br>
              <a:rPr lang="ko-KR" altLang="en-US" dirty="0"/>
            </a:br>
            <a:r>
              <a:rPr lang="ko-KR" altLang="en-US" dirty="0"/>
              <a:t>최종 예측의 신뢰성과 일반화 성능을 확보하고자 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여기서 꼭 가져가야 하는 메시지는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앙상블은 ‘무조건 정확도 올리는 </a:t>
            </a:r>
            <a:r>
              <a:rPr lang="ko-KR" altLang="en-US" dirty="0" err="1"/>
              <a:t>만능’이</a:t>
            </a:r>
            <a:r>
              <a:rPr lang="ko-KR" altLang="en-US" dirty="0"/>
              <a:t> 아니라</a:t>
            </a:r>
            <a:br>
              <a:rPr lang="ko-KR" altLang="en-US" dirty="0"/>
            </a:br>
            <a:r>
              <a:rPr lang="ko-KR" altLang="en-US" b="1" dirty="0"/>
              <a:t>불확실성을 줄이는 전략적 결합</a:t>
            </a:r>
            <a:r>
              <a:rPr lang="ko-KR" altLang="en-US" dirty="0"/>
              <a:t>이라는 점입니다</a:t>
            </a:r>
            <a:r>
              <a:rPr lang="en-US" altLang="ko-KR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0FAE5-A0C5-E111-55B4-DDF27DEA6B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7646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34AE9-3355-DFB1-6869-463EA2399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1F282B-8035-47B1-8FEA-AFB8B989BD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816FB6-BC72-01A4-E756-B2FBB55404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앙상블 성능을 단일 최적 모델과 비교하면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일부 경우 안정성이 좋아졌지만 </a:t>
            </a:r>
            <a:r>
              <a:rPr lang="ko-KR" altLang="en-US" b="1" dirty="0"/>
              <a:t>항상 단일 최적 모델을 초과하진 않았습니다</a:t>
            </a:r>
            <a:r>
              <a:rPr lang="en-US" altLang="ko-KR" b="1" dirty="0"/>
              <a:t>.</a:t>
            </a:r>
            <a:endParaRPr lang="ko-KR" altLang="en-US" dirty="0"/>
          </a:p>
          <a:p>
            <a:r>
              <a:rPr lang="ko-KR" altLang="en-US" dirty="0"/>
              <a:t>이게 중요한 이유는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모델들이 서로 다른 오류를 내야 앙상블이 강해지는데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예측 패턴이 유사하면 앙상블은 성능 향상보다는</a:t>
            </a:r>
            <a:br>
              <a:rPr lang="ko-KR" altLang="en-US" dirty="0"/>
            </a:br>
            <a:r>
              <a:rPr lang="ko-KR" altLang="en-US" b="1" dirty="0"/>
              <a:t>예측을 부드럽게 만드는 </a:t>
            </a:r>
            <a:r>
              <a:rPr lang="en-US" altLang="ko-KR" b="1" dirty="0"/>
              <a:t>smoothing </a:t>
            </a:r>
            <a:r>
              <a:rPr lang="ko-KR" altLang="en-US" b="1" dirty="0"/>
              <a:t>효과</a:t>
            </a:r>
            <a:r>
              <a:rPr lang="ko-KR" altLang="en-US" dirty="0"/>
              <a:t>로 나타날 수 있기 때문입니다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“</a:t>
            </a:r>
            <a:r>
              <a:rPr lang="ko-KR" altLang="en-US" dirty="0"/>
              <a:t>앙상블을 했으니 </a:t>
            </a:r>
            <a:r>
              <a:rPr lang="ko-KR" altLang="en-US" dirty="0" err="1"/>
              <a:t>좋아진다”가</a:t>
            </a:r>
            <a:r>
              <a:rPr lang="ko-KR" altLang="en-US" dirty="0"/>
              <a:t> 아니라</a:t>
            </a:r>
            <a:br>
              <a:rPr lang="ko-KR" altLang="en-US" dirty="0"/>
            </a:br>
            <a:r>
              <a:rPr lang="ko-KR" altLang="en-US" b="1" dirty="0"/>
              <a:t>다양성</a:t>
            </a:r>
            <a:r>
              <a:rPr lang="en-US" altLang="ko-KR" b="1" dirty="0"/>
              <a:t>(diversity)</a:t>
            </a:r>
            <a:r>
              <a:rPr lang="ko-KR" altLang="en-US" b="1" dirty="0"/>
              <a:t>이 확보되는지</a:t>
            </a:r>
            <a:r>
              <a:rPr lang="ko-KR" altLang="en-US" dirty="0"/>
              <a:t>가 핵심 조건입니다</a:t>
            </a:r>
            <a:r>
              <a:rPr lang="en-US" altLang="ko-KR" dirty="0"/>
              <a:t>.</a:t>
            </a:r>
            <a:endParaRPr lang="en-US" altLang="ko-KR" sz="1200" dirty="0">
              <a:solidFill>
                <a:srgbClr val="374151"/>
              </a:solidFill>
              <a:latin typeface="Noto Sans KR" pitchFamily="34" charset="0"/>
              <a:ea typeface="Noto Sans KR" pitchFamily="34" charset="-122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093B9-B251-7051-6CED-0307974150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5159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AD6F0-B986-7616-912F-58DFBAE20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71C311-6B7F-1DEB-A71F-F2032A2A6F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6AF4A6-53D8-D248-F4AF-8F934E00A8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예측 결과를 보면 도시별 특징이 더 </a:t>
            </a:r>
            <a:r>
              <a:rPr lang="en-US" altLang="ko-KR" dirty="0" err="1"/>
              <a:t>स्पष्ट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서울에서는 앙상블이 전체적인 추세와 계절성은 안정적으로 반영하지만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변동성과 극단적 수요가 빈번한 구간에서는</a:t>
            </a:r>
            <a:br>
              <a:rPr lang="ko-KR" altLang="en-US" dirty="0"/>
            </a:br>
            <a:r>
              <a:rPr lang="ko-KR" altLang="en-US" dirty="0"/>
              <a:t>피크를 따라가지 못하고 평균으로 수렴하는 경향이 있었습니다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반면 워싱턴은 </a:t>
            </a:r>
            <a:r>
              <a:rPr lang="en-US" altLang="ko-KR" dirty="0"/>
              <a:t>No-IQR </a:t>
            </a:r>
            <a:r>
              <a:rPr lang="ko-KR" altLang="en-US" dirty="0"/>
              <a:t>전략이 데이터 다양성을 유지한 상태에서</a:t>
            </a:r>
            <a:br>
              <a:rPr lang="ko-KR" altLang="en-US" dirty="0"/>
            </a:br>
            <a:r>
              <a:rPr lang="ko-KR" altLang="en-US" dirty="0"/>
              <a:t>장기 추세 예측이 비교적 안정적으로 나타났습니다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중간 결론은 이렇습니다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워싱턴은 </a:t>
            </a:r>
            <a:r>
              <a:rPr lang="en-US" altLang="ko-KR" b="1" dirty="0"/>
              <a:t>No-IQR</a:t>
            </a:r>
            <a:r>
              <a:rPr lang="ko-KR" altLang="en-US" b="1" dirty="0"/>
              <a:t>이 ‘현실 다양성’ 학습에 유리했고</a:t>
            </a:r>
            <a:r>
              <a:rPr lang="en-US" altLang="ko-KR" b="1" dirty="0"/>
              <a:t>,</a:t>
            </a:r>
            <a:br>
              <a:rPr lang="en-US" altLang="ko-KR" b="1" dirty="0"/>
            </a:br>
            <a:r>
              <a:rPr lang="ko-KR" altLang="en-US" b="1" dirty="0"/>
              <a:t>서울은 변동성이 커서 앙상블이 </a:t>
            </a:r>
            <a:r>
              <a:rPr lang="ko-KR" altLang="en-US" b="1" dirty="0" err="1"/>
              <a:t>평균화될</a:t>
            </a:r>
            <a:r>
              <a:rPr lang="ko-KR" altLang="en-US" b="1" dirty="0"/>
              <a:t> 위험이 더 크다</a:t>
            </a:r>
            <a:r>
              <a:rPr lang="en-US" altLang="ko-KR" b="1" dirty="0"/>
              <a:t>.</a:t>
            </a:r>
            <a:endParaRPr lang="ko-KR" altLang="en-US" dirty="0"/>
          </a:p>
          <a:p>
            <a:r>
              <a:rPr lang="ko-KR" altLang="en-US" dirty="0"/>
              <a:t>이 해석이 바로 다음 슬라이드의 종합 결론으로 이어집니다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8041A4-3991-B8DE-DD3A-ED65718F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7613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8A5BF-3983-37DB-23E9-CB8F89965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DBBA15-680E-0777-D9B7-36CFFE5379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4DCF4B-CE53-9B8D-B5D1-AB19564B2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/>
              <a:t>발표 대본</a:t>
            </a:r>
            <a:endParaRPr lang="ko-KR" altLang="en-US" dirty="0"/>
          </a:p>
          <a:p>
            <a:r>
              <a:rPr lang="ko-KR" altLang="en-US" dirty="0"/>
              <a:t>종합하면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어떤 모델이 안정적이었나</a:t>
            </a:r>
            <a:r>
              <a:rPr lang="en-US" altLang="ko-KR" dirty="0"/>
              <a:t>? → </a:t>
            </a:r>
            <a:r>
              <a:rPr lang="ko-KR" altLang="en-US" dirty="0"/>
              <a:t>두 도시 모두 </a:t>
            </a:r>
            <a:r>
              <a:rPr lang="en-US" altLang="ko-KR" b="1" dirty="0"/>
              <a:t>LGBM </a:t>
            </a:r>
            <a:r>
              <a:rPr lang="ko-KR" altLang="en-US" b="1" dirty="0"/>
              <a:t>단일 모델이 가장 안정적</a:t>
            </a:r>
            <a:r>
              <a:rPr lang="ko-KR" altLang="en-US" dirty="0"/>
              <a:t>이었습니다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앙상블이 항상 우수한가</a:t>
            </a:r>
            <a:r>
              <a:rPr lang="en-US" altLang="ko-KR" dirty="0"/>
              <a:t>? → </a:t>
            </a:r>
            <a:r>
              <a:rPr lang="ko-KR" altLang="en-US" dirty="0"/>
              <a:t>아닙니다</a:t>
            </a:r>
            <a:r>
              <a:rPr lang="en-US" altLang="ko-KR" dirty="0"/>
              <a:t>. </a:t>
            </a:r>
            <a:r>
              <a:rPr lang="ko-KR" altLang="en-US" dirty="0"/>
              <a:t>패턴 유사 시 </a:t>
            </a:r>
            <a:r>
              <a:rPr lang="en-US" altLang="ko-KR" b="1" dirty="0"/>
              <a:t>smoothing</a:t>
            </a:r>
            <a:r>
              <a:rPr lang="ko-KR" altLang="en-US" dirty="0"/>
              <a:t>으로 작동했습니다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전처리</a:t>
            </a:r>
            <a:r>
              <a:rPr lang="en-US" altLang="ko-KR" dirty="0"/>
              <a:t>(IQR/No-IQR)</a:t>
            </a:r>
            <a:r>
              <a:rPr lang="ko-KR" altLang="en-US" dirty="0"/>
              <a:t>의 영향은</a:t>
            </a:r>
            <a:r>
              <a:rPr lang="en-US" altLang="ko-KR" dirty="0"/>
              <a:t>? → </a:t>
            </a:r>
            <a:r>
              <a:rPr lang="ko-KR" altLang="en-US" dirty="0"/>
              <a:t>도시별로 달랐고</a:t>
            </a:r>
            <a:r>
              <a:rPr lang="en-US" altLang="ko-KR" dirty="0"/>
              <a:t>, </a:t>
            </a:r>
            <a:r>
              <a:rPr lang="ko-KR" altLang="en-US" dirty="0"/>
              <a:t>전처리는 앙상블 구조 자체를 바꿨습니다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그리고 더 큰 메시지는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성능은 알고리즘 선택 자체보다</a:t>
            </a:r>
            <a:br>
              <a:rPr lang="ko-KR" altLang="en-US" dirty="0"/>
            </a:br>
            <a:r>
              <a:rPr lang="ko-KR" altLang="en-US" b="1" dirty="0"/>
              <a:t>데이터 분포 특성과 피처 상호작용 구조</a:t>
            </a:r>
            <a:r>
              <a:rPr lang="ko-KR" altLang="en-US" dirty="0"/>
              <a:t>에 더 크게 의존한다는 점입니다</a:t>
            </a:r>
            <a:r>
              <a:rPr lang="en-US" altLang="ko-KR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1B9DF-7317-4151-34C2-FF56DABDFC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2805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6DBEF-A2B2-FFE5-9B6D-1E87A152A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43ABDF-4B09-DA79-6061-9C6703B6AA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291FAD-8E4C-AFB1-2772-07048EE4F0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이제 “왜 그렇게 </a:t>
            </a:r>
            <a:r>
              <a:rPr lang="ko-KR" altLang="en-US" dirty="0" err="1"/>
              <a:t>예측했는지”를</a:t>
            </a:r>
            <a:r>
              <a:rPr lang="ko-KR" altLang="en-US" dirty="0"/>
              <a:t> </a:t>
            </a:r>
            <a:r>
              <a:rPr lang="en-US" altLang="ko-KR" dirty="0"/>
              <a:t>SHAP</a:t>
            </a:r>
            <a:r>
              <a:rPr lang="ko-KR" altLang="en-US" dirty="0"/>
              <a:t>으로 확인했습니다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서울의 상위 영향 변수는</a:t>
            </a:r>
            <a:br>
              <a:rPr lang="ko-KR" altLang="en-US" dirty="0"/>
            </a:br>
            <a:r>
              <a:rPr lang="en-US" altLang="ko-KR" b="1" dirty="0" err="1"/>
              <a:t>quarter_flag</a:t>
            </a:r>
            <a:r>
              <a:rPr lang="en-US" altLang="ko-KR" b="1" dirty="0"/>
              <a:t>(</a:t>
            </a:r>
            <a:r>
              <a:rPr lang="ko-KR" altLang="en-US" b="1" dirty="0"/>
              <a:t>압도적 </a:t>
            </a:r>
            <a:r>
              <a:rPr lang="en-US" altLang="ko-KR" b="1" dirty="0"/>
              <a:t>1</a:t>
            </a:r>
            <a:r>
              <a:rPr lang="ko-KR" altLang="en-US" b="1" dirty="0"/>
              <a:t>위</a:t>
            </a:r>
            <a:r>
              <a:rPr lang="en-US" altLang="ko-KR" b="1" dirty="0"/>
              <a:t>), temperature, </a:t>
            </a:r>
            <a:r>
              <a:rPr lang="en-US" altLang="ko-KR" b="1" dirty="0" err="1"/>
              <a:t>n_station_dis</a:t>
            </a:r>
            <a:r>
              <a:rPr lang="en-US" altLang="ko-KR" b="1" dirty="0"/>
              <a:t>(m), </a:t>
            </a:r>
            <a:r>
              <a:rPr lang="en-US" altLang="ko-KR" b="1" dirty="0" err="1"/>
              <a:t>Holding_quantity</a:t>
            </a:r>
            <a:r>
              <a:rPr lang="en-US" altLang="ko-KR" b="1" dirty="0"/>
              <a:t>, </a:t>
            </a:r>
            <a:r>
              <a:rPr lang="ko-KR" altLang="en-US" b="1" dirty="0"/>
              <a:t>학교 반경 변수</a:t>
            </a:r>
            <a:r>
              <a:rPr lang="ko-KR" altLang="en-US" dirty="0"/>
              <a:t> 순입니다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해석하면</a:t>
            </a:r>
            <a:r>
              <a:rPr lang="en-US" altLang="ko-KR" dirty="0"/>
              <a:t>, </a:t>
            </a:r>
            <a:r>
              <a:rPr lang="ko-KR" altLang="en-US" dirty="0"/>
              <a:t>서울 수요는</a:t>
            </a:r>
          </a:p>
          <a:p>
            <a:r>
              <a:rPr lang="ko-KR" altLang="en-US" dirty="0"/>
              <a:t>첫째</a:t>
            </a:r>
            <a:r>
              <a:rPr lang="en-US" altLang="ko-KR" dirty="0"/>
              <a:t>, </a:t>
            </a:r>
            <a:r>
              <a:rPr lang="ko-KR" altLang="en-US" dirty="0"/>
              <a:t>출퇴근 중심의 </a:t>
            </a:r>
            <a:r>
              <a:rPr lang="ko-KR" altLang="en-US" b="1" dirty="0"/>
              <a:t>시간대 구조</a:t>
            </a:r>
            <a:r>
              <a:rPr lang="ko-KR" altLang="en-US" dirty="0"/>
              <a:t>가 수요를 ‘</a:t>
            </a:r>
            <a:r>
              <a:rPr lang="ko-KR" altLang="en-US" dirty="0" err="1"/>
              <a:t>활성화’시키고</a:t>
            </a:r>
            <a:endParaRPr lang="ko-KR" altLang="en-US" dirty="0"/>
          </a:p>
          <a:p>
            <a:r>
              <a:rPr lang="ko-KR" altLang="en-US" dirty="0"/>
              <a:t>둘째</a:t>
            </a:r>
            <a:r>
              <a:rPr lang="en-US" altLang="ko-KR" dirty="0"/>
              <a:t>, </a:t>
            </a:r>
            <a:r>
              <a:rPr lang="ko-KR" altLang="en-US" dirty="0"/>
              <a:t>기온이 쾌적 조건을 만들며</a:t>
            </a:r>
          </a:p>
          <a:p>
            <a:r>
              <a:rPr lang="ko-KR" altLang="en-US" dirty="0"/>
              <a:t>셋째</a:t>
            </a:r>
            <a:r>
              <a:rPr lang="en-US" altLang="ko-KR" dirty="0"/>
              <a:t>, </a:t>
            </a:r>
            <a:r>
              <a:rPr lang="ko-KR" altLang="en-US" dirty="0"/>
              <a:t>역 접근성과 인프라 밀도</a:t>
            </a:r>
            <a:r>
              <a:rPr lang="en-US" altLang="ko-KR" dirty="0"/>
              <a:t>, </a:t>
            </a:r>
            <a:r>
              <a:rPr lang="ko-KR" altLang="en-US" dirty="0"/>
              <a:t>그리고 보유대수</a:t>
            </a:r>
            <a:r>
              <a:rPr lang="en-US" altLang="ko-KR" dirty="0"/>
              <a:t>(</a:t>
            </a:r>
            <a:r>
              <a:rPr lang="ko-KR" altLang="en-US" dirty="0"/>
              <a:t>공급</a:t>
            </a:r>
            <a:r>
              <a:rPr lang="en-US" altLang="ko-KR" dirty="0"/>
              <a:t>)</a:t>
            </a:r>
            <a:r>
              <a:rPr lang="ko-KR" altLang="en-US" dirty="0"/>
              <a:t>가</a:t>
            </a:r>
            <a:br>
              <a:rPr lang="ko-KR" altLang="en-US" dirty="0"/>
            </a:br>
            <a:r>
              <a:rPr lang="ko-KR" altLang="en-US" dirty="0"/>
              <a:t>수요의 </a:t>
            </a:r>
            <a:r>
              <a:rPr lang="ko-KR" altLang="en-US" b="1" dirty="0"/>
              <a:t>실현 가능 범위와 상한</a:t>
            </a:r>
            <a:r>
              <a:rPr lang="ko-KR" altLang="en-US" dirty="0"/>
              <a:t>을 제한한다는 것입니다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서울 운영 관점에서는</a:t>
            </a:r>
            <a:br>
              <a:rPr lang="ko-KR" altLang="en-US" dirty="0"/>
            </a:br>
            <a:r>
              <a:rPr lang="ko-KR" altLang="en-US" dirty="0"/>
              <a:t>“시간대 </a:t>
            </a:r>
            <a:r>
              <a:rPr lang="en-US" altLang="ko-KR" dirty="0"/>
              <a:t>+ </a:t>
            </a:r>
            <a:r>
              <a:rPr lang="ko-KR" altLang="en-US" dirty="0" err="1"/>
              <a:t>기온”으로</a:t>
            </a:r>
            <a:r>
              <a:rPr lang="ko-KR" altLang="en-US" dirty="0"/>
              <a:t> 기본 수요가 열릴 때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“</a:t>
            </a:r>
            <a:r>
              <a:rPr lang="ko-KR" altLang="en-US" dirty="0"/>
              <a:t>역</a:t>
            </a:r>
            <a:r>
              <a:rPr lang="en-US" altLang="ko-KR" dirty="0"/>
              <a:t>/</a:t>
            </a:r>
            <a:r>
              <a:rPr lang="ko-KR" altLang="en-US" dirty="0"/>
              <a:t>인프라</a:t>
            </a:r>
            <a:r>
              <a:rPr lang="en-US" altLang="ko-KR" dirty="0"/>
              <a:t>/</a:t>
            </a:r>
            <a:r>
              <a:rPr lang="ko-KR" altLang="en-US" dirty="0" err="1"/>
              <a:t>공급”이</a:t>
            </a:r>
            <a:r>
              <a:rPr lang="ko-KR" altLang="en-US" dirty="0"/>
              <a:t> 그 위에 상한을 결정한다고 정리할 수 있습니다</a:t>
            </a:r>
            <a:r>
              <a:rPr lang="en-US" altLang="ko-KR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84D6D-CB61-E2BB-6B93-5A8E23D44A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7121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009CC-F6DA-A70D-9E1E-787CDEC7D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79DA4F-5C2E-612E-1FFF-986CBBFF6A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6A4846-93F4-2196-D45D-4B476E494D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ts val="1800"/>
              </a:lnSpc>
              <a:buFont typeface="Arial" panose="020B0604020202020204" pitchFamily="34" charset="0"/>
              <a:buNone/>
            </a:pPr>
            <a:endParaRPr lang="en-US" altLang="ko-KR" sz="1200" dirty="0">
              <a:solidFill>
                <a:srgbClr val="374151"/>
              </a:solidFill>
              <a:latin typeface="Noto Sans KR" pitchFamily="34" charset="0"/>
              <a:ea typeface="Noto Sans KR" pitchFamily="34" charset="-122"/>
            </a:endParaRPr>
          </a:p>
          <a:p>
            <a:r>
              <a:rPr lang="ko-KR" altLang="en-US" dirty="0"/>
              <a:t>워싱턴 </a:t>
            </a:r>
            <a:r>
              <a:rPr lang="en-US" altLang="ko-KR" dirty="0"/>
              <a:t>D.C.</a:t>
            </a:r>
            <a:r>
              <a:rPr lang="ko-KR" altLang="en-US" dirty="0"/>
              <a:t>는 상위 영향 변수가 다릅니다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b="1" dirty="0" err="1"/>
              <a:t>shortwave_radiation</a:t>
            </a:r>
            <a:r>
              <a:rPr lang="en-US" altLang="ko-KR" b="1" dirty="0"/>
              <a:t>(</a:t>
            </a:r>
            <a:r>
              <a:rPr lang="ko-KR" altLang="en-US" b="1" dirty="0"/>
              <a:t>일사량</a:t>
            </a:r>
            <a:r>
              <a:rPr lang="en-US" altLang="ko-KR" b="1" dirty="0"/>
              <a:t>)</a:t>
            </a:r>
            <a:r>
              <a:rPr lang="ko-KR" altLang="en-US" b="1" dirty="0"/>
              <a:t>이 압도적 </a:t>
            </a:r>
            <a:r>
              <a:rPr lang="en-US" altLang="ko-KR" b="1" dirty="0"/>
              <a:t>1</a:t>
            </a:r>
            <a:r>
              <a:rPr lang="ko-KR" altLang="en-US" b="1" dirty="0"/>
              <a:t>위</a:t>
            </a:r>
            <a:r>
              <a:rPr lang="en-US" altLang="ko-KR" dirty="0"/>
              <a:t>, </a:t>
            </a:r>
            <a:r>
              <a:rPr lang="ko-KR" altLang="en-US" dirty="0"/>
              <a:t>그리고 버스 정류장 반경 변수</a:t>
            </a:r>
            <a:r>
              <a:rPr lang="en-US" altLang="ko-KR" dirty="0"/>
              <a:t>, </a:t>
            </a:r>
            <a:r>
              <a:rPr lang="en-US" altLang="ko-KR" dirty="0" err="1"/>
              <a:t>quarter_flag</a:t>
            </a:r>
            <a:r>
              <a:rPr lang="en-US" altLang="ko-KR" dirty="0"/>
              <a:t>, temperature</a:t>
            </a:r>
            <a:r>
              <a:rPr lang="ko-KR" altLang="en-US" dirty="0"/>
              <a:t>가 상위입니다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워싱턴은 강수 여부보다</a:t>
            </a:r>
            <a:br>
              <a:rPr lang="ko-KR" altLang="en-US" dirty="0"/>
            </a:br>
            <a:r>
              <a:rPr lang="ko-KR" altLang="en-US" dirty="0"/>
              <a:t>“</a:t>
            </a:r>
            <a:r>
              <a:rPr lang="ko-KR" altLang="en-US" dirty="0" err="1"/>
              <a:t>쾌적도”를</a:t>
            </a:r>
            <a:r>
              <a:rPr lang="ko-KR" altLang="en-US" dirty="0"/>
              <a:t> 대표하는 일사량 같은 요인이 더 크게 작동했고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입지 조건으로는 버스 정류장 밀도 기반의 접근성이 중요했습니다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정리하면 워싱턴은</a:t>
            </a:r>
            <a:br>
              <a:rPr lang="ko-KR" altLang="en-US" dirty="0"/>
            </a:br>
            <a:r>
              <a:rPr lang="ko-KR" altLang="en-US" b="1" dirty="0"/>
              <a:t>쾌적한 날 </a:t>
            </a:r>
            <a:r>
              <a:rPr lang="en-US" altLang="ko-KR" b="1" dirty="0"/>
              <a:t>+ </a:t>
            </a:r>
            <a:r>
              <a:rPr lang="ko-KR" altLang="en-US" b="1" dirty="0"/>
              <a:t>이동 접근성이 좋은 입지</a:t>
            </a:r>
            <a:r>
              <a:rPr lang="ko-KR" altLang="en-US" dirty="0"/>
              <a:t>에서 수요가 크게 열리는 구조이고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시간대는 그 발생 시점을 구조적으로 정해주는 역할입니다</a:t>
            </a:r>
            <a:r>
              <a:rPr lang="en-US" altLang="ko-KR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72FB2D-7F62-E022-DA74-0C7A29305B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2701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F502E-6778-5948-9D62-43B0221A5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C522C6-321F-4176-0FBF-04ABB972AE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8DBA56-6118-CFFD-3FAF-40361BF9D5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최종 결론과 시사점은 운영 관점에서 정리하겠습니다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첫째</a:t>
            </a:r>
            <a:r>
              <a:rPr lang="en-US" altLang="ko-KR" dirty="0"/>
              <a:t>, </a:t>
            </a:r>
            <a:r>
              <a:rPr lang="ko-KR" altLang="en-US" dirty="0"/>
              <a:t>단일 모델 결론</a:t>
            </a:r>
            <a:r>
              <a:rPr lang="en-US" altLang="ko-KR" dirty="0"/>
              <a:t>: </a:t>
            </a:r>
            <a:r>
              <a:rPr lang="ko-KR" altLang="en-US" dirty="0"/>
              <a:t>두 도시 모두 </a:t>
            </a:r>
            <a:r>
              <a:rPr lang="en-US" altLang="ko-KR" dirty="0"/>
              <a:t>LGBM</a:t>
            </a:r>
            <a:r>
              <a:rPr lang="ko-KR" altLang="en-US" dirty="0"/>
              <a:t>이 가장 안정적인 </a:t>
            </a:r>
            <a:r>
              <a:rPr lang="ko-KR" altLang="en-US" dirty="0" err="1"/>
              <a:t>베이스라인이었습니다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둘째</a:t>
            </a:r>
            <a:r>
              <a:rPr lang="en-US" altLang="ko-KR" dirty="0"/>
              <a:t>, </a:t>
            </a:r>
            <a:r>
              <a:rPr lang="ko-KR" altLang="en-US" dirty="0"/>
              <a:t>앙상블 결론</a:t>
            </a:r>
            <a:r>
              <a:rPr lang="en-US" altLang="ko-KR" dirty="0"/>
              <a:t>: </a:t>
            </a:r>
            <a:r>
              <a:rPr lang="ko-KR" altLang="en-US" dirty="0"/>
              <a:t>서울은 변동성이 커 피크 대응 한계가 있고</a:t>
            </a:r>
            <a:r>
              <a:rPr lang="en-US" altLang="ko-KR" dirty="0"/>
              <a:t>, </a:t>
            </a:r>
            <a:r>
              <a:rPr lang="ko-KR" altLang="en-US" dirty="0"/>
              <a:t>워싱턴은 </a:t>
            </a:r>
            <a:r>
              <a:rPr lang="en-US" altLang="ko-KR" dirty="0"/>
              <a:t>No-IQR </a:t>
            </a:r>
            <a:r>
              <a:rPr lang="ko-KR" altLang="en-US" dirty="0"/>
              <a:t>앙상블이 장기 추세 학습에 신뢰도가 높았습니다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셋째</a:t>
            </a:r>
            <a:r>
              <a:rPr lang="en-US" altLang="ko-KR" dirty="0"/>
              <a:t>, </a:t>
            </a:r>
            <a:r>
              <a:rPr lang="ko-KR" altLang="en-US" dirty="0" err="1"/>
              <a:t>전처리</a:t>
            </a:r>
            <a:r>
              <a:rPr lang="ko-KR" altLang="en-US" dirty="0"/>
              <a:t> 결론</a:t>
            </a:r>
            <a:r>
              <a:rPr lang="en-US" altLang="ko-KR" dirty="0"/>
              <a:t>: IQR/No-IQR</a:t>
            </a:r>
            <a:r>
              <a:rPr lang="ko-KR" altLang="en-US" dirty="0"/>
              <a:t>은 단순 전처리가 아니라 도시별 운영 목표에 맞춰 선택해야 하는 핵심 변수입니다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그리고 가장 중요한 메시지는 </a:t>
            </a:r>
            <a:r>
              <a:rPr lang="ko-KR" altLang="en-US" dirty="0" err="1"/>
              <a:t>이겁니다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 모델은 “돌발 이벤트 피크를 </a:t>
            </a:r>
            <a:r>
              <a:rPr lang="en-US" altLang="ko-KR" dirty="0"/>
              <a:t>100% </a:t>
            </a:r>
            <a:r>
              <a:rPr lang="ko-KR" altLang="en-US" dirty="0"/>
              <a:t>맞히는 </a:t>
            </a:r>
            <a:r>
              <a:rPr lang="ko-KR" altLang="en-US" dirty="0" err="1"/>
              <a:t>정책”보다는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반복 패턴 기반의 </a:t>
            </a:r>
            <a:r>
              <a:rPr lang="ko-KR" altLang="en-US" b="1" dirty="0"/>
              <a:t>기본 수요 기준선과 리스크 하한선</a:t>
            </a:r>
            <a:r>
              <a:rPr lang="ko-KR" altLang="en-US" dirty="0"/>
              <a:t>을 제공해</a:t>
            </a:r>
            <a:br>
              <a:rPr lang="ko-KR" altLang="en-US" dirty="0"/>
            </a:br>
            <a:r>
              <a:rPr lang="ko-KR" altLang="en-US" dirty="0"/>
              <a:t>재배치</a:t>
            </a:r>
            <a:r>
              <a:rPr lang="en-US" altLang="ko-KR" dirty="0"/>
              <a:t>/</a:t>
            </a:r>
            <a:r>
              <a:rPr lang="ko-KR" altLang="en-US" dirty="0"/>
              <a:t>공급 기준을 </a:t>
            </a:r>
            <a:r>
              <a:rPr lang="ko-KR" altLang="en-US" dirty="0" err="1"/>
              <a:t>안정화하는</a:t>
            </a:r>
            <a:r>
              <a:rPr lang="ko-KR" altLang="en-US" dirty="0"/>
              <a:t> 데 가치가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예측의 목적을 “피크 </a:t>
            </a:r>
            <a:r>
              <a:rPr lang="ko-KR" altLang="en-US" dirty="0" err="1"/>
              <a:t>맞추기”로만</a:t>
            </a:r>
            <a:r>
              <a:rPr lang="ko-KR" altLang="en-US" dirty="0"/>
              <a:t> 두지 말고</a:t>
            </a:r>
            <a:br>
              <a:rPr lang="ko-KR" altLang="en-US" dirty="0"/>
            </a:br>
            <a:r>
              <a:rPr lang="ko-KR" altLang="en-US" b="1" dirty="0"/>
              <a:t>표준 운영을 </a:t>
            </a:r>
            <a:r>
              <a:rPr lang="ko-KR" altLang="en-US" b="1" dirty="0" err="1"/>
              <a:t>안정화하는</a:t>
            </a:r>
            <a:r>
              <a:rPr lang="ko-KR" altLang="en-US" b="1" dirty="0"/>
              <a:t> 의사결정 도구</a:t>
            </a:r>
            <a:r>
              <a:rPr lang="ko-KR" altLang="en-US" dirty="0"/>
              <a:t>로 정의하는 것이 실무적으로 더 유효합니다</a:t>
            </a:r>
            <a:r>
              <a:rPr lang="en-US" altLang="ko-KR"/>
              <a:t>.</a:t>
            </a:r>
            <a:endParaRPr lang="ko-KR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FD7C16-F079-5147-C116-440B384223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6487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이상으로 발표를 마치겠습니다</a:t>
            </a:r>
            <a:r>
              <a:rPr lang="en-US" altLang="ko-KR" dirty="0"/>
              <a:t>. </a:t>
            </a:r>
            <a:r>
              <a:rPr lang="ko-KR" altLang="en-US" dirty="0"/>
              <a:t>감사합니다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오늘 말씀드린 내용 외에 세부적인 </a:t>
            </a:r>
            <a:r>
              <a:rPr lang="en-US" altLang="ko-KR" dirty="0"/>
              <a:t>EDA</a:t>
            </a:r>
            <a:r>
              <a:rPr lang="ko-KR" altLang="en-US" dirty="0"/>
              <a:t>나</a:t>
            </a:r>
            <a:r>
              <a:rPr lang="en-US" altLang="ko-KR" dirty="0"/>
              <a:t>, </a:t>
            </a:r>
            <a:r>
              <a:rPr lang="ko-KR" altLang="en-US" dirty="0"/>
              <a:t>코드</a:t>
            </a:r>
            <a:r>
              <a:rPr lang="en-US" altLang="ko-KR" dirty="0"/>
              <a:t>, SHAP </a:t>
            </a:r>
            <a:r>
              <a:rPr lang="ko-KR" altLang="en-US" dirty="0"/>
              <a:t>결과들은 </a:t>
            </a:r>
            <a:r>
              <a:rPr lang="ko-KR" altLang="en-US" dirty="0" err="1"/>
              <a:t>깃허브에</a:t>
            </a:r>
            <a:r>
              <a:rPr lang="ko-KR" altLang="en-US" dirty="0"/>
              <a:t> </a:t>
            </a:r>
            <a:r>
              <a:rPr lang="ko-KR" altLang="en-US" dirty="0" err="1"/>
              <a:t>올려놨습니다</a:t>
            </a:r>
            <a:r>
              <a:rPr lang="en-US" altLang="ko-KR" dirty="0"/>
              <a:t>.</a:t>
            </a:r>
          </a:p>
          <a:p>
            <a:br>
              <a:rPr lang="en-US" altLang="ko-KR" dirty="0"/>
            </a:br>
            <a:r>
              <a:rPr lang="ko-KR" altLang="en-US" dirty="0"/>
              <a:t>프로젝트 관련하여 질문 주시면 자세히 설명 드리겠습니다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521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3" Type="http://schemas.openxmlformats.org/officeDocument/2006/relationships/image" Target="../media/image16.png"/><Relationship Id="rId21" Type="http://schemas.openxmlformats.org/officeDocument/2006/relationships/image" Target="../media/image34.jp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9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24" Type="http://schemas.openxmlformats.org/officeDocument/2006/relationships/image" Target="../media/image37.jp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23" Type="http://schemas.openxmlformats.org/officeDocument/2006/relationships/image" Target="../media/image36.png"/><Relationship Id="rId10" Type="http://schemas.openxmlformats.org/officeDocument/2006/relationships/image" Target="../media/image23.png"/><Relationship Id="rId19" Type="http://schemas.openxmlformats.org/officeDocument/2006/relationships/image" Target="../media/image32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Relationship Id="rId22" Type="http://schemas.openxmlformats.org/officeDocument/2006/relationships/image" Target="../media/image35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6.png"/><Relationship Id="rId3" Type="http://schemas.openxmlformats.org/officeDocument/2006/relationships/image" Target="../media/image38.png"/><Relationship Id="rId7" Type="http://schemas.openxmlformats.org/officeDocument/2006/relationships/image" Target="../media/image41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4.png"/><Relationship Id="rId5" Type="http://schemas.openxmlformats.org/officeDocument/2006/relationships/image" Target="../media/image39.png"/><Relationship Id="rId15" Type="http://schemas.openxmlformats.org/officeDocument/2006/relationships/image" Target="../media/image48.png"/><Relationship Id="rId10" Type="http://schemas.openxmlformats.org/officeDocument/2006/relationships/image" Target="../media/image33.png"/><Relationship Id="rId4" Type="http://schemas.openxmlformats.org/officeDocument/2006/relationships/image" Target="../media/image17.png"/><Relationship Id="rId9" Type="http://schemas.openxmlformats.org/officeDocument/2006/relationships/image" Target="../media/image43.png"/><Relationship Id="rId14" Type="http://schemas.openxmlformats.org/officeDocument/2006/relationships/image" Target="../media/image4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18" Type="http://schemas.openxmlformats.org/officeDocument/2006/relationships/image" Target="../media/image63.png"/><Relationship Id="rId26" Type="http://schemas.openxmlformats.org/officeDocument/2006/relationships/image" Target="../media/image68.png"/><Relationship Id="rId3" Type="http://schemas.openxmlformats.org/officeDocument/2006/relationships/image" Target="../media/image17.png"/><Relationship Id="rId21" Type="http://schemas.openxmlformats.org/officeDocument/2006/relationships/image" Target="../media/image65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17" Type="http://schemas.openxmlformats.org/officeDocument/2006/relationships/image" Target="../media/image62.png"/><Relationship Id="rId25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61.png"/><Relationship Id="rId20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24" Type="http://schemas.openxmlformats.org/officeDocument/2006/relationships/image" Target="../media/image67.png"/><Relationship Id="rId5" Type="http://schemas.openxmlformats.org/officeDocument/2006/relationships/image" Target="../media/image50.png"/><Relationship Id="rId15" Type="http://schemas.openxmlformats.org/officeDocument/2006/relationships/image" Target="../media/image60.png"/><Relationship Id="rId23" Type="http://schemas.openxmlformats.org/officeDocument/2006/relationships/image" Target="../media/image66.png"/><Relationship Id="rId28" Type="http://schemas.openxmlformats.org/officeDocument/2006/relationships/image" Target="../media/image70.png"/><Relationship Id="rId10" Type="http://schemas.openxmlformats.org/officeDocument/2006/relationships/image" Target="../media/image55.png"/><Relationship Id="rId19" Type="http://schemas.openxmlformats.org/officeDocument/2006/relationships/hyperlink" Target="https://github.com/cbnu-yhjeon/PROJECT-Bicyle-Demand-Forecasting" TargetMode="External"/><Relationship Id="rId4" Type="http://schemas.openxmlformats.org/officeDocument/2006/relationships/image" Target="../media/image49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Relationship Id="rId22" Type="http://schemas.openxmlformats.org/officeDocument/2006/relationships/hyperlink" Target="https://drive.google.com/file/d/1gKQdjjNxbO0t2VrAFyPLnAqdSGpvotVg/view?usp=drive_link" TargetMode="External"/><Relationship Id="rId27" Type="http://schemas.openxmlformats.org/officeDocument/2006/relationships/image" Target="../media/image6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17.png"/><Relationship Id="rId7" Type="http://schemas.openxmlformats.org/officeDocument/2006/relationships/image" Target="../media/image74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11" Type="http://schemas.openxmlformats.org/officeDocument/2006/relationships/image" Target="../media/image61.png"/><Relationship Id="rId5" Type="http://schemas.openxmlformats.org/officeDocument/2006/relationships/image" Target="../media/image72.png"/><Relationship Id="rId10" Type="http://schemas.openxmlformats.org/officeDocument/2006/relationships/image" Target="../media/image60.png"/><Relationship Id="rId4" Type="http://schemas.openxmlformats.org/officeDocument/2006/relationships/image" Target="../media/image71.png"/><Relationship Id="rId9" Type="http://schemas.openxmlformats.org/officeDocument/2006/relationships/image" Target="../media/image5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2.png"/><Relationship Id="rId18" Type="http://schemas.openxmlformats.org/officeDocument/2006/relationships/image" Target="../media/image19.png"/><Relationship Id="rId3" Type="http://schemas.openxmlformats.org/officeDocument/2006/relationships/image" Target="../media/image38.png"/><Relationship Id="rId7" Type="http://schemas.openxmlformats.org/officeDocument/2006/relationships/image" Target="../media/image77.png"/><Relationship Id="rId12" Type="http://schemas.openxmlformats.org/officeDocument/2006/relationships/image" Target="../media/image33.png"/><Relationship Id="rId17" Type="http://schemas.openxmlformats.org/officeDocument/2006/relationships/image" Target="../media/image86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8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5" Type="http://schemas.openxmlformats.org/officeDocument/2006/relationships/image" Target="../media/image84.png"/><Relationship Id="rId10" Type="http://schemas.openxmlformats.org/officeDocument/2006/relationships/image" Target="../media/image80.png"/><Relationship Id="rId4" Type="http://schemas.openxmlformats.org/officeDocument/2006/relationships/image" Target="../media/image17.png"/><Relationship Id="rId9" Type="http://schemas.openxmlformats.org/officeDocument/2006/relationships/image" Target="../media/image79.png"/><Relationship Id="rId14" Type="http://schemas.openxmlformats.org/officeDocument/2006/relationships/image" Target="../media/image8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2.png"/><Relationship Id="rId18" Type="http://schemas.openxmlformats.org/officeDocument/2006/relationships/image" Target="../media/image19.png"/><Relationship Id="rId3" Type="http://schemas.openxmlformats.org/officeDocument/2006/relationships/image" Target="../media/image38.png"/><Relationship Id="rId7" Type="http://schemas.openxmlformats.org/officeDocument/2006/relationships/image" Target="../media/image77.png"/><Relationship Id="rId12" Type="http://schemas.openxmlformats.org/officeDocument/2006/relationships/image" Target="../media/image33.png"/><Relationship Id="rId17" Type="http://schemas.openxmlformats.org/officeDocument/2006/relationships/image" Target="../media/image86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8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5" Type="http://schemas.openxmlformats.org/officeDocument/2006/relationships/image" Target="../media/image84.png"/><Relationship Id="rId10" Type="http://schemas.openxmlformats.org/officeDocument/2006/relationships/image" Target="../media/image80.png"/><Relationship Id="rId4" Type="http://schemas.openxmlformats.org/officeDocument/2006/relationships/image" Target="../media/image17.png"/><Relationship Id="rId9" Type="http://schemas.openxmlformats.org/officeDocument/2006/relationships/image" Target="../media/image79.png"/><Relationship Id="rId14" Type="http://schemas.openxmlformats.org/officeDocument/2006/relationships/image" Target="../media/image83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26" Type="http://schemas.openxmlformats.org/officeDocument/2006/relationships/image" Target="../media/image109.png"/><Relationship Id="rId39" Type="http://schemas.openxmlformats.org/officeDocument/2006/relationships/image" Target="../media/image122.png"/><Relationship Id="rId21" Type="http://schemas.openxmlformats.org/officeDocument/2006/relationships/image" Target="../media/image104.png"/><Relationship Id="rId34" Type="http://schemas.openxmlformats.org/officeDocument/2006/relationships/image" Target="../media/image117.png"/><Relationship Id="rId42" Type="http://schemas.openxmlformats.org/officeDocument/2006/relationships/image" Target="../media/image125.png"/><Relationship Id="rId47" Type="http://schemas.openxmlformats.org/officeDocument/2006/relationships/image" Target="../media/image130.png"/><Relationship Id="rId50" Type="http://schemas.openxmlformats.org/officeDocument/2006/relationships/image" Target="../media/image133.png"/><Relationship Id="rId7" Type="http://schemas.openxmlformats.org/officeDocument/2006/relationships/image" Target="../media/image90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99.png"/><Relationship Id="rId29" Type="http://schemas.openxmlformats.org/officeDocument/2006/relationships/image" Target="../media/image112.png"/><Relationship Id="rId11" Type="http://schemas.openxmlformats.org/officeDocument/2006/relationships/image" Target="../media/image94.png"/><Relationship Id="rId24" Type="http://schemas.openxmlformats.org/officeDocument/2006/relationships/image" Target="../media/image107.png"/><Relationship Id="rId32" Type="http://schemas.openxmlformats.org/officeDocument/2006/relationships/image" Target="../media/image115.png"/><Relationship Id="rId37" Type="http://schemas.openxmlformats.org/officeDocument/2006/relationships/image" Target="../media/image120.png"/><Relationship Id="rId40" Type="http://schemas.openxmlformats.org/officeDocument/2006/relationships/image" Target="../media/image123.png"/><Relationship Id="rId45" Type="http://schemas.openxmlformats.org/officeDocument/2006/relationships/image" Target="../media/image128.png"/><Relationship Id="rId53" Type="http://schemas.openxmlformats.org/officeDocument/2006/relationships/image" Target="../media/image47.png"/><Relationship Id="rId5" Type="http://schemas.openxmlformats.org/officeDocument/2006/relationships/image" Target="../media/image88.png"/><Relationship Id="rId10" Type="http://schemas.openxmlformats.org/officeDocument/2006/relationships/image" Target="../media/image93.png"/><Relationship Id="rId19" Type="http://schemas.openxmlformats.org/officeDocument/2006/relationships/image" Target="../media/image102.png"/><Relationship Id="rId31" Type="http://schemas.openxmlformats.org/officeDocument/2006/relationships/image" Target="../media/image114.png"/><Relationship Id="rId44" Type="http://schemas.openxmlformats.org/officeDocument/2006/relationships/image" Target="../media/image127.png"/><Relationship Id="rId52" Type="http://schemas.openxmlformats.org/officeDocument/2006/relationships/image" Target="../media/image48.png"/><Relationship Id="rId4" Type="http://schemas.openxmlformats.org/officeDocument/2006/relationships/image" Target="../media/image17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Relationship Id="rId22" Type="http://schemas.openxmlformats.org/officeDocument/2006/relationships/image" Target="../media/image105.png"/><Relationship Id="rId27" Type="http://schemas.openxmlformats.org/officeDocument/2006/relationships/image" Target="../media/image110.png"/><Relationship Id="rId30" Type="http://schemas.openxmlformats.org/officeDocument/2006/relationships/image" Target="../media/image113.png"/><Relationship Id="rId35" Type="http://schemas.openxmlformats.org/officeDocument/2006/relationships/image" Target="../media/image118.png"/><Relationship Id="rId43" Type="http://schemas.openxmlformats.org/officeDocument/2006/relationships/image" Target="../media/image126.png"/><Relationship Id="rId48" Type="http://schemas.openxmlformats.org/officeDocument/2006/relationships/image" Target="../media/image131.png"/><Relationship Id="rId8" Type="http://schemas.openxmlformats.org/officeDocument/2006/relationships/image" Target="../media/image91.png"/><Relationship Id="rId51" Type="http://schemas.openxmlformats.org/officeDocument/2006/relationships/image" Target="../media/image134.png"/><Relationship Id="rId3" Type="http://schemas.openxmlformats.org/officeDocument/2006/relationships/image" Target="../media/image87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5" Type="http://schemas.openxmlformats.org/officeDocument/2006/relationships/image" Target="../media/image108.png"/><Relationship Id="rId33" Type="http://schemas.openxmlformats.org/officeDocument/2006/relationships/image" Target="../media/image116.png"/><Relationship Id="rId38" Type="http://schemas.openxmlformats.org/officeDocument/2006/relationships/image" Target="../media/image121.png"/><Relationship Id="rId46" Type="http://schemas.openxmlformats.org/officeDocument/2006/relationships/image" Target="../media/image129.png"/><Relationship Id="rId20" Type="http://schemas.openxmlformats.org/officeDocument/2006/relationships/image" Target="../media/image103.png"/><Relationship Id="rId41" Type="http://schemas.openxmlformats.org/officeDocument/2006/relationships/image" Target="../media/image124.png"/><Relationship Id="rId54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15" Type="http://schemas.openxmlformats.org/officeDocument/2006/relationships/image" Target="../media/image98.png"/><Relationship Id="rId23" Type="http://schemas.openxmlformats.org/officeDocument/2006/relationships/image" Target="../media/image106.png"/><Relationship Id="rId28" Type="http://schemas.openxmlformats.org/officeDocument/2006/relationships/image" Target="../media/image111.png"/><Relationship Id="rId36" Type="http://schemas.openxmlformats.org/officeDocument/2006/relationships/image" Target="../media/image119.png"/><Relationship Id="rId49" Type="http://schemas.openxmlformats.org/officeDocument/2006/relationships/image" Target="../media/image13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13" Type="http://schemas.openxmlformats.org/officeDocument/2006/relationships/image" Target="../media/image144.png"/><Relationship Id="rId18" Type="http://schemas.openxmlformats.org/officeDocument/2006/relationships/image" Target="../media/image74.png"/><Relationship Id="rId3" Type="http://schemas.openxmlformats.org/officeDocument/2006/relationships/image" Target="../media/image135.png"/><Relationship Id="rId7" Type="http://schemas.openxmlformats.org/officeDocument/2006/relationships/image" Target="../media/image138.png"/><Relationship Id="rId12" Type="http://schemas.openxmlformats.org/officeDocument/2006/relationships/image" Target="../media/image143.png"/><Relationship Id="rId17" Type="http://schemas.openxmlformats.org/officeDocument/2006/relationships/image" Target="../media/image148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7.png"/><Relationship Id="rId11" Type="http://schemas.openxmlformats.org/officeDocument/2006/relationships/image" Target="../media/image142.png"/><Relationship Id="rId5" Type="http://schemas.openxmlformats.org/officeDocument/2006/relationships/image" Target="../media/image136.png"/><Relationship Id="rId15" Type="http://schemas.openxmlformats.org/officeDocument/2006/relationships/image" Target="../media/image146.svg"/><Relationship Id="rId10" Type="http://schemas.openxmlformats.org/officeDocument/2006/relationships/image" Target="../media/image141.png"/><Relationship Id="rId19" Type="http://schemas.openxmlformats.org/officeDocument/2006/relationships/image" Target="../media/image149.png"/><Relationship Id="rId4" Type="http://schemas.openxmlformats.org/officeDocument/2006/relationships/image" Target="../media/image17.png"/><Relationship Id="rId9" Type="http://schemas.openxmlformats.org/officeDocument/2006/relationships/image" Target="../media/image140.png"/><Relationship Id="rId14" Type="http://schemas.openxmlformats.org/officeDocument/2006/relationships/image" Target="../media/image14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13" Type="http://schemas.openxmlformats.org/officeDocument/2006/relationships/image" Target="../media/image74.png"/><Relationship Id="rId3" Type="http://schemas.openxmlformats.org/officeDocument/2006/relationships/image" Target="../media/image135.png"/><Relationship Id="rId7" Type="http://schemas.openxmlformats.org/officeDocument/2006/relationships/image" Target="../media/image152.png"/><Relationship Id="rId12" Type="http://schemas.openxmlformats.org/officeDocument/2006/relationships/image" Target="../media/image15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1.png"/><Relationship Id="rId11" Type="http://schemas.openxmlformats.org/officeDocument/2006/relationships/image" Target="../media/image155.png"/><Relationship Id="rId5" Type="http://schemas.openxmlformats.org/officeDocument/2006/relationships/image" Target="../media/image150.png"/><Relationship Id="rId10" Type="http://schemas.openxmlformats.org/officeDocument/2006/relationships/image" Target="../media/image154.png"/><Relationship Id="rId4" Type="http://schemas.openxmlformats.org/officeDocument/2006/relationships/image" Target="../media/image17.png"/><Relationship Id="rId9" Type="http://schemas.openxmlformats.org/officeDocument/2006/relationships/image" Target="../media/image139.png"/><Relationship Id="rId14" Type="http://schemas.openxmlformats.org/officeDocument/2006/relationships/image" Target="../media/image14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135.png"/><Relationship Id="rId7" Type="http://schemas.openxmlformats.org/officeDocument/2006/relationships/image" Target="../media/image48.png"/><Relationship Id="rId12" Type="http://schemas.openxmlformats.org/officeDocument/2006/relationships/image" Target="../media/image14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9.png"/><Relationship Id="rId11" Type="http://schemas.openxmlformats.org/officeDocument/2006/relationships/image" Target="../media/image74.png"/><Relationship Id="rId5" Type="http://schemas.openxmlformats.org/officeDocument/2006/relationships/image" Target="../media/image150.png"/><Relationship Id="rId10" Type="http://schemas.openxmlformats.org/officeDocument/2006/relationships/image" Target="../media/image158.png"/><Relationship Id="rId4" Type="http://schemas.openxmlformats.org/officeDocument/2006/relationships/image" Target="../media/image17.png"/><Relationship Id="rId9" Type="http://schemas.openxmlformats.org/officeDocument/2006/relationships/image" Target="../media/image15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png"/><Relationship Id="rId13" Type="http://schemas.openxmlformats.org/officeDocument/2006/relationships/image" Target="../media/image169.png"/><Relationship Id="rId18" Type="http://schemas.openxmlformats.org/officeDocument/2006/relationships/image" Target="../media/image33.png"/><Relationship Id="rId3" Type="http://schemas.openxmlformats.org/officeDocument/2006/relationships/image" Target="../media/image159.png"/><Relationship Id="rId7" Type="http://schemas.openxmlformats.org/officeDocument/2006/relationships/image" Target="../media/image163.png"/><Relationship Id="rId12" Type="http://schemas.openxmlformats.org/officeDocument/2006/relationships/image" Target="../media/image168.png"/><Relationship Id="rId17" Type="http://schemas.openxmlformats.org/officeDocument/2006/relationships/image" Target="../media/image173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7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2.png"/><Relationship Id="rId11" Type="http://schemas.openxmlformats.org/officeDocument/2006/relationships/image" Target="../media/image167.png"/><Relationship Id="rId5" Type="http://schemas.openxmlformats.org/officeDocument/2006/relationships/image" Target="../media/image161.png"/><Relationship Id="rId15" Type="http://schemas.openxmlformats.org/officeDocument/2006/relationships/image" Target="../media/image171.png"/><Relationship Id="rId10" Type="http://schemas.openxmlformats.org/officeDocument/2006/relationships/image" Target="../media/image166.png"/><Relationship Id="rId4" Type="http://schemas.openxmlformats.org/officeDocument/2006/relationships/image" Target="../media/image160.png"/><Relationship Id="rId9" Type="http://schemas.openxmlformats.org/officeDocument/2006/relationships/image" Target="../media/image165.png"/><Relationship Id="rId14" Type="http://schemas.openxmlformats.org/officeDocument/2006/relationships/image" Target="../media/image17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png"/><Relationship Id="rId13" Type="http://schemas.openxmlformats.org/officeDocument/2006/relationships/image" Target="../media/image33.png"/><Relationship Id="rId3" Type="http://schemas.openxmlformats.org/officeDocument/2006/relationships/image" Target="../media/image174.png"/><Relationship Id="rId7" Type="http://schemas.openxmlformats.org/officeDocument/2006/relationships/image" Target="../media/image177.png"/><Relationship Id="rId12" Type="http://schemas.openxmlformats.org/officeDocument/2006/relationships/image" Target="../media/image18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6.png"/><Relationship Id="rId11" Type="http://schemas.openxmlformats.org/officeDocument/2006/relationships/image" Target="../media/image181.png"/><Relationship Id="rId5" Type="http://schemas.openxmlformats.org/officeDocument/2006/relationships/image" Target="../media/image175.png"/><Relationship Id="rId10" Type="http://schemas.openxmlformats.org/officeDocument/2006/relationships/image" Target="../media/image180.png"/><Relationship Id="rId4" Type="http://schemas.openxmlformats.org/officeDocument/2006/relationships/image" Target="../media/image17.png"/><Relationship Id="rId9" Type="http://schemas.openxmlformats.org/officeDocument/2006/relationships/image" Target="../media/image17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png"/><Relationship Id="rId13" Type="http://schemas.openxmlformats.org/officeDocument/2006/relationships/image" Target="../media/image190.png"/><Relationship Id="rId18" Type="http://schemas.openxmlformats.org/officeDocument/2006/relationships/image" Target="../media/image74.png"/><Relationship Id="rId3" Type="http://schemas.openxmlformats.org/officeDocument/2006/relationships/image" Target="../media/image38.png"/><Relationship Id="rId21" Type="http://schemas.openxmlformats.org/officeDocument/2006/relationships/image" Target="../media/image197.png"/><Relationship Id="rId7" Type="http://schemas.openxmlformats.org/officeDocument/2006/relationships/image" Target="../media/image184.png"/><Relationship Id="rId12" Type="http://schemas.openxmlformats.org/officeDocument/2006/relationships/image" Target="../media/image189.png"/><Relationship Id="rId17" Type="http://schemas.openxmlformats.org/officeDocument/2006/relationships/image" Target="../media/image194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93.png"/><Relationship Id="rId20" Type="http://schemas.openxmlformats.org/officeDocument/2006/relationships/image" Target="../media/image19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188.png"/><Relationship Id="rId5" Type="http://schemas.openxmlformats.org/officeDocument/2006/relationships/image" Target="../media/image183.png"/><Relationship Id="rId15" Type="http://schemas.openxmlformats.org/officeDocument/2006/relationships/image" Target="../media/image192.png"/><Relationship Id="rId10" Type="http://schemas.openxmlformats.org/officeDocument/2006/relationships/image" Target="../media/image187.png"/><Relationship Id="rId19" Type="http://schemas.openxmlformats.org/officeDocument/2006/relationships/image" Target="../media/image195.png"/><Relationship Id="rId4" Type="http://schemas.openxmlformats.org/officeDocument/2006/relationships/image" Target="../media/image17.png"/><Relationship Id="rId9" Type="http://schemas.openxmlformats.org/officeDocument/2006/relationships/image" Target="../media/image186.png"/><Relationship Id="rId14" Type="http://schemas.openxmlformats.org/officeDocument/2006/relationships/image" Target="../media/image191.png"/><Relationship Id="rId22" Type="http://schemas.openxmlformats.org/officeDocument/2006/relationships/image" Target="../media/image19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png"/><Relationship Id="rId13" Type="http://schemas.openxmlformats.org/officeDocument/2006/relationships/image" Target="../media/image203.png"/><Relationship Id="rId18" Type="http://schemas.openxmlformats.org/officeDocument/2006/relationships/image" Target="../media/image197.png"/><Relationship Id="rId3" Type="http://schemas.openxmlformats.org/officeDocument/2006/relationships/image" Target="../media/image38.png"/><Relationship Id="rId7" Type="http://schemas.openxmlformats.org/officeDocument/2006/relationships/image" Target="../media/image74.png"/><Relationship Id="rId12" Type="http://schemas.openxmlformats.org/officeDocument/2006/relationships/image" Target="../media/image202.png"/><Relationship Id="rId17" Type="http://schemas.openxmlformats.org/officeDocument/2006/relationships/image" Target="../media/image196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20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201.png"/><Relationship Id="rId5" Type="http://schemas.openxmlformats.org/officeDocument/2006/relationships/image" Target="../media/image183.png"/><Relationship Id="rId15" Type="http://schemas.openxmlformats.org/officeDocument/2006/relationships/image" Target="../media/image205.png"/><Relationship Id="rId10" Type="http://schemas.openxmlformats.org/officeDocument/2006/relationships/image" Target="../media/image200.png"/><Relationship Id="rId19" Type="http://schemas.openxmlformats.org/officeDocument/2006/relationships/image" Target="../media/image207.png"/><Relationship Id="rId4" Type="http://schemas.openxmlformats.org/officeDocument/2006/relationships/image" Target="../media/image17.png"/><Relationship Id="rId9" Type="http://schemas.openxmlformats.org/officeDocument/2006/relationships/image" Target="../media/image199.png"/><Relationship Id="rId14" Type="http://schemas.openxmlformats.org/officeDocument/2006/relationships/image" Target="../media/image20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png"/><Relationship Id="rId13" Type="http://schemas.openxmlformats.org/officeDocument/2006/relationships/image" Target="../media/image212.png"/><Relationship Id="rId18" Type="http://schemas.openxmlformats.org/officeDocument/2006/relationships/image" Target="../media/image216.png"/><Relationship Id="rId3" Type="http://schemas.openxmlformats.org/officeDocument/2006/relationships/image" Target="../media/image38.png"/><Relationship Id="rId21" Type="http://schemas.openxmlformats.org/officeDocument/2006/relationships/image" Target="../media/image219.png"/><Relationship Id="rId7" Type="http://schemas.openxmlformats.org/officeDocument/2006/relationships/image" Target="../media/image74.png"/><Relationship Id="rId12" Type="http://schemas.openxmlformats.org/officeDocument/2006/relationships/image" Target="../media/image211.png"/><Relationship Id="rId17" Type="http://schemas.openxmlformats.org/officeDocument/2006/relationships/image" Target="../media/image215.png"/><Relationship Id="rId25" Type="http://schemas.openxmlformats.org/officeDocument/2006/relationships/image" Target="../media/image223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214.png"/><Relationship Id="rId20" Type="http://schemas.openxmlformats.org/officeDocument/2006/relationships/image" Target="../media/image2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210.png"/><Relationship Id="rId24" Type="http://schemas.openxmlformats.org/officeDocument/2006/relationships/image" Target="../media/image222.png"/><Relationship Id="rId5" Type="http://schemas.openxmlformats.org/officeDocument/2006/relationships/image" Target="../media/image183.png"/><Relationship Id="rId15" Type="http://schemas.openxmlformats.org/officeDocument/2006/relationships/image" Target="../media/image213.png"/><Relationship Id="rId23" Type="http://schemas.openxmlformats.org/officeDocument/2006/relationships/image" Target="../media/image221.png"/><Relationship Id="rId10" Type="http://schemas.openxmlformats.org/officeDocument/2006/relationships/image" Target="../media/image209.png"/><Relationship Id="rId19" Type="http://schemas.openxmlformats.org/officeDocument/2006/relationships/image" Target="../media/image217.png"/><Relationship Id="rId4" Type="http://schemas.openxmlformats.org/officeDocument/2006/relationships/image" Target="../media/image17.png"/><Relationship Id="rId9" Type="http://schemas.openxmlformats.org/officeDocument/2006/relationships/image" Target="../media/image208.png"/><Relationship Id="rId14" Type="http://schemas.openxmlformats.org/officeDocument/2006/relationships/image" Target="../media/image41.png"/><Relationship Id="rId22" Type="http://schemas.openxmlformats.org/officeDocument/2006/relationships/image" Target="../media/image22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5.png"/><Relationship Id="rId13" Type="http://schemas.openxmlformats.org/officeDocument/2006/relationships/image" Target="../media/image228.png"/><Relationship Id="rId3" Type="http://schemas.openxmlformats.org/officeDocument/2006/relationships/image" Target="../media/image38.png"/><Relationship Id="rId7" Type="http://schemas.openxmlformats.org/officeDocument/2006/relationships/image" Target="../media/image33.png"/><Relationship Id="rId12" Type="http://schemas.openxmlformats.org/officeDocument/2006/relationships/image" Target="../media/image227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2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4.png"/><Relationship Id="rId11" Type="http://schemas.openxmlformats.org/officeDocument/2006/relationships/image" Target="../media/image226.png"/><Relationship Id="rId5" Type="http://schemas.openxmlformats.org/officeDocument/2006/relationships/image" Target="../media/image183.png"/><Relationship Id="rId15" Type="http://schemas.openxmlformats.org/officeDocument/2006/relationships/image" Target="../media/image230.png"/><Relationship Id="rId10" Type="http://schemas.openxmlformats.org/officeDocument/2006/relationships/image" Target="../media/image74.png"/><Relationship Id="rId4" Type="http://schemas.openxmlformats.org/officeDocument/2006/relationships/image" Target="../media/image17.png"/><Relationship Id="rId9" Type="http://schemas.openxmlformats.org/officeDocument/2006/relationships/image" Target="../media/image195.png"/><Relationship Id="rId14" Type="http://schemas.openxmlformats.org/officeDocument/2006/relationships/image" Target="../media/image22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png"/><Relationship Id="rId13" Type="http://schemas.openxmlformats.org/officeDocument/2006/relationships/image" Target="../media/image213.png"/><Relationship Id="rId18" Type="http://schemas.openxmlformats.org/officeDocument/2006/relationships/image" Target="../media/image200.png"/><Relationship Id="rId3" Type="http://schemas.openxmlformats.org/officeDocument/2006/relationships/image" Target="../media/image38.png"/><Relationship Id="rId21" Type="http://schemas.openxmlformats.org/officeDocument/2006/relationships/image" Target="../media/image233.png"/><Relationship Id="rId7" Type="http://schemas.openxmlformats.org/officeDocument/2006/relationships/image" Target="../media/image74.png"/><Relationship Id="rId12" Type="http://schemas.openxmlformats.org/officeDocument/2006/relationships/image" Target="../media/image211.png"/><Relationship Id="rId17" Type="http://schemas.openxmlformats.org/officeDocument/2006/relationships/image" Target="../media/image199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222.png"/><Relationship Id="rId20" Type="http://schemas.openxmlformats.org/officeDocument/2006/relationships/image" Target="../media/image2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210.png"/><Relationship Id="rId5" Type="http://schemas.openxmlformats.org/officeDocument/2006/relationships/image" Target="../media/image183.png"/><Relationship Id="rId15" Type="http://schemas.openxmlformats.org/officeDocument/2006/relationships/image" Target="../media/image221.png"/><Relationship Id="rId10" Type="http://schemas.openxmlformats.org/officeDocument/2006/relationships/image" Target="../media/image209.png"/><Relationship Id="rId19" Type="http://schemas.openxmlformats.org/officeDocument/2006/relationships/image" Target="../media/image201.png"/><Relationship Id="rId4" Type="http://schemas.openxmlformats.org/officeDocument/2006/relationships/image" Target="../media/image17.png"/><Relationship Id="rId9" Type="http://schemas.openxmlformats.org/officeDocument/2006/relationships/image" Target="../media/image208.png"/><Relationship Id="rId14" Type="http://schemas.openxmlformats.org/officeDocument/2006/relationships/image" Target="../media/image22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5.png"/><Relationship Id="rId13" Type="http://schemas.openxmlformats.org/officeDocument/2006/relationships/image" Target="../media/image237.png"/><Relationship Id="rId3" Type="http://schemas.openxmlformats.org/officeDocument/2006/relationships/image" Target="../media/image38.png"/><Relationship Id="rId7" Type="http://schemas.openxmlformats.org/officeDocument/2006/relationships/image" Target="../media/image33.png"/><Relationship Id="rId12" Type="http://schemas.openxmlformats.org/officeDocument/2006/relationships/image" Target="../media/image236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7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4.png"/><Relationship Id="rId11" Type="http://schemas.openxmlformats.org/officeDocument/2006/relationships/image" Target="../media/image235.png"/><Relationship Id="rId5" Type="http://schemas.openxmlformats.org/officeDocument/2006/relationships/image" Target="../media/image183.png"/><Relationship Id="rId15" Type="http://schemas.openxmlformats.org/officeDocument/2006/relationships/image" Target="../media/image239.png"/><Relationship Id="rId10" Type="http://schemas.openxmlformats.org/officeDocument/2006/relationships/image" Target="../media/image234.png"/><Relationship Id="rId4" Type="http://schemas.openxmlformats.org/officeDocument/2006/relationships/image" Target="../media/image17.png"/><Relationship Id="rId9" Type="http://schemas.openxmlformats.org/officeDocument/2006/relationships/image" Target="../media/image195.png"/><Relationship Id="rId14" Type="http://schemas.openxmlformats.org/officeDocument/2006/relationships/image" Target="../media/image23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5.png"/><Relationship Id="rId13" Type="http://schemas.openxmlformats.org/officeDocument/2006/relationships/image" Target="../media/image243.png"/><Relationship Id="rId3" Type="http://schemas.openxmlformats.org/officeDocument/2006/relationships/image" Target="../media/image38.png"/><Relationship Id="rId7" Type="http://schemas.openxmlformats.org/officeDocument/2006/relationships/image" Target="../media/image33.png"/><Relationship Id="rId12" Type="http://schemas.openxmlformats.org/officeDocument/2006/relationships/image" Target="../media/image195.png"/><Relationship Id="rId17" Type="http://schemas.openxmlformats.org/officeDocument/2006/relationships/image" Target="../media/image74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24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4.png"/><Relationship Id="rId11" Type="http://schemas.openxmlformats.org/officeDocument/2006/relationships/image" Target="../media/image242.png"/><Relationship Id="rId5" Type="http://schemas.openxmlformats.org/officeDocument/2006/relationships/image" Target="../media/image183.png"/><Relationship Id="rId15" Type="http://schemas.openxmlformats.org/officeDocument/2006/relationships/image" Target="../media/image245.png"/><Relationship Id="rId10" Type="http://schemas.openxmlformats.org/officeDocument/2006/relationships/image" Target="../media/image241.png"/><Relationship Id="rId4" Type="http://schemas.openxmlformats.org/officeDocument/2006/relationships/image" Target="../media/image17.png"/><Relationship Id="rId9" Type="http://schemas.openxmlformats.org/officeDocument/2006/relationships/image" Target="../media/image240.png"/><Relationship Id="rId14" Type="http://schemas.openxmlformats.org/officeDocument/2006/relationships/image" Target="../media/image244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png"/><Relationship Id="rId3" Type="http://schemas.openxmlformats.org/officeDocument/2006/relationships/image" Target="../media/image174.png"/><Relationship Id="rId7" Type="http://schemas.openxmlformats.org/officeDocument/2006/relationships/image" Target="../media/image177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6.png"/><Relationship Id="rId11" Type="http://schemas.openxmlformats.org/officeDocument/2006/relationships/image" Target="../media/image181.png"/><Relationship Id="rId5" Type="http://schemas.openxmlformats.org/officeDocument/2006/relationships/image" Target="../media/image175.png"/><Relationship Id="rId10" Type="http://schemas.openxmlformats.org/officeDocument/2006/relationships/image" Target="../media/image180.png"/><Relationship Id="rId4" Type="http://schemas.openxmlformats.org/officeDocument/2006/relationships/image" Target="../media/image17.png"/><Relationship Id="rId9" Type="http://schemas.openxmlformats.org/officeDocument/2006/relationships/image" Target="../media/image17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2.png"/><Relationship Id="rId13" Type="http://schemas.openxmlformats.org/officeDocument/2006/relationships/image" Target="../media/image248.png"/><Relationship Id="rId3" Type="http://schemas.openxmlformats.org/officeDocument/2006/relationships/image" Target="../media/image38.png"/><Relationship Id="rId7" Type="http://schemas.openxmlformats.org/officeDocument/2006/relationships/image" Target="../media/image225.png"/><Relationship Id="rId12" Type="http://schemas.openxmlformats.org/officeDocument/2006/relationships/image" Target="../media/image247.png"/><Relationship Id="rId17" Type="http://schemas.openxmlformats.org/officeDocument/2006/relationships/image" Target="../media/image252.sv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2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220.png"/><Relationship Id="rId5" Type="http://schemas.openxmlformats.org/officeDocument/2006/relationships/image" Target="../media/image183.png"/><Relationship Id="rId15" Type="http://schemas.openxmlformats.org/officeDocument/2006/relationships/image" Target="../media/image250.svg"/><Relationship Id="rId10" Type="http://schemas.openxmlformats.org/officeDocument/2006/relationships/image" Target="../media/image74.png"/><Relationship Id="rId4" Type="http://schemas.openxmlformats.org/officeDocument/2006/relationships/image" Target="../media/image17.png"/><Relationship Id="rId9" Type="http://schemas.openxmlformats.org/officeDocument/2006/relationships/image" Target="../media/image195.png"/><Relationship Id="rId14" Type="http://schemas.openxmlformats.org/officeDocument/2006/relationships/image" Target="../media/image24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2.png"/><Relationship Id="rId13" Type="http://schemas.openxmlformats.org/officeDocument/2006/relationships/image" Target="../media/image250.svg"/><Relationship Id="rId3" Type="http://schemas.openxmlformats.org/officeDocument/2006/relationships/image" Target="../media/image38.png"/><Relationship Id="rId7" Type="http://schemas.openxmlformats.org/officeDocument/2006/relationships/image" Target="../media/image225.png"/><Relationship Id="rId12" Type="http://schemas.openxmlformats.org/officeDocument/2006/relationships/image" Target="../media/image249.png"/><Relationship Id="rId17" Type="http://schemas.openxmlformats.org/officeDocument/2006/relationships/image" Target="../media/image254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2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220.png"/><Relationship Id="rId5" Type="http://schemas.openxmlformats.org/officeDocument/2006/relationships/image" Target="../media/image183.png"/><Relationship Id="rId15" Type="http://schemas.openxmlformats.org/officeDocument/2006/relationships/image" Target="../media/image252.svg"/><Relationship Id="rId10" Type="http://schemas.openxmlformats.org/officeDocument/2006/relationships/image" Target="../media/image74.png"/><Relationship Id="rId4" Type="http://schemas.openxmlformats.org/officeDocument/2006/relationships/image" Target="../media/image17.png"/><Relationship Id="rId9" Type="http://schemas.openxmlformats.org/officeDocument/2006/relationships/image" Target="../media/image195.png"/><Relationship Id="rId14" Type="http://schemas.openxmlformats.org/officeDocument/2006/relationships/image" Target="../media/image25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png"/><Relationship Id="rId3" Type="http://schemas.openxmlformats.org/officeDocument/2006/relationships/image" Target="../media/image174.png"/><Relationship Id="rId7" Type="http://schemas.openxmlformats.org/officeDocument/2006/relationships/image" Target="../media/image177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6.png"/><Relationship Id="rId11" Type="http://schemas.openxmlformats.org/officeDocument/2006/relationships/image" Target="../media/image181.png"/><Relationship Id="rId5" Type="http://schemas.openxmlformats.org/officeDocument/2006/relationships/image" Target="../media/image175.png"/><Relationship Id="rId10" Type="http://schemas.openxmlformats.org/officeDocument/2006/relationships/image" Target="../media/image180.png"/><Relationship Id="rId4" Type="http://schemas.openxmlformats.org/officeDocument/2006/relationships/image" Target="../media/image17.png"/><Relationship Id="rId9" Type="http://schemas.openxmlformats.org/officeDocument/2006/relationships/image" Target="../media/image17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hyperlink" Target="https://github.com/cbnu-yhjeon/PROJECT-Bicyle-Demand-Forecasting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14.png"/><Relationship Id="rId20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64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7375" y="1438275"/>
            <a:ext cx="857250" cy="685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0" y="4048125"/>
            <a:ext cx="152400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2600" y="3743325"/>
            <a:ext cx="152400" cy="762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91200" y="3895725"/>
            <a:ext cx="152400" cy="609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19800" y="3590925"/>
            <a:ext cx="152400" cy="914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0" y="3971925"/>
            <a:ext cx="152400" cy="533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3743325"/>
            <a:ext cx="152400" cy="762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05600" y="4048125"/>
            <a:ext cx="152400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9353" y="4810125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85333" y="4810125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69385" y="4810125"/>
            <a:ext cx="257175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08664" y="4810125"/>
            <a:ext cx="28575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6553200"/>
            <a:ext cx="12192000" cy="3048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2553414" y="2371725"/>
            <a:ext cx="708517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자전거 대여 수요 예측 분석</a:t>
            </a:r>
            <a:endParaRPr lang="en-US" sz="3600" dirty="0"/>
          </a:p>
        </p:txBody>
      </p:sp>
      <p:sp>
        <p:nvSpPr>
          <p:cNvPr id="18" name="Text 1"/>
          <p:cNvSpPr/>
          <p:nvPr/>
        </p:nvSpPr>
        <p:spPr>
          <a:xfrm>
            <a:off x="2553414" y="2981325"/>
            <a:ext cx="708517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UCI Bike Sharing Dataset을 활용한 머신러닝 모델 개발</a:t>
            </a:r>
            <a:endParaRPr lang="en-US" sz="1800" dirty="0"/>
          </a:p>
        </p:txBody>
      </p:sp>
      <p:sp>
        <p:nvSpPr>
          <p:cNvPr id="19" name="Text 2"/>
          <p:cNvSpPr/>
          <p:nvPr/>
        </p:nvSpPr>
        <p:spPr>
          <a:xfrm>
            <a:off x="4097893" y="5191125"/>
            <a:ext cx="731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선형회귀</a:t>
            </a:r>
            <a:endParaRPr lang="en-US" sz="1200" dirty="0"/>
          </a:p>
        </p:txBody>
      </p:sp>
      <p:sp>
        <p:nvSpPr>
          <p:cNvPr id="20" name="Text 3"/>
          <p:cNvSpPr/>
          <p:nvPr/>
        </p:nvSpPr>
        <p:spPr>
          <a:xfrm>
            <a:off x="5007977" y="5191125"/>
            <a:ext cx="78331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XGBoost</a:t>
            </a:r>
            <a:endParaRPr lang="en-US" sz="1200" dirty="0"/>
          </a:p>
        </p:txBody>
      </p:sp>
      <p:sp>
        <p:nvSpPr>
          <p:cNvPr id="21" name="Text 4"/>
          <p:cNvSpPr/>
          <p:nvPr/>
        </p:nvSpPr>
        <p:spPr>
          <a:xfrm>
            <a:off x="5957367" y="5191125"/>
            <a:ext cx="881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LightGBM</a:t>
            </a:r>
            <a:endParaRPr lang="en-US" sz="1200" dirty="0"/>
          </a:p>
        </p:txBody>
      </p:sp>
      <p:sp>
        <p:nvSpPr>
          <p:cNvPr id="22" name="Text 5"/>
          <p:cNvSpPr/>
          <p:nvPr/>
        </p:nvSpPr>
        <p:spPr>
          <a:xfrm>
            <a:off x="6973788" y="5191125"/>
            <a:ext cx="115550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서울시 따릉이</a:t>
            </a:r>
            <a:endParaRPr lang="en-US" sz="1200" dirty="0"/>
          </a:p>
        </p:txBody>
      </p:sp>
      <p:sp>
        <p:nvSpPr>
          <p:cNvPr id="23" name="Text 6"/>
          <p:cNvSpPr/>
          <p:nvPr/>
        </p:nvSpPr>
        <p:spPr>
          <a:xfrm>
            <a:off x="9831437" y="6324600"/>
            <a:ext cx="228403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Report Date: 2025-12-17</a:t>
            </a:r>
            <a:endParaRPr lang="en-US" sz="1200" dirty="0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520029C5-06A1-4D3D-AAB2-228578A29061}"/>
              </a:ext>
            </a:extLst>
          </p:cNvPr>
          <p:cNvSpPr/>
          <p:nvPr/>
        </p:nvSpPr>
        <p:spPr>
          <a:xfrm>
            <a:off x="9831436" y="6134100"/>
            <a:ext cx="228403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Team</a:t>
            </a:r>
            <a:r>
              <a:rPr lang="ko-KR" alt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 </a:t>
            </a:r>
            <a:r>
              <a:rPr lang="en-US" altLang="ko-KR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Open Mind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723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001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293" y="1876425"/>
            <a:ext cx="5600700" cy="1562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2525" y="2590800"/>
            <a:ext cx="133350" cy="1333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2525" y="2819400"/>
            <a:ext cx="133350" cy="1333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2525" y="3048000"/>
            <a:ext cx="133350" cy="1333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828800"/>
            <a:ext cx="5600700" cy="15621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1825" y="2590800"/>
            <a:ext cx="133350" cy="1333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1825" y="2819400"/>
            <a:ext cx="133350" cy="1333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1825" y="3048000"/>
            <a:ext cx="133350" cy="1333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280" y="3619500"/>
            <a:ext cx="5600700" cy="15621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2525" y="4381500"/>
            <a:ext cx="133350" cy="1333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2525" y="4610100"/>
            <a:ext cx="133350" cy="1333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2525" y="4838700"/>
            <a:ext cx="133350" cy="1333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3619500"/>
            <a:ext cx="5600700" cy="15621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1825" y="4381500"/>
            <a:ext cx="133350" cy="13335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1825" y="4610100"/>
            <a:ext cx="133350" cy="13335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1825" y="4838700"/>
            <a:ext cx="133350" cy="13335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2425" y="5505450"/>
            <a:ext cx="11430000" cy="11049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5724525"/>
            <a:ext cx="133350" cy="17145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6057900"/>
            <a:ext cx="1209675" cy="3429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3900" y="6172200"/>
            <a:ext cx="133350" cy="13335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33575" y="6057900"/>
            <a:ext cx="1247775" cy="3429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85975" y="6172200"/>
            <a:ext cx="171450" cy="13335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333750" y="6057900"/>
            <a:ext cx="1743075" cy="3429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86150" y="6172200"/>
            <a:ext cx="133350" cy="13335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229225" y="6057900"/>
            <a:ext cx="1209675" cy="3429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81625" y="6172200"/>
            <a:ext cx="133350" cy="13335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153775" y="6667500"/>
            <a:ext cx="104775" cy="133350"/>
          </a:xfrm>
          <a:prstGeom prst="rect">
            <a:avLst/>
          </a:prstGeom>
        </p:spPr>
      </p:pic>
      <p:sp>
        <p:nvSpPr>
          <p:cNvPr id="39" name="Text 0"/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OpenMind 팀 소개</a:t>
            </a:r>
            <a:endParaRPr lang="en-US" sz="2250" dirty="0"/>
          </a:p>
        </p:txBody>
      </p:sp>
      <p:sp>
        <p:nvSpPr>
          <p:cNvPr id="40" name="Text 1"/>
          <p:cNvSpPr/>
          <p:nvPr/>
        </p:nvSpPr>
        <p:spPr>
          <a:xfrm>
            <a:off x="381000" y="1066800"/>
            <a:ext cx="11430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저희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OpenMind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박사과정 </a:t>
            </a:r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명과 석사과정 </a:t>
            </a:r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팀원으로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구성되었습니다. 각 팀원의 전문 분야를 바탕으로 자전거 대여 수요 예측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프로젝트를</a:t>
            </a: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진행 하겠습니다</a:t>
            </a:r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200" dirty="0"/>
          </a:p>
        </p:txBody>
      </p:sp>
      <p:sp>
        <p:nvSpPr>
          <p:cNvPr id="41" name="Text 2"/>
          <p:cNvSpPr/>
          <p:nvPr/>
        </p:nvSpPr>
        <p:spPr>
          <a:xfrm>
            <a:off x="1152525" y="2019300"/>
            <a:ext cx="2133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3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이해선 </a:t>
            </a:r>
            <a:endParaRPr lang="en-US" sz="1350" dirty="0"/>
          </a:p>
        </p:txBody>
      </p:sp>
      <p:sp>
        <p:nvSpPr>
          <p:cNvPr id="42" name="Text 3"/>
          <p:cNvSpPr/>
          <p:nvPr/>
        </p:nvSpPr>
        <p:spPr>
          <a:xfrm>
            <a:off x="1152525" y="2286000"/>
            <a:ext cx="2133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altLang="ko-KR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2025154003</a:t>
            </a:r>
            <a:endParaRPr lang="en-US" sz="1050" dirty="0"/>
          </a:p>
        </p:txBody>
      </p:sp>
      <p:sp>
        <p:nvSpPr>
          <p:cNvPr id="43" name="Text 4"/>
          <p:cNvSpPr/>
          <p:nvPr/>
        </p:nvSpPr>
        <p:spPr>
          <a:xfrm>
            <a:off x="1362075" y="2552700"/>
            <a:ext cx="23088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㈜</a:t>
            </a:r>
            <a:r>
              <a:rPr lang="ko-KR" altLang="en-US" sz="10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심텍</a:t>
            </a:r>
            <a:endParaRPr lang="en-US" sz="1050" dirty="0"/>
          </a:p>
        </p:txBody>
      </p:sp>
      <p:sp>
        <p:nvSpPr>
          <p:cNvPr id="44" name="Text 5"/>
          <p:cNvSpPr/>
          <p:nvPr/>
        </p:nvSpPr>
        <p:spPr>
          <a:xfrm>
            <a:off x="1362075" y="2781300"/>
            <a:ext cx="21374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프로세스 개발 및 설비 개발 투자</a:t>
            </a:r>
            <a:endParaRPr lang="en-US" sz="1050" dirty="0"/>
          </a:p>
        </p:txBody>
      </p:sp>
      <p:sp>
        <p:nvSpPr>
          <p:cNvPr id="45" name="Text 6"/>
          <p:cNvSpPr/>
          <p:nvPr/>
        </p:nvSpPr>
        <p:spPr>
          <a:xfrm>
            <a:off x="1362075" y="3009900"/>
            <a:ext cx="293283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인쇄 회로 기판 개발 제품 </a:t>
            </a:r>
            <a:r>
              <a:rPr lang="ko-KR" altLang="en-US" sz="10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수율</a:t>
            </a: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공정능력 개선 </a:t>
            </a:r>
            <a:endParaRPr lang="en-US" sz="1050" dirty="0"/>
          </a:p>
        </p:txBody>
      </p:sp>
      <p:sp>
        <p:nvSpPr>
          <p:cNvPr id="46" name="Text 7"/>
          <p:cNvSpPr/>
          <p:nvPr/>
        </p:nvSpPr>
        <p:spPr>
          <a:xfrm>
            <a:off x="6981825" y="2019300"/>
            <a:ext cx="2133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3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박정수</a:t>
            </a:r>
            <a:endParaRPr lang="en-US" sz="1350" dirty="0"/>
          </a:p>
        </p:txBody>
      </p:sp>
      <p:sp>
        <p:nvSpPr>
          <p:cNvPr id="47" name="Text 8"/>
          <p:cNvSpPr/>
          <p:nvPr/>
        </p:nvSpPr>
        <p:spPr>
          <a:xfrm>
            <a:off x="6981825" y="2286000"/>
            <a:ext cx="2133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altLang="ko-KR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2025154004</a:t>
            </a:r>
            <a:endParaRPr lang="en-US" sz="1050" dirty="0"/>
          </a:p>
        </p:txBody>
      </p:sp>
      <p:sp>
        <p:nvSpPr>
          <p:cNvPr id="48" name="Text 9"/>
          <p:cNvSpPr/>
          <p:nvPr/>
        </p:nvSpPr>
        <p:spPr>
          <a:xfrm>
            <a:off x="7191375" y="2552700"/>
            <a:ext cx="23088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㈜</a:t>
            </a:r>
            <a:r>
              <a:rPr lang="ko-KR" altLang="en-US" sz="10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에니아소프트</a:t>
            </a:r>
            <a:endParaRPr lang="en-US" sz="1050" dirty="0"/>
          </a:p>
        </p:txBody>
      </p:sp>
      <p:sp>
        <p:nvSpPr>
          <p:cNvPr id="49" name="Text 10"/>
          <p:cNvSpPr/>
          <p:nvPr/>
        </p:nvSpPr>
        <p:spPr>
          <a:xfrm>
            <a:off x="7191375" y="2781300"/>
            <a:ext cx="2114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현황 관리</a:t>
            </a:r>
            <a:endParaRPr lang="en-US" sz="1050" dirty="0"/>
          </a:p>
        </p:txBody>
      </p:sp>
      <p:sp>
        <p:nvSpPr>
          <p:cNvPr id="50" name="Text 11"/>
          <p:cNvSpPr/>
          <p:nvPr/>
        </p:nvSpPr>
        <p:spPr>
          <a:xfrm>
            <a:off x="7191374" y="3009900"/>
            <a:ext cx="2009775" cy="133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아이템</a:t>
            </a:r>
            <a:r>
              <a:rPr lang="en-US" altLang="ko-KR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</a:t>
            </a:r>
            <a:r>
              <a:rPr lang="en-US" altLang="ko-KR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관리</a:t>
            </a:r>
            <a:endParaRPr lang="en-US" sz="1050" dirty="0"/>
          </a:p>
        </p:txBody>
      </p:sp>
      <p:sp>
        <p:nvSpPr>
          <p:cNvPr id="51" name="Text 12"/>
          <p:cNvSpPr/>
          <p:nvPr/>
        </p:nvSpPr>
        <p:spPr>
          <a:xfrm>
            <a:off x="1152525" y="3810000"/>
            <a:ext cx="19716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35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이원표</a:t>
            </a:r>
            <a:endParaRPr lang="en-US" sz="1350" dirty="0"/>
          </a:p>
        </p:txBody>
      </p:sp>
      <p:sp>
        <p:nvSpPr>
          <p:cNvPr id="52" name="Text 13"/>
          <p:cNvSpPr/>
          <p:nvPr/>
        </p:nvSpPr>
        <p:spPr>
          <a:xfrm>
            <a:off x="1152525" y="4076700"/>
            <a:ext cx="23660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2025254021</a:t>
            </a:r>
            <a:endParaRPr lang="en-US" sz="1050" dirty="0"/>
          </a:p>
        </p:txBody>
      </p:sp>
      <p:sp>
        <p:nvSpPr>
          <p:cNvPr id="53" name="Text 14"/>
          <p:cNvSpPr/>
          <p:nvPr/>
        </p:nvSpPr>
        <p:spPr>
          <a:xfrm>
            <a:off x="1362075" y="4343400"/>
            <a:ext cx="20459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㈜</a:t>
            </a:r>
            <a:r>
              <a:rPr lang="ko-KR" altLang="en-US" sz="10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세노텍</a:t>
            </a:r>
            <a:endParaRPr lang="en-US" sz="1050" dirty="0"/>
          </a:p>
        </p:txBody>
      </p:sp>
      <p:sp>
        <p:nvSpPr>
          <p:cNvPr id="54" name="Text 15"/>
          <p:cNvSpPr/>
          <p:nvPr/>
        </p:nvSpPr>
        <p:spPr>
          <a:xfrm>
            <a:off x="1362075" y="4572000"/>
            <a:ext cx="2114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엔지니어링 개발 총괄</a:t>
            </a:r>
            <a:endParaRPr lang="en-US" sz="1050" dirty="0"/>
          </a:p>
        </p:txBody>
      </p:sp>
      <p:sp>
        <p:nvSpPr>
          <p:cNvPr id="55" name="Text 16"/>
          <p:cNvSpPr/>
          <p:nvPr/>
        </p:nvSpPr>
        <p:spPr>
          <a:xfrm>
            <a:off x="1362075" y="4800600"/>
            <a:ext cx="1657350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ko-KR" altLang="en-US" sz="105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 개발 및 기술 전략</a:t>
            </a:r>
            <a:endParaRPr lang="en-US" sz="1050" dirty="0"/>
          </a:p>
        </p:txBody>
      </p:sp>
      <p:sp>
        <p:nvSpPr>
          <p:cNvPr id="56" name="Text 17"/>
          <p:cNvSpPr/>
          <p:nvPr/>
        </p:nvSpPr>
        <p:spPr>
          <a:xfrm>
            <a:off x="6981825" y="3810000"/>
            <a:ext cx="221932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35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전양호</a:t>
            </a:r>
            <a:endParaRPr lang="en-US" sz="1350" dirty="0"/>
          </a:p>
        </p:txBody>
      </p:sp>
      <p:sp>
        <p:nvSpPr>
          <p:cNvPr id="57" name="Text 18"/>
          <p:cNvSpPr/>
          <p:nvPr/>
        </p:nvSpPr>
        <p:spPr>
          <a:xfrm>
            <a:off x="7037070" y="4076700"/>
            <a:ext cx="26631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altLang="ko-KR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2025254002</a:t>
            </a:r>
            <a:endParaRPr lang="en-US" sz="1050" dirty="0"/>
          </a:p>
        </p:txBody>
      </p:sp>
      <p:sp>
        <p:nvSpPr>
          <p:cNvPr id="58" name="Text 19"/>
          <p:cNvSpPr/>
          <p:nvPr/>
        </p:nvSpPr>
        <p:spPr>
          <a:xfrm>
            <a:off x="7191375" y="4343400"/>
            <a:ext cx="21945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㈜</a:t>
            </a:r>
            <a:r>
              <a:rPr lang="ko-KR" altLang="en-US" sz="10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에이브이지니어스</a:t>
            </a:r>
            <a:endParaRPr lang="en-US" sz="1050" dirty="0"/>
          </a:p>
        </p:txBody>
      </p:sp>
      <p:sp>
        <p:nvSpPr>
          <p:cNvPr id="59" name="Text 20"/>
          <p:cNvSpPr/>
          <p:nvPr/>
        </p:nvSpPr>
        <p:spPr>
          <a:xfrm>
            <a:off x="7191375" y="4572000"/>
            <a:ext cx="24117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및 무인 이동체 제어 인터페이스 개발</a:t>
            </a:r>
            <a:endParaRPr lang="en-US" sz="1050" dirty="0"/>
          </a:p>
        </p:txBody>
      </p:sp>
      <p:sp>
        <p:nvSpPr>
          <p:cNvPr id="60" name="Text 21"/>
          <p:cNvSpPr/>
          <p:nvPr/>
        </p:nvSpPr>
        <p:spPr>
          <a:xfrm>
            <a:off x="7191375" y="4800600"/>
            <a:ext cx="230886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ko-KR" altLang="en-US" sz="105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원격 제어 및 데이터 통신 최적화</a:t>
            </a:r>
            <a:endParaRPr lang="en-US" sz="1050" dirty="0"/>
          </a:p>
        </p:txBody>
      </p:sp>
      <p:sp>
        <p:nvSpPr>
          <p:cNvPr id="61" name="Text 22"/>
          <p:cNvSpPr/>
          <p:nvPr/>
        </p:nvSpPr>
        <p:spPr>
          <a:xfrm>
            <a:off x="781050" y="5676900"/>
            <a:ext cx="11049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핵심 가치</a:t>
            </a:r>
            <a:endParaRPr lang="en-US" sz="1350" dirty="0"/>
          </a:p>
        </p:txBody>
      </p:sp>
      <p:sp>
        <p:nvSpPr>
          <p:cNvPr id="62" name="Text 23"/>
          <p:cNvSpPr/>
          <p:nvPr/>
        </p:nvSpPr>
        <p:spPr>
          <a:xfrm>
            <a:off x="933450" y="6057900"/>
            <a:ext cx="120967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혁신적 사고</a:t>
            </a:r>
            <a:endParaRPr lang="en-US" sz="1050" dirty="0"/>
          </a:p>
        </p:txBody>
      </p:sp>
      <p:sp>
        <p:nvSpPr>
          <p:cNvPr id="63" name="Text 24"/>
          <p:cNvSpPr/>
          <p:nvPr/>
        </p:nvSpPr>
        <p:spPr>
          <a:xfrm>
            <a:off x="2333625" y="6057900"/>
            <a:ext cx="124777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협업과 소통</a:t>
            </a:r>
            <a:endParaRPr lang="en-US" sz="1050" dirty="0"/>
          </a:p>
        </p:txBody>
      </p:sp>
      <p:sp>
        <p:nvSpPr>
          <p:cNvPr id="64" name="Text 25"/>
          <p:cNvSpPr/>
          <p:nvPr/>
        </p:nvSpPr>
        <p:spPr>
          <a:xfrm>
            <a:off x="3695700" y="6057900"/>
            <a:ext cx="209169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 기반 의사결정</a:t>
            </a:r>
            <a:endParaRPr lang="en-US" sz="1050" dirty="0"/>
          </a:p>
        </p:txBody>
      </p:sp>
      <p:sp>
        <p:nvSpPr>
          <p:cNvPr id="65" name="Text 26"/>
          <p:cNvSpPr/>
          <p:nvPr/>
        </p:nvSpPr>
        <p:spPr>
          <a:xfrm>
            <a:off x="5591175" y="6057900"/>
            <a:ext cx="120967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지속적 성장</a:t>
            </a:r>
            <a:endParaRPr lang="en-US" sz="1050" dirty="0"/>
          </a:p>
        </p:txBody>
      </p:sp>
      <p:sp>
        <p:nvSpPr>
          <p:cNvPr id="66" name="Text 27"/>
          <p:cNvSpPr/>
          <p:nvPr/>
        </p:nvSpPr>
        <p:spPr>
          <a:xfrm>
            <a:off x="11296650" y="6629400"/>
            <a:ext cx="971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Page 1/23</a:t>
            </a:r>
            <a:endParaRPr lang="en-US" sz="1050" dirty="0"/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08602201-5596-4126-A1F9-3972FD1C5170}"/>
              </a:ext>
            </a:extLst>
          </p:cNvPr>
          <p:cNvSpPr/>
          <p:nvPr/>
        </p:nvSpPr>
        <p:spPr>
          <a:xfrm>
            <a:off x="609600" y="2015490"/>
            <a:ext cx="428625" cy="571500"/>
          </a:xfrm>
          <a:prstGeom prst="ellipse">
            <a:avLst/>
          </a:prstGeom>
          <a:blipFill>
            <a:blip r:embed="rId21"/>
            <a:stretch>
              <a:fillRect/>
            </a:stretch>
          </a:blip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B281030B-40A7-4304-B389-F7EFA8CCE4B5}"/>
              </a:ext>
            </a:extLst>
          </p:cNvPr>
          <p:cNvSpPr/>
          <p:nvPr/>
        </p:nvSpPr>
        <p:spPr>
          <a:xfrm>
            <a:off x="6414136" y="2015490"/>
            <a:ext cx="428625" cy="571500"/>
          </a:xfrm>
          <a:prstGeom prst="ellipse">
            <a:avLst/>
          </a:prstGeom>
          <a:blipFill>
            <a:blip r:embed="rId22"/>
            <a:stretch>
              <a:fillRect/>
            </a:stretch>
          </a:blip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1AFABCEF-49AE-4BE1-9804-A8EC0C12A966}"/>
              </a:ext>
            </a:extLst>
          </p:cNvPr>
          <p:cNvSpPr/>
          <p:nvPr/>
        </p:nvSpPr>
        <p:spPr>
          <a:xfrm>
            <a:off x="604838" y="3810000"/>
            <a:ext cx="428625" cy="571500"/>
          </a:xfrm>
          <a:prstGeom prst="ellipse">
            <a:avLst/>
          </a:prstGeom>
          <a:blipFill>
            <a:blip r:embed="rId2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A7F8B4E0-A88F-47EE-BAC3-B163AB87376F}"/>
              </a:ext>
            </a:extLst>
          </p:cNvPr>
          <p:cNvSpPr/>
          <p:nvPr/>
        </p:nvSpPr>
        <p:spPr>
          <a:xfrm>
            <a:off x="6488430" y="3813810"/>
            <a:ext cx="428625" cy="571500"/>
          </a:xfrm>
          <a:prstGeom prst="ellipse">
            <a:avLst/>
          </a:prstGeom>
          <a:blipFill>
            <a:blip r:embed="rId24"/>
            <a:stretch>
              <a:fillRect/>
            </a:stretch>
          </a:blip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001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43000"/>
            <a:ext cx="5600700" cy="3327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409700"/>
            <a:ext cx="238125" cy="190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828800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22098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28194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143000"/>
            <a:ext cx="5600700" cy="5334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8900" y="1409700"/>
            <a:ext cx="171450" cy="190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0" y="2514600"/>
            <a:ext cx="133350" cy="13335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프로젝트 </a:t>
            </a:r>
            <a:r>
              <a:rPr lang="en-US" sz="2250" b="1" dirty="0" err="1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개요</a:t>
            </a:r>
            <a:r>
              <a:rPr 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  <a:r>
              <a:rPr lang="ko-KR" alt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와</a:t>
            </a:r>
            <a:r>
              <a:rPr 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  <a:r>
              <a:rPr lang="en-US" sz="2250" b="1" dirty="0" err="1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목적</a:t>
            </a:r>
            <a:endParaRPr lang="en-US" sz="2250" dirty="0"/>
          </a:p>
        </p:txBody>
      </p:sp>
      <p:sp>
        <p:nvSpPr>
          <p:cNvPr id="20" name="Text 1"/>
          <p:cNvSpPr/>
          <p:nvPr/>
        </p:nvSpPr>
        <p:spPr>
          <a:xfrm>
            <a:off x="962025" y="1371600"/>
            <a:ext cx="5143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목적</a:t>
            </a:r>
            <a:endParaRPr lang="en-US" sz="1500" dirty="0"/>
          </a:p>
        </p:txBody>
      </p:sp>
      <p:sp>
        <p:nvSpPr>
          <p:cNvPr id="21" name="Text 2"/>
          <p:cNvSpPr/>
          <p:nvPr/>
        </p:nvSpPr>
        <p:spPr>
          <a:xfrm>
            <a:off x="838200" y="1790700"/>
            <a:ext cx="56007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자전거 공유 시스템의 운영 효율성을 극대화하기 위해 </a:t>
            </a:r>
            <a:r>
              <a:rPr lang="en-US" sz="1200" dirty="0">
                <a:solidFill>
                  <a:srgbClr val="4CAF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 예측 모델 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</a:t>
            </a:r>
            <a:endParaRPr lang="en-US" sz="1200" dirty="0"/>
          </a:p>
        </p:txBody>
      </p:sp>
      <p:sp>
        <p:nvSpPr>
          <p:cNvPr id="22" name="Text 3"/>
          <p:cNvSpPr/>
          <p:nvPr/>
        </p:nvSpPr>
        <p:spPr>
          <a:xfrm>
            <a:off x="838200" y="2171700"/>
            <a:ext cx="49149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날씨, 시간, 요일, 계절 등 다양한 환경 요인이 자전거 대여 수요에 미치는 영향 분석</a:t>
            </a:r>
            <a:endParaRPr lang="en-US" sz="1200" dirty="0"/>
          </a:p>
        </p:txBody>
      </p:sp>
      <p:sp>
        <p:nvSpPr>
          <p:cNvPr id="23" name="Text 4"/>
          <p:cNvSpPr/>
          <p:nvPr/>
        </p:nvSpPr>
        <p:spPr>
          <a:xfrm>
            <a:off x="838200" y="2781300"/>
            <a:ext cx="49149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UCI Bike Sharing Dataset과 서울시 따릉이 데이터를 활용한 </a:t>
            </a:r>
            <a:r>
              <a:rPr lang="en-US" sz="1200" dirty="0">
                <a:solidFill>
                  <a:srgbClr val="4CAF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머신러닝 기반 예측 모델 </a:t>
            </a: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구축</a:t>
            </a:r>
            <a:endParaRPr lang="en-US" sz="1200" dirty="0"/>
          </a:p>
        </p:txBody>
      </p:sp>
      <p:sp>
        <p:nvSpPr>
          <p:cNvPr id="25" name="Text 6"/>
          <p:cNvSpPr/>
          <p:nvPr/>
        </p:nvSpPr>
        <p:spPr>
          <a:xfrm>
            <a:off x="6724650" y="1371600"/>
            <a:ext cx="5143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데이터셋 소개</a:t>
            </a:r>
            <a:endParaRPr lang="en-US" sz="1500" dirty="0"/>
          </a:p>
        </p:txBody>
      </p:sp>
      <p:sp>
        <p:nvSpPr>
          <p:cNvPr id="26" name="Text 7"/>
          <p:cNvSpPr/>
          <p:nvPr/>
        </p:nvSpPr>
        <p:spPr>
          <a:xfrm>
            <a:off x="6858000" y="1790700"/>
            <a:ext cx="4724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UCI Bike Sharing Dataset</a:t>
            </a:r>
            <a:endParaRPr lang="en-US" sz="1200" b="1" dirty="0"/>
          </a:p>
        </p:txBody>
      </p:sp>
      <p:sp>
        <p:nvSpPr>
          <p:cNvPr id="27" name="Text 8"/>
          <p:cNvSpPr/>
          <p:nvPr/>
        </p:nvSpPr>
        <p:spPr>
          <a:xfrm>
            <a:off x="6858000" y="2057400"/>
            <a:ext cx="4724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워싱턴 D.C.의 Capital Bikeshare </a:t>
            </a:r>
            <a:r>
              <a:rPr lang="en-US" sz="10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시스템에서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2021년부터 2022년까지 기록된 시간별(hour.csv) </a:t>
            </a:r>
            <a:r>
              <a:rPr lang="en-US" sz="10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자전거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대여량 정보</a:t>
            </a:r>
            <a:endParaRPr lang="en-US" sz="1050" dirty="0"/>
          </a:p>
        </p:txBody>
      </p:sp>
      <p:sp>
        <p:nvSpPr>
          <p:cNvPr id="28" name="Text 9"/>
          <p:cNvSpPr/>
          <p:nvPr/>
        </p:nvSpPr>
        <p:spPr>
          <a:xfrm>
            <a:off x="7029450" y="2476500"/>
            <a:ext cx="56692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포함 변수: 기온, 습도, 풍속, 날씨, 계절, 휴일, 근무일, 시간 등</a:t>
            </a:r>
            <a:endParaRPr lang="en-US" sz="1050" dirty="0"/>
          </a:p>
        </p:txBody>
      </p:sp>
      <p:sp>
        <p:nvSpPr>
          <p:cNvPr id="29" name="Text 10"/>
          <p:cNvSpPr/>
          <p:nvPr/>
        </p:nvSpPr>
        <p:spPr>
          <a:xfrm>
            <a:off x="6819900" y="2857500"/>
            <a:ext cx="4762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OpenMeteo</a:t>
            </a: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API WDC </a:t>
            </a:r>
            <a:r>
              <a:rPr lang="ko-KR" alt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기상 데이터 </a:t>
            </a:r>
            <a:endParaRPr lang="en-US" sz="1200" b="1" dirty="0"/>
          </a:p>
        </p:txBody>
      </p:sp>
      <p:sp>
        <p:nvSpPr>
          <p:cNvPr id="30" name="Text 11"/>
          <p:cNvSpPr/>
          <p:nvPr/>
        </p:nvSpPr>
        <p:spPr>
          <a:xfrm>
            <a:off x="6819900" y="3124200"/>
            <a:ext cx="5715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WDC </a:t>
            </a:r>
            <a:r>
              <a:rPr lang="en-US" sz="10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도시 환경에서의 자전거 공유 시스템 이용 패턴 분석을 위해 추가 활용</a:t>
            </a:r>
            <a:endParaRPr lang="en-US" sz="1050" dirty="0"/>
          </a:p>
        </p:txBody>
      </p:sp>
      <p:pic>
        <p:nvPicPr>
          <p:cNvPr id="33" name="Image 36" descr="preencoded.png">
            <a:extLst>
              <a:ext uri="{FF2B5EF4-FFF2-40B4-BE49-F238E27FC236}">
                <a16:creationId xmlns:a16="http://schemas.microsoft.com/office/drawing/2014/main" id="{28588AFC-3BD1-45E3-BE7B-C0F1394B145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53775" y="6667500"/>
            <a:ext cx="104775" cy="133350"/>
          </a:xfrm>
          <a:prstGeom prst="rect">
            <a:avLst/>
          </a:prstGeom>
        </p:spPr>
      </p:pic>
      <p:sp>
        <p:nvSpPr>
          <p:cNvPr id="34" name="Text 27">
            <a:extLst>
              <a:ext uri="{FF2B5EF4-FFF2-40B4-BE49-F238E27FC236}">
                <a16:creationId xmlns:a16="http://schemas.microsoft.com/office/drawing/2014/main" id="{55087C57-0F6E-43E8-8F40-DE7ED2E0E0AE}"/>
              </a:ext>
            </a:extLst>
          </p:cNvPr>
          <p:cNvSpPr/>
          <p:nvPr/>
        </p:nvSpPr>
        <p:spPr>
          <a:xfrm>
            <a:off x="11296650" y="6629400"/>
            <a:ext cx="971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Page 2/23</a:t>
            </a:r>
            <a:endParaRPr lang="en-US" sz="1050" dirty="0"/>
          </a:p>
        </p:txBody>
      </p:sp>
      <p:pic>
        <p:nvPicPr>
          <p:cNvPr id="49" name="Image 12" descr="preencoded.png">
            <a:extLst>
              <a:ext uri="{FF2B5EF4-FFF2-40B4-BE49-F238E27FC236}">
                <a16:creationId xmlns:a16="http://schemas.microsoft.com/office/drawing/2014/main" id="{C58AE23C-05FF-8F07-82D8-932D5C032A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0" y="4635500"/>
            <a:ext cx="133350" cy="133350"/>
          </a:xfrm>
          <a:prstGeom prst="rect">
            <a:avLst/>
          </a:prstGeom>
        </p:spPr>
      </p:pic>
      <p:sp>
        <p:nvSpPr>
          <p:cNvPr id="53" name="Text 7">
            <a:extLst>
              <a:ext uri="{FF2B5EF4-FFF2-40B4-BE49-F238E27FC236}">
                <a16:creationId xmlns:a16="http://schemas.microsoft.com/office/drawing/2014/main" id="{36B05FB4-5D88-FF1D-8FEC-BD486133DF19}"/>
              </a:ext>
            </a:extLst>
          </p:cNvPr>
          <p:cNvSpPr/>
          <p:nvPr/>
        </p:nvSpPr>
        <p:spPr>
          <a:xfrm>
            <a:off x="6858000" y="3911600"/>
            <a:ext cx="4724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ko-KR" alt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서울 열린 데이터 광장 </a:t>
            </a:r>
            <a:r>
              <a:rPr lang="en-US" altLang="ko-KR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: </a:t>
            </a:r>
            <a:r>
              <a:rPr lang="ko-KR" altLang="en-US" sz="1200" b="1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따릉이</a:t>
            </a:r>
            <a:r>
              <a:rPr lang="ko-KR" alt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 대여 이력 데이터셋</a:t>
            </a:r>
            <a:endParaRPr lang="en-US" sz="1200" b="1" dirty="0">
              <a:solidFill>
                <a:srgbClr val="374151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54" name="Text 8">
            <a:extLst>
              <a:ext uri="{FF2B5EF4-FFF2-40B4-BE49-F238E27FC236}">
                <a16:creationId xmlns:a16="http://schemas.microsoft.com/office/drawing/2014/main" id="{6A24335A-0BAE-8FBF-B679-A84E366EE56E}"/>
              </a:ext>
            </a:extLst>
          </p:cNvPr>
          <p:cNvSpPr/>
          <p:nvPr/>
        </p:nvSpPr>
        <p:spPr>
          <a:xfrm>
            <a:off x="6858000" y="4178300"/>
            <a:ext cx="4724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서울시 </a:t>
            </a:r>
            <a:r>
              <a:rPr lang="ko-KR" altLang="en-US" sz="10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따릉이</a:t>
            </a: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 자전거 공유 시스템에서 </a:t>
            </a:r>
            <a:r>
              <a:rPr lang="en-US" altLang="ko-KR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2020 </a:t>
            </a: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부터 </a:t>
            </a:r>
            <a:r>
              <a:rPr lang="en-US" altLang="ko-KR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2025</a:t>
            </a: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년 </a:t>
            </a:r>
            <a:r>
              <a:rPr lang="en-US" altLang="ko-KR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6</a:t>
            </a: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월 까지 기록된 </a:t>
            </a:r>
            <a:br>
              <a:rPr lang="en-US" altLang="ko-KR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시간별 </a:t>
            </a:r>
            <a:r>
              <a:rPr lang="ko-KR" altLang="en-US" sz="10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대여량</a:t>
            </a: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 정보</a:t>
            </a:r>
            <a:endParaRPr lang="en-US" sz="1050" dirty="0">
              <a:solidFill>
                <a:srgbClr val="374151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55" name="Text 9">
            <a:extLst>
              <a:ext uri="{FF2B5EF4-FFF2-40B4-BE49-F238E27FC236}">
                <a16:creationId xmlns:a16="http://schemas.microsoft.com/office/drawing/2014/main" id="{123389D8-BC65-AC37-E0D6-90A34987454E}"/>
              </a:ext>
            </a:extLst>
          </p:cNvPr>
          <p:cNvSpPr/>
          <p:nvPr/>
        </p:nvSpPr>
        <p:spPr>
          <a:xfrm>
            <a:off x="7029450" y="4597400"/>
            <a:ext cx="56692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포함 변수: </a:t>
            </a: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</a:t>
            </a:r>
            <a:r>
              <a:rPr lang="en-US" altLang="ko-KR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요소</a:t>
            </a:r>
            <a:r>
              <a:rPr lang="en-US" altLang="ko-KR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공간요소</a:t>
            </a:r>
            <a:r>
              <a:rPr lang="en-US" altLang="ko-KR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요소</a:t>
            </a:r>
            <a:r>
              <a:rPr lang="en-US" altLang="ko-KR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행동 데이터</a:t>
            </a:r>
            <a:r>
              <a:rPr lang="en-US" altLang="ko-KR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활동량 데이터 등</a:t>
            </a:r>
            <a:endParaRPr lang="en-US" sz="105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097C202E-AD05-7710-280B-E07EFC43BD11}"/>
              </a:ext>
            </a:extLst>
          </p:cNvPr>
          <p:cNvSpPr/>
          <p:nvPr/>
        </p:nvSpPr>
        <p:spPr>
          <a:xfrm>
            <a:off x="6819900" y="4978400"/>
            <a:ext cx="4762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기상 자료 개방 포털 </a:t>
            </a:r>
            <a:r>
              <a:rPr lang="en-US" altLang="ko-KR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– ASOS </a:t>
            </a:r>
            <a:r>
              <a:rPr lang="ko-KR" alt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관측 데이터</a:t>
            </a:r>
            <a:r>
              <a:rPr lang="en-US" altLang="ko-KR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200" b="1" dirty="0"/>
          </a:p>
        </p:txBody>
      </p:sp>
      <p:sp>
        <p:nvSpPr>
          <p:cNvPr id="57" name="Text 11">
            <a:extLst>
              <a:ext uri="{FF2B5EF4-FFF2-40B4-BE49-F238E27FC236}">
                <a16:creationId xmlns:a16="http://schemas.microsoft.com/office/drawing/2014/main" id="{EB58358F-335F-E2F2-A39F-8E5CB381E67E}"/>
              </a:ext>
            </a:extLst>
          </p:cNvPr>
          <p:cNvSpPr/>
          <p:nvPr/>
        </p:nvSpPr>
        <p:spPr>
          <a:xfrm>
            <a:off x="6819900" y="5245100"/>
            <a:ext cx="5715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서울시 </a:t>
            </a:r>
            <a:r>
              <a:rPr lang="en-US" sz="10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도시 환경에서의 자전거 공유 시스템 이용 패턴 분석을 위해 추가 활용</a:t>
            </a:r>
            <a:endParaRPr lang="en-US" sz="1050" dirty="0"/>
          </a:p>
        </p:txBody>
      </p:sp>
      <p:pic>
        <p:nvPicPr>
          <p:cNvPr id="61" name="Image 10" descr="preencoded.png">
            <a:extLst>
              <a:ext uri="{FF2B5EF4-FFF2-40B4-BE49-F238E27FC236}">
                <a16:creationId xmlns:a16="http://schemas.microsoft.com/office/drawing/2014/main" id="{C99BE213-5FAD-65B9-1B1E-A5AE5431E03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1790700"/>
            <a:ext cx="304800" cy="381000"/>
          </a:xfrm>
          <a:prstGeom prst="rect">
            <a:avLst/>
          </a:prstGeom>
        </p:spPr>
      </p:pic>
      <p:pic>
        <p:nvPicPr>
          <p:cNvPr id="62" name="Image 11" descr="preencoded.png">
            <a:extLst>
              <a:ext uri="{FF2B5EF4-FFF2-40B4-BE49-F238E27FC236}">
                <a16:creationId xmlns:a16="http://schemas.microsoft.com/office/drawing/2014/main" id="{8F50814B-193F-8C50-411A-9BBBAC98BE5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15100" y="1914525"/>
            <a:ext cx="152400" cy="152400"/>
          </a:xfrm>
          <a:prstGeom prst="rect">
            <a:avLst/>
          </a:prstGeom>
        </p:spPr>
      </p:pic>
      <p:pic>
        <p:nvPicPr>
          <p:cNvPr id="63" name="Image 13" descr="preencoded.png">
            <a:extLst>
              <a:ext uri="{FF2B5EF4-FFF2-40B4-BE49-F238E27FC236}">
                <a16:creationId xmlns:a16="http://schemas.microsoft.com/office/drawing/2014/main" id="{E6BF9886-0A62-8769-7125-F5F7F16FE1E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8900" y="2857500"/>
            <a:ext cx="266700" cy="381000"/>
          </a:xfrm>
          <a:prstGeom prst="rect">
            <a:avLst/>
          </a:prstGeom>
        </p:spPr>
      </p:pic>
      <p:pic>
        <p:nvPicPr>
          <p:cNvPr id="1024" name="Image 14" descr="preencoded.png">
            <a:extLst>
              <a:ext uri="{FF2B5EF4-FFF2-40B4-BE49-F238E27FC236}">
                <a16:creationId xmlns:a16="http://schemas.microsoft.com/office/drawing/2014/main" id="{D2D93064-AE46-A859-1B05-2F63B562C45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15100" y="2981325"/>
            <a:ext cx="114300" cy="152400"/>
          </a:xfrm>
          <a:prstGeom prst="rect">
            <a:avLst/>
          </a:prstGeom>
        </p:spPr>
      </p:pic>
      <p:pic>
        <p:nvPicPr>
          <p:cNvPr id="1025" name="Image 10" descr="preencoded.png">
            <a:extLst>
              <a:ext uri="{FF2B5EF4-FFF2-40B4-BE49-F238E27FC236}">
                <a16:creationId xmlns:a16="http://schemas.microsoft.com/office/drawing/2014/main" id="{90F6B3BD-23E5-DEA3-993D-16E211B272E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3848101"/>
            <a:ext cx="304800" cy="381000"/>
          </a:xfrm>
          <a:prstGeom prst="rect">
            <a:avLst/>
          </a:prstGeom>
        </p:spPr>
      </p:pic>
      <p:pic>
        <p:nvPicPr>
          <p:cNvPr id="1027" name="Image 11" descr="preencoded.png">
            <a:extLst>
              <a:ext uri="{FF2B5EF4-FFF2-40B4-BE49-F238E27FC236}">
                <a16:creationId xmlns:a16="http://schemas.microsoft.com/office/drawing/2014/main" id="{F5B85687-4676-2D4A-FFF3-3F31DDE7D26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15100" y="3971926"/>
            <a:ext cx="152400" cy="152400"/>
          </a:xfrm>
          <a:prstGeom prst="rect">
            <a:avLst/>
          </a:prstGeom>
        </p:spPr>
      </p:pic>
      <p:pic>
        <p:nvPicPr>
          <p:cNvPr id="1029" name="Image 13" descr="preencoded.png">
            <a:extLst>
              <a:ext uri="{FF2B5EF4-FFF2-40B4-BE49-F238E27FC236}">
                <a16:creationId xmlns:a16="http://schemas.microsoft.com/office/drawing/2014/main" id="{C826A84E-E121-84DE-AAF3-67D6711ADCF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8900" y="4914901"/>
            <a:ext cx="266700" cy="381000"/>
          </a:xfrm>
          <a:prstGeom prst="rect">
            <a:avLst/>
          </a:prstGeom>
        </p:spPr>
      </p:pic>
      <p:pic>
        <p:nvPicPr>
          <p:cNvPr id="1031" name="Image 14" descr="preencoded.png">
            <a:extLst>
              <a:ext uri="{FF2B5EF4-FFF2-40B4-BE49-F238E27FC236}">
                <a16:creationId xmlns:a16="http://schemas.microsoft.com/office/drawing/2014/main" id="{F8C1A0B1-D985-375F-1AC5-436731CAA0B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15100" y="5038726"/>
            <a:ext cx="114300" cy="152400"/>
          </a:xfrm>
          <a:prstGeom prst="rect">
            <a:avLst/>
          </a:prstGeom>
        </p:spPr>
      </p:pic>
      <p:pic>
        <p:nvPicPr>
          <p:cNvPr id="1041" name="Image 7" descr="preencoded.png">
            <a:extLst>
              <a:ext uri="{FF2B5EF4-FFF2-40B4-BE49-F238E27FC236}">
                <a16:creationId xmlns:a16="http://schemas.microsoft.com/office/drawing/2014/main" id="{D8265BD1-BB9D-B9A7-DDD2-4218A974F2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3460750"/>
            <a:ext cx="152400" cy="152400"/>
          </a:xfrm>
          <a:prstGeom prst="rect">
            <a:avLst/>
          </a:prstGeom>
        </p:spPr>
      </p:pic>
      <p:sp>
        <p:nvSpPr>
          <p:cNvPr id="1042" name="Text 5">
            <a:extLst>
              <a:ext uri="{FF2B5EF4-FFF2-40B4-BE49-F238E27FC236}">
                <a16:creationId xmlns:a16="http://schemas.microsoft.com/office/drawing/2014/main" id="{5482A305-0F43-5493-D67C-39085B636700}"/>
              </a:ext>
            </a:extLst>
          </p:cNvPr>
          <p:cNvSpPr/>
          <p:nvPr/>
        </p:nvSpPr>
        <p:spPr>
          <a:xfrm>
            <a:off x="838200" y="3422650"/>
            <a:ext cx="5303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모델을 바탕으로 실제 운영 환경에 적용할 수 있는 </a:t>
            </a:r>
            <a:r>
              <a:rPr lang="en-US" sz="1200" dirty="0">
                <a:solidFill>
                  <a:srgbClr val="4CAF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 방안 제시</a:t>
            </a:r>
            <a:endParaRPr lang="en-US" sz="1200" dirty="0"/>
          </a:p>
        </p:txBody>
      </p:sp>
      <p:pic>
        <p:nvPicPr>
          <p:cNvPr id="1043" name="Image 9" descr="preencoded.png">
            <a:extLst>
              <a:ext uri="{FF2B5EF4-FFF2-40B4-BE49-F238E27FC236}">
                <a16:creationId xmlns:a16="http://schemas.microsoft.com/office/drawing/2014/main" id="{9497E671-42EF-49A2-9772-7A79D96EEF3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42238" y="5943601"/>
            <a:ext cx="381000" cy="381000"/>
          </a:xfrm>
          <a:prstGeom prst="rect">
            <a:avLst/>
          </a:prstGeom>
        </p:spPr>
      </p:pic>
      <p:pic>
        <p:nvPicPr>
          <p:cNvPr id="1044" name="Image 14" descr="preencoded.png">
            <a:extLst>
              <a:ext uri="{FF2B5EF4-FFF2-40B4-BE49-F238E27FC236}">
                <a16:creationId xmlns:a16="http://schemas.microsoft.com/office/drawing/2014/main" id="{528B3F40-E6F2-B39D-BC2D-F1A495D0890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91451" y="5975350"/>
            <a:ext cx="257175" cy="342900"/>
          </a:xfrm>
          <a:prstGeom prst="rect">
            <a:avLst/>
          </a:prstGeom>
        </p:spPr>
      </p:pic>
      <p:sp>
        <p:nvSpPr>
          <p:cNvPr id="1045" name="Text 10">
            <a:extLst>
              <a:ext uri="{FF2B5EF4-FFF2-40B4-BE49-F238E27FC236}">
                <a16:creationId xmlns:a16="http://schemas.microsoft.com/office/drawing/2014/main" id="{C6FDFD5A-C8B1-60DB-8B9F-6ADDB951599F}"/>
              </a:ext>
            </a:extLst>
          </p:cNvPr>
          <p:cNvSpPr/>
          <p:nvPr/>
        </p:nvSpPr>
        <p:spPr>
          <a:xfrm>
            <a:off x="8209281" y="6007099"/>
            <a:ext cx="206501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altLang="ko-KR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WDC/ </a:t>
            </a:r>
            <a:r>
              <a:rPr lang="ko-KR" alt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 대여소 별 </a:t>
            </a:r>
            <a:r>
              <a:rPr lang="en-US" altLang="ko-KR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POI </a:t>
            </a:r>
            <a:r>
              <a:rPr lang="ko-KR" alt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</a:t>
            </a:r>
            <a:endParaRPr lang="en-US" sz="1200" b="1" dirty="0"/>
          </a:p>
        </p:txBody>
      </p:sp>
      <p:sp>
        <p:nvSpPr>
          <p:cNvPr id="1048" name="직사각형 1047">
            <a:extLst>
              <a:ext uri="{FF2B5EF4-FFF2-40B4-BE49-F238E27FC236}">
                <a16:creationId xmlns:a16="http://schemas.microsoft.com/office/drawing/2014/main" id="{69E12CE1-F893-516A-EECA-C21A795DCA39}"/>
              </a:ext>
            </a:extLst>
          </p:cNvPr>
          <p:cNvSpPr/>
          <p:nvPr/>
        </p:nvSpPr>
        <p:spPr>
          <a:xfrm>
            <a:off x="7742238" y="5765798"/>
            <a:ext cx="2532062" cy="5080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6858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876300"/>
            <a:ext cx="11582400" cy="2781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28700"/>
            <a:ext cx="11277600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028700"/>
            <a:ext cx="955625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2825" y="1028700"/>
            <a:ext cx="2293739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6564" y="1028700"/>
            <a:ext cx="5734348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0912" y="1028700"/>
            <a:ext cx="2293888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1371600"/>
            <a:ext cx="955625" cy="533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1524000"/>
            <a:ext cx="228600" cy="228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12825" y="1371600"/>
            <a:ext cx="2293739" cy="533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06564" y="1371600"/>
            <a:ext cx="5734348" cy="533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20864" y="1504950"/>
            <a:ext cx="133350" cy="1333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40912" y="1371600"/>
            <a:ext cx="2293888" cy="533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1905000"/>
            <a:ext cx="955625" cy="533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2057400"/>
            <a:ext cx="228600" cy="228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12825" y="1905000"/>
            <a:ext cx="2293739" cy="533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06564" y="1905000"/>
            <a:ext cx="5734348" cy="533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20864" y="2038350"/>
            <a:ext cx="133350" cy="1333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40912" y="1905000"/>
            <a:ext cx="2293888" cy="533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2438400"/>
            <a:ext cx="955625" cy="533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2590800"/>
            <a:ext cx="228600" cy="2286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12825" y="2438400"/>
            <a:ext cx="2293739" cy="533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06564" y="2438400"/>
            <a:ext cx="5734348" cy="533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20864" y="2571750"/>
            <a:ext cx="133350" cy="13335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40912" y="2438400"/>
            <a:ext cx="2293888" cy="533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2971800"/>
            <a:ext cx="955625" cy="533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3124200"/>
            <a:ext cx="228600" cy="2286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12825" y="2971800"/>
            <a:ext cx="2293739" cy="533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06564" y="2971800"/>
            <a:ext cx="5734348" cy="533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20864" y="3105150"/>
            <a:ext cx="133350" cy="13335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40912" y="2971800"/>
            <a:ext cx="2293888" cy="5334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04800" y="3810000"/>
            <a:ext cx="11582400" cy="13716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7200" y="4010025"/>
            <a:ext cx="219075" cy="171450"/>
          </a:xfrm>
          <a:prstGeom prst="rect">
            <a:avLst/>
          </a:prstGeom>
        </p:spPr>
      </p:pic>
      <p:pic>
        <p:nvPicPr>
          <p:cNvPr id="36" name="Image 34" descr="preencoded.png">
            <a:hlinkClick r:id="rId19"/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7200" y="4305300"/>
            <a:ext cx="1466850" cy="4953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33400" y="4467225"/>
            <a:ext cx="180975" cy="190500"/>
          </a:xfrm>
          <a:prstGeom prst="rect">
            <a:avLst/>
          </a:prstGeom>
        </p:spPr>
      </p:pic>
      <p:pic>
        <p:nvPicPr>
          <p:cNvPr id="38" name="Image 36" descr="preencoded.png">
            <a:hlinkClick r:id="rId22"/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076450" y="4305300"/>
            <a:ext cx="1371600" cy="4953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57200" y="4905375"/>
            <a:ext cx="114300" cy="11430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153775" y="6553200"/>
            <a:ext cx="104775" cy="133350"/>
          </a:xfrm>
          <a:prstGeom prst="rect">
            <a:avLst/>
          </a:prstGeom>
        </p:spPr>
      </p:pic>
      <p:sp>
        <p:nvSpPr>
          <p:cNvPr id="44" name="Text 0"/>
          <p:cNvSpPr/>
          <p:nvPr/>
        </p:nvSpPr>
        <p:spPr>
          <a:xfrm>
            <a:off x="304800" y="304800"/>
            <a:ext cx="138988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프로젝트 일정 (2025.11.13 ~ 2025.12.17)</a:t>
            </a:r>
            <a:endParaRPr lang="en-US" sz="2250" dirty="0"/>
          </a:p>
        </p:txBody>
      </p:sp>
      <p:sp>
        <p:nvSpPr>
          <p:cNvPr id="45" name="Text 1"/>
          <p:cNvSpPr/>
          <p:nvPr/>
        </p:nvSpPr>
        <p:spPr>
          <a:xfrm>
            <a:off x="571500" y="1028700"/>
            <a:ext cx="95562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주차</a:t>
            </a:r>
            <a:endParaRPr lang="en-US" sz="1050" dirty="0"/>
          </a:p>
        </p:txBody>
      </p:sp>
      <p:sp>
        <p:nvSpPr>
          <p:cNvPr id="46" name="Text 2"/>
          <p:cNvSpPr/>
          <p:nvPr/>
        </p:nvSpPr>
        <p:spPr>
          <a:xfrm>
            <a:off x="1527125" y="1028700"/>
            <a:ext cx="2293739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</a:t>
            </a:r>
            <a:endParaRPr lang="en-US" sz="1050" dirty="0"/>
          </a:p>
        </p:txBody>
      </p:sp>
      <p:sp>
        <p:nvSpPr>
          <p:cNvPr id="47" name="Text 3"/>
          <p:cNvSpPr/>
          <p:nvPr/>
        </p:nvSpPr>
        <p:spPr>
          <a:xfrm>
            <a:off x="3820864" y="1028700"/>
            <a:ext cx="5734348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작업</a:t>
            </a:r>
            <a:endParaRPr lang="en-US" sz="1050" dirty="0"/>
          </a:p>
        </p:txBody>
      </p:sp>
      <p:sp>
        <p:nvSpPr>
          <p:cNvPr id="48" name="Text 4"/>
          <p:cNvSpPr/>
          <p:nvPr/>
        </p:nvSpPr>
        <p:spPr>
          <a:xfrm>
            <a:off x="9555212" y="1028700"/>
            <a:ext cx="2293888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 / 방식</a:t>
            </a:r>
            <a:endParaRPr lang="en-US" sz="1050" dirty="0"/>
          </a:p>
        </p:txBody>
      </p:sp>
      <p:sp>
        <p:nvSpPr>
          <p:cNvPr id="49" name="Text 5"/>
          <p:cNvSpPr/>
          <p:nvPr/>
        </p:nvSpPr>
        <p:spPr>
          <a:xfrm>
            <a:off x="652463" y="1524000"/>
            <a:ext cx="228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900" dirty="0"/>
          </a:p>
        </p:txBody>
      </p:sp>
      <p:sp>
        <p:nvSpPr>
          <p:cNvPr id="50" name="Text 6"/>
          <p:cNvSpPr/>
          <p:nvPr/>
        </p:nvSpPr>
        <p:spPr>
          <a:xfrm>
            <a:off x="1527125" y="1371600"/>
            <a:ext cx="2752487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11.13 ~ 11.19</a:t>
            </a:r>
            <a:endParaRPr lang="en-US" sz="1050" dirty="0"/>
          </a:p>
        </p:txBody>
      </p:sp>
      <p:sp>
        <p:nvSpPr>
          <p:cNvPr id="51" name="Text 7"/>
          <p:cNvSpPr/>
          <p:nvPr/>
        </p:nvSpPr>
        <p:spPr>
          <a:xfrm>
            <a:off x="3992314" y="1466850"/>
            <a:ext cx="300037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수집 및 정리</a:t>
            </a:r>
            <a:endParaRPr lang="en-US" sz="1050" dirty="0"/>
          </a:p>
        </p:txBody>
      </p:sp>
      <p:sp>
        <p:nvSpPr>
          <p:cNvPr id="52" name="Text 8"/>
          <p:cNvSpPr/>
          <p:nvPr/>
        </p:nvSpPr>
        <p:spPr>
          <a:xfrm>
            <a:off x="3992314" y="1657350"/>
            <a:ext cx="36004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Kaggle/UCI 데이터, 날씨·시간대 데이터 병합, </a:t>
            </a:r>
            <a:r>
              <a:rPr lang="en-US" sz="9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결측치·형식</a:t>
            </a: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9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통일</a:t>
            </a:r>
            <a:endParaRPr lang="en-US" sz="900" dirty="0"/>
          </a:p>
        </p:txBody>
      </p:sp>
      <p:sp>
        <p:nvSpPr>
          <p:cNvPr id="53" name="Text 9"/>
          <p:cNvSpPr/>
          <p:nvPr/>
        </p:nvSpPr>
        <p:spPr>
          <a:xfrm>
            <a:off x="9555212" y="1447800"/>
            <a:ext cx="8343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전체 협업</a:t>
            </a:r>
            <a:endParaRPr lang="en-US" sz="1050" dirty="0"/>
          </a:p>
        </p:txBody>
      </p:sp>
      <p:sp>
        <p:nvSpPr>
          <p:cNvPr id="54" name="Text 10"/>
          <p:cNvSpPr/>
          <p:nvPr/>
        </p:nvSpPr>
        <p:spPr>
          <a:xfrm>
            <a:off x="10250537" y="1447800"/>
            <a:ext cx="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endParaRPr lang="en-US" sz="1050" dirty="0"/>
          </a:p>
        </p:txBody>
      </p:sp>
      <p:sp>
        <p:nvSpPr>
          <p:cNvPr id="55" name="Text 11"/>
          <p:cNvSpPr/>
          <p:nvPr/>
        </p:nvSpPr>
        <p:spPr>
          <a:xfrm>
            <a:off x="9555212" y="1657350"/>
            <a:ext cx="1120140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Google Drive / Git</a:t>
            </a:r>
            <a:endParaRPr lang="en-US" sz="900" dirty="0"/>
          </a:p>
        </p:txBody>
      </p:sp>
      <p:sp>
        <p:nvSpPr>
          <p:cNvPr id="56" name="Text 12"/>
          <p:cNvSpPr/>
          <p:nvPr/>
        </p:nvSpPr>
        <p:spPr>
          <a:xfrm>
            <a:off x="652463" y="2057400"/>
            <a:ext cx="228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00" dirty="0"/>
          </a:p>
        </p:txBody>
      </p:sp>
      <p:sp>
        <p:nvSpPr>
          <p:cNvPr id="57" name="Text 13"/>
          <p:cNvSpPr/>
          <p:nvPr/>
        </p:nvSpPr>
        <p:spPr>
          <a:xfrm>
            <a:off x="1527125" y="1905000"/>
            <a:ext cx="2752487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11.20 ~ 11.26</a:t>
            </a:r>
            <a:endParaRPr lang="en-US" sz="1050" dirty="0"/>
          </a:p>
        </p:txBody>
      </p:sp>
      <p:sp>
        <p:nvSpPr>
          <p:cNvPr id="58" name="Text 14"/>
          <p:cNvSpPr/>
          <p:nvPr/>
        </p:nvSpPr>
        <p:spPr>
          <a:xfrm>
            <a:off x="3992314" y="2000250"/>
            <a:ext cx="3390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전처리 및 EDA 공동 진행</a:t>
            </a:r>
            <a:endParaRPr lang="en-US" sz="1050" dirty="0"/>
          </a:p>
        </p:txBody>
      </p:sp>
      <p:sp>
        <p:nvSpPr>
          <p:cNvPr id="59" name="Text 15"/>
          <p:cNvSpPr/>
          <p:nvPr/>
        </p:nvSpPr>
        <p:spPr>
          <a:xfrm>
            <a:off x="3992314" y="2190750"/>
            <a:ext cx="40690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IQR </a:t>
            </a:r>
            <a:r>
              <a:rPr lang="en-US" sz="9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이상치</a:t>
            </a: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처리, 범주형 인코딩, EDA Notebook 작성, 베이스라인 모델 공유</a:t>
            </a:r>
            <a:endParaRPr lang="en-US" sz="900" dirty="0"/>
          </a:p>
        </p:txBody>
      </p:sp>
      <p:sp>
        <p:nvSpPr>
          <p:cNvPr id="60" name="Text 16"/>
          <p:cNvSpPr/>
          <p:nvPr/>
        </p:nvSpPr>
        <p:spPr>
          <a:xfrm>
            <a:off x="9555212" y="1981200"/>
            <a:ext cx="9829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전원 동일 환경</a:t>
            </a:r>
            <a:endParaRPr lang="en-US" sz="1050" dirty="0"/>
          </a:p>
        </p:txBody>
      </p:sp>
      <p:sp>
        <p:nvSpPr>
          <p:cNvPr id="61" name="Text 17"/>
          <p:cNvSpPr/>
          <p:nvPr/>
        </p:nvSpPr>
        <p:spPr>
          <a:xfrm>
            <a:off x="10374362" y="1981200"/>
            <a:ext cx="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endParaRPr lang="en-US" sz="1050" dirty="0"/>
          </a:p>
        </p:txBody>
      </p:sp>
      <p:sp>
        <p:nvSpPr>
          <p:cNvPr id="62" name="Text 18"/>
          <p:cNvSpPr/>
          <p:nvPr/>
        </p:nvSpPr>
        <p:spPr>
          <a:xfrm>
            <a:off x="9555212" y="2190750"/>
            <a:ext cx="982980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Colab / VSCode</a:t>
            </a:r>
            <a:endParaRPr lang="en-US" sz="900" dirty="0"/>
          </a:p>
        </p:txBody>
      </p:sp>
      <p:sp>
        <p:nvSpPr>
          <p:cNvPr id="63" name="Text 19"/>
          <p:cNvSpPr/>
          <p:nvPr/>
        </p:nvSpPr>
        <p:spPr>
          <a:xfrm>
            <a:off x="652463" y="2590800"/>
            <a:ext cx="228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00" dirty="0"/>
          </a:p>
        </p:txBody>
      </p:sp>
      <p:sp>
        <p:nvSpPr>
          <p:cNvPr id="64" name="Text 20"/>
          <p:cNvSpPr/>
          <p:nvPr/>
        </p:nvSpPr>
        <p:spPr>
          <a:xfrm>
            <a:off x="1527125" y="2438400"/>
            <a:ext cx="2752487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11.27 ~ 12.03</a:t>
            </a:r>
            <a:endParaRPr lang="en-US" sz="1050" dirty="0"/>
          </a:p>
        </p:txBody>
      </p:sp>
      <p:sp>
        <p:nvSpPr>
          <p:cNvPr id="65" name="Text 21"/>
          <p:cNvSpPr/>
          <p:nvPr/>
        </p:nvSpPr>
        <p:spPr>
          <a:xfrm>
            <a:off x="3992314" y="2533650"/>
            <a:ext cx="503872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개별 모델링</a:t>
            </a:r>
            <a:endParaRPr lang="en-US" sz="1050" dirty="0"/>
          </a:p>
        </p:txBody>
      </p:sp>
      <p:sp>
        <p:nvSpPr>
          <p:cNvPr id="66" name="Text 22"/>
          <p:cNvSpPr/>
          <p:nvPr/>
        </p:nvSpPr>
        <p:spPr>
          <a:xfrm>
            <a:off x="3992314" y="2724150"/>
            <a:ext cx="604647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LightGBM, XGBoost, RF </a:t>
            </a:r>
            <a:r>
              <a:rPr lang="en-US" sz="9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</a:t>
            </a: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적용, 동일 train/valid split, MAE/RMSE 비교</a:t>
            </a:r>
            <a:endParaRPr lang="en-US" sz="900" dirty="0"/>
          </a:p>
        </p:txBody>
      </p:sp>
      <p:sp>
        <p:nvSpPr>
          <p:cNvPr id="67" name="Text 23"/>
          <p:cNvSpPr/>
          <p:nvPr/>
        </p:nvSpPr>
        <p:spPr>
          <a:xfrm>
            <a:off x="9555212" y="2514600"/>
            <a:ext cx="7886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개인별 분담</a:t>
            </a:r>
            <a:endParaRPr lang="en-US" sz="1050" dirty="0"/>
          </a:p>
        </p:txBody>
      </p:sp>
      <p:sp>
        <p:nvSpPr>
          <p:cNvPr id="68" name="Text 24"/>
          <p:cNvSpPr/>
          <p:nvPr/>
        </p:nvSpPr>
        <p:spPr>
          <a:xfrm>
            <a:off x="10212437" y="2514600"/>
            <a:ext cx="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endParaRPr lang="en-US" sz="1050" dirty="0"/>
          </a:p>
        </p:txBody>
      </p:sp>
      <p:sp>
        <p:nvSpPr>
          <p:cNvPr id="69" name="Text 25"/>
          <p:cNvSpPr/>
          <p:nvPr/>
        </p:nvSpPr>
        <p:spPr>
          <a:xfrm>
            <a:off x="9555212" y="2724150"/>
            <a:ext cx="1108710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각자 담당 모델 개발</a:t>
            </a:r>
            <a:endParaRPr lang="en-US" sz="900" dirty="0"/>
          </a:p>
        </p:txBody>
      </p:sp>
      <p:sp>
        <p:nvSpPr>
          <p:cNvPr id="70" name="Text 26"/>
          <p:cNvSpPr/>
          <p:nvPr/>
        </p:nvSpPr>
        <p:spPr>
          <a:xfrm>
            <a:off x="652463" y="3124200"/>
            <a:ext cx="228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900" dirty="0"/>
          </a:p>
        </p:txBody>
      </p:sp>
      <p:sp>
        <p:nvSpPr>
          <p:cNvPr id="71" name="Text 27"/>
          <p:cNvSpPr/>
          <p:nvPr/>
        </p:nvSpPr>
        <p:spPr>
          <a:xfrm>
            <a:off x="1527125" y="2971800"/>
            <a:ext cx="2752487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12.04 ~ 12.17</a:t>
            </a:r>
            <a:endParaRPr lang="en-US" sz="1050" dirty="0"/>
          </a:p>
        </p:txBody>
      </p:sp>
      <p:sp>
        <p:nvSpPr>
          <p:cNvPr id="72" name="Text 28"/>
          <p:cNvSpPr/>
          <p:nvPr/>
        </p:nvSpPr>
        <p:spPr>
          <a:xfrm>
            <a:off x="3992314" y="3067050"/>
            <a:ext cx="39243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앙상블 및 결론 도출</a:t>
            </a:r>
            <a:endParaRPr lang="en-US" sz="1050" dirty="0"/>
          </a:p>
        </p:txBody>
      </p:sp>
      <p:sp>
        <p:nvSpPr>
          <p:cNvPr id="73" name="Text 29"/>
          <p:cNvSpPr/>
          <p:nvPr/>
        </p:nvSpPr>
        <p:spPr>
          <a:xfrm>
            <a:off x="3992314" y="3257550"/>
            <a:ext cx="47091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Weighted Average </a:t>
            </a:r>
            <a:r>
              <a:rPr lang="ko-KR" alt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앙상블</a:t>
            </a: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9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모델별</a:t>
            </a:r>
            <a:r>
              <a:rPr lang="en-US" altLang="ko-KR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r>
              <a:rPr lang="ko-KR" alt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앙상블 </a:t>
            </a: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SHAP 해석, 결과 보고서 작성</a:t>
            </a:r>
            <a:endParaRPr lang="en-US" sz="900" dirty="0"/>
          </a:p>
        </p:txBody>
      </p:sp>
      <p:sp>
        <p:nvSpPr>
          <p:cNvPr id="74" name="Text 30"/>
          <p:cNvSpPr/>
          <p:nvPr/>
        </p:nvSpPr>
        <p:spPr>
          <a:xfrm>
            <a:off x="9555212" y="3048000"/>
            <a:ext cx="4914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통합</a:t>
            </a:r>
            <a:endParaRPr lang="en-US" sz="1050" dirty="0"/>
          </a:p>
        </p:txBody>
      </p:sp>
      <p:sp>
        <p:nvSpPr>
          <p:cNvPr id="75" name="Text 31"/>
          <p:cNvSpPr/>
          <p:nvPr/>
        </p:nvSpPr>
        <p:spPr>
          <a:xfrm>
            <a:off x="9964787" y="3048000"/>
            <a:ext cx="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endParaRPr lang="en-US" sz="1050" dirty="0"/>
          </a:p>
        </p:txBody>
      </p:sp>
      <p:sp>
        <p:nvSpPr>
          <p:cNvPr id="76" name="Text 32"/>
          <p:cNvSpPr/>
          <p:nvPr/>
        </p:nvSpPr>
        <p:spPr>
          <a:xfrm>
            <a:off x="9555212" y="3257550"/>
            <a:ext cx="948690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결과물 완성</a:t>
            </a:r>
            <a:endParaRPr lang="en-US" sz="900" dirty="0"/>
          </a:p>
        </p:txBody>
      </p:sp>
      <p:sp>
        <p:nvSpPr>
          <p:cNvPr id="77" name="Text 33"/>
          <p:cNvSpPr/>
          <p:nvPr/>
        </p:nvSpPr>
        <p:spPr>
          <a:xfrm>
            <a:off x="752475" y="3962400"/>
            <a:ext cx="1127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방식</a:t>
            </a:r>
            <a:endParaRPr lang="en-US" sz="1350" dirty="0"/>
          </a:p>
        </p:txBody>
      </p:sp>
      <p:sp>
        <p:nvSpPr>
          <p:cNvPr id="78" name="Text 34"/>
          <p:cNvSpPr/>
          <p:nvPr/>
        </p:nvSpPr>
        <p:spPr>
          <a:xfrm>
            <a:off x="790575" y="4381500"/>
            <a:ext cx="105727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</a:t>
            </a:r>
            <a:endParaRPr lang="en-US" sz="1050" dirty="0"/>
          </a:p>
        </p:txBody>
      </p:sp>
      <p:sp>
        <p:nvSpPr>
          <p:cNvPr id="79" name="Text 35"/>
          <p:cNvSpPr/>
          <p:nvPr/>
        </p:nvSpPr>
        <p:spPr>
          <a:xfrm>
            <a:off x="790575" y="4572000"/>
            <a:ext cx="126873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버전 관리 및 코드 공유</a:t>
            </a:r>
            <a:endParaRPr lang="en-US" sz="900" dirty="0"/>
          </a:p>
        </p:txBody>
      </p:sp>
      <p:sp>
        <p:nvSpPr>
          <p:cNvPr id="80" name="Text 36"/>
          <p:cNvSpPr/>
          <p:nvPr/>
        </p:nvSpPr>
        <p:spPr>
          <a:xfrm>
            <a:off x="2400300" y="4381500"/>
            <a:ext cx="971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/>
              <a:t>Google Drive</a:t>
            </a:r>
          </a:p>
        </p:txBody>
      </p:sp>
      <p:sp>
        <p:nvSpPr>
          <p:cNvPr id="81" name="Text 37"/>
          <p:cNvSpPr/>
          <p:nvPr/>
        </p:nvSpPr>
        <p:spPr>
          <a:xfrm>
            <a:off x="2400300" y="4572000"/>
            <a:ext cx="11658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ko-KR" alt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데이터셋 공유</a:t>
            </a:r>
            <a:endParaRPr lang="en-US" sz="900" dirty="0"/>
          </a:p>
        </p:txBody>
      </p:sp>
      <p:sp>
        <p:nvSpPr>
          <p:cNvPr id="84" name="Text 40"/>
          <p:cNvSpPr/>
          <p:nvPr/>
        </p:nvSpPr>
        <p:spPr>
          <a:xfrm>
            <a:off x="609600" y="4876800"/>
            <a:ext cx="112776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다양한 협업 툴을 활용한 효율적인 프로젝트 관리로 팀원 간 원활한 소통과 일정 준수를 실현합니다.</a:t>
            </a:r>
            <a:endParaRPr lang="en-US" sz="900" dirty="0"/>
          </a:p>
        </p:txBody>
      </p:sp>
      <p:sp>
        <p:nvSpPr>
          <p:cNvPr id="85" name="Text 41"/>
          <p:cNvSpPr/>
          <p:nvPr/>
        </p:nvSpPr>
        <p:spPr>
          <a:xfrm>
            <a:off x="11296650" y="6515100"/>
            <a:ext cx="971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Page 3/23</a:t>
            </a:r>
            <a:endParaRPr lang="en-US" sz="1050" dirty="0"/>
          </a:p>
        </p:txBody>
      </p:sp>
      <p:pic>
        <p:nvPicPr>
          <p:cNvPr id="86" name="Image 38" descr="preencoded.png">
            <a:extLst>
              <a:ext uri="{FF2B5EF4-FFF2-40B4-BE49-F238E27FC236}">
                <a16:creationId xmlns:a16="http://schemas.microsoft.com/office/drawing/2014/main" id="{696E4436-3CDF-4D04-A5D2-FC29C6C9C5DF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590925" y="4314825"/>
            <a:ext cx="1504950" cy="495300"/>
          </a:xfrm>
          <a:prstGeom prst="rect">
            <a:avLst/>
          </a:prstGeom>
        </p:spPr>
      </p:pic>
      <p:sp>
        <p:nvSpPr>
          <p:cNvPr id="87" name="Text 38">
            <a:extLst>
              <a:ext uri="{FF2B5EF4-FFF2-40B4-BE49-F238E27FC236}">
                <a16:creationId xmlns:a16="http://schemas.microsoft.com/office/drawing/2014/main" id="{31E80D66-4582-4C5A-A79A-89D75D066CB5}"/>
              </a:ext>
            </a:extLst>
          </p:cNvPr>
          <p:cNvSpPr/>
          <p:nvPr/>
        </p:nvSpPr>
        <p:spPr>
          <a:xfrm>
            <a:off x="3886200" y="4391025"/>
            <a:ext cx="113347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MS365</a:t>
            </a:r>
            <a:endParaRPr lang="en-US" sz="1050" dirty="0"/>
          </a:p>
        </p:txBody>
      </p:sp>
      <p:sp>
        <p:nvSpPr>
          <p:cNvPr id="88" name="Text 39">
            <a:extLst>
              <a:ext uri="{FF2B5EF4-FFF2-40B4-BE49-F238E27FC236}">
                <a16:creationId xmlns:a16="http://schemas.microsoft.com/office/drawing/2014/main" id="{72D52CB9-0DFA-4779-A61B-89222932A119}"/>
              </a:ext>
            </a:extLst>
          </p:cNvPr>
          <p:cNvSpPr/>
          <p:nvPr/>
        </p:nvSpPr>
        <p:spPr>
          <a:xfrm>
            <a:off x="3886200" y="4581525"/>
            <a:ext cx="136017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문서화 및 프로젝트 관리</a:t>
            </a:r>
            <a:endParaRPr lang="en-US" sz="900" dirty="0"/>
          </a:p>
        </p:txBody>
      </p:sp>
      <p:pic>
        <p:nvPicPr>
          <p:cNvPr id="91" name="Picture 4">
            <a:extLst>
              <a:ext uri="{FF2B5EF4-FFF2-40B4-BE49-F238E27FC236}">
                <a16:creationId xmlns:a16="http://schemas.microsoft.com/office/drawing/2014/main" id="{5CFB5B74-5AEA-4CF3-B891-172FCAE581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53" t="3947" r="21841" b="34211"/>
          <a:stretch/>
        </p:blipFill>
        <p:spPr bwMode="auto">
          <a:xfrm>
            <a:off x="3627834" y="4441031"/>
            <a:ext cx="215741" cy="223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DBF1987-61B6-AABA-942E-D520BB425A14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105978" y="4439602"/>
            <a:ext cx="264795" cy="2647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605C7-0A81-5D27-9FDA-0A58D55C7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2F955DB1-7F9C-E745-FEBC-E06351801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685800"/>
            <a:ext cx="762000" cy="38100"/>
          </a:xfrm>
          <a:prstGeom prst="rect">
            <a:avLst/>
          </a:prstGeom>
        </p:spPr>
      </p:pic>
      <p:sp>
        <p:nvSpPr>
          <p:cNvPr id="44" name="Text 0">
            <a:extLst>
              <a:ext uri="{FF2B5EF4-FFF2-40B4-BE49-F238E27FC236}">
                <a16:creationId xmlns:a16="http://schemas.microsoft.com/office/drawing/2014/main" id="{610657B4-0024-FC46-3670-193A00EE5364}"/>
              </a:ext>
            </a:extLst>
          </p:cNvPr>
          <p:cNvSpPr/>
          <p:nvPr/>
        </p:nvSpPr>
        <p:spPr>
          <a:xfrm>
            <a:off x="304800" y="304800"/>
            <a:ext cx="138988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 err="1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프로젝트</a:t>
            </a:r>
            <a:r>
              <a:rPr 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  <a:r>
              <a:rPr lang="ko-KR" alt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단계별 산출물</a:t>
            </a:r>
            <a:endParaRPr lang="en-US" sz="2250" dirty="0"/>
          </a:p>
        </p:txBody>
      </p:sp>
      <p:sp>
        <p:nvSpPr>
          <p:cNvPr id="85" name="Text 41">
            <a:extLst>
              <a:ext uri="{FF2B5EF4-FFF2-40B4-BE49-F238E27FC236}">
                <a16:creationId xmlns:a16="http://schemas.microsoft.com/office/drawing/2014/main" id="{0AC533BE-5322-429B-5900-EBE574C7A2FC}"/>
              </a:ext>
            </a:extLst>
          </p:cNvPr>
          <p:cNvSpPr/>
          <p:nvPr/>
        </p:nvSpPr>
        <p:spPr>
          <a:xfrm>
            <a:off x="11296650" y="6515100"/>
            <a:ext cx="971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Page 4/23</a:t>
            </a:r>
            <a:endParaRPr lang="en-US" sz="1050" dirty="0"/>
          </a:p>
        </p:txBody>
      </p:sp>
      <p:pic>
        <p:nvPicPr>
          <p:cNvPr id="40" name="Image 4" descr="preencoded.png">
            <a:extLst>
              <a:ext uri="{FF2B5EF4-FFF2-40B4-BE49-F238E27FC236}">
                <a16:creationId xmlns:a16="http://schemas.microsoft.com/office/drawing/2014/main" id="{978446ED-D01D-A17B-0E2C-4B888CA0F6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687" y="896261"/>
            <a:ext cx="3606701" cy="3390900"/>
          </a:xfrm>
          <a:prstGeom prst="rect">
            <a:avLst/>
          </a:prstGeom>
        </p:spPr>
      </p:pic>
      <p:pic>
        <p:nvPicPr>
          <p:cNvPr id="83" name="Image 7" descr="preencoded.png">
            <a:extLst>
              <a:ext uri="{FF2B5EF4-FFF2-40B4-BE49-F238E27FC236}">
                <a16:creationId xmlns:a16="http://schemas.microsoft.com/office/drawing/2014/main" id="{B69F6789-A45C-DF2B-D10B-F027B12D7C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4788" y="896261"/>
            <a:ext cx="3606850" cy="3390900"/>
          </a:xfrm>
          <a:prstGeom prst="rect">
            <a:avLst/>
          </a:prstGeom>
        </p:spPr>
      </p:pic>
      <p:pic>
        <p:nvPicPr>
          <p:cNvPr id="92" name="Image 10" descr="preencoded.png">
            <a:extLst>
              <a:ext uri="{FF2B5EF4-FFF2-40B4-BE49-F238E27FC236}">
                <a16:creationId xmlns:a16="http://schemas.microsoft.com/office/drawing/2014/main" id="{ABC6EF51-2988-8C50-4CFB-0BC36B89E1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4037" y="896261"/>
            <a:ext cx="3606701" cy="3390900"/>
          </a:xfrm>
          <a:prstGeom prst="rect">
            <a:avLst/>
          </a:prstGeom>
        </p:spPr>
      </p:pic>
      <p:pic>
        <p:nvPicPr>
          <p:cNvPr id="95" name="Image 13" descr="preencoded.png">
            <a:extLst>
              <a:ext uri="{FF2B5EF4-FFF2-40B4-BE49-F238E27FC236}">
                <a16:creationId xmlns:a16="http://schemas.microsoft.com/office/drawing/2014/main" id="{62958F7D-2F6D-BB86-B246-7E42E55964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5688" y="4366985"/>
            <a:ext cx="11125200" cy="1957615"/>
          </a:xfrm>
          <a:prstGeom prst="rect">
            <a:avLst/>
          </a:prstGeom>
        </p:spPr>
      </p:pic>
      <p:sp>
        <p:nvSpPr>
          <p:cNvPr id="98" name="Text 2">
            <a:extLst>
              <a:ext uri="{FF2B5EF4-FFF2-40B4-BE49-F238E27FC236}">
                <a16:creationId xmlns:a16="http://schemas.microsoft.com/office/drawing/2014/main" id="{4EA42F3B-ADEC-A0A2-5DFA-5E9A82347A6F}"/>
              </a:ext>
            </a:extLst>
          </p:cNvPr>
          <p:cNvSpPr/>
          <p:nvPr/>
        </p:nvSpPr>
        <p:spPr>
          <a:xfrm>
            <a:off x="723747" y="1010561"/>
            <a:ext cx="337810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수집 및 정리</a:t>
            </a:r>
            <a:endParaRPr lang="en-US" sz="1200" dirty="0"/>
          </a:p>
        </p:txBody>
      </p:sp>
      <p:sp>
        <p:nvSpPr>
          <p:cNvPr id="99" name="Text 3">
            <a:extLst>
              <a:ext uri="{FF2B5EF4-FFF2-40B4-BE49-F238E27FC236}">
                <a16:creationId xmlns:a16="http://schemas.microsoft.com/office/drawing/2014/main" id="{2F82E651-2EBF-E801-1DB6-3BA75873EA44}"/>
              </a:ext>
            </a:extLst>
          </p:cNvPr>
          <p:cNvSpPr/>
          <p:nvPr/>
        </p:nvSpPr>
        <p:spPr>
          <a:xfrm>
            <a:off x="544287" y="1315361"/>
            <a:ext cx="916543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Name</a:t>
            </a:r>
            <a:endParaRPr lang="en-US" sz="1050" dirty="0"/>
          </a:p>
        </p:txBody>
      </p:sp>
      <p:sp>
        <p:nvSpPr>
          <p:cNvPr id="101" name="Text 5">
            <a:extLst>
              <a:ext uri="{FF2B5EF4-FFF2-40B4-BE49-F238E27FC236}">
                <a16:creationId xmlns:a16="http://schemas.microsoft.com/office/drawing/2014/main" id="{7202725A-D36D-E920-F764-7E8E8D796BB4}"/>
              </a:ext>
            </a:extLst>
          </p:cNvPr>
          <p:cNvSpPr/>
          <p:nvPr/>
        </p:nvSpPr>
        <p:spPr>
          <a:xfrm>
            <a:off x="1952796" y="1315361"/>
            <a:ext cx="1855291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</a:t>
            </a:r>
            <a:endParaRPr lang="en-US" sz="1050" dirty="0"/>
          </a:p>
        </p:txBody>
      </p:sp>
      <p:sp>
        <p:nvSpPr>
          <p:cNvPr id="102" name="Text 6">
            <a:extLst>
              <a:ext uri="{FF2B5EF4-FFF2-40B4-BE49-F238E27FC236}">
                <a16:creationId xmlns:a16="http://schemas.microsoft.com/office/drawing/2014/main" id="{DA0EBEBE-90B2-7883-9848-EB80995A5360}"/>
              </a:ext>
            </a:extLst>
          </p:cNvPr>
          <p:cNvSpPr/>
          <p:nvPr/>
        </p:nvSpPr>
        <p:spPr>
          <a:xfrm>
            <a:off x="544287" y="1658261"/>
            <a:ext cx="1256109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로우</a:t>
            </a:r>
            <a:r>
              <a:rPr lang="en-US" altLang="ko-KR" sz="105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ko-KR" altLang="en-US" sz="105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데이터 오버 뷰</a:t>
            </a:r>
            <a:endParaRPr lang="en-US" sz="1050" dirty="0"/>
          </a:p>
        </p:txBody>
      </p:sp>
      <p:sp>
        <p:nvSpPr>
          <p:cNvPr id="104" name="Text 8">
            <a:extLst>
              <a:ext uri="{FF2B5EF4-FFF2-40B4-BE49-F238E27FC236}">
                <a16:creationId xmlns:a16="http://schemas.microsoft.com/office/drawing/2014/main" id="{7242A4FE-70EB-C16B-2134-142264A06EDB}"/>
              </a:ext>
            </a:extLst>
          </p:cNvPr>
          <p:cNvSpPr/>
          <p:nvPr/>
        </p:nvSpPr>
        <p:spPr>
          <a:xfrm>
            <a:off x="2067096" y="1658261"/>
            <a:ext cx="185529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원천 데이터의 전반적인 특성 요약</a:t>
            </a:r>
            <a:endParaRPr lang="en-US" sz="1050" dirty="0"/>
          </a:p>
        </p:txBody>
      </p:sp>
      <p:sp>
        <p:nvSpPr>
          <p:cNvPr id="105" name="Text 9">
            <a:extLst>
              <a:ext uri="{FF2B5EF4-FFF2-40B4-BE49-F238E27FC236}">
                <a16:creationId xmlns:a16="http://schemas.microsoft.com/office/drawing/2014/main" id="{284D6579-001D-21D2-4944-1F862CF5D2F5}"/>
              </a:ext>
            </a:extLst>
          </p:cNvPr>
          <p:cNvSpPr/>
          <p:nvPr/>
        </p:nvSpPr>
        <p:spPr>
          <a:xfrm>
            <a:off x="544286" y="2239588"/>
            <a:ext cx="1256109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로우 데이터 스키마</a:t>
            </a:r>
            <a:endParaRPr lang="en-US" sz="1050" dirty="0"/>
          </a:p>
        </p:txBody>
      </p:sp>
      <p:sp>
        <p:nvSpPr>
          <p:cNvPr id="107" name="Text 11">
            <a:extLst>
              <a:ext uri="{FF2B5EF4-FFF2-40B4-BE49-F238E27FC236}">
                <a16:creationId xmlns:a16="http://schemas.microsoft.com/office/drawing/2014/main" id="{2B58CC58-2CB7-2F96-257F-B692D1CA6FF5}"/>
              </a:ext>
            </a:extLst>
          </p:cNvPr>
          <p:cNvSpPr/>
          <p:nvPr/>
        </p:nvSpPr>
        <p:spPr>
          <a:xfrm>
            <a:off x="511631" y="3483104"/>
            <a:ext cx="1106713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로우 데이터 품질 검사 가이드 </a:t>
            </a:r>
            <a:r>
              <a:rPr lang="en-US" altLang="ko-KR" sz="105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&amp; </a:t>
            </a:r>
            <a:r>
              <a:rPr lang="ko-KR" altLang="en-US" sz="105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</a:t>
            </a:r>
            <a:endParaRPr lang="en-US" sz="1050" dirty="0"/>
          </a:p>
        </p:txBody>
      </p:sp>
      <p:sp>
        <p:nvSpPr>
          <p:cNvPr id="109" name="Text 13">
            <a:extLst>
              <a:ext uri="{FF2B5EF4-FFF2-40B4-BE49-F238E27FC236}">
                <a16:creationId xmlns:a16="http://schemas.microsoft.com/office/drawing/2014/main" id="{4CEEBAD3-2746-EDB2-7329-965C9BD54C1E}"/>
              </a:ext>
            </a:extLst>
          </p:cNvPr>
          <p:cNvSpPr/>
          <p:nvPr/>
        </p:nvSpPr>
        <p:spPr>
          <a:xfrm>
            <a:off x="549730" y="2764977"/>
            <a:ext cx="763786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ko-KR" altLang="en-US" sz="105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데이터 출처 및 라이센스</a:t>
            </a:r>
            <a:endParaRPr lang="en-US" sz="1050" dirty="0">
              <a:solidFill>
                <a:srgbClr val="1F2937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113" name="Text 17">
            <a:extLst>
              <a:ext uri="{FF2B5EF4-FFF2-40B4-BE49-F238E27FC236}">
                <a16:creationId xmlns:a16="http://schemas.microsoft.com/office/drawing/2014/main" id="{FBFE0298-7CB3-93AF-D86F-64F128BBAE2D}"/>
              </a:ext>
            </a:extLst>
          </p:cNvPr>
          <p:cNvSpPr/>
          <p:nvPr/>
        </p:nvSpPr>
        <p:spPr>
          <a:xfrm>
            <a:off x="4526896" y="998195"/>
            <a:ext cx="33782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전처리</a:t>
            </a: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 및 </a:t>
            </a:r>
            <a:r>
              <a:rPr lang="en-US" altLang="ko-KR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EDA</a:t>
            </a:r>
            <a:endParaRPr lang="en-US" sz="1200" dirty="0"/>
          </a:p>
        </p:txBody>
      </p:sp>
      <p:sp>
        <p:nvSpPr>
          <p:cNvPr id="124" name="Text 28">
            <a:extLst>
              <a:ext uri="{FF2B5EF4-FFF2-40B4-BE49-F238E27FC236}">
                <a16:creationId xmlns:a16="http://schemas.microsoft.com/office/drawing/2014/main" id="{12EC64F6-315C-B7A6-06E8-53118CF7A380}"/>
              </a:ext>
            </a:extLst>
          </p:cNvPr>
          <p:cNvSpPr/>
          <p:nvPr/>
        </p:nvSpPr>
        <p:spPr>
          <a:xfrm>
            <a:off x="8176939" y="998195"/>
            <a:ext cx="337810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개별 모델링</a:t>
            </a:r>
            <a:endParaRPr lang="en-US" sz="1200" dirty="0"/>
          </a:p>
        </p:txBody>
      </p:sp>
      <p:sp>
        <p:nvSpPr>
          <p:cNvPr id="135" name="Text 39">
            <a:extLst>
              <a:ext uri="{FF2B5EF4-FFF2-40B4-BE49-F238E27FC236}">
                <a16:creationId xmlns:a16="http://schemas.microsoft.com/office/drawing/2014/main" id="{D1E13DDE-8B7C-C0E7-7C1B-51402B90E168}"/>
              </a:ext>
            </a:extLst>
          </p:cNvPr>
          <p:cNvSpPr/>
          <p:nvPr/>
        </p:nvSpPr>
        <p:spPr>
          <a:xfrm>
            <a:off x="620488" y="4481285"/>
            <a:ext cx="10896600" cy="15454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앙상블 및 결론 도출</a:t>
            </a:r>
            <a:endParaRPr lang="en-US" sz="1200" dirty="0"/>
          </a:p>
        </p:txBody>
      </p:sp>
      <p:pic>
        <p:nvPicPr>
          <p:cNvPr id="140" name="Image 9" descr="preencoded.png">
            <a:extLst>
              <a:ext uri="{FF2B5EF4-FFF2-40B4-BE49-F238E27FC236}">
                <a16:creationId xmlns:a16="http://schemas.microsoft.com/office/drawing/2014/main" id="{666BE871-5A9F-8231-D515-6EA1F5FB54F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7331" y="1001485"/>
            <a:ext cx="228600" cy="228600"/>
          </a:xfrm>
          <a:prstGeom prst="rect">
            <a:avLst/>
          </a:prstGeom>
        </p:spPr>
      </p:pic>
      <p:pic>
        <p:nvPicPr>
          <p:cNvPr id="141" name="Image 15" descr="preencoded.png">
            <a:extLst>
              <a:ext uri="{FF2B5EF4-FFF2-40B4-BE49-F238E27FC236}">
                <a16:creationId xmlns:a16="http://schemas.microsoft.com/office/drawing/2014/main" id="{28BBB8A1-54FB-453B-81BA-16004C9EBA2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00072" y="1012373"/>
            <a:ext cx="228600" cy="228600"/>
          </a:xfrm>
          <a:prstGeom prst="rect">
            <a:avLst/>
          </a:prstGeom>
        </p:spPr>
      </p:pic>
      <p:pic>
        <p:nvPicPr>
          <p:cNvPr id="142" name="Image 21" descr="preencoded.png">
            <a:extLst>
              <a:ext uri="{FF2B5EF4-FFF2-40B4-BE49-F238E27FC236}">
                <a16:creationId xmlns:a16="http://schemas.microsoft.com/office/drawing/2014/main" id="{26B8EBCE-556B-87F8-C000-D615C9579A6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91188" y="987432"/>
            <a:ext cx="228600" cy="228600"/>
          </a:xfrm>
          <a:prstGeom prst="rect">
            <a:avLst/>
          </a:prstGeom>
        </p:spPr>
      </p:pic>
      <p:sp>
        <p:nvSpPr>
          <p:cNvPr id="143" name="Text 5">
            <a:extLst>
              <a:ext uri="{FF2B5EF4-FFF2-40B4-BE49-F238E27FC236}">
                <a16:creationId xmlns:a16="http://schemas.microsoft.com/office/drawing/2014/main" id="{FDF5C43B-673D-D51A-533D-C9CD71D50684}"/>
              </a:ext>
            </a:extLst>
          </p:cNvPr>
          <p:cNvSpPr/>
          <p:nvPr/>
        </p:nvSpPr>
        <p:spPr>
          <a:xfrm>
            <a:off x="463324" y="1016454"/>
            <a:ext cx="228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900" dirty="0"/>
          </a:p>
        </p:txBody>
      </p:sp>
      <p:sp>
        <p:nvSpPr>
          <p:cNvPr id="144" name="Text 12">
            <a:extLst>
              <a:ext uri="{FF2B5EF4-FFF2-40B4-BE49-F238E27FC236}">
                <a16:creationId xmlns:a16="http://schemas.microsoft.com/office/drawing/2014/main" id="{A4D4EB5B-44B8-76C1-A965-488DB0854AEF}"/>
              </a:ext>
            </a:extLst>
          </p:cNvPr>
          <p:cNvSpPr/>
          <p:nvPr/>
        </p:nvSpPr>
        <p:spPr>
          <a:xfrm>
            <a:off x="4281035" y="1041401"/>
            <a:ext cx="228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00" dirty="0"/>
          </a:p>
        </p:txBody>
      </p:sp>
      <p:sp>
        <p:nvSpPr>
          <p:cNvPr id="145" name="Text 19">
            <a:extLst>
              <a:ext uri="{FF2B5EF4-FFF2-40B4-BE49-F238E27FC236}">
                <a16:creationId xmlns:a16="http://schemas.microsoft.com/office/drawing/2014/main" id="{3CD1F8AE-D9ED-46B9-5EB8-86E3E78AAEAC}"/>
              </a:ext>
            </a:extLst>
          </p:cNvPr>
          <p:cNvSpPr/>
          <p:nvPr/>
        </p:nvSpPr>
        <p:spPr>
          <a:xfrm>
            <a:off x="7966759" y="1032781"/>
            <a:ext cx="228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00" dirty="0"/>
          </a:p>
        </p:txBody>
      </p:sp>
      <p:pic>
        <p:nvPicPr>
          <p:cNvPr id="146" name="Image 27" descr="preencoded.png">
            <a:extLst>
              <a:ext uri="{FF2B5EF4-FFF2-40B4-BE49-F238E27FC236}">
                <a16:creationId xmlns:a16="http://schemas.microsoft.com/office/drawing/2014/main" id="{E0BF41B1-8041-A772-8862-8C31856092B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2900" y="4508500"/>
            <a:ext cx="228600" cy="228600"/>
          </a:xfrm>
          <a:prstGeom prst="rect">
            <a:avLst/>
          </a:prstGeom>
        </p:spPr>
      </p:pic>
      <p:sp>
        <p:nvSpPr>
          <p:cNvPr id="147" name="Text 26">
            <a:extLst>
              <a:ext uri="{FF2B5EF4-FFF2-40B4-BE49-F238E27FC236}">
                <a16:creationId xmlns:a16="http://schemas.microsoft.com/office/drawing/2014/main" id="{7122EA04-458A-7E4C-CD83-D982D6A96DCC}"/>
              </a:ext>
            </a:extLst>
          </p:cNvPr>
          <p:cNvSpPr/>
          <p:nvPr/>
        </p:nvSpPr>
        <p:spPr>
          <a:xfrm>
            <a:off x="423863" y="4508500"/>
            <a:ext cx="228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900" dirty="0"/>
          </a:p>
        </p:txBody>
      </p:sp>
      <p:sp>
        <p:nvSpPr>
          <p:cNvPr id="148" name="Text 8">
            <a:extLst>
              <a:ext uri="{FF2B5EF4-FFF2-40B4-BE49-F238E27FC236}">
                <a16:creationId xmlns:a16="http://schemas.microsoft.com/office/drawing/2014/main" id="{471EA09D-DA51-D22D-C098-0F4FB6060DA8}"/>
              </a:ext>
            </a:extLst>
          </p:cNvPr>
          <p:cNvSpPr/>
          <p:nvPr/>
        </p:nvSpPr>
        <p:spPr>
          <a:xfrm>
            <a:off x="2067093" y="2190750"/>
            <a:ext cx="185529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로우 데이터의 각 피처에 대한 구조와 의미</a:t>
            </a:r>
            <a:endParaRPr lang="en-US" sz="1050" dirty="0"/>
          </a:p>
        </p:txBody>
      </p:sp>
      <p:sp>
        <p:nvSpPr>
          <p:cNvPr id="149" name="Text 8">
            <a:extLst>
              <a:ext uri="{FF2B5EF4-FFF2-40B4-BE49-F238E27FC236}">
                <a16:creationId xmlns:a16="http://schemas.microsoft.com/office/drawing/2014/main" id="{C97E54B7-B950-C019-18B7-19561496834C}"/>
              </a:ext>
            </a:extLst>
          </p:cNvPr>
          <p:cNvSpPr/>
          <p:nvPr/>
        </p:nvSpPr>
        <p:spPr>
          <a:xfrm>
            <a:off x="2067094" y="2781300"/>
            <a:ext cx="185529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프로젝트에 사용된 데이터의 출처와 라이선스 정보 기술</a:t>
            </a:r>
            <a:endParaRPr lang="en-US" sz="1050" dirty="0"/>
          </a:p>
        </p:txBody>
      </p:sp>
      <p:sp>
        <p:nvSpPr>
          <p:cNvPr id="150" name="Text 8">
            <a:extLst>
              <a:ext uri="{FF2B5EF4-FFF2-40B4-BE49-F238E27FC236}">
                <a16:creationId xmlns:a16="http://schemas.microsoft.com/office/drawing/2014/main" id="{F305403D-4A7C-6C3D-2A2A-DF3039CBC3A0}"/>
              </a:ext>
            </a:extLst>
          </p:cNvPr>
          <p:cNvSpPr/>
          <p:nvPr/>
        </p:nvSpPr>
        <p:spPr>
          <a:xfrm>
            <a:off x="2067095" y="3521190"/>
            <a:ext cx="185529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원천 데이터의 신뢰성과 분석 적합성 검증결과</a:t>
            </a:r>
            <a:endParaRPr lang="en-US" sz="1050" dirty="0"/>
          </a:p>
        </p:txBody>
      </p:sp>
      <p:sp>
        <p:nvSpPr>
          <p:cNvPr id="171" name="Text 3">
            <a:extLst>
              <a:ext uri="{FF2B5EF4-FFF2-40B4-BE49-F238E27FC236}">
                <a16:creationId xmlns:a16="http://schemas.microsoft.com/office/drawing/2014/main" id="{E20DAF1B-A1EB-E2BE-0CDF-73470736933B}"/>
              </a:ext>
            </a:extLst>
          </p:cNvPr>
          <p:cNvSpPr/>
          <p:nvPr/>
        </p:nvSpPr>
        <p:spPr>
          <a:xfrm>
            <a:off x="620487" y="4820561"/>
            <a:ext cx="916543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Name</a:t>
            </a:r>
            <a:endParaRPr lang="en-US" sz="1050" dirty="0"/>
          </a:p>
        </p:txBody>
      </p:sp>
      <p:sp>
        <p:nvSpPr>
          <p:cNvPr id="172" name="Text 5">
            <a:extLst>
              <a:ext uri="{FF2B5EF4-FFF2-40B4-BE49-F238E27FC236}">
                <a16:creationId xmlns:a16="http://schemas.microsoft.com/office/drawing/2014/main" id="{3FC857EA-F2AC-83FC-61E2-DF81FBFE7AA3}"/>
              </a:ext>
            </a:extLst>
          </p:cNvPr>
          <p:cNvSpPr/>
          <p:nvPr/>
        </p:nvSpPr>
        <p:spPr>
          <a:xfrm>
            <a:off x="2028996" y="4820561"/>
            <a:ext cx="1855291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</a:t>
            </a:r>
            <a:endParaRPr lang="en-US" sz="1050" dirty="0"/>
          </a:p>
        </p:txBody>
      </p:sp>
      <p:sp>
        <p:nvSpPr>
          <p:cNvPr id="173" name="Text 6">
            <a:extLst>
              <a:ext uri="{FF2B5EF4-FFF2-40B4-BE49-F238E27FC236}">
                <a16:creationId xmlns:a16="http://schemas.microsoft.com/office/drawing/2014/main" id="{021EC014-BBFF-D81B-2A6D-E920435672C0}"/>
              </a:ext>
            </a:extLst>
          </p:cNvPr>
          <p:cNvSpPr/>
          <p:nvPr/>
        </p:nvSpPr>
        <p:spPr>
          <a:xfrm>
            <a:off x="620487" y="5163461"/>
            <a:ext cx="1256109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앙상블 모델 성능 평가</a:t>
            </a:r>
            <a:endParaRPr lang="en-US" sz="1050" dirty="0"/>
          </a:p>
        </p:txBody>
      </p:sp>
      <p:sp>
        <p:nvSpPr>
          <p:cNvPr id="174" name="Text 8">
            <a:extLst>
              <a:ext uri="{FF2B5EF4-FFF2-40B4-BE49-F238E27FC236}">
                <a16:creationId xmlns:a16="http://schemas.microsoft.com/office/drawing/2014/main" id="{BE89181F-A632-2893-306D-2AED20E37093}"/>
              </a:ext>
            </a:extLst>
          </p:cNvPr>
          <p:cNvSpPr/>
          <p:nvPr/>
        </p:nvSpPr>
        <p:spPr>
          <a:xfrm>
            <a:off x="2143296" y="5163461"/>
            <a:ext cx="185529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앙상블 모델의 예측 성능을 비교 </a:t>
            </a:r>
            <a:r>
              <a:rPr lang="ko-KR" alt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평과한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 결과</a:t>
            </a:r>
            <a:endParaRPr lang="en-US" sz="1050" dirty="0"/>
          </a:p>
        </p:txBody>
      </p:sp>
      <p:sp>
        <p:nvSpPr>
          <p:cNvPr id="175" name="Text 9">
            <a:extLst>
              <a:ext uri="{FF2B5EF4-FFF2-40B4-BE49-F238E27FC236}">
                <a16:creationId xmlns:a16="http://schemas.microsoft.com/office/drawing/2014/main" id="{762E123D-CE44-7664-8603-A330E5AD5DDA}"/>
              </a:ext>
            </a:extLst>
          </p:cNvPr>
          <p:cNvSpPr/>
          <p:nvPr/>
        </p:nvSpPr>
        <p:spPr>
          <a:xfrm>
            <a:off x="620486" y="5744788"/>
            <a:ext cx="1256109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050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모델별</a:t>
            </a:r>
            <a:r>
              <a:rPr lang="ko-KR" altLang="en-US" sz="105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altLang="ko-KR" sz="105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SHAP </a:t>
            </a:r>
            <a:r>
              <a:rPr lang="ko-KR" altLang="en-US" sz="105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분석</a:t>
            </a:r>
            <a:endParaRPr lang="en-US" sz="1050" dirty="0"/>
          </a:p>
        </p:txBody>
      </p:sp>
      <p:sp>
        <p:nvSpPr>
          <p:cNvPr id="178" name="Text 8">
            <a:extLst>
              <a:ext uri="{FF2B5EF4-FFF2-40B4-BE49-F238E27FC236}">
                <a16:creationId xmlns:a16="http://schemas.microsoft.com/office/drawing/2014/main" id="{A428CCC9-258D-DFA2-EF29-B0FA420D11FC}"/>
              </a:ext>
            </a:extLst>
          </p:cNvPr>
          <p:cNvSpPr/>
          <p:nvPr/>
        </p:nvSpPr>
        <p:spPr>
          <a:xfrm>
            <a:off x="2143293" y="5695950"/>
            <a:ext cx="185529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SHAP(Shapley Additive </a:t>
            </a:r>
            <a:r>
              <a:rPr 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exPannations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) 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기반 해석 결과</a:t>
            </a:r>
            <a:endParaRPr lang="en-US" sz="1050" dirty="0"/>
          </a:p>
        </p:txBody>
      </p:sp>
      <p:sp>
        <p:nvSpPr>
          <p:cNvPr id="189" name="Text 3">
            <a:extLst>
              <a:ext uri="{FF2B5EF4-FFF2-40B4-BE49-F238E27FC236}">
                <a16:creationId xmlns:a16="http://schemas.microsoft.com/office/drawing/2014/main" id="{55110DE4-0FDD-153B-9856-D81477075BAB}"/>
              </a:ext>
            </a:extLst>
          </p:cNvPr>
          <p:cNvSpPr/>
          <p:nvPr/>
        </p:nvSpPr>
        <p:spPr>
          <a:xfrm>
            <a:off x="4221737" y="1351646"/>
            <a:ext cx="916543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Name</a:t>
            </a:r>
            <a:endParaRPr lang="en-US" sz="1050" dirty="0"/>
          </a:p>
        </p:txBody>
      </p:sp>
      <p:sp>
        <p:nvSpPr>
          <p:cNvPr id="190" name="Text 5">
            <a:extLst>
              <a:ext uri="{FF2B5EF4-FFF2-40B4-BE49-F238E27FC236}">
                <a16:creationId xmlns:a16="http://schemas.microsoft.com/office/drawing/2014/main" id="{A40F9475-CCBF-75C1-79CD-A47074DCC64A}"/>
              </a:ext>
            </a:extLst>
          </p:cNvPr>
          <p:cNvSpPr/>
          <p:nvPr/>
        </p:nvSpPr>
        <p:spPr>
          <a:xfrm>
            <a:off x="5630246" y="1351646"/>
            <a:ext cx="1855291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</a:t>
            </a:r>
            <a:endParaRPr lang="en-US" sz="1050" dirty="0"/>
          </a:p>
        </p:txBody>
      </p:sp>
      <p:sp>
        <p:nvSpPr>
          <p:cNvPr id="191" name="Text 6">
            <a:extLst>
              <a:ext uri="{FF2B5EF4-FFF2-40B4-BE49-F238E27FC236}">
                <a16:creationId xmlns:a16="http://schemas.microsoft.com/office/drawing/2014/main" id="{9E5E6D68-A2A2-1805-5D63-E4DF9DC5351D}"/>
              </a:ext>
            </a:extLst>
          </p:cNvPr>
          <p:cNvSpPr/>
          <p:nvPr/>
        </p:nvSpPr>
        <p:spPr>
          <a:xfrm>
            <a:off x="4221737" y="1694546"/>
            <a:ext cx="1256109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altLang="ko-KR" sz="105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EDA </a:t>
            </a:r>
            <a:r>
              <a:rPr lang="ko-KR" altLang="en-US" sz="105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분석 보고서</a:t>
            </a:r>
            <a:endParaRPr lang="en-US" sz="1050" dirty="0"/>
          </a:p>
        </p:txBody>
      </p:sp>
      <p:sp>
        <p:nvSpPr>
          <p:cNvPr id="192" name="Text 8">
            <a:extLst>
              <a:ext uri="{FF2B5EF4-FFF2-40B4-BE49-F238E27FC236}">
                <a16:creationId xmlns:a16="http://schemas.microsoft.com/office/drawing/2014/main" id="{5AE07011-F81F-4847-5B20-2C4EBCA00E0F}"/>
              </a:ext>
            </a:extLst>
          </p:cNvPr>
          <p:cNvSpPr/>
          <p:nvPr/>
        </p:nvSpPr>
        <p:spPr>
          <a:xfrm>
            <a:off x="5744546" y="1694546"/>
            <a:ext cx="185529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탐색적 데이터 분석 전 과정 정리 보고서</a:t>
            </a:r>
            <a:endParaRPr lang="en-US" altLang="ko-KR" sz="1050" dirty="0"/>
          </a:p>
        </p:txBody>
      </p:sp>
      <p:sp>
        <p:nvSpPr>
          <p:cNvPr id="193" name="Text 9">
            <a:extLst>
              <a:ext uri="{FF2B5EF4-FFF2-40B4-BE49-F238E27FC236}">
                <a16:creationId xmlns:a16="http://schemas.microsoft.com/office/drawing/2014/main" id="{E42D7C1A-96E3-3C70-2B44-DA488EDB0F79}"/>
              </a:ext>
            </a:extLst>
          </p:cNvPr>
          <p:cNvSpPr/>
          <p:nvPr/>
        </p:nvSpPr>
        <p:spPr>
          <a:xfrm>
            <a:off x="4221736" y="2275873"/>
            <a:ext cx="1256109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EDA</a:t>
            </a:r>
            <a:r>
              <a:rPr lang="ko-KR" altLang="en-US" sz="105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 기반 인사이트 종합 보고서</a:t>
            </a:r>
            <a:endParaRPr lang="en-US" sz="1050" dirty="0"/>
          </a:p>
        </p:txBody>
      </p:sp>
      <p:sp>
        <p:nvSpPr>
          <p:cNvPr id="195" name="Text 13">
            <a:extLst>
              <a:ext uri="{FF2B5EF4-FFF2-40B4-BE49-F238E27FC236}">
                <a16:creationId xmlns:a16="http://schemas.microsoft.com/office/drawing/2014/main" id="{675A5D56-270A-D940-9C5E-71A04C8D4BD2}"/>
              </a:ext>
            </a:extLst>
          </p:cNvPr>
          <p:cNvSpPr/>
          <p:nvPr/>
        </p:nvSpPr>
        <p:spPr>
          <a:xfrm>
            <a:off x="4227180" y="2801262"/>
            <a:ext cx="1063168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ko-KR" altLang="en-US" sz="105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최종 데이터 스키마 요약문서</a:t>
            </a:r>
            <a:endParaRPr lang="en-US" sz="1050" dirty="0">
              <a:solidFill>
                <a:srgbClr val="1F2937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196" name="Text 8">
            <a:extLst>
              <a:ext uri="{FF2B5EF4-FFF2-40B4-BE49-F238E27FC236}">
                <a16:creationId xmlns:a16="http://schemas.microsoft.com/office/drawing/2014/main" id="{EEABBBD3-B8A0-A60D-43E5-455C87683284}"/>
              </a:ext>
            </a:extLst>
          </p:cNvPr>
          <p:cNvSpPr/>
          <p:nvPr/>
        </p:nvSpPr>
        <p:spPr>
          <a:xfrm>
            <a:off x="5744543" y="2227035"/>
            <a:ext cx="185529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주요 인사이트 종합 정리 문서</a:t>
            </a:r>
            <a:endParaRPr lang="en-US" sz="1050" dirty="0"/>
          </a:p>
        </p:txBody>
      </p:sp>
      <p:sp>
        <p:nvSpPr>
          <p:cNvPr id="197" name="Text 8">
            <a:extLst>
              <a:ext uri="{FF2B5EF4-FFF2-40B4-BE49-F238E27FC236}">
                <a16:creationId xmlns:a16="http://schemas.microsoft.com/office/drawing/2014/main" id="{E13DE25A-44DE-AC15-0A6F-C941A578C87C}"/>
              </a:ext>
            </a:extLst>
          </p:cNvPr>
          <p:cNvSpPr/>
          <p:nvPr/>
        </p:nvSpPr>
        <p:spPr>
          <a:xfrm>
            <a:off x="5744544" y="2817585"/>
            <a:ext cx="185529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최종 모델 입력 데이터의 스키마를 요약한 문서</a:t>
            </a:r>
            <a:endParaRPr lang="en-US" sz="1050" dirty="0"/>
          </a:p>
        </p:txBody>
      </p:sp>
      <p:sp>
        <p:nvSpPr>
          <p:cNvPr id="199" name="Text 3">
            <a:extLst>
              <a:ext uri="{FF2B5EF4-FFF2-40B4-BE49-F238E27FC236}">
                <a16:creationId xmlns:a16="http://schemas.microsoft.com/office/drawing/2014/main" id="{F3752F3F-4FD7-0946-2188-0241E7269F07}"/>
              </a:ext>
            </a:extLst>
          </p:cNvPr>
          <p:cNvSpPr/>
          <p:nvPr/>
        </p:nvSpPr>
        <p:spPr>
          <a:xfrm>
            <a:off x="7942884" y="1351646"/>
            <a:ext cx="916543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Name</a:t>
            </a:r>
            <a:endParaRPr lang="en-US" sz="1050" dirty="0"/>
          </a:p>
        </p:txBody>
      </p:sp>
      <p:sp>
        <p:nvSpPr>
          <p:cNvPr id="200" name="Text 5">
            <a:extLst>
              <a:ext uri="{FF2B5EF4-FFF2-40B4-BE49-F238E27FC236}">
                <a16:creationId xmlns:a16="http://schemas.microsoft.com/office/drawing/2014/main" id="{B7D130E5-BFFE-B933-B2C8-2E32C624072C}"/>
              </a:ext>
            </a:extLst>
          </p:cNvPr>
          <p:cNvSpPr/>
          <p:nvPr/>
        </p:nvSpPr>
        <p:spPr>
          <a:xfrm>
            <a:off x="9351393" y="1351646"/>
            <a:ext cx="1855291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</a:t>
            </a:r>
            <a:endParaRPr lang="en-US" sz="1050" dirty="0"/>
          </a:p>
        </p:txBody>
      </p:sp>
      <p:sp>
        <p:nvSpPr>
          <p:cNvPr id="201" name="Text 6">
            <a:extLst>
              <a:ext uri="{FF2B5EF4-FFF2-40B4-BE49-F238E27FC236}">
                <a16:creationId xmlns:a16="http://schemas.microsoft.com/office/drawing/2014/main" id="{907F78AE-7CA7-A9C3-BDD0-F843F778698E}"/>
              </a:ext>
            </a:extLst>
          </p:cNvPr>
          <p:cNvSpPr/>
          <p:nvPr/>
        </p:nvSpPr>
        <p:spPr>
          <a:xfrm>
            <a:off x="7942884" y="1694546"/>
            <a:ext cx="1256109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이상치 처리 전</a:t>
            </a:r>
            <a:r>
              <a:rPr lang="en-US" altLang="ko-KR" sz="105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/</a:t>
            </a:r>
            <a:r>
              <a:rPr lang="ko-KR" altLang="en-US" sz="105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후 데이터 모델 학습 비교</a:t>
            </a:r>
            <a:endParaRPr lang="en-US" sz="1050" dirty="0"/>
          </a:p>
        </p:txBody>
      </p:sp>
      <p:sp>
        <p:nvSpPr>
          <p:cNvPr id="202" name="Text 8">
            <a:extLst>
              <a:ext uri="{FF2B5EF4-FFF2-40B4-BE49-F238E27FC236}">
                <a16:creationId xmlns:a16="http://schemas.microsoft.com/office/drawing/2014/main" id="{94C30826-3284-8A2F-DC3E-70AF1A150CB5}"/>
              </a:ext>
            </a:extLst>
          </p:cNvPr>
          <p:cNvSpPr/>
          <p:nvPr/>
        </p:nvSpPr>
        <p:spPr>
          <a:xfrm>
            <a:off x="9465693" y="1694546"/>
            <a:ext cx="185529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이상치 처리 전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/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후의 데이터 모델 성능 변화를 비교 분석</a:t>
            </a:r>
            <a:endParaRPr lang="en-US" sz="1050" dirty="0"/>
          </a:p>
        </p:txBody>
      </p:sp>
      <p:sp>
        <p:nvSpPr>
          <p:cNvPr id="203" name="Text 9">
            <a:extLst>
              <a:ext uri="{FF2B5EF4-FFF2-40B4-BE49-F238E27FC236}">
                <a16:creationId xmlns:a16="http://schemas.microsoft.com/office/drawing/2014/main" id="{3ACAB8C7-8234-D386-B1E7-7220E2B0297E}"/>
              </a:ext>
            </a:extLst>
          </p:cNvPr>
          <p:cNvSpPr/>
          <p:nvPr/>
        </p:nvSpPr>
        <p:spPr>
          <a:xfrm>
            <a:off x="7942883" y="2275873"/>
            <a:ext cx="1256109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ko-KR" altLang="en-US" sz="105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모델 검증 및 평가 보고서</a:t>
            </a:r>
            <a:endParaRPr lang="en-US" sz="1050" dirty="0"/>
          </a:p>
        </p:txBody>
      </p:sp>
      <p:sp>
        <p:nvSpPr>
          <p:cNvPr id="204" name="Text 11">
            <a:extLst>
              <a:ext uri="{FF2B5EF4-FFF2-40B4-BE49-F238E27FC236}">
                <a16:creationId xmlns:a16="http://schemas.microsoft.com/office/drawing/2014/main" id="{AB145250-45A2-8833-8990-66E09E159089}"/>
              </a:ext>
            </a:extLst>
          </p:cNvPr>
          <p:cNvSpPr/>
          <p:nvPr/>
        </p:nvSpPr>
        <p:spPr>
          <a:xfrm>
            <a:off x="7910228" y="3519389"/>
            <a:ext cx="1106713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파이프 라인 정의 </a:t>
            </a:r>
            <a:endParaRPr lang="en-US" sz="1050" dirty="0"/>
          </a:p>
        </p:txBody>
      </p:sp>
      <p:sp>
        <p:nvSpPr>
          <p:cNvPr id="205" name="Text 13">
            <a:extLst>
              <a:ext uri="{FF2B5EF4-FFF2-40B4-BE49-F238E27FC236}">
                <a16:creationId xmlns:a16="http://schemas.microsoft.com/office/drawing/2014/main" id="{06F1F1F9-DB09-73E4-BE89-671C04434931}"/>
              </a:ext>
            </a:extLst>
          </p:cNvPr>
          <p:cNvSpPr/>
          <p:nvPr/>
        </p:nvSpPr>
        <p:spPr>
          <a:xfrm>
            <a:off x="7948327" y="2801262"/>
            <a:ext cx="1068614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ko-KR" altLang="en-US" sz="105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모델 설명서 </a:t>
            </a:r>
            <a:endParaRPr lang="en-US" sz="1050" dirty="0">
              <a:solidFill>
                <a:srgbClr val="1F2937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206" name="Text 8">
            <a:extLst>
              <a:ext uri="{FF2B5EF4-FFF2-40B4-BE49-F238E27FC236}">
                <a16:creationId xmlns:a16="http://schemas.microsoft.com/office/drawing/2014/main" id="{42D36BAD-EF3B-7436-1549-000056ECB8DD}"/>
              </a:ext>
            </a:extLst>
          </p:cNvPr>
          <p:cNvSpPr/>
          <p:nvPr/>
        </p:nvSpPr>
        <p:spPr>
          <a:xfrm>
            <a:off x="9465690" y="2227035"/>
            <a:ext cx="185529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모델 검증 전략과 평가 방법 설명</a:t>
            </a:r>
            <a:b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및 평가서</a:t>
            </a:r>
            <a:endParaRPr lang="en-US" sz="1050" dirty="0"/>
          </a:p>
        </p:txBody>
      </p:sp>
      <p:sp>
        <p:nvSpPr>
          <p:cNvPr id="207" name="Text 8">
            <a:extLst>
              <a:ext uri="{FF2B5EF4-FFF2-40B4-BE49-F238E27FC236}">
                <a16:creationId xmlns:a16="http://schemas.microsoft.com/office/drawing/2014/main" id="{B90916F3-74F9-9C1F-98EC-24F73FE77581}"/>
              </a:ext>
            </a:extLst>
          </p:cNvPr>
          <p:cNvSpPr/>
          <p:nvPr/>
        </p:nvSpPr>
        <p:spPr>
          <a:xfrm>
            <a:off x="9465691" y="2817585"/>
            <a:ext cx="185529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개별 </a:t>
            </a:r>
            <a:r>
              <a:rPr lang="ko-KR" alt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머신러닝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 모델의 구조 및 특성 설명</a:t>
            </a:r>
            <a:endParaRPr lang="en-US" sz="1050" dirty="0"/>
          </a:p>
        </p:txBody>
      </p:sp>
      <p:sp>
        <p:nvSpPr>
          <p:cNvPr id="208" name="Text 8">
            <a:extLst>
              <a:ext uri="{FF2B5EF4-FFF2-40B4-BE49-F238E27FC236}">
                <a16:creationId xmlns:a16="http://schemas.microsoft.com/office/drawing/2014/main" id="{360656CC-9304-998C-8A15-177CE11DD51E}"/>
              </a:ext>
            </a:extLst>
          </p:cNvPr>
          <p:cNvSpPr/>
          <p:nvPr/>
        </p:nvSpPr>
        <p:spPr>
          <a:xfrm>
            <a:off x="9465692" y="3557475"/>
            <a:ext cx="185529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모델링 파이프 라인 정의 </a:t>
            </a:r>
            <a:endParaRPr lang="en-US" sz="1050" dirty="0"/>
          </a:p>
        </p:txBody>
      </p:sp>
      <p:sp>
        <p:nvSpPr>
          <p:cNvPr id="2" name="Text 13">
            <a:extLst>
              <a:ext uri="{FF2B5EF4-FFF2-40B4-BE49-F238E27FC236}">
                <a16:creationId xmlns:a16="http://schemas.microsoft.com/office/drawing/2014/main" id="{2758A2FA-6C41-6D5E-1797-5A0D98364498}"/>
              </a:ext>
            </a:extLst>
          </p:cNvPr>
          <p:cNvSpPr/>
          <p:nvPr/>
        </p:nvSpPr>
        <p:spPr>
          <a:xfrm>
            <a:off x="4221735" y="3477323"/>
            <a:ext cx="1068613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ko-KR" altLang="en-US" sz="105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데이터 </a:t>
            </a:r>
            <a:r>
              <a:rPr lang="ko-KR" altLang="en-US" sz="1050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전처리</a:t>
            </a:r>
            <a:r>
              <a:rPr lang="ko-KR" altLang="en-US" sz="105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 명세서</a:t>
            </a:r>
            <a:endParaRPr lang="en-US" sz="1050" dirty="0">
              <a:solidFill>
                <a:srgbClr val="1F2937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3E2B0494-E09A-A442-4889-55F91258969D}"/>
              </a:ext>
            </a:extLst>
          </p:cNvPr>
          <p:cNvSpPr/>
          <p:nvPr/>
        </p:nvSpPr>
        <p:spPr>
          <a:xfrm>
            <a:off x="5739100" y="3493646"/>
            <a:ext cx="185529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데이터 </a:t>
            </a:r>
            <a:r>
              <a:rPr lang="ko-KR" alt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전처리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 과정 </a:t>
            </a:r>
            <a:r>
              <a:rPr lang="ko-KR" alt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명새</a:t>
            </a:r>
            <a:endParaRPr lang="en-US" sz="1050" dirty="0"/>
          </a:p>
        </p:txBody>
      </p:sp>
      <p:pic>
        <p:nvPicPr>
          <p:cNvPr id="5" name="Image 41" descr="preencoded.png">
            <a:extLst>
              <a:ext uri="{FF2B5EF4-FFF2-40B4-BE49-F238E27FC236}">
                <a16:creationId xmlns:a16="http://schemas.microsoft.com/office/drawing/2014/main" id="{54BBBBB8-D7E1-85CD-D739-F8F4B02DBE6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53775" y="6553200"/>
            <a:ext cx="104775" cy="13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293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001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066800"/>
            <a:ext cx="6720780" cy="5295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95400"/>
            <a:ext cx="190500" cy="190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171700"/>
            <a:ext cx="633978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895600"/>
            <a:ext cx="6339780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581400"/>
            <a:ext cx="633978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267200"/>
            <a:ext cx="6339780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953000"/>
            <a:ext cx="6339780" cy="342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5638800"/>
            <a:ext cx="6339780" cy="533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01805" y="1066800"/>
            <a:ext cx="4480620" cy="5295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0880" y="1295400"/>
            <a:ext cx="142875" cy="1905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53775" y="6553200"/>
            <a:ext cx="104775" cy="13335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 err="1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데이터셋</a:t>
            </a:r>
            <a:r>
              <a:rPr 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  <a:r>
              <a:rPr lang="en-US" sz="2250" b="1" dirty="0" err="1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소개</a:t>
            </a:r>
            <a:r>
              <a:rPr 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및 </a:t>
            </a:r>
            <a:r>
              <a:rPr lang="en-US" sz="2250" b="1" dirty="0" err="1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변수</a:t>
            </a:r>
            <a:r>
              <a:rPr 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  <a:r>
              <a:rPr lang="en-US" sz="2250" b="1" dirty="0" err="1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설명</a:t>
            </a:r>
            <a:r>
              <a:rPr 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: WDC</a:t>
            </a:r>
            <a:endParaRPr lang="en-US" sz="2250" dirty="0"/>
          </a:p>
        </p:txBody>
      </p:sp>
      <p:sp>
        <p:nvSpPr>
          <p:cNvPr id="29" name="Text 1"/>
          <p:cNvSpPr/>
          <p:nvPr/>
        </p:nvSpPr>
        <p:spPr>
          <a:xfrm>
            <a:off x="876300" y="1257300"/>
            <a:ext cx="63397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UCI Bike Sharing Dataset</a:t>
            </a:r>
            <a:endParaRPr lang="en-US" sz="1500" dirty="0"/>
          </a:p>
        </p:txBody>
      </p:sp>
      <p:sp>
        <p:nvSpPr>
          <p:cNvPr id="30" name="Text 2"/>
          <p:cNvSpPr/>
          <p:nvPr/>
        </p:nvSpPr>
        <p:spPr>
          <a:xfrm>
            <a:off x="571500" y="1638300"/>
            <a:ext cx="633978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워싱턴 D.C.의 Capital Bikeshare </a:t>
            </a:r>
            <a:r>
              <a:rPr 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시스템에서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2021년부터 2022년까지 기록된 시간별 및 일별 자전거 대여량 정보</a:t>
            </a:r>
            <a:endParaRPr lang="en-US" sz="1050" dirty="0"/>
          </a:p>
        </p:txBody>
      </p:sp>
      <p:sp>
        <p:nvSpPr>
          <p:cNvPr id="31" name="Text 3"/>
          <p:cNvSpPr/>
          <p:nvPr/>
        </p:nvSpPr>
        <p:spPr>
          <a:xfrm>
            <a:off x="571500" y="2171700"/>
            <a:ext cx="9931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변수명</a:t>
            </a:r>
            <a:endParaRPr lang="en-US" sz="1200" dirty="0"/>
          </a:p>
        </p:txBody>
      </p:sp>
      <p:sp>
        <p:nvSpPr>
          <p:cNvPr id="32" name="Text 4"/>
          <p:cNvSpPr/>
          <p:nvPr/>
        </p:nvSpPr>
        <p:spPr>
          <a:xfrm>
            <a:off x="1640830" y="2171700"/>
            <a:ext cx="9931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타입</a:t>
            </a:r>
            <a:endParaRPr lang="en-US" sz="1200" dirty="0"/>
          </a:p>
        </p:txBody>
      </p:sp>
      <p:sp>
        <p:nvSpPr>
          <p:cNvPr id="33" name="Text 5"/>
          <p:cNvSpPr/>
          <p:nvPr/>
        </p:nvSpPr>
        <p:spPr>
          <a:xfrm>
            <a:off x="2710160" y="2171700"/>
            <a:ext cx="20624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설명</a:t>
            </a:r>
            <a:endParaRPr lang="en-US" sz="1200" dirty="0"/>
          </a:p>
        </p:txBody>
      </p:sp>
      <p:sp>
        <p:nvSpPr>
          <p:cNvPr id="34" name="Text 6"/>
          <p:cNvSpPr/>
          <p:nvPr/>
        </p:nvSpPr>
        <p:spPr>
          <a:xfrm>
            <a:off x="4848820" y="2171700"/>
            <a:ext cx="20624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</a:t>
            </a:r>
            <a:endParaRPr lang="en-US" sz="1200" dirty="0"/>
          </a:p>
        </p:txBody>
      </p:sp>
      <p:sp>
        <p:nvSpPr>
          <p:cNvPr id="35" name="Text 7"/>
          <p:cNvSpPr/>
          <p:nvPr/>
        </p:nvSpPr>
        <p:spPr>
          <a:xfrm>
            <a:off x="571500" y="2628900"/>
            <a:ext cx="119175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instant</a:t>
            </a:r>
            <a:endParaRPr lang="en-US" sz="1050" dirty="0"/>
          </a:p>
        </p:txBody>
      </p:sp>
      <p:sp>
        <p:nvSpPr>
          <p:cNvPr id="36" name="Text 8"/>
          <p:cNvSpPr/>
          <p:nvPr/>
        </p:nvSpPr>
        <p:spPr>
          <a:xfrm>
            <a:off x="1640830" y="2628900"/>
            <a:ext cx="9931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ID</a:t>
            </a:r>
            <a:endParaRPr lang="en-US" sz="1050" dirty="0"/>
          </a:p>
        </p:txBody>
      </p:sp>
      <p:sp>
        <p:nvSpPr>
          <p:cNvPr id="37" name="Text 9"/>
          <p:cNvSpPr/>
          <p:nvPr/>
        </p:nvSpPr>
        <p:spPr>
          <a:xfrm>
            <a:off x="2710160" y="2628900"/>
            <a:ext cx="2062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기록 인덱스</a:t>
            </a:r>
            <a:endParaRPr lang="en-US" sz="1050" dirty="0"/>
          </a:p>
        </p:txBody>
      </p:sp>
      <p:sp>
        <p:nvSpPr>
          <p:cNvPr id="38" name="Text 10"/>
          <p:cNvSpPr/>
          <p:nvPr/>
        </p:nvSpPr>
        <p:spPr>
          <a:xfrm>
            <a:off x="4848820" y="2628900"/>
            <a:ext cx="2062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endParaRPr lang="en-US" sz="1050" dirty="0"/>
          </a:p>
        </p:txBody>
      </p:sp>
      <p:sp>
        <p:nvSpPr>
          <p:cNvPr id="39" name="Text 11"/>
          <p:cNvSpPr/>
          <p:nvPr/>
        </p:nvSpPr>
        <p:spPr>
          <a:xfrm>
            <a:off x="571500" y="2971800"/>
            <a:ext cx="9931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dteday</a:t>
            </a:r>
            <a:endParaRPr lang="en-US" sz="1050" dirty="0"/>
          </a:p>
        </p:txBody>
      </p:sp>
      <p:sp>
        <p:nvSpPr>
          <p:cNvPr id="40" name="Text 12"/>
          <p:cNvSpPr/>
          <p:nvPr/>
        </p:nvSpPr>
        <p:spPr>
          <a:xfrm>
            <a:off x="1640830" y="2971800"/>
            <a:ext cx="9931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Date</a:t>
            </a:r>
            <a:endParaRPr lang="en-US" sz="1050" dirty="0"/>
          </a:p>
        </p:txBody>
      </p:sp>
      <p:sp>
        <p:nvSpPr>
          <p:cNvPr id="41" name="Text 13"/>
          <p:cNvSpPr/>
          <p:nvPr/>
        </p:nvSpPr>
        <p:spPr>
          <a:xfrm>
            <a:off x="2710160" y="2971800"/>
            <a:ext cx="2062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날짜</a:t>
            </a:r>
            <a:endParaRPr lang="en-US" sz="1050" dirty="0"/>
          </a:p>
        </p:txBody>
      </p:sp>
      <p:sp>
        <p:nvSpPr>
          <p:cNvPr id="42" name="Text 14"/>
          <p:cNvSpPr/>
          <p:nvPr/>
        </p:nvSpPr>
        <p:spPr>
          <a:xfrm>
            <a:off x="4848820" y="2971800"/>
            <a:ext cx="2062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endParaRPr lang="en-US" sz="1050" dirty="0"/>
          </a:p>
        </p:txBody>
      </p:sp>
      <p:sp>
        <p:nvSpPr>
          <p:cNvPr id="43" name="Text 15"/>
          <p:cNvSpPr/>
          <p:nvPr/>
        </p:nvSpPr>
        <p:spPr>
          <a:xfrm>
            <a:off x="571500" y="3314700"/>
            <a:ext cx="9931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season</a:t>
            </a:r>
            <a:endParaRPr lang="en-US" sz="1050" dirty="0"/>
          </a:p>
        </p:txBody>
      </p:sp>
      <p:sp>
        <p:nvSpPr>
          <p:cNvPr id="44" name="Text 16"/>
          <p:cNvSpPr/>
          <p:nvPr/>
        </p:nvSpPr>
        <p:spPr>
          <a:xfrm>
            <a:off x="1640830" y="3314700"/>
            <a:ext cx="119175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Categorical</a:t>
            </a:r>
            <a:endParaRPr lang="en-US" sz="1050" dirty="0"/>
          </a:p>
        </p:txBody>
      </p:sp>
      <p:sp>
        <p:nvSpPr>
          <p:cNvPr id="45" name="Text 17"/>
          <p:cNvSpPr/>
          <p:nvPr/>
        </p:nvSpPr>
        <p:spPr>
          <a:xfrm>
            <a:off x="2710160" y="3314700"/>
            <a:ext cx="247495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계절 (1:겨울, 2:봄, 3:여름, 4:가을)</a:t>
            </a:r>
            <a:endParaRPr lang="en-US" sz="1050" dirty="0"/>
          </a:p>
        </p:txBody>
      </p:sp>
      <p:sp>
        <p:nvSpPr>
          <p:cNvPr id="46" name="Text 18"/>
          <p:cNvSpPr/>
          <p:nvPr/>
        </p:nvSpPr>
        <p:spPr>
          <a:xfrm>
            <a:off x="4848820" y="3314700"/>
            <a:ext cx="2062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endParaRPr lang="en-US" sz="1050" dirty="0"/>
          </a:p>
        </p:txBody>
      </p:sp>
      <p:sp>
        <p:nvSpPr>
          <p:cNvPr id="47" name="Text 19"/>
          <p:cNvSpPr/>
          <p:nvPr/>
        </p:nvSpPr>
        <p:spPr>
          <a:xfrm>
            <a:off x="571500" y="3657600"/>
            <a:ext cx="9931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yr</a:t>
            </a:r>
            <a:endParaRPr lang="en-US" sz="1050" dirty="0"/>
          </a:p>
        </p:txBody>
      </p:sp>
      <p:sp>
        <p:nvSpPr>
          <p:cNvPr id="48" name="Text 20"/>
          <p:cNvSpPr/>
          <p:nvPr/>
        </p:nvSpPr>
        <p:spPr>
          <a:xfrm>
            <a:off x="1640830" y="3657600"/>
            <a:ext cx="119175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Categorical</a:t>
            </a:r>
            <a:endParaRPr lang="en-US" sz="1050" dirty="0"/>
          </a:p>
        </p:txBody>
      </p:sp>
      <p:sp>
        <p:nvSpPr>
          <p:cNvPr id="49" name="Text 21"/>
          <p:cNvSpPr/>
          <p:nvPr/>
        </p:nvSpPr>
        <p:spPr>
          <a:xfrm>
            <a:off x="2710160" y="3657600"/>
            <a:ext cx="247495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연도 (0: 2011, 1: 2012)</a:t>
            </a:r>
            <a:endParaRPr lang="en-US" sz="1050" dirty="0"/>
          </a:p>
        </p:txBody>
      </p:sp>
      <p:sp>
        <p:nvSpPr>
          <p:cNvPr id="50" name="Text 22"/>
          <p:cNvSpPr/>
          <p:nvPr/>
        </p:nvSpPr>
        <p:spPr>
          <a:xfrm>
            <a:off x="4848820" y="3657600"/>
            <a:ext cx="2062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endParaRPr lang="en-US" sz="1050" dirty="0"/>
          </a:p>
        </p:txBody>
      </p:sp>
      <p:sp>
        <p:nvSpPr>
          <p:cNvPr id="51" name="Text 23"/>
          <p:cNvSpPr/>
          <p:nvPr/>
        </p:nvSpPr>
        <p:spPr>
          <a:xfrm>
            <a:off x="571500" y="4000500"/>
            <a:ext cx="9931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mnth</a:t>
            </a:r>
            <a:endParaRPr lang="en-US" sz="1050" dirty="0"/>
          </a:p>
        </p:txBody>
      </p:sp>
      <p:sp>
        <p:nvSpPr>
          <p:cNvPr id="52" name="Text 24"/>
          <p:cNvSpPr/>
          <p:nvPr/>
        </p:nvSpPr>
        <p:spPr>
          <a:xfrm>
            <a:off x="1640830" y="4000500"/>
            <a:ext cx="119175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Categorical</a:t>
            </a:r>
            <a:endParaRPr lang="en-US" sz="1050" dirty="0"/>
          </a:p>
        </p:txBody>
      </p:sp>
      <p:sp>
        <p:nvSpPr>
          <p:cNvPr id="53" name="Text 25"/>
          <p:cNvSpPr/>
          <p:nvPr/>
        </p:nvSpPr>
        <p:spPr>
          <a:xfrm>
            <a:off x="2710160" y="4000500"/>
            <a:ext cx="2062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(1~12)</a:t>
            </a:r>
            <a:endParaRPr lang="en-US" sz="1050" dirty="0"/>
          </a:p>
        </p:txBody>
      </p:sp>
      <p:sp>
        <p:nvSpPr>
          <p:cNvPr id="54" name="Text 26"/>
          <p:cNvSpPr/>
          <p:nvPr/>
        </p:nvSpPr>
        <p:spPr>
          <a:xfrm>
            <a:off x="4848820" y="4000500"/>
            <a:ext cx="2062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endParaRPr lang="en-US" sz="1050" dirty="0"/>
          </a:p>
        </p:txBody>
      </p:sp>
      <p:sp>
        <p:nvSpPr>
          <p:cNvPr id="55" name="Text 27"/>
          <p:cNvSpPr/>
          <p:nvPr/>
        </p:nvSpPr>
        <p:spPr>
          <a:xfrm>
            <a:off x="571500" y="4343400"/>
            <a:ext cx="9931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hr</a:t>
            </a:r>
            <a:endParaRPr lang="en-US" sz="1050" dirty="0"/>
          </a:p>
        </p:txBody>
      </p:sp>
      <p:sp>
        <p:nvSpPr>
          <p:cNvPr id="56" name="Text 28"/>
          <p:cNvSpPr/>
          <p:nvPr/>
        </p:nvSpPr>
        <p:spPr>
          <a:xfrm>
            <a:off x="1640830" y="4343400"/>
            <a:ext cx="119175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Categorical</a:t>
            </a:r>
            <a:endParaRPr lang="en-US" sz="1050" dirty="0"/>
          </a:p>
        </p:txBody>
      </p:sp>
      <p:sp>
        <p:nvSpPr>
          <p:cNvPr id="57" name="Text 29"/>
          <p:cNvSpPr/>
          <p:nvPr/>
        </p:nvSpPr>
        <p:spPr>
          <a:xfrm>
            <a:off x="2710160" y="4343400"/>
            <a:ext cx="2062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(0~23)</a:t>
            </a:r>
            <a:endParaRPr lang="en-US" sz="1050" dirty="0"/>
          </a:p>
        </p:txBody>
      </p:sp>
      <p:sp>
        <p:nvSpPr>
          <p:cNvPr id="58" name="Text 30"/>
          <p:cNvSpPr/>
          <p:nvPr/>
        </p:nvSpPr>
        <p:spPr>
          <a:xfrm>
            <a:off x="4848820" y="4343400"/>
            <a:ext cx="2062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endParaRPr lang="en-US" sz="1050" dirty="0"/>
          </a:p>
        </p:txBody>
      </p:sp>
      <p:sp>
        <p:nvSpPr>
          <p:cNvPr id="59" name="Text 31"/>
          <p:cNvSpPr/>
          <p:nvPr/>
        </p:nvSpPr>
        <p:spPr>
          <a:xfrm>
            <a:off x="571500" y="4686300"/>
            <a:ext cx="119175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holiday</a:t>
            </a:r>
            <a:endParaRPr lang="en-US" sz="1050" dirty="0"/>
          </a:p>
        </p:txBody>
      </p:sp>
      <p:sp>
        <p:nvSpPr>
          <p:cNvPr id="60" name="Text 32"/>
          <p:cNvSpPr/>
          <p:nvPr/>
        </p:nvSpPr>
        <p:spPr>
          <a:xfrm>
            <a:off x="1640830" y="4686300"/>
            <a:ext cx="9931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Binary</a:t>
            </a:r>
            <a:endParaRPr lang="en-US" sz="1050" dirty="0"/>
          </a:p>
        </p:txBody>
      </p:sp>
      <p:sp>
        <p:nvSpPr>
          <p:cNvPr id="61" name="Text 33"/>
          <p:cNvSpPr/>
          <p:nvPr/>
        </p:nvSpPr>
        <p:spPr>
          <a:xfrm>
            <a:off x="2710160" y="4686300"/>
            <a:ext cx="247495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공휴일 여부 (1:공휴일, 0:아님)</a:t>
            </a:r>
            <a:endParaRPr lang="en-US" sz="1050" dirty="0"/>
          </a:p>
        </p:txBody>
      </p:sp>
      <p:sp>
        <p:nvSpPr>
          <p:cNvPr id="62" name="Text 34"/>
          <p:cNvSpPr/>
          <p:nvPr/>
        </p:nvSpPr>
        <p:spPr>
          <a:xfrm>
            <a:off x="4848820" y="4686300"/>
            <a:ext cx="2062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endParaRPr lang="en-US" sz="1050" dirty="0"/>
          </a:p>
        </p:txBody>
      </p:sp>
      <p:sp>
        <p:nvSpPr>
          <p:cNvPr id="63" name="Text 35"/>
          <p:cNvSpPr/>
          <p:nvPr/>
        </p:nvSpPr>
        <p:spPr>
          <a:xfrm>
            <a:off x="571500" y="5029200"/>
            <a:ext cx="119175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weekday</a:t>
            </a:r>
            <a:endParaRPr lang="en-US" sz="1050" dirty="0"/>
          </a:p>
        </p:txBody>
      </p:sp>
      <p:sp>
        <p:nvSpPr>
          <p:cNvPr id="64" name="Text 36"/>
          <p:cNvSpPr/>
          <p:nvPr/>
        </p:nvSpPr>
        <p:spPr>
          <a:xfrm>
            <a:off x="1640830" y="5029200"/>
            <a:ext cx="119175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Categorical</a:t>
            </a:r>
            <a:endParaRPr lang="en-US" sz="1050" dirty="0"/>
          </a:p>
        </p:txBody>
      </p:sp>
      <p:sp>
        <p:nvSpPr>
          <p:cNvPr id="65" name="Text 37"/>
          <p:cNvSpPr/>
          <p:nvPr/>
        </p:nvSpPr>
        <p:spPr>
          <a:xfrm>
            <a:off x="2710160" y="5029200"/>
            <a:ext cx="2062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요일</a:t>
            </a:r>
            <a:endParaRPr lang="en-US" sz="1050" dirty="0"/>
          </a:p>
        </p:txBody>
      </p:sp>
      <p:sp>
        <p:nvSpPr>
          <p:cNvPr id="66" name="Text 38"/>
          <p:cNvSpPr/>
          <p:nvPr/>
        </p:nvSpPr>
        <p:spPr>
          <a:xfrm>
            <a:off x="4848820" y="5029200"/>
            <a:ext cx="2062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endParaRPr lang="en-US" sz="1050" dirty="0"/>
          </a:p>
        </p:txBody>
      </p:sp>
      <p:sp>
        <p:nvSpPr>
          <p:cNvPr id="67" name="Text 39"/>
          <p:cNvSpPr/>
          <p:nvPr/>
        </p:nvSpPr>
        <p:spPr>
          <a:xfrm>
            <a:off x="571500" y="5372100"/>
            <a:ext cx="119175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workingday</a:t>
            </a:r>
            <a:endParaRPr lang="en-US" sz="1050" dirty="0"/>
          </a:p>
        </p:txBody>
      </p:sp>
      <p:sp>
        <p:nvSpPr>
          <p:cNvPr id="68" name="Text 40"/>
          <p:cNvSpPr/>
          <p:nvPr/>
        </p:nvSpPr>
        <p:spPr>
          <a:xfrm>
            <a:off x="1640830" y="5372100"/>
            <a:ext cx="9931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Binary</a:t>
            </a:r>
            <a:endParaRPr lang="en-US" sz="1050" dirty="0"/>
          </a:p>
        </p:txBody>
      </p:sp>
      <p:sp>
        <p:nvSpPr>
          <p:cNvPr id="69" name="Text 41"/>
          <p:cNvSpPr/>
          <p:nvPr/>
        </p:nvSpPr>
        <p:spPr>
          <a:xfrm>
            <a:off x="2710160" y="5372100"/>
            <a:ext cx="247495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근무일 여부 (1:근무일, 0:아님)</a:t>
            </a:r>
            <a:endParaRPr lang="en-US" sz="1050" dirty="0"/>
          </a:p>
        </p:txBody>
      </p:sp>
      <p:sp>
        <p:nvSpPr>
          <p:cNvPr id="70" name="Text 42"/>
          <p:cNvSpPr/>
          <p:nvPr/>
        </p:nvSpPr>
        <p:spPr>
          <a:xfrm>
            <a:off x="4848820" y="5372100"/>
            <a:ext cx="2062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endParaRPr lang="en-US" sz="1050" dirty="0"/>
          </a:p>
        </p:txBody>
      </p:sp>
      <p:sp>
        <p:nvSpPr>
          <p:cNvPr id="71" name="Text 43"/>
          <p:cNvSpPr/>
          <p:nvPr/>
        </p:nvSpPr>
        <p:spPr>
          <a:xfrm>
            <a:off x="571500" y="5715000"/>
            <a:ext cx="1191756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weathersit</a:t>
            </a:r>
            <a:endParaRPr lang="en-US" sz="1050" dirty="0"/>
          </a:p>
        </p:txBody>
      </p:sp>
      <p:sp>
        <p:nvSpPr>
          <p:cNvPr id="72" name="Text 44"/>
          <p:cNvSpPr/>
          <p:nvPr/>
        </p:nvSpPr>
        <p:spPr>
          <a:xfrm>
            <a:off x="1640830" y="5715000"/>
            <a:ext cx="1191756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Categorical</a:t>
            </a:r>
            <a:endParaRPr lang="en-US" sz="1050" dirty="0"/>
          </a:p>
        </p:txBody>
      </p:sp>
      <p:sp>
        <p:nvSpPr>
          <p:cNvPr id="73" name="Text 45"/>
          <p:cNvSpPr/>
          <p:nvPr/>
        </p:nvSpPr>
        <p:spPr>
          <a:xfrm>
            <a:off x="2710160" y="5715000"/>
            <a:ext cx="20624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날씨 (1:맑음, 2:흐림/안개, 3:약한 눈/비, 4:폭우/폭설)</a:t>
            </a:r>
            <a:endParaRPr lang="en-US" sz="1050" dirty="0"/>
          </a:p>
        </p:txBody>
      </p:sp>
      <p:sp>
        <p:nvSpPr>
          <p:cNvPr id="74" name="Text 46"/>
          <p:cNvSpPr/>
          <p:nvPr/>
        </p:nvSpPr>
        <p:spPr>
          <a:xfrm>
            <a:off x="4848820" y="5715000"/>
            <a:ext cx="20624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endParaRPr lang="en-US" sz="1050" dirty="0"/>
          </a:p>
        </p:txBody>
      </p:sp>
      <p:sp>
        <p:nvSpPr>
          <p:cNvPr id="78" name="Text 50"/>
          <p:cNvSpPr/>
          <p:nvPr/>
        </p:nvSpPr>
        <p:spPr>
          <a:xfrm>
            <a:off x="4848820" y="6248400"/>
            <a:ext cx="2062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endParaRPr lang="en-US" sz="1050" dirty="0"/>
          </a:p>
        </p:txBody>
      </p:sp>
      <p:sp>
        <p:nvSpPr>
          <p:cNvPr id="91" name="Text 63"/>
          <p:cNvSpPr/>
          <p:nvPr/>
        </p:nvSpPr>
        <p:spPr>
          <a:xfrm>
            <a:off x="7778055" y="1257300"/>
            <a:ext cx="40996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ko-KR" alt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보너스 데이터</a:t>
            </a:r>
            <a:endParaRPr lang="en-US" altLang="ko-KR" sz="1500" dirty="0"/>
          </a:p>
        </p:txBody>
      </p:sp>
      <p:sp>
        <p:nvSpPr>
          <p:cNvPr id="101" name="Text 73"/>
          <p:cNvSpPr/>
          <p:nvPr/>
        </p:nvSpPr>
        <p:spPr>
          <a:xfrm>
            <a:off x="11296650" y="6515100"/>
            <a:ext cx="971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Page 4/23</a:t>
            </a:r>
            <a:endParaRPr lang="en-US" sz="1050" dirty="0"/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DF805B61-B1C5-4E87-A6F1-10C67BBF1908}"/>
              </a:ext>
            </a:extLst>
          </p:cNvPr>
          <p:cNvSpPr/>
          <p:nvPr/>
        </p:nvSpPr>
        <p:spPr>
          <a:xfrm>
            <a:off x="3486150" y="6353175"/>
            <a:ext cx="55810" cy="5715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FEE55E8F-6A6D-4A64-8990-BD58FFDB51E7}"/>
              </a:ext>
            </a:extLst>
          </p:cNvPr>
          <p:cNvSpPr/>
          <p:nvPr/>
        </p:nvSpPr>
        <p:spPr>
          <a:xfrm>
            <a:off x="3486150" y="6648450"/>
            <a:ext cx="55810" cy="5715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6D8AC0D5-A35F-420D-B8D9-1C57ACA28C6F}"/>
              </a:ext>
            </a:extLst>
          </p:cNvPr>
          <p:cNvSpPr/>
          <p:nvPr/>
        </p:nvSpPr>
        <p:spPr>
          <a:xfrm>
            <a:off x="3486150" y="6496050"/>
            <a:ext cx="55810" cy="5715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Image 14" descr="preencoded.png">
            <a:extLst>
              <a:ext uri="{FF2B5EF4-FFF2-40B4-BE49-F238E27FC236}">
                <a16:creationId xmlns:a16="http://schemas.microsoft.com/office/drawing/2014/main" id="{F89126A0-0C64-BD27-D8B8-CBB1EF894BA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20880" y="1638300"/>
            <a:ext cx="4099620" cy="1181100"/>
          </a:xfrm>
          <a:prstGeom prst="rect">
            <a:avLst/>
          </a:prstGeom>
        </p:spPr>
      </p:pic>
      <p:pic>
        <p:nvPicPr>
          <p:cNvPr id="13" name="Image 15" descr="preencoded.png">
            <a:extLst>
              <a:ext uri="{FF2B5EF4-FFF2-40B4-BE49-F238E27FC236}">
                <a16:creationId xmlns:a16="http://schemas.microsoft.com/office/drawing/2014/main" id="{457B06AC-C335-435D-8405-77BBFD4E2CF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35180" y="1790700"/>
            <a:ext cx="152400" cy="152400"/>
          </a:xfrm>
          <a:prstGeom prst="rect">
            <a:avLst/>
          </a:prstGeom>
        </p:spPr>
      </p:pic>
      <p:pic>
        <p:nvPicPr>
          <p:cNvPr id="75" name="Image 16" descr="preencoded.png">
            <a:extLst>
              <a:ext uri="{FF2B5EF4-FFF2-40B4-BE49-F238E27FC236}">
                <a16:creationId xmlns:a16="http://schemas.microsoft.com/office/drawing/2014/main" id="{DBC622A1-94B7-5D80-BD5D-9E3E476524C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35180" y="2095500"/>
            <a:ext cx="66675" cy="133350"/>
          </a:xfrm>
          <a:prstGeom prst="rect">
            <a:avLst/>
          </a:prstGeom>
        </p:spPr>
      </p:pic>
      <p:pic>
        <p:nvPicPr>
          <p:cNvPr id="76" name="Image 17" descr="preencoded.png">
            <a:extLst>
              <a:ext uri="{FF2B5EF4-FFF2-40B4-BE49-F238E27FC236}">
                <a16:creationId xmlns:a16="http://schemas.microsoft.com/office/drawing/2014/main" id="{026CA712-92E2-D6CB-9F6A-E452EEE7EC9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35180" y="2552700"/>
            <a:ext cx="66675" cy="133350"/>
          </a:xfrm>
          <a:prstGeom prst="rect">
            <a:avLst/>
          </a:prstGeom>
        </p:spPr>
      </p:pic>
      <p:pic>
        <p:nvPicPr>
          <p:cNvPr id="77" name="Image 19" descr="preencoded.png">
            <a:extLst>
              <a:ext uri="{FF2B5EF4-FFF2-40B4-BE49-F238E27FC236}">
                <a16:creationId xmlns:a16="http://schemas.microsoft.com/office/drawing/2014/main" id="{DE8CE38C-B68A-E4C0-C2B5-9FD3E0C3120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92880" y="4533900"/>
            <a:ext cx="4099620" cy="1524000"/>
          </a:xfrm>
          <a:prstGeom prst="rect">
            <a:avLst/>
          </a:prstGeom>
        </p:spPr>
      </p:pic>
      <p:pic>
        <p:nvPicPr>
          <p:cNvPr id="79" name="Image 20" descr="preencoded.png">
            <a:extLst>
              <a:ext uri="{FF2B5EF4-FFF2-40B4-BE49-F238E27FC236}">
                <a16:creationId xmlns:a16="http://schemas.microsoft.com/office/drawing/2014/main" id="{DF99A4F5-635D-7400-9154-8AF88DF8C75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07180" y="4686300"/>
            <a:ext cx="114300" cy="152400"/>
          </a:xfrm>
          <a:prstGeom prst="rect">
            <a:avLst/>
          </a:prstGeom>
        </p:spPr>
      </p:pic>
      <p:pic>
        <p:nvPicPr>
          <p:cNvPr id="80" name="Image 21" descr="preencoded.png">
            <a:extLst>
              <a:ext uri="{FF2B5EF4-FFF2-40B4-BE49-F238E27FC236}">
                <a16:creationId xmlns:a16="http://schemas.microsoft.com/office/drawing/2014/main" id="{E76E2660-8445-B51E-B796-03D7941BD4A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07180" y="4991100"/>
            <a:ext cx="133350" cy="133350"/>
          </a:xfrm>
          <a:prstGeom prst="rect">
            <a:avLst/>
          </a:prstGeom>
        </p:spPr>
      </p:pic>
      <p:pic>
        <p:nvPicPr>
          <p:cNvPr id="81" name="Image 22" descr="preencoded.png">
            <a:extLst>
              <a:ext uri="{FF2B5EF4-FFF2-40B4-BE49-F238E27FC236}">
                <a16:creationId xmlns:a16="http://schemas.microsoft.com/office/drawing/2014/main" id="{35AF9F7E-A98A-78DC-BE81-0CCD1A74E69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07180" y="5257800"/>
            <a:ext cx="133350" cy="133350"/>
          </a:xfrm>
          <a:prstGeom prst="rect">
            <a:avLst/>
          </a:prstGeom>
        </p:spPr>
      </p:pic>
      <p:pic>
        <p:nvPicPr>
          <p:cNvPr id="82" name="Image 23" descr="preencoded.png">
            <a:extLst>
              <a:ext uri="{FF2B5EF4-FFF2-40B4-BE49-F238E27FC236}">
                <a16:creationId xmlns:a16="http://schemas.microsoft.com/office/drawing/2014/main" id="{298850B5-9EC8-E5EC-6052-A1224F66E2E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07180" y="5524500"/>
            <a:ext cx="133350" cy="133350"/>
          </a:xfrm>
          <a:prstGeom prst="rect">
            <a:avLst/>
          </a:prstGeom>
        </p:spPr>
      </p:pic>
      <p:pic>
        <p:nvPicPr>
          <p:cNvPr id="83" name="Image 24" descr="preencoded.png">
            <a:extLst>
              <a:ext uri="{FF2B5EF4-FFF2-40B4-BE49-F238E27FC236}">
                <a16:creationId xmlns:a16="http://schemas.microsoft.com/office/drawing/2014/main" id="{1954BB1E-EB3C-AFAF-9C0D-239ADFD5FAE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07180" y="5791200"/>
            <a:ext cx="133350" cy="133350"/>
          </a:xfrm>
          <a:prstGeom prst="rect">
            <a:avLst/>
          </a:prstGeom>
        </p:spPr>
      </p:pic>
      <p:sp>
        <p:nvSpPr>
          <p:cNvPr id="84" name="Text 64">
            <a:extLst>
              <a:ext uri="{FF2B5EF4-FFF2-40B4-BE49-F238E27FC236}">
                <a16:creationId xmlns:a16="http://schemas.microsoft.com/office/drawing/2014/main" id="{5FD8834A-8CB6-DE7D-8867-82D9A63EF460}"/>
              </a:ext>
            </a:extLst>
          </p:cNvPr>
          <p:cNvSpPr/>
          <p:nvPr/>
        </p:nvSpPr>
        <p:spPr>
          <a:xfrm>
            <a:off x="7863780" y="1752600"/>
            <a:ext cx="38710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Open-</a:t>
            </a:r>
            <a:r>
              <a:rPr lang="en-US" altLang="ko-KR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Meteo</a:t>
            </a:r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API </a:t>
            </a: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기상 데이터 </a:t>
            </a:r>
            <a:endParaRPr lang="en-US" sz="1200" dirty="0"/>
          </a:p>
        </p:txBody>
      </p:sp>
      <p:sp>
        <p:nvSpPr>
          <p:cNvPr id="85" name="Text 65">
            <a:extLst>
              <a:ext uri="{FF2B5EF4-FFF2-40B4-BE49-F238E27FC236}">
                <a16:creationId xmlns:a16="http://schemas.microsoft.com/office/drawing/2014/main" id="{C8ABF4A5-A57E-7A52-7FEE-7230528D291C}"/>
              </a:ext>
            </a:extLst>
          </p:cNvPr>
          <p:cNvSpPr/>
          <p:nvPr/>
        </p:nvSpPr>
        <p:spPr>
          <a:xfrm>
            <a:off x="7778055" y="2057400"/>
            <a:ext cx="372814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도시 환경에서의 자전거 공유 시스템 이용 패턴 분석을 위해 추가 활용</a:t>
            </a:r>
            <a:endParaRPr lang="en-US" sz="1050" dirty="0"/>
          </a:p>
        </p:txBody>
      </p:sp>
      <p:sp>
        <p:nvSpPr>
          <p:cNvPr id="86" name="Text 66">
            <a:extLst>
              <a:ext uri="{FF2B5EF4-FFF2-40B4-BE49-F238E27FC236}">
                <a16:creationId xmlns:a16="http://schemas.microsoft.com/office/drawing/2014/main" id="{7DD3D008-3DC6-E7B7-416D-9C2D6E12BA43}"/>
              </a:ext>
            </a:extLst>
          </p:cNvPr>
          <p:cNvSpPr/>
          <p:nvPr/>
        </p:nvSpPr>
        <p:spPr>
          <a:xfrm>
            <a:off x="7778055" y="2514600"/>
            <a:ext cx="35775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날씨환경 요인에 의한 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이용 패턴의 </a:t>
            </a:r>
            <a:r>
              <a:rPr lang="en-US" sz="10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차이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</a:t>
            </a:r>
            <a:endParaRPr lang="en-US" sz="1050" dirty="0"/>
          </a:p>
        </p:txBody>
      </p:sp>
      <p:sp>
        <p:nvSpPr>
          <p:cNvPr id="87" name="Text 68">
            <a:extLst>
              <a:ext uri="{FF2B5EF4-FFF2-40B4-BE49-F238E27FC236}">
                <a16:creationId xmlns:a16="http://schemas.microsoft.com/office/drawing/2014/main" id="{82478126-92A2-86EE-F8EF-4222A0F8E3C1}"/>
              </a:ext>
            </a:extLst>
          </p:cNvPr>
          <p:cNvSpPr/>
          <p:nvPr/>
        </p:nvSpPr>
        <p:spPr>
          <a:xfrm>
            <a:off x="7797680" y="4648200"/>
            <a:ext cx="38710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인사이트</a:t>
            </a:r>
            <a:endParaRPr lang="en-US" sz="1200" dirty="0"/>
          </a:p>
        </p:txBody>
      </p:sp>
      <p:sp>
        <p:nvSpPr>
          <p:cNvPr id="88" name="Text 69">
            <a:extLst>
              <a:ext uri="{FF2B5EF4-FFF2-40B4-BE49-F238E27FC236}">
                <a16:creationId xmlns:a16="http://schemas.microsoft.com/office/drawing/2014/main" id="{BDAE296C-476A-CC12-15C6-60135DC8EED0}"/>
              </a:ext>
            </a:extLst>
          </p:cNvPr>
          <p:cNvSpPr/>
          <p:nvPr/>
        </p:nvSpPr>
        <p:spPr>
          <a:xfrm>
            <a:off x="7816730" y="4953000"/>
            <a:ext cx="32118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평일: 통근/통학 등 필수적인 이동 수단으로 활용</a:t>
            </a:r>
            <a:endParaRPr lang="en-US" sz="1050" dirty="0"/>
          </a:p>
        </p:txBody>
      </p:sp>
      <p:sp>
        <p:nvSpPr>
          <p:cNvPr id="89" name="Text 70">
            <a:extLst>
              <a:ext uri="{FF2B5EF4-FFF2-40B4-BE49-F238E27FC236}">
                <a16:creationId xmlns:a16="http://schemas.microsoft.com/office/drawing/2014/main" id="{F43D231A-E899-AF05-5886-CD1996889549}"/>
              </a:ext>
            </a:extLst>
          </p:cNvPr>
          <p:cNvSpPr/>
          <p:nvPr/>
        </p:nvSpPr>
        <p:spPr>
          <a:xfrm>
            <a:off x="7816730" y="5219700"/>
            <a:ext cx="32804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주말: 레저, 여가, 쇼핑 등 비필수적인 이동에 활용</a:t>
            </a:r>
            <a:endParaRPr lang="en-US" sz="1050" dirty="0"/>
          </a:p>
        </p:txBody>
      </p:sp>
      <p:sp>
        <p:nvSpPr>
          <p:cNvPr id="90" name="Text 71">
            <a:extLst>
              <a:ext uri="{FF2B5EF4-FFF2-40B4-BE49-F238E27FC236}">
                <a16:creationId xmlns:a16="http://schemas.microsoft.com/office/drawing/2014/main" id="{EBE56B24-287E-962D-18DA-52272BC3CED0}"/>
              </a:ext>
            </a:extLst>
          </p:cNvPr>
          <p:cNvSpPr/>
          <p:nvPr/>
        </p:nvSpPr>
        <p:spPr>
          <a:xfrm>
            <a:off x="7816730" y="5486400"/>
            <a:ext cx="29032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대여소의 자전거 고질적인 불균형 현상</a:t>
            </a:r>
            <a:endParaRPr lang="en-US" sz="1050" dirty="0"/>
          </a:p>
        </p:txBody>
      </p:sp>
      <p:sp>
        <p:nvSpPr>
          <p:cNvPr id="102" name="Text 72">
            <a:extLst>
              <a:ext uri="{FF2B5EF4-FFF2-40B4-BE49-F238E27FC236}">
                <a16:creationId xmlns:a16="http://schemas.microsoft.com/office/drawing/2014/main" id="{C5468370-7CF2-99B3-4EC4-2374764B4FD7}"/>
              </a:ext>
            </a:extLst>
          </p:cNvPr>
          <p:cNvSpPr/>
          <p:nvPr/>
        </p:nvSpPr>
        <p:spPr>
          <a:xfrm>
            <a:off x="7816730" y="5753100"/>
            <a:ext cx="25031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기상 요인 및 계절성에 따른 수요 패턴</a:t>
            </a:r>
            <a:endParaRPr lang="en-US" sz="1050" dirty="0"/>
          </a:p>
        </p:txBody>
      </p:sp>
      <p:pic>
        <p:nvPicPr>
          <p:cNvPr id="113" name="Image 14" descr="preencoded.png">
            <a:extLst>
              <a:ext uri="{FF2B5EF4-FFF2-40B4-BE49-F238E27FC236}">
                <a16:creationId xmlns:a16="http://schemas.microsoft.com/office/drawing/2014/main" id="{A7E768B6-4589-EC31-8358-8CF43F68B09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20880" y="2933700"/>
            <a:ext cx="4099620" cy="1181100"/>
          </a:xfrm>
          <a:prstGeom prst="rect">
            <a:avLst/>
          </a:prstGeom>
        </p:spPr>
      </p:pic>
      <p:pic>
        <p:nvPicPr>
          <p:cNvPr id="114" name="Image 15" descr="preencoded.png">
            <a:extLst>
              <a:ext uri="{FF2B5EF4-FFF2-40B4-BE49-F238E27FC236}">
                <a16:creationId xmlns:a16="http://schemas.microsoft.com/office/drawing/2014/main" id="{18F39D20-428D-F0C6-4A5A-04F12886440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35180" y="3086100"/>
            <a:ext cx="152400" cy="152400"/>
          </a:xfrm>
          <a:prstGeom prst="rect">
            <a:avLst/>
          </a:prstGeom>
        </p:spPr>
      </p:pic>
      <p:pic>
        <p:nvPicPr>
          <p:cNvPr id="115" name="Image 16" descr="preencoded.png">
            <a:extLst>
              <a:ext uri="{FF2B5EF4-FFF2-40B4-BE49-F238E27FC236}">
                <a16:creationId xmlns:a16="http://schemas.microsoft.com/office/drawing/2014/main" id="{AB000EEA-37C1-CC13-FF0D-5AD900F1267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35180" y="3390900"/>
            <a:ext cx="66675" cy="133350"/>
          </a:xfrm>
          <a:prstGeom prst="rect">
            <a:avLst/>
          </a:prstGeom>
        </p:spPr>
      </p:pic>
      <p:pic>
        <p:nvPicPr>
          <p:cNvPr id="116" name="Image 17" descr="preencoded.png">
            <a:extLst>
              <a:ext uri="{FF2B5EF4-FFF2-40B4-BE49-F238E27FC236}">
                <a16:creationId xmlns:a16="http://schemas.microsoft.com/office/drawing/2014/main" id="{FD910049-39D7-61AE-5DDC-4BBB42DDB57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35180" y="3848100"/>
            <a:ext cx="66675" cy="133350"/>
          </a:xfrm>
          <a:prstGeom prst="rect">
            <a:avLst/>
          </a:prstGeom>
        </p:spPr>
      </p:pic>
      <p:sp>
        <p:nvSpPr>
          <p:cNvPr id="117" name="Text 64">
            <a:extLst>
              <a:ext uri="{FF2B5EF4-FFF2-40B4-BE49-F238E27FC236}">
                <a16:creationId xmlns:a16="http://schemas.microsoft.com/office/drawing/2014/main" id="{E3A86CE6-51C2-5F3B-ED04-28BC88A7AD14}"/>
              </a:ext>
            </a:extLst>
          </p:cNvPr>
          <p:cNvSpPr/>
          <p:nvPr/>
        </p:nvSpPr>
        <p:spPr>
          <a:xfrm>
            <a:off x="7863780" y="3048000"/>
            <a:ext cx="38710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대여소 별 </a:t>
            </a:r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POI </a:t>
            </a: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</a:t>
            </a:r>
            <a:endParaRPr lang="en-US" sz="1200" dirty="0"/>
          </a:p>
        </p:txBody>
      </p:sp>
      <p:sp>
        <p:nvSpPr>
          <p:cNvPr id="118" name="Text 65">
            <a:extLst>
              <a:ext uri="{FF2B5EF4-FFF2-40B4-BE49-F238E27FC236}">
                <a16:creationId xmlns:a16="http://schemas.microsoft.com/office/drawing/2014/main" id="{472B57CE-DEC8-472B-C1BC-C049750458DF}"/>
              </a:ext>
            </a:extLst>
          </p:cNvPr>
          <p:cNvSpPr/>
          <p:nvPr/>
        </p:nvSpPr>
        <p:spPr>
          <a:xfrm>
            <a:off x="7778055" y="3352800"/>
            <a:ext cx="372814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도시 환경에서의 자전거 공유 시스템 이용 패턴 분석을 위해 추가 활용</a:t>
            </a:r>
            <a:endParaRPr lang="en-US" sz="1050" dirty="0"/>
          </a:p>
        </p:txBody>
      </p:sp>
      <p:sp>
        <p:nvSpPr>
          <p:cNvPr id="119" name="Text 66">
            <a:extLst>
              <a:ext uri="{FF2B5EF4-FFF2-40B4-BE49-F238E27FC236}">
                <a16:creationId xmlns:a16="http://schemas.microsoft.com/office/drawing/2014/main" id="{642369D8-B2AF-E2CB-6EF9-62D8A59411AF}"/>
              </a:ext>
            </a:extLst>
          </p:cNvPr>
          <p:cNvSpPr/>
          <p:nvPr/>
        </p:nvSpPr>
        <p:spPr>
          <a:xfrm>
            <a:off x="7778055" y="3810000"/>
            <a:ext cx="35775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공간환경 요인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</a:t>
            </a: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의한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이용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패턴의 </a:t>
            </a:r>
            <a:r>
              <a:rPr lang="en-US" sz="10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차이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</a:t>
            </a:r>
            <a:endParaRPr lang="en-US" sz="1050" dirty="0"/>
          </a:p>
        </p:txBody>
      </p:sp>
      <p:pic>
        <p:nvPicPr>
          <p:cNvPr id="120" name="Image 19" descr="preencoded.png">
            <a:extLst>
              <a:ext uri="{FF2B5EF4-FFF2-40B4-BE49-F238E27FC236}">
                <a16:creationId xmlns:a16="http://schemas.microsoft.com/office/drawing/2014/main" id="{00A49F83-E175-14EE-9F17-1B00C0CD7CB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49743" y="4533900"/>
            <a:ext cx="4099620" cy="1524000"/>
          </a:xfrm>
          <a:prstGeom prst="rect">
            <a:avLst/>
          </a:prstGeom>
        </p:spPr>
      </p:pic>
      <p:pic>
        <p:nvPicPr>
          <p:cNvPr id="121" name="Image 20" descr="preencoded.png">
            <a:extLst>
              <a:ext uri="{FF2B5EF4-FFF2-40B4-BE49-F238E27FC236}">
                <a16:creationId xmlns:a16="http://schemas.microsoft.com/office/drawing/2014/main" id="{4C7B0743-3426-5909-1564-A27E6B74619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64043" y="4686300"/>
            <a:ext cx="114300" cy="152400"/>
          </a:xfrm>
          <a:prstGeom prst="rect">
            <a:avLst/>
          </a:prstGeom>
        </p:spPr>
      </p:pic>
      <p:pic>
        <p:nvPicPr>
          <p:cNvPr id="122" name="Image 21" descr="preencoded.png">
            <a:extLst>
              <a:ext uri="{FF2B5EF4-FFF2-40B4-BE49-F238E27FC236}">
                <a16:creationId xmlns:a16="http://schemas.microsoft.com/office/drawing/2014/main" id="{DE63FD19-097D-8DFD-8A77-BB68E242127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64043" y="4991100"/>
            <a:ext cx="133350" cy="133350"/>
          </a:xfrm>
          <a:prstGeom prst="rect">
            <a:avLst/>
          </a:prstGeom>
        </p:spPr>
      </p:pic>
      <p:pic>
        <p:nvPicPr>
          <p:cNvPr id="123" name="Image 22" descr="preencoded.png">
            <a:extLst>
              <a:ext uri="{FF2B5EF4-FFF2-40B4-BE49-F238E27FC236}">
                <a16:creationId xmlns:a16="http://schemas.microsoft.com/office/drawing/2014/main" id="{0DCB04EA-5137-7173-667D-8FB647FC2D3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64043" y="5257800"/>
            <a:ext cx="133350" cy="133350"/>
          </a:xfrm>
          <a:prstGeom prst="rect">
            <a:avLst/>
          </a:prstGeom>
        </p:spPr>
      </p:pic>
      <p:pic>
        <p:nvPicPr>
          <p:cNvPr id="124" name="Image 23" descr="preencoded.png">
            <a:extLst>
              <a:ext uri="{FF2B5EF4-FFF2-40B4-BE49-F238E27FC236}">
                <a16:creationId xmlns:a16="http://schemas.microsoft.com/office/drawing/2014/main" id="{50CD017A-5D09-9FF7-EC35-50DF10D752E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64043" y="5524500"/>
            <a:ext cx="133350" cy="133350"/>
          </a:xfrm>
          <a:prstGeom prst="rect">
            <a:avLst/>
          </a:prstGeom>
        </p:spPr>
      </p:pic>
      <p:pic>
        <p:nvPicPr>
          <p:cNvPr id="125" name="Image 24" descr="preencoded.png">
            <a:extLst>
              <a:ext uri="{FF2B5EF4-FFF2-40B4-BE49-F238E27FC236}">
                <a16:creationId xmlns:a16="http://schemas.microsoft.com/office/drawing/2014/main" id="{DD771242-1D3E-3CFB-4853-F5CE73E7D11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64043" y="5791200"/>
            <a:ext cx="133350" cy="133350"/>
          </a:xfrm>
          <a:prstGeom prst="rect">
            <a:avLst/>
          </a:prstGeom>
        </p:spPr>
      </p:pic>
      <p:sp>
        <p:nvSpPr>
          <p:cNvPr id="126" name="Text 68">
            <a:extLst>
              <a:ext uri="{FF2B5EF4-FFF2-40B4-BE49-F238E27FC236}">
                <a16:creationId xmlns:a16="http://schemas.microsoft.com/office/drawing/2014/main" id="{481BA6D7-FF82-3A2C-9A09-0CB9ED102579}"/>
              </a:ext>
            </a:extLst>
          </p:cNvPr>
          <p:cNvSpPr/>
          <p:nvPr/>
        </p:nvSpPr>
        <p:spPr>
          <a:xfrm>
            <a:off x="7854543" y="4648200"/>
            <a:ext cx="38710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인사이트</a:t>
            </a:r>
            <a:endParaRPr lang="en-US" sz="1200" dirty="0"/>
          </a:p>
        </p:txBody>
      </p:sp>
      <p:sp>
        <p:nvSpPr>
          <p:cNvPr id="127" name="Text 69">
            <a:extLst>
              <a:ext uri="{FF2B5EF4-FFF2-40B4-BE49-F238E27FC236}">
                <a16:creationId xmlns:a16="http://schemas.microsoft.com/office/drawing/2014/main" id="{09FD9965-DDBC-AAFE-F7FB-0583650CA0C6}"/>
              </a:ext>
            </a:extLst>
          </p:cNvPr>
          <p:cNvSpPr/>
          <p:nvPr/>
        </p:nvSpPr>
        <p:spPr>
          <a:xfrm>
            <a:off x="7873593" y="4953000"/>
            <a:ext cx="32118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평일: 통근/통학 등 필수적인 이동 수단으로 활용</a:t>
            </a:r>
            <a:endParaRPr lang="en-US" sz="1050" dirty="0"/>
          </a:p>
        </p:txBody>
      </p:sp>
      <p:sp>
        <p:nvSpPr>
          <p:cNvPr id="128" name="Text 70">
            <a:extLst>
              <a:ext uri="{FF2B5EF4-FFF2-40B4-BE49-F238E27FC236}">
                <a16:creationId xmlns:a16="http://schemas.microsoft.com/office/drawing/2014/main" id="{8DDBC8F1-71E6-1448-E403-776EA80DAC7E}"/>
              </a:ext>
            </a:extLst>
          </p:cNvPr>
          <p:cNvSpPr/>
          <p:nvPr/>
        </p:nvSpPr>
        <p:spPr>
          <a:xfrm>
            <a:off x="7873593" y="5219700"/>
            <a:ext cx="32804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주말: 레저, 여가, 쇼핑 등 </a:t>
            </a:r>
            <a:r>
              <a:rPr lang="en-US" sz="10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비필수적인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0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이동에</a:t>
            </a:r>
            <a:r>
              <a:rPr lang="en-US" altLang="ko-KR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</a:t>
            </a:r>
            <a:endParaRPr lang="en-US" sz="1050" dirty="0"/>
          </a:p>
        </p:txBody>
      </p:sp>
      <p:sp>
        <p:nvSpPr>
          <p:cNvPr id="129" name="Text 71">
            <a:extLst>
              <a:ext uri="{FF2B5EF4-FFF2-40B4-BE49-F238E27FC236}">
                <a16:creationId xmlns:a16="http://schemas.microsoft.com/office/drawing/2014/main" id="{1FC21A21-5A68-7C98-BC8A-D319AE19000D}"/>
              </a:ext>
            </a:extLst>
          </p:cNvPr>
          <p:cNvSpPr/>
          <p:nvPr/>
        </p:nvSpPr>
        <p:spPr>
          <a:xfrm>
            <a:off x="7873593" y="5486400"/>
            <a:ext cx="29032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대여소 </a:t>
            </a:r>
            <a:r>
              <a:rPr lang="en-US" altLang="ko-KR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POI</a:t>
            </a: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요인에 의한 수요패턴 </a:t>
            </a:r>
            <a:endParaRPr lang="en-US" sz="1050" dirty="0"/>
          </a:p>
        </p:txBody>
      </p:sp>
      <p:sp>
        <p:nvSpPr>
          <p:cNvPr id="130" name="Text 72">
            <a:extLst>
              <a:ext uri="{FF2B5EF4-FFF2-40B4-BE49-F238E27FC236}">
                <a16:creationId xmlns:a16="http://schemas.microsoft.com/office/drawing/2014/main" id="{0CA62315-9D7B-12D2-9D4A-94F81E9E43F2}"/>
              </a:ext>
            </a:extLst>
          </p:cNvPr>
          <p:cNvSpPr/>
          <p:nvPr/>
        </p:nvSpPr>
        <p:spPr>
          <a:xfrm>
            <a:off x="7873593" y="5753100"/>
            <a:ext cx="25031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기상 요인 및 계절성에 따른 수요 패턴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1358F-3231-F37A-E7D8-335D71280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0C692AB6-E503-0910-237C-605AC3E84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05B875CD-F762-204F-0BD7-51C091FCA2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001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42D28651-6E7E-7DD9-0CD0-3896A511AE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066800"/>
            <a:ext cx="6720780" cy="5295900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FF85D37D-D840-ABD4-E196-9FFA902A2C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95400"/>
            <a:ext cx="190500" cy="190500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B3E56E67-4702-D547-65F4-1854A88222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171700"/>
            <a:ext cx="6339780" cy="304800"/>
          </a:xfrm>
          <a:prstGeom prst="rect">
            <a:avLst/>
          </a:prstGeom>
        </p:spPr>
      </p:pic>
      <p:pic>
        <p:nvPicPr>
          <p:cNvPr id="7" name="Image 5" descr="preencoded.png">
            <a:extLst>
              <a:ext uri="{FF2B5EF4-FFF2-40B4-BE49-F238E27FC236}">
                <a16:creationId xmlns:a16="http://schemas.microsoft.com/office/drawing/2014/main" id="{FED38A69-F931-9644-9D69-3536A96F93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895600"/>
            <a:ext cx="6339780" cy="342900"/>
          </a:xfrm>
          <a:prstGeom prst="rect">
            <a:avLst/>
          </a:prstGeom>
        </p:spPr>
      </p:pic>
      <p:pic>
        <p:nvPicPr>
          <p:cNvPr id="8" name="Image 6" descr="preencoded.png">
            <a:extLst>
              <a:ext uri="{FF2B5EF4-FFF2-40B4-BE49-F238E27FC236}">
                <a16:creationId xmlns:a16="http://schemas.microsoft.com/office/drawing/2014/main" id="{77F82299-D57C-13BA-7984-976475CABB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581400"/>
            <a:ext cx="6339780" cy="342900"/>
          </a:xfrm>
          <a:prstGeom prst="rect">
            <a:avLst/>
          </a:prstGeom>
        </p:spPr>
      </p:pic>
      <p:pic>
        <p:nvPicPr>
          <p:cNvPr id="9" name="Image 7" descr="preencoded.png">
            <a:extLst>
              <a:ext uri="{FF2B5EF4-FFF2-40B4-BE49-F238E27FC236}">
                <a16:creationId xmlns:a16="http://schemas.microsoft.com/office/drawing/2014/main" id="{A4C7BAF0-A536-8C93-850A-EAD45EBD8A7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267200"/>
            <a:ext cx="6339780" cy="342900"/>
          </a:xfrm>
          <a:prstGeom prst="rect">
            <a:avLst/>
          </a:prstGeom>
        </p:spPr>
      </p:pic>
      <p:pic>
        <p:nvPicPr>
          <p:cNvPr id="10" name="Image 8" descr="preencoded.png">
            <a:extLst>
              <a:ext uri="{FF2B5EF4-FFF2-40B4-BE49-F238E27FC236}">
                <a16:creationId xmlns:a16="http://schemas.microsoft.com/office/drawing/2014/main" id="{0CA0E039-76A9-E08B-F1D0-B272120ABFF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953000"/>
            <a:ext cx="6339780" cy="342900"/>
          </a:xfrm>
          <a:prstGeom prst="rect">
            <a:avLst/>
          </a:prstGeom>
        </p:spPr>
      </p:pic>
      <p:pic>
        <p:nvPicPr>
          <p:cNvPr id="11" name="Image 9" descr="preencoded.png">
            <a:extLst>
              <a:ext uri="{FF2B5EF4-FFF2-40B4-BE49-F238E27FC236}">
                <a16:creationId xmlns:a16="http://schemas.microsoft.com/office/drawing/2014/main" id="{E17C8562-C62E-882C-9D9D-C5DEEC7C7C6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5638800"/>
            <a:ext cx="6339780" cy="533400"/>
          </a:xfrm>
          <a:prstGeom prst="rect">
            <a:avLst/>
          </a:prstGeom>
        </p:spPr>
      </p:pic>
      <p:pic>
        <p:nvPicPr>
          <p:cNvPr id="14" name="Image 12" descr="preencoded.png">
            <a:extLst>
              <a:ext uri="{FF2B5EF4-FFF2-40B4-BE49-F238E27FC236}">
                <a16:creationId xmlns:a16="http://schemas.microsoft.com/office/drawing/2014/main" id="{8E134D3C-EDE8-1788-F420-D487ABBA435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01805" y="1066800"/>
            <a:ext cx="4480620" cy="5295900"/>
          </a:xfrm>
          <a:prstGeom prst="rect">
            <a:avLst/>
          </a:prstGeom>
        </p:spPr>
      </p:pic>
      <p:pic>
        <p:nvPicPr>
          <p:cNvPr id="15" name="Image 13" descr="preencoded.png">
            <a:extLst>
              <a:ext uri="{FF2B5EF4-FFF2-40B4-BE49-F238E27FC236}">
                <a16:creationId xmlns:a16="http://schemas.microsoft.com/office/drawing/2014/main" id="{78747582-4900-5811-FC4C-7116A44FA36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0880" y="1295400"/>
            <a:ext cx="142875" cy="190500"/>
          </a:xfrm>
          <a:prstGeom prst="rect">
            <a:avLst/>
          </a:prstGeom>
        </p:spPr>
      </p:pic>
      <p:pic>
        <p:nvPicPr>
          <p:cNvPr id="27" name="Image 25" descr="preencoded.png">
            <a:extLst>
              <a:ext uri="{FF2B5EF4-FFF2-40B4-BE49-F238E27FC236}">
                <a16:creationId xmlns:a16="http://schemas.microsoft.com/office/drawing/2014/main" id="{4CDFB38F-1C04-19D4-A088-065D00E5133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53775" y="6553200"/>
            <a:ext cx="104775" cy="133350"/>
          </a:xfrm>
          <a:prstGeom prst="rect">
            <a:avLst/>
          </a:prstGeom>
        </p:spPr>
      </p:pic>
      <p:sp>
        <p:nvSpPr>
          <p:cNvPr id="28" name="Text 0">
            <a:extLst>
              <a:ext uri="{FF2B5EF4-FFF2-40B4-BE49-F238E27FC236}">
                <a16:creationId xmlns:a16="http://schemas.microsoft.com/office/drawing/2014/main" id="{E35663F0-7A18-DFF4-01ED-F2124D429664}"/>
              </a:ext>
            </a:extLst>
          </p:cNvPr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 err="1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데이터셋</a:t>
            </a:r>
            <a:r>
              <a:rPr 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  <a:r>
              <a:rPr lang="en-US" sz="2250" b="1" dirty="0" err="1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소개</a:t>
            </a:r>
            <a:r>
              <a:rPr 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및 </a:t>
            </a:r>
            <a:r>
              <a:rPr lang="en-US" sz="2250" b="1" dirty="0" err="1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변수</a:t>
            </a:r>
            <a:r>
              <a:rPr 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  <a:r>
              <a:rPr lang="en-US" sz="2250" b="1" dirty="0" err="1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설명</a:t>
            </a:r>
            <a:r>
              <a:rPr 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: Seoul</a:t>
            </a:r>
            <a:endParaRPr lang="en-US" sz="2250" dirty="0"/>
          </a:p>
        </p:txBody>
      </p:sp>
      <p:sp>
        <p:nvSpPr>
          <p:cNvPr id="29" name="Text 1">
            <a:extLst>
              <a:ext uri="{FF2B5EF4-FFF2-40B4-BE49-F238E27FC236}">
                <a16:creationId xmlns:a16="http://schemas.microsoft.com/office/drawing/2014/main" id="{2E892876-9111-DF0D-1F24-D52A9CEDE88E}"/>
              </a:ext>
            </a:extLst>
          </p:cNvPr>
          <p:cNvSpPr/>
          <p:nvPr/>
        </p:nvSpPr>
        <p:spPr>
          <a:xfrm>
            <a:off x="876300" y="1257300"/>
            <a:ext cx="63397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ko-KR" alt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서울시 </a:t>
            </a:r>
            <a:r>
              <a:rPr lang="ko-KR" altLang="en-US" sz="1500" b="1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따릉이</a:t>
            </a:r>
            <a:r>
              <a:rPr lang="ko-KR" alt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 데이터</a:t>
            </a:r>
            <a:endParaRPr lang="en-US" altLang="ko-KR" sz="1500" dirty="0"/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FDE03BC9-F5ED-F7FA-9510-F724B1ACE97C}"/>
              </a:ext>
            </a:extLst>
          </p:cNvPr>
          <p:cNvSpPr/>
          <p:nvPr/>
        </p:nvSpPr>
        <p:spPr>
          <a:xfrm>
            <a:off x="571500" y="1638300"/>
            <a:ext cx="633978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서울시 </a:t>
            </a:r>
            <a:r>
              <a:rPr lang="ko-KR" alt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따릉이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공유 자전거 대여 시스템에서 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2020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년 부터 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년 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까지의 </a:t>
            </a:r>
            <a:r>
              <a:rPr lang="ko-KR" alt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대여량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정보</a:t>
            </a:r>
            <a:endParaRPr lang="en-US" altLang="ko-KR" sz="1050" dirty="0"/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857257EB-710A-1D5B-0ADE-9662377918E7}"/>
              </a:ext>
            </a:extLst>
          </p:cNvPr>
          <p:cNvSpPr/>
          <p:nvPr/>
        </p:nvSpPr>
        <p:spPr>
          <a:xfrm>
            <a:off x="571500" y="2171700"/>
            <a:ext cx="9931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변수명</a:t>
            </a:r>
            <a:endParaRPr lang="en-US" sz="1200" dirty="0"/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E2409ED9-47B6-33A5-ACA0-ACFCAF1E43E8}"/>
              </a:ext>
            </a:extLst>
          </p:cNvPr>
          <p:cNvSpPr/>
          <p:nvPr/>
        </p:nvSpPr>
        <p:spPr>
          <a:xfrm>
            <a:off x="1640830" y="2171700"/>
            <a:ext cx="9931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타입</a:t>
            </a:r>
            <a:endParaRPr lang="en-US" sz="1200" dirty="0"/>
          </a:p>
        </p:txBody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E2C99106-6FA0-79C6-5103-18357A330EAA}"/>
              </a:ext>
            </a:extLst>
          </p:cNvPr>
          <p:cNvSpPr/>
          <p:nvPr/>
        </p:nvSpPr>
        <p:spPr>
          <a:xfrm>
            <a:off x="2710160" y="2171700"/>
            <a:ext cx="20624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설명</a:t>
            </a:r>
            <a:endParaRPr lang="en-US" sz="1200" dirty="0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51A22A59-EE46-8978-C7DC-0AAECF2EEA3E}"/>
              </a:ext>
            </a:extLst>
          </p:cNvPr>
          <p:cNvSpPr/>
          <p:nvPr/>
        </p:nvSpPr>
        <p:spPr>
          <a:xfrm>
            <a:off x="4848820" y="2171700"/>
            <a:ext cx="20624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</a:t>
            </a:r>
            <a:endParaRPr lang="en-US" sz="1200" dirty="0"/>
          </a:p>
        </p:txBody>
      </p:sp>
      <p:sp>
        <p:nvSpPr>
          <p:cNvPr id="35" name="Text 7">
            <a:extLst>
              <a:ext uri="{FF2B5EF4-FFF2-40B4-BE49-F238E27FC236}">
                <a16:creationId xmlns:a16="http://schemas.microsoft.com/office/drawing/2014/main" id="{C23D74B5-EBB2-6B9B-4293-5466D0486BE5}"/>
              </a:ext>
            </a:extLst>
          </p:cNvPr>
          <p:cNvSpPr/>
          <p:nvPr/>
        </p:nvSpPr>
        <p:spPr>
          <a:xfrm>
            <a:off x="571500" y="2628900"/>
            <a:ext cx="119175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err="1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</a:rPr>
              <a:t>Rental_date</a:t>
            </a:r>
            <a:endParaRPr lang="en-US" sz="1050" dirty="0"/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358D927F-1F65-370E-C5E0-FA5B9748F798}"/>
              </a:ext>
            </a:extLst>
          </p:cNvPr>
          <p:cNvSpPr/>
          <p:nvPr/>
        </p:nvSpPr>
        <p:spPr>
          <a:xfrm>
            <a:off x="1640830" y="2628900"/>
            <a:ext cx="9931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Date</a:t>
            </a:r>
            <a:endParaRPr lang="en-US" sz="1050" dirty="0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7692E6A0-FBB2-3422-A548-4D19EABDED90}"/>
              </a:ext>
            </a:extLst>
          </p:cNvPr>
          <p:cNvSpPr/>
          <p:nvPr/>
        </p:nvSpPr>
        <p:spPr>
          <a:xfrm>
            <a:off x="2710160" y="2628900"/>
            <a:ext cx="2062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자전거가 대여된 날짜	</a:t>
            </a:r>
            <a:endParaRPr lang="en-US" sz="1050" dirty="0"/>
          </a:p>
        </p:txBody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9FA396AA-F337-D371-CA39-704109F398BA}"/>
              </a:ext>
            </a:extLst>
          </p:cNvPr>
          <p:cNvSpPr/>
          <p:nvPr/>
        </p:nvSpPr>
        <p:spPr>
          <a:xfrm>
            <a:off x="4848820" y="2628900"/>
            <a:ext cx="2062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endParaRPr lang="en-US" sz="1050" dirty="0"/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54D531CE-AD6C-F768-17E2-77C030D29143}"/>
              </a:ext>
            </a:extLst>
          </p:cNvPr>
          <p:cNvSpPr/>
          <p:nvPr/>
        </p:nvSpPr>
        <p:spPr>
          <a:xfrm>
            <a:off x="571500" y="2971800"/>
            <a:ext cx="9931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err="1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Rental_hour</a:t>
            </a:r>
            <a:endParaRPr lang="en-US" sz="1050" dirty="0"/>
          </a:p>
        </p:txBody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79EE7524-414E-853C-D0FD-182DEDD51F8A}"/>
              </a:ext>
            </a:extLst>
          </p:cNvPr>
          <p:cNvSpPr/>
          <p:nvPr/>
        </p:nvSpPr>
        <p:spPr>
          <a:xfrm>
            <a:off x="1640830" y="2971800"/>
            <a:ext cx="9931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</a:t>
            </a:r>
            <a:endParaRPr lang="en-US" sz="1050" dirty="0"/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BCE69026-182B-5ACB-CD10-610D839D3F3C}"/>
              </a:ext>
            </a:extLst>
          </p:cNvPr>
          <p:cNvSpPr/>
          <p:nvPr/>
        </p:nvSpPr>
        <p:spPr>
          <a:xfrm>
            <a:off x="2710160" y="2971800"/>
            <a:ext cx="2062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대여한 시간</a:t>
            </a:r>
            <a:r>
              <a:rPr lang="en-US" altLang="ko-KR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ko-KR" alt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 단위</a:t>
            </a:r>
            <a:r>
              <a:rPr lang="en-US" altLang="ko-KR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	</a:t>
            </a:r>
            <a:endParaRPr lang="en-US" sz="1050" dirty="0"/>
          </a:p>
        </p:txBody>
      </p:sp>
      <p:sp>
        <p:nvSpPr>
          <p:cNvPr id="42" name="Text 14">
            <a:extLst>
              <a:ext uri="{FF2B5EF4-FFF2-40B4-BE49-F238E27FC236}">
                <a16:creationId xmlns:a16="http://schemas.microsoft.com/office/drawing/2014/main" id="{76E89128-CB61-4D20-D6D1-97578F0A3957}"/>
              </a:ext>
            </a:extLst>
          </p:cNvPr>
          <p:cNvSpPr/>
          <p:nvPr/>
        </p:nvSpPr>
        <p:spPr>
          <a:xfrm>
            <a:off x="4848820" y="2971800"/>
            <a:ext cx="2062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endParaRPr lang="en-US" sz="1050" dirty="0"/>
          </a:p>
        </p:txBody>
      </p:sp>
      <p:sp>
        <p:nvSpPr>
          <p:cNvPr id="43" name="Text 15">
            <a:extLst>
              <a:ext uri="{FF2B5EF4-FFF2-40B4-BE49-F238E27FC236}">
                <a16:creationId xmlns:a16="http://schemas.microsoft.com/office/drawing/2014/main" id="{6D3A061B-7881-F978-B0D8-1401B2BA8987}"/>
              </a:ext>
            </a:extLst>
          </p:cNvPr>
          <p:cNvSpPr/>
          <p:nvPr/>
        </p:nvSpPr>
        <p:spPr>
          <a:xfrm>
            <a:off x="571500" y="3314700"/>
            <a:ext cx="9931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err="1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Station_id</a:t>
            </a:r>
            <a:endParaRPr lang="en-US" sz="1050" dirty="0"/>
          </a:p>
        </p:txBody>
      </p:sp>
      <p:sp>
        <p:nvSpPr>
          <p:cNvPr id="44" name="Text 16">
            <a:extLst>
              <a:ext uri="{FF2B5EF4-FFF2-40B4-BE49-F238E27FC236}">
                <a16:creationId xmlns:a16="http://schemas.microsoft.com/office/drawing/2014/main" id="{44FC5B96-D5CF-BCA2-8ED0-AC35852088C3}"/>
              </a:ext>
            </a:extLst>
          </p:cNvPr>
          <p:cNvSpPr/>
          <p:nvPr/>
        </p:nvSpPr>
        <p:spPr>
          <a:xfrm>
            <a:off x="1640830" y="3314700"/>
            <a:ext cx="119175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int</a:t>
            </a:r>
            <a:endParaRPr lang="en-US" sz="1050" dirty="0"/>
          </a:p>
        </p:txBody>
      </p:sp>
      <p:sp>
        <p:nvSpPr>
          <p:cNvPr id="45" name="Text 17">
            <a:extLst>
              <a:ext uri="{FF2B5EF4-FFF2-40B4-BE49-F238E27FC236}">
                <a16:creationId xmlns:a16="http://schemas.microsoft.com/office/drawing/2014/main" id="{DFD794FF-BCCB-19E3-9F78-C3CB4BE96971}"/>
              </a:ext>
            </a:extLst>
          </p:cNvPr>
          <p:cNvSpPr/>
          <p:nvPr/>
        </p:nvSpPr>
        <p:spPr>
          <a:xfrm>
            <a:off x="2710160" y="3314700"/>
            <a:ext cx="247495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대여소 고유 </a:t>
            </a:r>
            <a:r>
              <a:rPr lang="en-US" altLang="ko-KR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ID	</a:t>
            </a:r>
            <a:endParaRPr lang="en-US" sz="1050" dirty="0"/>
          </a:p>
        </p:txBody>
      </p:sp>
      <p:sp>
        <p:nvSpPr>
          <p:cNvPr id="46" name="Text 18">
            <a:extLst>
              <a:ext uri="{FF2B5EF4-FFF2-40B4-BE49-F238E27FC236}">
                <a16:creationId xmlns:a16="http://schemas.microsoft.com/office/drawing/2014/main" id="{164C169B-BE11-11AF-8D50-009C031F903D}"/>
              </a:ext>
            </a:extLst>
          </p:cNvPr>
          <p:cNvSpPr/>
          <p:nvPr/>
        </p:nvSpPr>
        <p:spPr>
          <a:xfrm>
            <a:off x="4848820" y="3314700"/>
            <a:ext cx="2062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endParaRPr lang="en-US" sz="1050" dirty="0"/>
          </a:p>
        </p:txBody>
      </p:sp>
      <p:sp>
        <p:nvSpPr>
          <p:cNvPr id="47" name="Text 19">
            <a:extLst>
              <a:ext uri="{FF2B5EF4-FFF2-40B4-BE49-F238E27FC236}">
                <a16:creationId xmlns:a16="http://schemas.microsoft.com/office/drawing/2014/main" id="{F41BFDBF-21C8-4DB8-FBAA-C8BD7C1FA4E1}"/>
              </a:ext>
            </a:extLst>
          </p:cNvPr>
          <p:cNvSpPr/>
          <p:nvPr/>
        </p:nvSpPr>
        <p:spPr>
          <a:xfrm>
            <a:off x="571500" y="3657600"/>
            <a:ext cx="9931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err="1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Station_name</a:t>
            </a:r>
            <a:endParaRPr lang="en-US" sz="1050" dirty="0"/>
          </a:p>
        </p:txBody>
      </p:sp>
      <p:sp>
        <p:nvSpPr>
          <p:cNvPr id="48" name="Text 20">
            <a:extLst>
              <a:ext uri="{FF2B5EF4-FFF2-40B4-BE49-F238E27FC236}">
                <a16:creationId xmlns:a16="http://schemas.microsoft.com/office/drawing/2014/main" id="{2CB34B08-3D77-91D0-2C6F-AAC239A47DD4}"/>
              </a:ext>
            </a:extLst>
          </p:cNvPr>
          <p:cNvSpPr/>
          <p:nvPr/>
        </p:nvSpPr>
        <p:spPr>
          <a:xfrm>
            <a:off x="1640830" y="3657600"/>
            <a:ext cx="119175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String</a:t>
            </a:r>
            <a:endParaRPr lang="en-US" sz="1050" dirty="0"/>
          </a:p>
        </p:txBody>
      </p:sp>
      <p:sp>
        <p:nvSpPr>
          <p:cNvPr id="49" name="Text 21">
            <a:extLst>
              <a:ext uri="{FF2B5EF4-FFF2-40B4-BE49-F238E27FC236}">
                <a16:creationId xmlns:a16="http://schemas.microsoft.com/office/drawing/2014/main" id="{940A6D31-D7BB-F803-58E5-7A016AB9893B}"/>
              </a:ext>
            </a:extLst>
          </p:cNvPr>
          <p:cNvSpPr/>
          <p:nvPr/>
        </p:nvSpPr>
        <p:spPr>
          <a:xfrm>
            <a:off x="2710160" y="3657600"/>
            <a:ext cx="247495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대여소 명칭</a:t>
            </a:r>
            <a:r>
              <a:rPr lang="en-US" altLang="ko-KR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ko-KR" altLang="en-US" sz="105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지점명</a:t>
            </a:r>
            <a:r>
              <a:rPr lang="en-US" altLang="ko-KR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	</a:t>
            </a:r>
            <a:endParaRPr lang="en-US" sz="1050" dirty="0"/>
          </a:p>
        </p:txBody>
      </p:sp>
      <p:sp>
        <p:nvSpPr>
          <p:cNvPr id="50" name="Text 22">
            <a:extLst>
              <a:ext uri="{FF2B5EF4-FFF2-40B4-BE49-F238E27FC236}">
                <a16:creationId xmlns:a16="http://schemas.microsoft.com/office/drawing/2014/main" id="{47E065DB-87A7-FCBB-CA6B-2FD60A7FE82D}"/>
              </a:ext>
            </a:extLst>
          </p:cNvPr>
          <p:cNvSpPr/>
          <p:nvPr/>
        </p:nvSpPr>
        <p:spPr>
          <a:xfrm>
            <a:off x="4848820" y="3657600"/>
            <a:ext cx="2062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endParaRPr lang="en-US" sz="1050" dirty="0"/>
          </a:p>
        </p:txBody>
      </p:sp>
      <p:sp>
        <p:nvSpPr>
          <p:cNvPr id="51" name="Text 23">
            <a:extLst>
              <a:ext uri="{FF2B5EF4-FFF2-40B4-BE49-F238E27FC236}">
                <a16:creationId xmlns:a16="http://schemas.microsoft.com/office/drawing/2014/main" id="{B3695586-C300-AEC2-39D2-DF180086A355}"/>
              </a:ext>
            </a:extLst>
          </p:cNvPr>
          <p:cNvSpPr/>
          <p:nvPr/>
        </p:nvSpPr>
        <p:spPr>
          <a:xfrm>
            <a:off x="571500" y="4000500"/>
            <a:ext cx="9931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err="1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</a:rPr>
              <a:t>Rental_type</a:t>
            </a:r>
            <a:endParaRPr lang="en-US" sz="1050" dirty="0"/>
          </a:p>
        </p:txBody>
      </p:sp>
      <p:sp>
        <p:nvSpPr>
          <p:cNvPr id="52" name="Text 24">
            <a:extLst>
              <a:ext uri="{FF2B5EF4-FFF2-40B4-BE49-F238E27FC236}">
                <a16:creationId xmlns:a16="http://schemas.microsoft.com/office/drawing/2014/main" id="{E43B6A3B-F649-894C-D47B-DAE2EBB8C86F}"/>
              </a:ext>
            </a:extLst>
          </p:cNvPr>
          <p:cNvSpPr/>
          <p:nvPr/>
        </p:nvSpPr>
        <p:spPr>
          <a:xfrm>
            <a:off x="1640830" y="4000500"/>
            <a:ext cx="119175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String</a:t>
            </a:r>
            <a:endParaRPr lang="en-US" sz="1050" dirty="0"/>
          </a:p>
        </p:txBody>
      </p:sp>
      <p:sp>
        <p:nvSpPr>
          <p:cNvPr id="53" name="Text 25">
            <a:extLst>
              <a:ext uri="{FF2B5EF4-FFF2-40B4-BE49-F238E27FC236}">
                <a16:creationId xmlns:a16="http://schemas.microsoft.com/office/drawing/2014/main" id="{119E6E44-A9D2-56D1-9B33-48968521FCF0}"/>
              </a:ext>
            </a:extLst>
          </p:cNvPr>
          <p:cNvSpPr/>
          <p:nvPr/>
        </p:nvSpPr>
        <p:spPr>
          <a:xfrm>
            <a:off x="2710160" y="4000500"/>
            <a:ext cx="2062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대여권</a:t>
            </a:r>
            <a:r>
              <a:rPr lang="ko-KR" alt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종류	</a:t>
            </a:r>
            <a:endParaRPr lang="en-US" sz="1050" dirty="0"/>
          </a:p>
        </p:txBody>
      </p:sp>
      <p:sp>
        <p:nvSpPr>
          <p:cNvPr id="54" name="Text 26">
            <a:extLst>
              <a:ext uri="{FF2B5EF4-FFF2-40B4-BE49-F238E27FC236}">
                <a16:creationId xmlns:a16="http://schemas.microsoft.com/office/drawing/2014/main" id="{39AE943E-20B3-AA8E-1ED3-78D2C1B81FAE}"/>
              </a:ext>
            </a:extLst>
          </p:cNvPr>
          <p:cNvSpPr/>
          <p:nvPr/>
        </p:nvSpPr>
        <p:spPr>
          <a:xfrm>
            <a:off x="4848820" y="4000500"/>
            <a:ext cx="2062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endParaRPr lang="en-US" sz="1050" dirty="0"/>
          </a:p>
        </p:txBody>
      </p:sp>
      <p:sp>
        <p:nvSpPr>
          <p:cNvPr id="55" name="Text 27">
            <a:extLst>
              <a:ext uri="{FF2B5EF4-FFF2-40B4-BE49-F238E27FC236}">
                <a16:creationId xmlns:a16="http://schemas.microsoft.com/office/drawing/2014/main" id="{9D7A8189-9FF6-7320-199B-DE566C7D5352}"/>
              </a:ext>
            </a:extLst>
          </p:cNvPr>
          <p:cNvSpPr/>
          <p:nvPr/>
        </p:nvSpPr>
        <p:spPr>
          <a:xfrm>
            <a:off x="571500" y="4343400"/>
            <a:ext cx="9931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</a:rPr>
              <a:t>gender</a:t>
            </a:r>
            <a:endParaRPr lang="en-US" sz="1050" dirty="0"/>
          </a:p>
        </p:txBody>
      </p:sp>
      <p:sp>
        <p:nvSpPr>
          <p:cNvPr id="56" name="Text 28">
            <a:extLst>
              <a:ext uri="{FF2B5EF4-FFF2-40B4-BE49-F238E27FC236}">
                <a16:creationId xmlns:a16="http://schemas.microsoft.com/office/drawing/2014/main" id="{C50E4F12-75E9-6D81-FF6D-BD889B37046F}"/>
              </a:ext>
            </a:extLst>
          </p:cNvPr>
          <p:cNvSpPr/>
          <p:nvPr/>
        </p:nvSpPr>
        <p:spPr>
          <a:xfrm>
            <a:off x="1640830" y="4343400"/>
            <a:ext cx="119175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String</a:t>
            </a:r>
            <a:endParaRPr lang="en-US" sz="1050" dirty="0"/>
          </a:p>
        </p:txBody>
      </p:sp>
      <p:sp>
        <p:nvSpPr>
          <p:cNvPr id="57" name="Text 29">
            <a:extLst>
              <a:ext uri="{FF2B5EF4-FFF2-40B4-BE49-F238E27FC236}">
                <a16:creationId xmlns:a16="http://schemas.microsoft.com/office/drawing/2014/main" id="{3FB83F63-063B-8023-9D0F-7B60DA5EE15B}"/>
              </a:ext>
            </a:extLst>
          </p:cNvPr>
          <p:cNvSpPr/>
          <p:nvPr/>
        </p:nvSpPr>
        <p:spPr>
          <a:xfrm>
            <a:off x="2710160" y="4343400"/>
            <a:ext cx="2062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이용자 성별	</a:t>
            </a:r>
            <a:endParaRPr lang="en-US" sz="1050" dirty="0"/>
          </a:p>
        </p:txBody>
      </p:sp>
      <p:sp>
        <p:nvSpPr>
          <p:cNvPr id="58" name="Text 30">
            <a:extLst>
              <a:ext uri="{FF2B5EF4-FFF2-40B4-BE49-F238E27FC236}">
                <a16:creationId xmlns:a16="http://schemas.microsoft.com/office/drawing/2014/main" id="{6BB98FE7-852E-F9EF-C182-7B1CF1A16379}"/>
              </a:ext>
            </a:extLst>
          </p:cNvPr>
          <p:cNvSpPr/>
          <p:nvPr/>
        </p:nvSpPr>
        <p:spPr>
          <a:xfrm>
            <a:off x="4848820" y="4343400"/>
            <a:ext cx="2062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endParaRPr lang="en-US" sz="1050" dirty="0"/>
          </a:p>
        </p:txBody>
      </p:sp>
      <p:sp>
        <p:nvSpPr>
          <p:cNvPr id="59" name="Text 31">
            <a:extLst>
              <a:ext uri="{FF2B5EF4-FFF2-40B4-BE49-F238E27FC236}">
                <a16:creationId xmlns:a16="http://schemas.microsoft.com/office/drawing/2014/main" id="{5F44F88E-E45F-D5BA-7A3A-D3CA45B528A3}"/>
              </a:ext>
            </a:extLst>
          </p:cNvPr>
          <p:cNvSpPr/>
          <p:nvPr/>
        </p:nvSpPr>
        <p:spPr>
          <a:xfrm>
            <a:off x="571500" y="4686300"/>
            <a:ext cx="119175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err="1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Age_group</a:t>
            </a:r>
            <a:endParaRPr lang="en-US" sz="1050" dirty="0"/>
          </a:p>
        </p:txBody>
      </p:sp>
      <p:sp>
        <p:nvSpPr>
          <p:cNvPr id="60" name="Text 32">
            <a:extLst>
              <a:ext uri="{FF2B5EF4-FFF2-40B4-BE49-F238E27FC236}">
                <a16:creationId xmlns:a16="http://schemas.microsoft.com/office/drawing/2014/main" id="{3477D35D-C30F-014A-8F6A-DD3C9CD31361}"/>
              </a:ext>
            </a:extLst>
          </p:cNvPr>
          <p:cNvSpPr/>
          <p:nvPr/>
        </p:nvSpPr>
        <p:spPr>
          <a:xfrm>
            <a:off x="1640830" y="4686300"/>
            <a:ext cx="9931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String</a:t>
            </a:r>
            <a:endParaRPr lang="en-US" sz="1050" dirty="0"/>
          </a:p>
        </p:txBody>
      </p:sp>
      <p:sp>
        <p:nvSpPr>
          <p:cNvPr id="61" name="Text 33">
            <a:extLst>
              <a:ext uri="{FF2B5EF4-FFF2-40B4-BE49-F238E27FC236}">
                <a16:creationId xmlns:a16="http://schemas.microsoft.com/office/drawing/2014/main" id="{56AE29CB-2971-CBBC-8306-D4A3C4AAF7F7}"/>
              </a:ext>
            </a:extLst>
          </p:cNvPr>
          <p:cNvSpPr/>
          <p:nvPr/>
        </p:nvSpPr>
        <p:spPr>
          <a:xfrm>
            <a:off x="2710160" y="4686300"/>
            <a:ext cx="247495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이용자 연령대	</a:t>
            </a:r>
            <a:endParaRPr lang="en-US" sz="1050" dirty="0"/>
          </a:p>
        </p:txBody>
      </p:sp>
      <p:sp>
        <p:nvSpPr>
          <p:cNvPr id="62" name="Text 34">
            <a:extLst>
              <a:ext uri="{FF2B5EF4-FFF2-40B4-BE49-F238E27FC236}">
                <a16:creationId xmlns:a16="http://schemas.microsoft.com/office/drawing/2014/main" id="{3221EB6E-F6AA-7C42-C9D8-BC0C16BBEABE}"/>
              </a:ext>
            </a:extLst>
          </p:cNvPr>
          <p:cNvSpPr/>
          <p:nvPr/>
        </p:nvSpPr>
        <p:spPr>
          <a:xfrm>
            <a:off x="4848820" y="4686300"/>
            <a:ext cx="2062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endParaRPr lang="en-US" sz="1050" dirty="0"/>
          </a:p>
        </p:txBody>
      </p:sp>
      <p:sp>
        <p:nvSpPr>
          <p:cNvPr id="63" name="Text 35">
            <a:extLst>
              <a:ext uri="{FF2B5EF4-FFF2-40B4-BE49-F238E27FC236}">
                <a16:creationId xmlns:a16="http://schemas.microsoft.com/office/drawing/2014/main" id="{D83C6537-E262-D756-1B42-9966AE65365C}"/>
              </a:ext>
            </a:extLst>
          </p:cNvPr>
          <p:cNvSpPr/>
          <p:nvPr/>
        </p:nvSpPr>
        <p:spPr>
          <a:xfrm>
            <a:off x="571500" y="5029200"/>
            <a:ext cx="119175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count</a:t>
            </a:r>
            <a:endParaRPr lang="en-US" sz="1050" dirty="0"/>
          </a:p>
        </p:txBody>
      </p:sp>
      <p:sp>
        <p:nvSpPr>
          <p:cNvPr id="64" name="Text 36">
            <a:extLst>
              <a:ext uri="{FF2B5EF4-FFF2-40B4-BE49-F238E27FC236}">
                <a16:creationId xmlns:a16="http://schemas.microsoft.com/office/drawing/2014/main" id="{F4EE6539-63A1-8B5F-EB64-A40E3EF6B4AA}"/>
              </a:ext>
            </a:extLst>
          </p:cNvPr>
          <p:cNvSpPr/>
          <p:nvPr/>
        </p:nvSpPr>
        <p:spPr>
          <a:xfrm>
            <a:off x="1640830" y="5029200"/>
            <a:ext cx="119175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</a:t>
            </a:r>
            <a:endParaRPr lang="en-US" sz="1050" dirty="0"/>
          </a:p>
        </p:txBody>
      </p:sp>
      <p:sp>
        <p:nvSpPr>
          <p:cNvPr id="65" name="Text 37">
            <a:extLst>
              <a:ext uri="{FF2B5EF4-FFF2-40B4-BE49-F238E27FC236}">
                <a16:creationId xmlns:a16="http://schemas.microsoft.com/office/drawing/2014/main" id="{37B86B74-91BC-DD2C-BFD7-12076772D168}"/>
              </a:ext>
            </a:extLst>
          </p:cNvPr>
          <p:cNvSpPr/>
          <p:nvPr/>
        </p:nvSpPr>
        <p:spPr>
          <a:xfrm>
            <a:off x="2710160" y="5029200"/>
            <a:ext cx="2062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</a:t>
            </a:r>
            <a:r>
              <a:rPr lang="en-US" altLang="ko-KR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</a:t>
            </a:r>
            <a:r>
              <a:rPr lang="ko-KR" alt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대여소의 총 이용건수	</a:t>
            </a:r>
            <a:endParaRPr lang="en-US" sz="1050" dirty="0"/>
          </a:p>
        </p:txBody>
      </p:sp>
      <p:sp>
        <p:nvSpPr>
          <p:cNvPr id="66" name="Text 38">
            <a:extLst>
              <a:ext uri="{FF2B5EF4-FFF2-40B4-BE49-F238E27FC236}">
                <a16:creationId xmlns:a16="http://schemas.microsoft.com/office/drawing/2014/main" id="{52279EAC-5703-6FAE-B44B-F1157A3011B4}"/>
              </a:ext>
            </a:extLst>
          </p:cNvPr>
          <p:cNvSpPr/>
          <p:nvPr/>
        </p:nvSpPr>
        <p:spPr>
          <a:xfrm>
            <a:off x="4848820" y="5029200"/>
            <a:ext cx="2062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endParaRPr lang="en-US" sz="1050" dirty="0"/>
          </a:p>
        </p:txBody>
      </p:sp>
      <p:sp>
        <p:nvSpPr>
          <p:cNvPr id="67" name="Text 39">
            <a:extLst>
              <a:ext uri="{FF2B5EF4-FFF2-40B4-BE49-F238E27FC236}">
                <a16:creationId xmlns:a16="http://schemas.microsoft.com/office/drawing/2014/main" id="{F2514C12-4B3F-C1DD-E3BC-81101878ED80}"/>
              </a:ext>
            </a:extLst>
          </p:cNvPr>
          <p:cNvSpPr/>
          <p:nvPr/>
        </p:nvSpPr>
        <p:spPr>
          <a:xfrm>
            <a:off x="571500" y="5372100"/>
            <a:ext cx="119175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calories</a:t>
            </a:r>
            <a:endParaRPr lang="en-US" sz="1050" dirty="0"/>
          </a:p>
        </p:txBody>
      </p:sp>
      <p:sp>
        <p:nvSpPr>
          <p:cNvPr id="68" name="Text 40">
            <a:extLst>
              <a:ext uri="{FF2B5EF4-FFF2-40B4-BE49-F238E27FC236}">
                <a16:creationId xmlns:a16="http://schemas.microsoft.com/office/drawing/2014/main" id="{ACFD9E03-E4B6-F8D3-5F14-86668302983D}"/>
              </a:ext>
            </a:extLst>
          </p:cNvPr>
          <p:cNvSpPr/>
          <p:nvPr/>
        </p:nvSpPr>
        <p:spPr>
          <a:xfrm>
            <a:off x="1640830" y="5372100"/>
            <a:ext cx="9931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float</a:t>
            </a:r>
            <a:endParaRPr lang="en-US" sz="1050" dirty="0"/>
          </a:p>
        </p:txBody>
      </p:sp>
      <p:sp>
        <p:nvSpPr>
          <p:cNvPr id="69" name="Text 41">
            <a:extLst>
              <a:ext uri="{FF2B5EF4-FFF2-40B4-BE49-F238E27FC236}">
                <a16:creationId xmlns:a16="http://schemas.microsoft.com/office/drawing/2014/main" id="{39CE0F54-8C9F-A08C-0635-DC83868697FF}"/>
              </a:ext>
            </a:extLst>
          </p:cNvPr>
          <p:cNvSpPr/>
          <p:nvPr/>
        </p:nvSpPr>
        <p:spPr>
          <a:xfrm>
            <a:off x="2710160" y="5372100"/>
            <a:ext cx="247495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자전거 이용 시 소모된 칼로리	</a:t>
            </a:r>
            <a:endParaRPr lang="en-US" sz="1050" dirty="0"/>
          </a:p>
        </p:txBody>
      </p:sp>
      <p:sp>
        <p:nvSpPr>
          <p:cNvPr id="70" name="Text 42">
            <a:extLst>
              <a:ext uri="{FF2B5EF4-FFF2-40B4-BE49-F238E27FC236}">
                <a16:creationId xmlns:a16="http://schemas.microsoft.com/office/drawing/2014/main" id="{8437B5E8-7C7D-736C-775F-57775371863C}"/>
              </a:ext>
            </a:extLst>
          </p:cNvPr>
          <p:cNvSpPr/>
          <p:nvPr/>
        </p:nvSpPr>
        <p:spPr>
          <a:xfrm>
            <a:off x="4848820" y="5372100"/>
            <a:ext cx="2062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endParaRPr lang="en-US" sz="1050" dirty="0"/>
          </a:p>
        </p:txBody>
      </p:sp>
      <p:sp>
        <p:nvSpPr>
          <p:cNvPr id="71" name="Text 43">
            <a:extLst>
              <a:ext uri="{FF2B5EF4-FFF2-40B4-BE49-F238E27FC236}">
                <a16:creationId xmlns:a16="http://schemas.microsoft.com/office/drawing/2014/main" id="{2EE078A3-20D9-C240-A5C1-B918861A3CE5}"/>
              </a:ext>
            </a:extLst>
          </p:cNvPr>
          <p:cNvSpPr/>
          <p:nvPr/>
        </p:nvSpPr>
        <p:spPr>
          <a:xfrm>
            <a:off x="571500" y="5715000"/>
            <a:ext cx="1191756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Carbon_</a:t>
            </a:r>
            <a:br>
              <a:rPr lang="en-US" sz="1050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1050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reduction</a:t>
            </a:r>
            <a:endParaRPr lang="en-US" sz="1050" dirty="0"/>
          </a:p>
        </p:txBody>
      </p:sp>
      <p:sp>
        <p:nvSpPr>
          <p:cNvPr id="72" name="Text 44">
            <a:extLst>
              <a:ext uri="{FF2B5EF4-FFF2-40B4-BE49-F238E27FC236}">
                <a16:creationId xmlns:a16="http://schemas.microsoft.com/office/drawing/2014/main" id="{DEC5EB4F-31C1-9C16-D051-CB563999383B}"/>
              </a:ext>
            </a:extLst>
          </p:cNvPr>
          <p:cNvSpPr/>
          <p:nvPr/>
        </p:nvSpPr>
        <p:spPr>
          <a:xfrm>
            <a:off x="1640830" y="5715000"/>
            <a:ext cx="1191756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flaot</a:t>
            </a:r>
            <a:endParaRPr lang="en-US" sz="1050" dirty="0"/>
          </a:p>
        </p:txBody>
      </p:sp>
      <p:sp>
        <p:nvSpPr>
          <p:cNvPr id="73" name="Text 45">
            <a:extLst>
              <a:ext uri="{FF2B5EF4-FFF2-40B4-BE49-F238E27FC236}">
                <a16:creationId xmlns:a16="http://schemas.microsoft.com/office/drawing/2014/main" id="{3DB97015-D5A3-3FC1-0C65-C66F7609694E}"/>
              </a:ext>
            </a:extLst>
          </p:cNvPr>
          <p:cNvSpPr/>
          <p:nvPr/>
        </p:nvSpPr>
        <p:spPr>
          <a:xfrm>
            <a:off x="2710160" y="5715000"/>
            <a:ext cx="20624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차량대비 절감된 </a:t>
            </a:r>
            <a:r>
              <a:rPr lang="ko-KR" altLang="en-US" sz="105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탄소량</a:t>
            </a:r>
            <a:r>
              <a:rPr lang="ko-KR" alt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	</a:t>
            </a:r>
            <a:endParaRPr lang="en-US" sz="1050" dirty="0"/>
          </a:p>
        </p:txBody>
      </p:sp>
      <p:sp>
        <p:nvSpPr>
          <p:cNvPr id="74" name="Text 46">
            <a:extLst>
              <a:ext uri="{FF2B5EF4-FFF2-40B4-BE49-F238E27FC236}">
                <a16:creationId xmlns:a16="http://schemas.microsoft.com/office/drawing/2014/main" id="{C7192C5F-26B2-603A-5F94-F1EF4F844EF2}"/>
              </a:ext>
            </a:extLst>
          </p:cNvPr>
          <p:cNvSpPr/>
          <p:nvPr/>
        </p:nvSpPr>
        <p:spPr>
          <a:xfrm>
            <a:off x="4848820" y="5715000"/>
            <a:ext cx="20624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endParaRPr lang="en-US" sz="1050" dirty="0"/>
          </a:p>
        </p:txBody>
      </p:sp>
      <p:sp>
        <p:nvSpPr>
          <p:cNvPr id="78" name="Text 50">
            <a:extLst>
              <a:ext uri="{FF2B5EF4-FFF2-40B4-BE49-F238E27FC236}">
                <a16:creationId xmlns:a16="http://schemas.microsoft.com/office/drawing/2014/main" id="{F390B771-0CA1-0411-6D49-8DB69552634F}"/>
              </a:ext>
            </a:extLst>
          </p:cNvPr>
          <p:cNvSpPr/>
          <p:nvPr/>
        </p:nvSpPr>
        <p:spPr>
          <a:xfrm>
            <a:off x="4848820" y="6248400"/>
            <a:ext cx="2062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endParaRPr lang="en-US" sz="1050" dirty="0"/>
          </a:p>
        </p:txBody>
      </p:sp>
      <p:sp>
        <p:nvSpPr>
          <p:cNvPr id="91" name="Text 63">
            <a:extLst>
              <a:ext uri="{FF2B5EF4-FFF2-40B4-BE49-F238E27FC236}">
                <a16:creationId xmlns:a16="http://schemas.microsoft.com/office/drawing/2014/main" id="{076C6536-8482-3776-F529-3B22B890C3C2}"/>
              </a:ext>
            </a:extLst>
          </p:cNvPr>
          <p:cNvSpPr/>
          <p:nvPr/>
        </p:nvSpPr>
        <p:spPr>
          <a:xfrm>
            <a:off x="7778055" y="1257300"/>
            <a:ext cx="40996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ko-KR" alt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보너스 데이터</a:t>
            </a:r>
            <a:endParaRPr lang="en-US" altLang="ko-KR" sz="1500" dirty="0"/>
          </a:p>
        </p:txBody>
      </p:sp>
      <p:sp>
        <p:nvSpPr>
          <p:cNvPr id="101" name="Text 73">
            <a:extLst>
              <a:ext uri="{FF2B5EF4-FFF2-40B4-BE49-F238E27FC236}">
                <a16:creationId xmlns:a16="http://schemas.microsoft.com/office/drawing/2014/main" id="{EDFB2B0F-7C99-375F-8B69-3344BFAA7AF9}"/>
              </a:ext>
            </a:extLst>
          </p:cNvPr>
          <p:cNvSpPr/>
          <p:nvPr/>
        </p:nvSpPr>
        <p:spPr>
          <a:xfrm>
            <a:off x="11296650" y="6515100"/>
            <a:ext cx="971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Page 5/23</a:t>
            </a:r>
            <a:endParaRPr lang="en-US" sz="1050" dirty="0"/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701137EC-64EC-6F69-84E3-E75621FA9C1A}"/>
              </a:ext>
            </a:extLst>
          </p:cNvPr>
          <p:cNvSpPr/>
          <p:nvPr/>
        </p:nvSpPr>
        <p:spPr>
          <a:xfrm>
            <a:off x="3486150" y="6353175"/>
            <a:ext cx="55810" cy="5715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E59EC128-F633-E398-7C3B-8E9D87F57161}"/>
              </a:ext>
            </a:extLst>
          </p:cNvPr>
          <p:cNvSpPr/>
          <p:nvPr/>
        </p:nvSpPr>
        <p:spPr>
          <a:xfrm>
            <a:off x="3486150" y="6648450"/>
            <a:ext cx="55810" cy="5715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15918F39-B5B2-40FC-345D-6FC18221D46A}"/>
              </a:ext>
            </a:extLst>
          </p:cNvPr>
          <p:cNvSpPr/>
          <p:nvPr/>
        </p:nvSpPr>
        <p:spPr>
          <a:xfrm>
            <a:off x="3486150" y="6496050"/>
            <a:ext cx="55810" cy="5715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Image 14" descr="preencoded.png">
            <a:extLst>
              <a:ext uri="{FF2B5EF4-FFF2-40B4-BE49-F238E27FC236}">
                <a16:creationId xmlns:a16="http://schemas.microsoft.com/office/drawing/2014/main" id="{2099F7CC-74CD-94D4-A57F-0E28842100D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20880" y="1638300"/>
            <a:ext cx="4099620" cy="1181100"/>
          </a:xfrm>
          <a:prstGeom prst="rect">
            <a:avLst/>
          </a:prstGeom>
        </p:spPr>
      </p:pic>
      <p:pic>
        <p:nvPicPr>
          <p:cNvPr id="13" name="Image 15" descr="preencoded.png">
            <a:extLst>
              <a:ext uri="{FF2B5EF4-FFF2-40B4-BE49-F238E27FC236}">
                <a16:creationId xmlns:a16="http://schemas.microsoft.com/office/drawing/2014/main" id="{B06C7C5C-7F55-E2F0-AFB9-849F2D3D9B1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35180" y="1790700"/>
            <a:ext cx="152400" cy="152400"/>
          </a:xfrm>
          <a:prstGeom prst="rect">
            <a:avLst/>
          </a:prstGeom>
        </p:spPr>
      </p:pic>
      <p:pic>
        <p:nvPicPr>
          <p:cNvPr id="75" name="Image 16" descr="preencoded.png">
            <a:extLst>
              <a:ext uri="{FF2B5EF4-FFF2-40B4-BE49-F238E27FC236}">
                <a16:creationId xmlns:a16="http://schemas.microsoft.com/office/drawing/2014/main" id="{1B6F6AE1-58CB-C878-5156-50A42DD6450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35180" y="2095500"/>
            <a:ext cx="66675" cy="133350"/>
          </a:xfrm>
          <a:prstGeom prst="rect">
            <a:avLst/>
          </a:prstGeom>
        </p:spPr>
      </p:pic>
      <p:pic>
        <p:nvPicPr>
          <p:cNvPr id="76" name="Image 17" descr="preencoded.png">
            <a:extLst>
              <a:ext uri="{FF2B5EF4-FFF2-40B4-BE49-F238E27FC236}">
                <a16:creationId xmlns:a16="http://schemas.microsoft.com/office/drawing/2014/main" id="{349F6BE6-B670-0A1B-9451-A10A2395F8A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35180" y="2552700"/>
            <a:ext cx="66675" cy="133350"/>
          </a:xfrm>
          <a:prstGeom prst="rect">
            <a:avLst/>
          </a:prstGeom>
        </p:spPr>
      </p:pic>
      <p:pic>
        <p:nvPicPr>
          <p:cNvPr id="77" name="Image 19" descr="preencoded.png">
            <a:extLst>
              <a:ext uri="{FF2B5EF4-FFF2-40B4-BE49-F238E27FC236}">
                <a16:creationId xmlns:a16="http://schemas.microsoft.com/office/drawing/2014/main" id="{818C21AF-659C-CF91-2185-3E511B4905B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92880" y="4533900"/>
            <a:ext cx="4099620" cy="1524000"/>
          </a:xfrm>
          <a:prstGeom prst="rect">
            <a:avLst/>
          </a:prstGeom>
        </p:spPr>
      </p:pic>
      <p:pic>
        <p:nvPicPr>
          <p:cNvPr id="79" name="Image 20" descr="preencoded.png">
            <a:extLst>
              <a:ext uri="{FF2B5EF4-FFF2-40B4-BE49-F238E27FC236}">
                <a16:creationId xmlns:a16="http://schemas.microsoft.com/office/drawing/2014/main" id="{C05D403A-00E2-A582-67D3-D7BCDDFB1DF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07180" y="4686300"/>
            <a:ext cx="114300" cy="152400"/>
          </a:xfrm>
          <a:prstGeom prst="rect">
            <a:avLst/>
          </a:prstGeom>
        </p:spPr>
      </p:pic>
      <p:pic>
        <p:nvPicPr>
          <p:cNvPr id="80" name="Image 21" descr="preencoded.png">
            <a:extLst>
              <a:ext uri="{FF2B5EF4-FFF2-40B4-BE49-F238E27FC236}">
                <a16:creationId xmlns:a16="http://schemas.microsoft.com/office/drawing/2014/main" id="{22AF5251-4762-E23B-8FE0-D369C6335BC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07180" y="4991100"/>
            <a:ext cx="133350" cy="133350"/>
          </a:xfrm>
          <a:prstGeom prst="rect">
            <a:avLst/>
          </a:prstGeom>
        </p:spPr>
      </p:pic>
      <p:pic>
        <p:nvPicPr>
          <p:cNvPr id="81" name="Image 22" descr="preencoded.png">
            <a:extLst>
              <a:ext uri="{FF2B5EF4-FFF2-40B4-BE49-F238E27FC236}">
                <a16:creationId xmlns:a16="http://schemas.microsoft.com/office/drawing/2014/main" id="{FD806E18-A996-40AD-628D-55AD901D887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07180" y="5257800"/>
            <a:ext cx="133350" cy="133350"/>
          </a:xfrm>
          <a:prstGeom prst="rect">
            <a:avLst/>
          </a:prstGeom>
        </p:spPr>
      </p:pic>
      <p:pic>
        <p:nvPicPr>
          <p:cNvPr id="82" name="Image 23" descr="preencoded.png">
            <a:extLst>
              <a:ext uri="{FF2B5EF4-FFF2-40B4-BE49-F238E27FC236}">
                <a16:creationId xmlns:a16="http://schemas.microsoft.com/office/drawing/2014/main" id="{5B69AA97-5A54-2E62-DD49-0ED175A7175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07180" y="5524500"/>
            <a:ext cx="133350" cy="133350"/>
          </a:xfrm>
          <a:prstGeom prst="rect">
            <a:avLst/>
          </a:prstGeom>
        </p:spPr>
      </p:pic>
      <p:pic>
        <p:nvPicPr>
          <p:cNvPr id="83" name="Image 24" descr="preencoded.png">
            <a:extLst>
              <a:ext uri="{FF2B5EF4-FFF2-40B4-BE49-F238E27FC236}">
                <a16:creationId xmlns:a16="http://schemas.microsoft.com/office/drawing/2014/main" id="{F2DE07B1-31A4-8DFD-2D54-978379809A1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07180" y="5791200"/>
            <a:ext cx="133350" cy="133350"/>
          </a:xfrm>
          <a:prstGeom prst="rect">
            <a:avLst/>
          </a:prstGeom>
        </p:spPr>
      </p:pic>
      <p:sp>
        <p:nvSpPr>
          <p:cNvPr id="84" name="Text 64">
            <a:extLst>
              <a:ext uri="{FF2B5EF4-FFF2-40B4-BE49-F238E27FC236}">
                <a16:creationId xmlns:a16="http://schemas.microsoft.com/office/drawing/2014/main" id="{2833EB9C-D42F-2948-83C4-CB3D4313AD25}"/>
              </a:ext>
            </a:extLst>
          </p:cNvPr>
          <p:cNvSpPr/>
          <p:nvPr/>
        </p:nvSpPr>
        <p:spPr>
          <a:xfrm>
            <a:off x="7863780" y="1752600"/>
            <a:ext cx="38710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기상자료개방포털</a:t>
            </a:r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—ASOS </a:t>
            </a: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관측 데이터</a:t>
            </a:r>
            <a:endParaRPr lang="en-US" sz="1200" dirty="0"/>
          </a:p>
        </p:txBody>
      </p:sp>
      <p:sp>
        <p:nvSpPr>
          <p:cNvPr id="85" name="Text 65">
            <a:extLst>
              <a:ext uri="{FF2B5EF4-FFF2-40B4-BE49-F238E27FC236}">
                <a16:creationId xmlns:a16="http://schemas.microsoft.com/office/drawing/2014/main" id="{5D7A18FB-96B6-D0CE-DAFA-007142377228}"/>
              </a:ext>
            </a:extLst>
          </p:cNvPr>
          <p:cNvSpPr/>
          <p:nvPr/>
        </p:nvSpPr>
        <p:spPr>
          <a:xfrm>
            <a:off x="7778055" y="2057400"/>
            <a:ext cx="372814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도시 환경에서의 자전거 공유 시스템 이용 패턴 분석을 위해 추가 활용</a:t>
            </a:r>
            <a:endParaRPr lang="en-US" sz="1050" dirty="0"/>
          </a:p>
        </p:txBody>
      </p:sp>
      <p:sp>
        <p:nvSpPr>
          <p:cNvPr id="86" name="Text 66">
            <a:extLst>
              <a:ext uri="{FF2B5EF4-FFF2-40B4-BE49-F238E27FC236}">
                <a16:creationId xmlns:a16="http://schemas.microsoft.com/office/drawing/2014/main" id="{C02F7D60-CF3D-809F-2CA2-515FE1FA5B2A}"/>
              </a:ext>
            </a:extLst>
          </p:cNvPr>
          <p:cNvSpPr/>
          <p:nvPr/>
        </p:nvSpPr>
        <p:spPr>
          <a:xfrm>
            <a:off x="7778055" y="2514600"/>
            <a:ext cx="35775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날씨환경 요인에 의한 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이용 패턴의 </a:t>
            </a:r>
            <a:r>
              <a:rPr lang="en-US" sz="10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차이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</a:t>
            </a:r>
            <a:endParaRPr lang="en-US" sz="1050" dirty="0"/>
          </a:p>
        </p:txBody>
      </p:sp>
      <p:sp>
        <p:nvSpPr>
          <p:cNvPr id="87" name="Text 68">
            <a:extLst>
              <a:ext uri="{FF2B5EF4-FFF2-40B4-BE49-F238E27FC236}">
                <a16:creationId xmlns:a16="http://schemas.microsoft.com/office/drawing/2014/main" id="{E50E0145-3512-FD94-12F9-A56CA8335D60}"/>
              </a:ext>
            </a:extLst>
          </p:cNvPr>
          <p:cNvSpPr/>
          <p:nvPr/>
        </p:nvSpPr>
        <p:spPr>
          <a:xfrm>
            <a:off x="7797680" y="4648200"/>
            <a:ext cx="38710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인사이트</a:t>
            </a:r>
            <a:endParaRPr lang="en-US" sz="1200" dirty="0"/>
          </a:p>
        </p:txBody>
      </p:sp>
      <p:sp>
        <p:nvSpPr>
          <p:cNvPr id="88" name="Text 69">
            <a:extLst>
              <a:ext uri="{FF2B5EF4-FFF2-40B4-BE49-F238E27FC236}">
                <a16:creationId xmlns:a16="http://schemas.microsoft.com/office/drawing/2014/main" id="{21378ED4-BE50-4344-DC19-33035A55B489}"/>
              </a:ext>
            </a:extLst>
          </p:cNvPr>
          <p:cNvSpPr/>
          <p:nvPr/>
        </p:nvSpPr>
        <p:spPr>
          <a:xfrm>
            <a:off x="7816730" y="4953000"/>
            <a:ext cx="32118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평일: 통근/통학 등 필수적인 이동 수단으로 활용</a:t>
            </a:r>
            <a:endParaRPr lang="en-US" sz="1050" dirty="0"/>
          </a:p>
        </p:txBody>
      </p:sp>
      <p:sp>
        <p:nvSpPr>
          <p:cNvPr id="89" name="Text 70">
            <a:extLst>
              <a:ext uri="{FF2B5EF4-FFF2-40B4-BE49-F238E27FC236}">
                <a16:creationId xmlns:a16="http://schemas.microsoft.com/office/drawing/2014/main" id="{57D930B7-5FC4-9C46-9B9D-031A24B4442D}"/>
              </a:ext>
            </a:extLst>
          </p:cNvPr>
          <p:cNvSpPr/>
          <p:nvPr/>
        </p:nvSpPr>
        <p:spPr>
          <a:xfrm>
            <a:off x="7816730" y="5219700"/>
            <a:ext cx="32804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주말: 레저, 여가, 쇼핑 등 비필수적인 이동에 활용</a:t>
            </a:r>
            <a:endParaRPr lang="en-US" sz="1050" dirty="0"/>
          </a:p>
        </p:txBody>
      </p:sp>
      <p:sp>
        <p:nvSpPr>
          <p:cNvPr id="90" name="Text 71">
            <a:extLst>
              <a:ext uri="{FF2B5EF4-FFF2-40B4-BE49-F238E27FC236}">
                <a16:creationId xmlns:a16="http://schemas.microsoft.com/office/drawing/2014/main" id="{D7D7B01B-F0C8-5E71-1B1D-4F609E580CE6}"/>
              </a:ext>
            </a:extLst>
          </p:cNvPr>
          <p:cNvSpPr/>
          <p:nvPr/>
        </p:nvSpPr>
        <p:spPr>
          <a:xfrm>
            <a:off x="7816730" y="5486400"/>
            <a:ext cx="29032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대여소의 자전거 고질적인 불균형 현상</a:t>
            </a:r>
            <a:endParaRPr lang="en-US" sz="1050" dirty="0"/>
          </a:p>
        </p:txBody>
      </p:sp>
      <p:sp>
        <p:nvSpPr>
          <p:cNvPr id="102" name="Text 72">
            <a:extLst>
              <a:ext uri="{FF2B5EF4-FFF2-40B4-BE49-F238E27FC236}">
                <a16:creationId xmlns:a16="http://schemas.microsoft.com/office/drawing/2014/main" id="{F5EE04E4-7B04-5A34-AE3F-679385857991}"/>
              </a:ext>
            </a:extLst>
          </p:cNvPr>
          <p:cNvSpPr/>
          <p:nvPr/>
        </p:nvSpPr>
        <p:spPr>
          <a:xfrm>
            <a:off x="7816730" y="5753100"/>
            <a:ext cx="25031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기상 요인 및 계절성에 따른 수요 패턴</a:t>
            </a:r>
            <a:endParaRPr lang="en-US" sz="1050" dirty="0"/>
          </a:p>
        </p:txBody>
      </p:sp>
      <p:pic>
        <p:nvPicPr>
          <p:cNvPr id="113" name="Image 14" descr="preencoded.png">
            <a:extLst>
              <a:ext uri="{FF2B5EF4-FFF2-40B4-BE49-F238E27FC236}">
                <a16:creationId xmlns:a16="http://schemas.microsoft.com/office/drawing/2014/main" id="{019753E5-5B18-A509-6AF5-56395474C1B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20880" y="2933700"/>
            <a:ext cx="4099620" cy="1181100"/>
          </a:xfrm>
          <a:prstGeom prst="rect">
            <a:avLst/>
          </a:prstGeom>
        </p:spPr>
      </p:pic>
      <p:pic>
        <p:nvPicPr>
          <p:cNvPr id="114" name="Image 15" descr="preencoded.png">
            <a:extLst>
              <a:ext uri="{FF2B5EF4-FFF2-40B4-BE49-F238E27FC236}">
                <a16:creationId xmlns:a16="http://schemas.microsoft.com/office/drawing/2014/main" id="{C9D2DF25-F291-E2E7-CE2B-FC8036E3485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35180" y="3086100"/>
            <a:ext cx="152400" cy="152400"/>
          </a:xfrm>
          <a:prstGeom prst="rect">
            <a:avLst/>
          </a:prstGeom>
        </p:spPr>
      </p:pic>
      <p:pic>
        <p:nvPicPr>
          <p:cNvPr id="115" name="Image 16" descr="preencoded.png">
            <a:extLst>
              <a:ext uri="{FF2B5EF4-FFF2-40B4-BE49-F238E27FC236}">
                <a16:creationId xmlns:a16="http://schemas.microsoft.com/office/drawing/2014/main" id="{8B6F65A8-A1D9-E3B0-5548-44899576AAD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35180" y="3390900"/>
            <a:ext cx="66675" cy="133350"/>
          </a:xfrm>
          <a:prstGeom prst="rect">
            <a:avLst/>
          </a:prstGeom>
        </p:spPr>
      </p:pic>
      <p:pic>
        <p:nvPicPr>
          <p:cNvPr id="116" name="Image 17" descr="preencoded.png">
            <a:extLst>
              <a:ext uri="{FF2B5EF4-FFF2-40B4-BE49-F238E27FC236}">
                <a16:creationId xmlns:a16="http://schemas.microsoft.com/office/drawing/2014/main" id="{47A40CC0-9E6C-1EFB-268F-D5F02A3937E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35180" y="3848100"/>
            <a:ext cx="66675" cy="133350"/>
          </a:xfrm>
          <a:prstGeom prst="rect">
            <a:avLst/>
          </a:prstGeom>
        </p:spPr>
      </p:pic>
      <p:sp>
        <p:nvSpPr>
          <p:cNvPr id="117" name="Text 64">
            <a:extLst>
              <a:ext uri="{FF2B5EF4-FFF2-40B4-BE49-F238E27FC236}">
                <a16:creationId xmlns:a16="http://schemas.microsoft.com/office/drawing/2014/main" id="{7A546D26-DA4C-7243-91CA-24C791F5BD9E}"/>
              </a:ext>
            </a:extLst>
          </p:cNvPr>
          <p:cNvSpPr/>
          <p:nvPr/>
        </p:nvSpPr>
        <p:spPr>
          <a:xfrm>
            <a:off x="7863780" y="3048000"/>
            <a:ext cx="38710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대여소 별 </a:t>
            </a:r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POI </a:t>
            </a: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</a:t>
            </a:r>
            <a:endParaRPr lang="en-US" sz="1200" dirty="0"/>
          </a:p>
        </p:txBody>
      </p:sp>
      <p:sp>
        <p:nvSpPr>
          <p:cNvPr id="118" name="Text 65">
            <a:extLst>
              <a:ext uri="{FF2B5EF4-FFF2-40B4-BE49-F238E27FC236}">
                <a16:creationId xmlns:a16="http://schemas.microsoft.com/office/drawing/2014/main" id="{8F4E23F2-84A4-823E-4FDC-7F923D10FD51}"/>
              </a:ext>
            </a:extLst>
          </p:cNvPr>
          <p:cNvSpPr/>
          <p:nvPr/>
        </p:nvSpPr>
        <p:spPr>
          <a:xfrm>
            <a:off x="7778055" y="3352800"/>
            <a:ext cx="372814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도시 환경에서의 자전거 공유 시스템 이용 패턴 분석을 위해 추가 활용</a:t>
            </a:r>
            <a:endParaRPr lang="en-US" sz="1050" dirty="0"/>
          </a:p>
        </p:txBody>
      </p:sp>
      <p:sp>
        <p:nvSpPr>
          <p:cNvPr id="119" name="Text 66">
            <a:extLst>
              <a:ext uri="{FF2B5EF4-FFF2-40B4-BE49-F238E27FC236}">
                <a16:creationId xmlns:a16="http://schemas.microsoft.com/office/drawing/2014/main" id="{1C10E4C6-E5F3-6EC7-DBF8-07123A092AAD}"/>
              </a:ext>
            </a:extLst>
          </p:cNvPr>
          <p:cNvSpPr/>
          <p:nvPr/>
        </p:nvSpPr>
        <p:spPr>
          <a:xfrm>
            <a:off x="7778055" y="3810000"/>
            <a:ext cx="35775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공간환경 요인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</a:t>
            </a: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의한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이용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패턴의 </a:t>
            </a:r>
            <a:r>
              <a:rPr lang="en-US" sz="10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차이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</a:t>
            </a:r>
            <a:endParaRPr lang="en-US" sz="1050" dirty="0"/>
          </a:p>
        </p:txBody>
      </p:sp>
      <p:pic>
        <p:nvPicPr>
          <p:cNvPr id="120" name="Image 19" descr="preencoded.png">
            <a:extLst>
              <a:ext uri="{FF2B5EF4-FFF2-40B4-BE49-F238E27FC236}">
                <a16:creationId xmlns:a16="http://schemas.microsoft.com/office/drawing/2014/main" id="{BEF34C41-EBB7-4801-5965-E1079C70E46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49743" y="4533900"/>
            <a:ext cx="4099620" cy="1524000"/>
          </a:xfrm>
          <a:prstGeom prst="rect">
            <a:avLst/>
          </a:prstGeom>
        </p:spPr>
      </p:pic>
      <p:pic>
        <p:nvPicPr>
          <p:cNvPr id="121" name="Image 20" descr="preencoded.png">
            <a:extLst>
              <a:ext uri="{FF2B5EF4-FFF2-40B4-BE49-F238E27FC236}">
                <a16:creationId xmlns:a16="http://schemas.microsoft.com/office/drawing/2014/main" id="{EE36E537-E17A-C898-A49A-5F5342238AD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64043" y="4686300"/>
            <a:ext cx="114300" cy="152400"/>
          </a:xfrm>
          <a:prstGeom prst="rect">
            <a:avLst/>
          </a:prstGeom>
        </p:spPr>
      </p:pic>
      <p:pic>
        <p:nvPicPr>
          <p:cNvPr id="122" name="Image 21" descr="preencoded.png">
            <a:extLst>
              <a:ext uri="{FF2B5EF4-FFF2-40B4-BE49-F238E27FC236}">
                <a16:creationId xmlns:a16="http://schemas.microsoft.com/office/drawing/2014/main" id="{CE84475F-7508-2AFA-03E0-3DA94104E3F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64043" y="4991100"/>
            <a:ext cx="133350" cy="133350"/>
          </a:xfrm>
          <a:prstGeom prst="rect">
            <a:avLst/>
          </a:prstGeom>
        </p:spPr>
      </p:pic>
      <p:pic>
        <p:nvPicPr>
          <p:cNvPr id="123" name="Image 22" descr="preencoded.png">
            <a:extLst>
              <a:ext uri="{FF2B5EF4-FFF2-40B4-BE49-F238E27FC236}">
                <a16:creationId xmlns:a16="http://schemas.microsoft.com/office/drawing/2014/main" id="{2B3466DA-E40D-2FDA-E298-442EB601AA4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64043" y="5257800"/>
            <a:ext cx="133350" cy="133350"/>
          </a:xfrm>
          <a:prstGeom prst="rect">
            <a:avLst/>
          </a:prstGeom>
        </p:spPr>
      </p:pic>
      <p:pic>
        <p:nvPicPr>
          <p:cNvPr id="124" name="Image 23" descr="preencoded.png">
            <a:extLst>
              <a:ext uri="{FF2B5EF4-FFF2-40B4-BE49-F238E27FC236}">
                <a16:creationId xmlns:a16="http://schemas.microsoft.com/office/drawing/2014/main" id="{76EF4883-AAC6-43D9-3307-46360ECC314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64043" y="5524500"/>
            <a:ext cx="133350" cy="133350"/>
          </a:xfrm>
          <a:prstGeom prst="rect">
            <a:avLst/>
          </a:prstGeom>
        </p:spPr>
      </p:pic>
      <p:pic>
        <p:nvPicPr>
          <p:cNvPr id="125" name="Image 24" descr="preencoded.png">
            <a:extLst>
              <a:ext uri="{FF2B5EF4-FFF2-40B4-BE49-F238E27FC236}">
                <a16:creationId xmlns:a16="http://schemas.microsoft.com/office/drawing/2014/main" id="{264EEC1F-2254-3F7D-071D-92C60F25786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64043" y="5791200"/>
            <a:ext cx="133350" cy="133350"/>
          </a:xfrm>
          <a:prstGeom prst="rect">
            <a:avLst/>
          </a:prstGeom>
        </p:spPr>
      </p:pic>
      <p:sp>
        <p:nvSpPr>
          <p:cNvPr id="126" name="Text 68">
            <a:extLst>
              <a:ext uri="{FF2B5EF4-FFF2-40B4-BE49-F238E27FC236}">
                <a16:creationId xmlns:a16="http://schemas.microsoft.com/office/drawing/2014/main" id="{82CBAF7D-3E0D-2EC6-3BB2-A8B6615221FC}"/>
              </a:ext>
            </a:extLst>
          </p:cNvPr>
          <p:cNvSpPr/>
          <p:nvPr/>
        </p:nvSpPr>
        <p:spPr>
          <a:xfrm>
            <a:off x="7854543" y="4648200"/>
            <a:ext cx="38710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인사이트</a:t>
            </a:r>
            <a:endParaRPr lang="en-US" sz="1200" dirty="0"/>
          </a:p>
        </p:txBody>
      </p:sp>
      <p:sp>
        <p:nvSpPr>
          <p:cNvPr id="127" name="Text 69">
            <a:extLst>
              <a:ext uri="{FF2B5EF4-FFF2-40B4-BE49-F238E27FC236}">
                <a16:creationId xmlns:a16="http://schemas.microsoft.com/office/drawing/2014/main" id="{418E6344-409A-3498-37C9-4BF9D159FAB2}"/>
              </a:ext>
            </a:extLst>
          </p:cNvPr>
          <p:cNvSpPr/>
          <p:nvPr/>
        </p:nvSpPr>
        <p:spPr>
          <a:xfrm>
            <a:off x="7873593" y="4953000"/>
            <a:ext cx="32118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평일: 통근/통학 등 필수적인 이동 수단으로 활용</a:t>
            </a:r>
            <a:endParaRPr lang="en-US" sz="1050" dirty="0"/>
          </a:p>
        </p:txBody>
      </p:sp>
      <p:sp>
        <p:nvSpPr>
          <p:cNvPr id="128" name="Text 70">
            <a:extLst>
              <a:ext uri="{FF2B5EF4-FFF2-40B4-BE49-F238E27FC236}">
                <a16:creationId xmlns:a16="http://schemas.microsoft.com/office/drawing/2014/main" id="{4611F0A5-4129-B368-734B-48975F636B57}"/>
              </a:ext>
            </a:extLst>
          </p:cNvPr>
          <p:cNvSpPr/>
          <p:nvPr/>
        </p:nvSpPr>
        <p:spPr>
          <a:xfrm>
            <a:off x="7873593" y="5219700"/>
            <a:ext cx="32804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주말: 레저, 여가, 쇼핑 등 </a:t>
            </a:r>
            <a:r>
              <a:rPr lang="en-US" sz="10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비필수적인</a:t>
            </a: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0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이동에</a:t>
            </a:r>
            <a:r>
              <a:rPr lang="en-US" altLang="ko-KR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</a:t>
            </a:r>
            <a:endParaRPr lang="en-US" sz="1050" dirty="0"/>
          </a:p>
        </p:txBody>
      </p:sp>
      <p:sp>
        <p:nvSpPr>
          <p:cNvPr id="129" name="Text 71">
            <a:extLst>
              <a:ext uri="{FF2B5EF4-FFF2-40B4-BE49-F238E27FC236}">
                <a16:creationId xmlns:a16="http://schemas.microsoft.com/office/drawing/2014/main" id="{29308E79-DF43-8A7A-FBCA-63DF88E602E7}"/>
              </a:ext>
            </a:extLst>
          </p:cNvPr>
          <p:cNvSpPr/>
          <p:nvPr/>
        </p:nvSpPr>
        <p:spPr>
          <a:xfrm>
            <a:off x="7873593" y="5486400"/>
            <a:ext cx="29032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대여소 </a:t>
            </a:r>
            <a:r>
              <a:rPr lang="en-US" altLang="ko-KR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POI</a:t>
            </a:r>
            <a:r>
              <a:rPr lang="ko-KR" alt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요인에 의한 수요패턴 </a:t>
            </a:r>
            <a:endParaRPr lang="en-US" sz="1050" dirty="0"/>
          </a:p>
        </p:txBody>
      </p:sp>
      <p:sp>
        <p:nvSpPr>
          <p:cNvPr id="130" name="Text 72">
            <a:extLst>
              <a:ext uri="{FF2B5EF4-FFF2-40B4-BE49-F238E27FC236}">
                <a16:creationId xmlns:a16="http://schemas.microsoft.com/office/drawing/2014/main" id="{40FE864B-AC9A-933E-C8DF-F7A2AF6DE1C0}"/>
              </a:ext>
            </a:extLst>
          </p:cNvPr>
          <p:cNvSpPr/>
          <p:nvPr/>
        </p:nvSpPr>
        <p:spPr>
          <a:xfrm>
            <a:off x="7873593" y="5753100"/>
            <a:ext cx="25031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기상 요인 및 계절성에 따른 수요 패턴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558394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001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5113" y="1066800"/>
            <a:ext cx="609600" cy="609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5613" y="1219200"/>
            <a:ext cx="2286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7113" y="1495425"/>
            <a:ext cx="381000" cy="190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33875" y="1066800"/>
            <a:ext cx="609600" cy="609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95800" y="1219200"/>
            <a:ext cx="28575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29238" y="1495425"/>
            <a:ext cx="381000" cy="190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81688" y="1066800"/>
            <a:ext cx="609600" cy="609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72188" y="1219200"/>
            <a:ext cx="22860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2738" y="1495425"/>
            <a:ext cx="381000" cy="190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96138" y="1066800"/>
            <a:ext cx="609600" cy="609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86638" y="1219200"/>
            <a:ext cx="22860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8138" y="1495425"/>
            <a:ext cx="381000" cy="190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34413" y="1066800"/>
            <a:ext cx="609600" cy="609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24913" y="1219200"/>
            <a:ext cx="228600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1000" y="2171700"/>
            <a:ext cx="2163961" cy="21336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34380" y="2324100"/>
            <a:ext cx="457200" cy="457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67730" y="2419350"/>
            <a:ext cx="190500" cy="266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3400" y="3200400"/>
            <a:ext cx="114300" cy="1143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3400" y="3581400"/>
            <a:ext cx="114300" cy="1143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697361" y="2171700"/>
            <a:ext cx="2164110" cy="21336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550741" y="2324100"/>
            <a:ext cx="457200" cy="4572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684091" y="2419350"/>
            <a:ext cx="190500" cy="2667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849761" y="3200400"/>
            <a:ext cx="114300" cy="1143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849761" y="3581400"/>
            <a:ext cx="114300" cy="1143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013871" y="2171700"/>
            <a:ext cx="2164110" cy="21336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867251" y="2324100"/>
            <a:ext cx="457200" cy="4572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000601" y="2419350"/>
            <a:ext cx="190500" cy="2667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166271" y="3200400"/>
            <a:ext cx="114300" cy="1143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166271" y="3429000"/>
            <a:ext cx="114300" cy="1143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330380" y="2171700"/>
            <a:ext cx="2164110" cy="21336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183761" y="2324100"/>
            <a:ext cx="457200" cy="4572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317111" y="2419350"/>
            <a:ext cx="190500" cy="2667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482780" y="3200400"/>
            <a:ext cx="114300" cy="1143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482780" y="3429000"/>
            <a:ext cx="114300" cy="1143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646890" y="2171700"/>
            <a:ext cx="2163961" cy="21336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500271" y="2324100"/>
            <a:ext cx="457200" cy="4572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0633621" y="2419350"/>
            <a:ext cx="190500" cy="2667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799290" y="3200400"/>
            <a:ext cx="114300" cy="1143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799290" y="3429000"/>
            <a:ext cx="114300" cy="11430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81000" y="4533900"/>
            <a:ext cx="11430000" cy="99060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759325" y="4686300"/>
            <a:ext cx="457200" cy="457200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4902200" y="4781550"/>
            <a:ext cx="171450" cy="266700"/>
          </a:xfrm>
          <a:prstGeom prst="rect">
            <a:avLst/>
          </a:prstGeom>
        </p:spPr>
      </p:pic>
      <p:pic>
        <p:nvPicPr>
          <p:cNvPr id="46" name="Image 44" descr="preencode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5664200" y="5019675"/>
            <a:ext cx="457200" cy="19050"/>
          </a:xfrm>
          <a:prstGeom prst="rect">
            <a:avLst/>
          </a:prstGeom>
        </p:spPr>
      </p:pic>
      <p:pic>
        <p:nvPicPr>
          <p:cNvPr id="47" name="Image 45" descr="preencoded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683375" y="4686300"/>
            <a:ext cx="457200" cy="457200"/>
          </a:xfrm>
          <a:prstGeom prst="rect">
            <a:avLst/>
          </a:prstGeom>
        </p:spPr>
      </p:pic>
      <p:pic>
        <p:nvPicPr>
          <p:cNvPr id="48" name="Image 46" descr="preencode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816725" y="4781550"/>
            <a:ext cx="190500" cy="266700"/>
          </a:xfrm>
          <a:prstGeom prst="rect">
            <a:avLst/>
          </a:prstGeom>
        </p:spPr>
      </p:pic>
      <p:pic>
        <p:nvPicPr>
          <p:cNvPr id="49" name="Image 47" descr="preencode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702550" y="5019675"/>
            <a:ext cx="457200" cy="19050"/>
          </a:xfrm>
          <a:prstGeom prst="rect">
            <a:avLst/>
          </a:prstGeom>
        </p:spPr>
      </p:pic>
      <p:pic>
        <p:nvPicPr>
          <p:cNvPr id="50" name="Image 48" descr="preencoded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8502650" y="4686300"/>
            <a:ext cx="457200" cy="457200"/>
          </a:xfrm>
          <a:prstGeom prst="rect">
            <a:avLst/>
          </a:prstGeom>
        </p:spPr>
      </p:pic>
      <p:pic>
        <p:nvPicPr>
          <p:cNvPr id="51" name="Image 49" descr="preencoded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8659813" y="4781550"/>
            <a:ext cx="142875" cy="266700"/>
          </a:xfrm>
          <a:prstGeom prst="rect">
            <a:avLst/>
          </a:prstGeom>
        </p:spPr>
      </p:pic>
      <p:pic>
        <p:nvPicPr>
          <p:cNvPr id="52" name="Image 50" descr="preencode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381000" y="5676900"/>
            <a:ext cx="11430000" cy="476250"/>
          </a:xfrm>
          <a:prstGeom prst="rect">
            <a:avLst/>
          </a:prstGeom>
        </p:spPr>
      </p:pic>
      <p:pic>
        <p:nvPicPr>
          <p:cNvPr id="53" name="Image 51" descr="preencoded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2104727" y="5800725"/>
            <a:ext cx="1857375" cy="228600"/>
          </a:xfrm>
          <a:prstGeom prst="rect">
            <a:avLst/>
          </a:prstGeom>
        </p:spPr>
      </p:pic>
      <p:pic>
        <p:nvPicPr>
          <p:cNvPr id="54" name="Image 52" descr="preencoded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2219027" y="5857875"/>
            <a:ext cx="76200" cy="114300"/>
          </a:xfrm>
          <a:prstGeom prst="rect">
            <a:avLst/>
          </a:prstGeom>
        </p:spPr>
      </p:pic>
      <p:pic>
        <p:nvPicPr>
          <p:cNvPr id="55" name="Image 53" descr="preencoded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4114502" y="5800725"/>
            <a:ext cx="19050" cy="228600"/>
          </a:xfrm>
          <a:prstGeom prst="rect">
            <a:avLst/>
          </a:prstGeom>
        </p:spPr>
      </p:pic>
      <p:pic>
        <p:nvPicPr>
          <p:cNvPr id="56" name="Image 54" descr="preencoded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4285952" y="5791200"/>
            <a:ext cx="3267521" cy="247650"/>
          </a:xfrm>
          <a:prstGeom prst="rect">
            <a:avLst/>
          </a:prstGeom>
        </p:spPr>
      </p:pic>
      <p:pic>
        <p:nvPicPr>
          <p:cNvPr id="57" name="Image 55" descr="preencoded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4400252" y="5857875"/>
            <a:ext cx="85725" cy="114300"/>
          </a:xfrm>
          <a:prstGeom prst="rect">
            <a:avLst/>
          </a:prstGeom>
        </p:spPr>
      </p:pic>
      <p:pic>
        <p:nvPicPr>
          <p:cNvPr id="58" name="Image 56" descr="preencoded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705874" y="5800725"/>
            <a:ext cx="19050" cy="228600"/>
          </a:xfrm>
          <a:prstGeom prst="rect">
            <a:avLst/>
          </a:prstGeom>
        </p:spPr>
      </p:pic>
      <p:pic>
        <p:nvPicPr>
          <p:cNvPr id="59" name="Image 57" descr="preencoded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877323" y="5800724"/>
            <a:ext cx="3781247" cy="247651"/>
          </a:xfrm>
          <a:prstGeom prst="rect">
            <a:avLst/>
          </a:prstGeom>
        </p:spPr>
      </p:pic>
      <p:pic>
        <p:nvPicPr>
          <p:cNvPr id="60" name="Image 58" descr="preencoded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7991624" y="5857875"/>
            <a:ext cx="114300" cy="114300"/>
          </a:xfrm>
          <a:prstGeom prst="rect">
            <a:avLst/>
          </a:prstGeom>
        </p:spPr>
      </p:pic>
      <p:sp>
        <p:nvSpPr>
          <p:cNvPr id="62" name="Text 0"/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처리 과정 총정리</a:t>
            </a:r>
            <a:endParaRPr lang="en-US" sz="2250" dirty="0"/>
          </a:p>
        </p:txBody>
      </p:sp>
      <p:sp>
        <p:nvSpPr>
          <p:cNvPr id="63" name="Text 1"/>
          <p:cNvSpPr/>
          <p:nvPr/>
        </p:nvSpPr>
        <p:spPr>
          <a:xfrm>
            <a:off x="2744153" y="1752600"/>
            <a:ext cx="7315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원천 수집</a:t>
            </a:r>
            <a:endParaRPr lang="en-US" sz="1050" dirty="0"/>
          </a:p>
        </p:txBody>
      </p:sp>
      <p:sp>
        <p:nvSpPr>
          <p:cNvPr id="64" name="Text 2"/>
          <p:cNvSpPr/>
          <p:nvPr/>
        </p:nvSpPr>
        <p:spPr>
          <a:xfrm>
            <a:off x="3992880" y="1752600"/>
            <a:ext cx="12915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파생 변수 생성</a:t>
            </a:r>
            <a:endParaRPr lang="en-US" sz="1050" dirty="0"/>
          </a:p>
        </p:txBody>
      </p:sp>
      <p:sp>
        <p:nvSpPr>
          <p:cNvPr id="65" name="Text 3"/>
          <p:cNvSpPr/>
          <p:nvPr/>
        </p:nvSpPr>
        <p:spPr>
          <a:xfrm>
            <a:off x="5797868" y="1752600"/>
            <a:ext cx="7772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결측값 처리</a:t>
            </a:r>
            <a:endParaRPr lang="en-US" sz="1050" dirty="0"/>
          </a:p>
        </p:txBody>
      </p:sp>
      <p:sp>
        <p:nvSpPr>
          <p:cNvPr id="66" name="Text 4"/>
          <p:cNvSpPr/>
          <p:nvPr/>
        </p:nvSpPr>
        <p:spPr>
          <a:xfrm>
            <a:off x="7135178" y="1752600"/>
            <a:ext cx="7315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피처 정리</a:t>
            </a:r>
            <a:endParaRPr lang="en-US" sz="1050" dirty="0"/>
          </a:p>
        </p:txBody>
      </p:sp>
      <p:sp>
        <p:nvSpPr>
          <p:cNvPr id="67" name="Text 5"/>
          <p:cNvSpPr/>
          <p:nvPr/>
        </p:nvSpPr>
        <p:spPr>
          <a:xfrm>
            <a:off x="8402003" y="1752600"/>
            <a:ext cx="10744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날씨 카테고리화</a:t>
            </a:r>
            <a:endParaRPr lang="en-US" sz="1050" dirty="0"/>
          </a:p>
        </p:txBody>
      </p:sp>
      <p:sp>
        <p:nvSpPr>
          <p:cNvPr id="68" name="Text 6"/>
          <p:cNvSpPr/>
          <p:nvPr/>
        </p:nvSpPr>
        <p:spPr>
          <a:xfrm>
            <a:off x="533400" y="2895600"/>
            <a:ext cx="185916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원천 수집</a:t>
            </a:r>
            <a:endParaRPr lang="en-US" sz="1050" dirty="0"/>
          </a:p>
        </p:txBody>
      </p:sp>
      <p:sp>
        <p:nvSpPr>
          <p:cNvPr id="69" name="Text 7"/>
          <p:cNvSpPr/>
          <p:nvPr/>
        </p:nvSpPr>
        <p:spPr>
          <a:xfrm>
            <a:off x="723900" y="3162300"/>
            <a:ext cx="166866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서울 및 </a:t>
            </a:r>
            <a:r>
              <a:rPr lang="en-US" altLang="ko-KR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WDC</a:t>
            </a:r>
            <a:r>
              <a:rPr lang="ko-KR" alt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의 시간별 공유 자전거 대여 정보 수집</a:t>
            </a:r>
            <a:endParaRPr lang="en-US" sz="900" dirty="0"/>
          </a:p>
        </p:txBody>
      </p:sp>
      <p:sp>
        <p:nvSpPr>
          <p:cNvPr id="70" name="Text 8"/>
          <p:cNvSpPr/>
          <p:nvPr/>
        </p:nvSpPr>
        <p:spPr>
          <a:xfrm>
            <a:off x="723900" y="3543300"/>
            <a:ext cx="15544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ko-KR" altLang="en-US" sz="900" dirty="0"/>
              <a:t>대여 시간대의 날씨 환경 데이터 수집</a:t>
            </a:r>
            <a:endParaRPr lang="en-US" sz="900" dirty="0"/>
          </a:p>
        </p:txBody>
      </p:sp>
      <p:sp>
        <p:nvSpPr>
          <p:cNvPr id="72" name="Text 10"/>
          <p:cNvSpPr/>
          <p:nvPr/>
        </p:nvSpPr>
        <p:spPr>
          <a:xfrm>
            <a:off x="2849761" y="2895600"/>
            <a:ext cx="18593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</a:t>
            </a:r>
            <a:r>
              <a:rPr lang="en-US" sz="10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파생</a:t>
            </a:r>
            <a:r>
              <a:rPr lang="en-US" sz="10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변수 생성</a:t>
            </a:r>
            <a:endParaRPr lang="en-US" sz="1050" dirty="0"/>
          </a:p>
        </p:txBody>
      </p:sp>
      <p:sp>
        <p:nvSpPr>
          <p:cNvPr id="73" name="Text 11"/>
          <p:cNvSpPr/>
          <p:nvPr/>
        </p:nvSpPr>
        <p:spPr>
          <a:xfrm>
            <a:off x="3040261" y="3162300"/>
            <a:ext cx="166881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시간정보에</a:t>
            </a: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year, month, day, hour </a:t>
            </a:r>
            <a:r>
              <a:rPr lang="en-US" sz="9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</a:t>
            </a:r>
            <a:endParaRPr lang="en-US" sz="900" dirty="0"/>
          </a:p>
        </p:txBody>
      </p:sp>
      <p:sp>
        <p:nvSpPr>
          <p:cNvPr id="74" name="Text 12"/>
          <p:cNvSpPr/>
          <p:nvPr/>
        </p:nvSpPr>
        <p:spPr>
          <a:xfrm>
            <a:off x="3040261" y="3543300"/>
            <a:ext cx="153162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쿼터(quarter) 플래그 생성</a:t>
            </a:r>
            <a:endParaRPr lang="en-US" sz="900" dirty="0"/>
          </a:p>
        </p:txBody>
      </p:sp>
      <p:sp>
        <p:nvSpPr>
          <p:cNvPr id="76" name="Text 14"/>
          <p:cNvSpPr/>
          <p:nvPr/>
        </p:nvSpPr>
        <p:spPr>
          <a:xfrm>
            <a:off x="5166271" y="2895600"/>
            <a:ext cx="18593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결측값 처리</a:t>
            </a:r>
            <a:endParaRPr lang="en-US" sz="1050" dirty="0"/>
          </a:p>
        </p:txBody>
      </p:sp>
      <p:sp>
        <p:nvSpPr>
          <p:cNvPr id="77" name="Text 15"/>
          <p:cNvSpPr/>
          <p:nvPr/>
        </p:nvSpPr>
        <p:spPr>
          <a:xfrm>
            <a:off x="5356771" y="3162300"/>
            <a:ext cx="17716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날씨 데이터의 날짜 불일치 해결</a:t>
            </a:r>
            <a:endParaRPr lang="en-US" sz="900" dirty="0"/>
          </a:p>
        </p:txBody>
      </p:sp>
      <p:sp>
        <p:nvSpPr>
          <p:cNvPr id="78" name="Text 16"/>
          <p:cNvSpPr/>
          <p:nvPr/>
        </p:nvSpPr>
        <p:spPr>
          <a:xfrm>
            <a:off x="5356771" y="3390900"/>
            <a:ext cx="107442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결측값 방어적 처리</a:t>
            </a:r>
            <a:endParaRPr lang="en-US" sz="900" dirty="0"/>
          </a:p>
        </p:txBody>
      </p:sp>
      <p:sp>
        <p:nvSpPr>
          <p:cNvPr id="80" name="Text 18"/>
          <p:cNvSpPr/>
          <p:nvPr/>
        </p:nvSpPr>
        <p:spPr>
          <a:xfrm>
            <a:off x="7482780" y="2895600"/>
            <a:ext cx="18593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피처/컬럼 정리</a:t>
            </a:r>
            <a:endParaRPr lang="en-US" sz="1050" dirty="0"/>
          </a:p>
        </p:txBody>
      </p:sp>
      <p:sp>
        <p:nvSpPr>
          <p:cNvPr id="81" name="Text 19"/>
          <p:cNvSpPr/>
          <p:nvPr/>
        </p:nvSpPr>
        <p:spPr>
          <a:xfrm>
            <a:off x="7673280" y="3162300"/>
            <a:ext cx="164592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 대여 데이터 컬럼 영문화</a:t>
            </a:r>
            <a:endParaRPr lang="en-US" sz="900" dirty="0"/>
          </a:p>
        </p:txBody>
      </p:sp>
      <p:sp>
        <p:nvSpPr>
          <p:cNvPr id="82" name="Text 20"/>
          <p:cNvSpPr/>
          <p:nvPr/>
        </p:nvSpPr>
        <p:spPr>
          <a:xfrm>
            <a:off x="7673280" y="3390900"/>
            <a:ext cx="13944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 변수만 선택 및 명명</a:t>
            </a:r>
            <a:endParaRPr lang="en-US" sz="900" dirty="0"/>
          </a:p>
        </p:txBody>
      </p:sp>
      <p:sp>
        <p:nvSpPr>
          <p:cNvPr id="84" name="Text 22"/>
          <p:cNvSpPr/>
          <p:nvPr/>
        </p:nvSpPr>
        <p:spPr>
          <a:xfrm>
            <a:off x="9799290" y="2895600"/>
            <a:ext cx="185916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날씨 상태 카테고리화</a:t>
            </a:r>
            <a:endParaRPr lang="en-US" sz="1050" dirty="0"/>
          </a:p>
        </p:txBody>
      </p:sp>
      <p:sp>
        <p:nvSpPr>
          <p:cNvPr id="85" name="Text 23"/>
          <p:cNvSpPr/>
          <p:nvPr/>
        </p:nvSpPr>
        <p:spPr>
          <a:xfrm>
            <a:off x="9989790" y="3162300"/>
            <a:ext cx="15430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강수/적설 플래그 계산</a:t>
            </a:r>
            <a:endParaRPr lang="en-US" sz="900" dirty="0"/>
          </a:p>
        </p:txBody>
      </p:sp>
      <p:sp>
        <p:nvSpPr>
          <p:cNvPr id="86" name="Text 24"/>
          <p:cNvSpPr/>
          <p:nvPr/>
        </p:nvSpPr>
        <p:spPr>
          <a:xfrm>
            <a:off x="9989790" y="3390900"/>
            <a:ext cx="16687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서울/워싱턴용 확장 날씨 지수</a:t>
            </a:r>
            <a:endParaRPr lang="en-US" sz="900" dirty="0"/>
          </a:p>
        </p:txBody>
      </p:sp>
      <p:sp>
        <p:nvSpPr>
          <p:cNvPr id="88" name="Text 26"/>
          <p:cNvSpPr/>
          <p:nvPr/>
        </p:nvSpPr>
        <p:spPr>
          <a:xfrm>
            <a:off x="4450715" y="5219700"/>
            <a:ext cx="107442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단계별 날씨 데이터</a:t>
            </a:r>
            <a:endParaRPr lang="en-US" sz="900" dirty="0"/>
          </a:p>
        </p:txBody>
      </p:sp>
      <p:sp>
        <p:nvSpPr>
          <p:cNvPr id="89" name="Text 27"/>
          <p:cNvSpPr/>
          <p:nvPr/>
        </p:nvSpPr>
        <p:spPr>
          <a:xfrm>
            <a:off x="6237605" y="5219700"/>
            <a:ext cx="134874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POI  +</a:t>
            </a:r>
            <a:r>
              <a:rPr lang="en-US" sz="9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날씨</a:t>
            </a: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+ 대여 데이터 조인</a:t>
            </a:r>
            <a:endParaRPr lang="en-US" sz="900" dirty="0"/>
          </a:p>
        </p:txBody>
      </p:sp>
      <p:sp>
        <p:nvSpPr>
          <p:cNvPr id="90" name="Text 28"/>
          <p:cNvSpPr/>
          <p:nvPr/>
        </p:nvSpPr>
        <p:spPr>
          <a:xfrm>
            <a:off x="8319770" y="5219700"/>
            <a:ext cx="8229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통합 CSV</a:t>
            </a:r>
            <a:endParaRPr lang="en-US" sz="900" dirty="0"/>
          </a:p>
        </p:txBody>
      </p:sp>
      <p:sp>
        <p:nvSpPr>
          <p:cNvPr id="91" name="Text 29"/>
          <p:cNvSpPr/>
          <p:nvPr/>
        </p:nvSpPr>
        <p:spPr>
          <a:xfrm>
            <a:off x="2371427" y="5838825"/>
            <a:ext cx="17716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날씨 데이터와 대여 데이터 조인</a:t>
            </a:r>
            <a:endParaRPr lang="en-US" sz="900" dirty="0"/>
          </a:p>
        </p:txBody>
      </p:sp>
      <p:sp>
        <p:nvSpPr>
          <p:cNvPr id="92" name="Text 30"/>
          <p:cNvSpPr/>
          <p:nvPr/>
        </p:nvSpPr>
        <p:spPr>
          <a:xfrm>
            <a:off x="4562177" y="5829300"/>
            <a:ext cx="2876996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스크립트: </a:t>
            </a:r>
            <a:r>
              <a:rPr lang="en-US" sz="90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join_dc_weather_with_rental_data.py</a:t>
            </a:r>
            <a:endParaRPr lang="en-US" sz="900" dirty="0"/>
          </a:p>
        </p:txBody>
      </p:sp>
      <p:sp>
        <p:nvSpPr>
          <p:cNvPr id="93" name="Text 31"/>
          <p:cNvSpPr/>
          <p:nvPr/>
        </p:nvSpPr>
        <p:spPr>
          <a:xfrm>
            <a:off x="8182124" y="5838825"/>
            <a:ext cx="3476446" cy="114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제공 데이터셋 (dc_rental_data.csv,  seoul_rental_data.csv)</a:t>
            </a:r>
            <a:endParaRPr lang="en-US" sz="900" dirty="0"/>
          </a:p>
        </p:txBody>
      </p:sp>
      <p:pic>
        <p:nvPicPr>
          <p:cNvPr id="99" name="Image 9" descr="preencoded.png">
            <a:extLst>
              <a:ext uri="{FF2B5EF4-FFF2-40B4-BE49-F238E27FC236}">
                <a16:creationId xmlns:a16="http://schemas.microsoft.com/office/drawing/2014/main" id="{CEB6F4F6-FF6A-10F6-FE9C-6BB0F6CB6749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214052" y="4672410"/>
            <a:ext cx="468314" cy="468314"/>
          </a:xfrm>
          <a:prstGeom prst="rect">
            <a:avLst/>
          </a:prstGeom>
        </p:spPr>
      </p:pic>
      <p:pic>
        <p:nvPicPr>
          <p:cNvPr id="100" name="Image 14" descr="preencoded.png">
            <a:extLst>
              <a:ext uri="{FF2B5EF4-FFF2-40B4-BE49-F238E27FC236}">
                <a16:creationId xmlns:a16="http://schemas.microsoft.com/office/drawing/2014/main" id="{9308E7FD-2EFD-2368-D4A7-8AE6D4775852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3292475" y="4756494"/>
            <a:ext cx="276860" cy="369147"/>
          </a:xfrm>
          <a:prstGeom prst="rect">
            <a:avLst/>
          </a:prstGeom>
        </p:spPr>
      </p:pic>
      <p:pic>
        <p:nvPicPr>
          <p:cNvPr id="102" name="Image 44" descr="preencoded.png">
            <a:extLst>
              <a:ext uri="{FF2B5EF4-FFF2-40B4-BE49-F238E27FC236}">
                <a16:creationId xmlns:a16="http://schemas.microsoft.com/office/drawing/2014/main" id="{88A5F691-35D7-F137-3DCB-3738F54C01AA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897313" y="5005391"/>
            <a:ext cx="457200" cy="19050"/>
          </a:xfrm>
          <a:prstGeom prst="rect">
            <a:avLst/>
          </a:prstGeom>
        </p:spPr>
      </p:pic>
      <p:sp>
        <p:nvSpPr>
          <p:cNvPr id="103" name="Text 26">
            <a:extLst>
              <a:ext uri="{FF2B5EF4-FFF2-40B4-BE49-F238E27FC236}">
                <a16:creationId xmlns:a16="http://schemas.microsoft.com/office/drawing/2014/main" id="{5E2E2C42-850A-92D7-F4C6-21C96DC4F697}"/>
              </a:ext>
            </a:extLst>
          </p:cNvPr>
          <p:cNvSpPr/>
          <p:nvPr/>
        </p:nvSpPr>
        <p:spPr>
          <a:xfrm>
            <a:off x="2918143" y="5219700"/>
            <a:ext cx="107442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ko-KR" alt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대여소별 </a:t>
            </a:r>
            <a:r>
              <a:rPr lang="en-US" altLang="ko-KR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POI </a:t>
            </a:r>
            <a:r>
              <a:rPr lang="ko-KR" alt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정보</a:t>
            </a:r>
            <a:endParaRPr lang="en-US" sz="900" dirty="0"/>
          </a:p>
        </p:txBody>
      </p:sp>
      <p:pic>
        <p:nvPicPr>
          <p:cNvPr id="71" name="Image 20" descr="preencoded.png">
            <a:extLst>
              <a:ext uri="{FF2B5EF4-FFF2-40B4-BE49-F238E27FC236}">
                <a16:creationId xmlns:a16="http://schemas.microsoft.com/office/drawing/2014/main" id="{183FA314-30DB-6DDF-3450-B9B6DA9E4DC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3400" y="3905250"/>
            <a:ext cx="114300" cy="114300"/>
          </a:xfrm>
          <a:prstGeom prst="rect">
            <a:avLst/>
          </a:prstGeom>
        </p:spPr>
      </p:pic>
      <p:sp>
        <p:nvSpPr>
          <p:cNvPr id="75" name="Text 8">
            <a:extLst>
              <a:ext uri="{FF2B5EF4-FFF2-40B4-BE49-F238E27FC236}">
                <a16:creationId xmlns:a16="http://schemas.microsoft.com/office/drawing/2014/main" id="{61AEDE7C-4C87-5748-50E5-F3E8D228C955}"/>
              </a:ext>
            </a:extLst>
          </p:cNvPr>
          <p:cNvSpPr/>
          <p:nvPr/>
        </p:nvSpPr>
        <p:spPr>
          <a:xfrm>
            <a:off x="723900" y="3905250"/>
            <a:ext cx="15544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ko-KR" altLang="en-US" sz="900" dirty="0"/>
              <a:t>대여소의 </a:t>
            </a:r>
            <a:r>
              <a:rPr lang="en-US" altLang="ko-KR" sz="900" dirty="0"/>
              <a:t>POI </a:t>
            </a:r>
            <a:r>
              <a:rPr lang="ko-KR" altLang="en-US" sz="900" dirty="0"/>
              <a:t>정보 수집</a:t>
            </a:r>
            <a:endParaRPr lang="en-US" sz="9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44E2482-AF62-9B7A-0FFC-54AEC4BCDA42}"/>
              </a:ext>
            </a:extLst>
          </p:cNvPr>
          <p:cNvSpPr txBox="1"/>
          <p:nvPr/>
        </p:nvSpPr>
        <p:spPr>
          <a:xfrm>
            <a:off x="7207102" y="4762499"/>
            <a:ext cx="6140450" cy="26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</a:pPr>
            <a:r>
              <a:rPr lang="en-US" altLang="ko-KR" sz="10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Seoul shape = (14581612, 40)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0090C10-C204-A300-7371-46EC10C13FDF}"/>
              </a:ext>
            </a:extLst>
          </p:cNvPr>
          <p:cNvSpPr txBox="1"/>
          <p:nvPr/>
        </p:nvSpPr>
        <p:spPr>
          <a:xfrm>
            <a:off x="6266726" y="4998596"/>
            <a:ext cx="7721600" cy="2687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buNone/>
              <a:defRPr i="1">
                <a:solidFill>
                  <a:srgbClr val="C77DBB"/>
                </a:solidFill>
                <a:latin typeface="JetBrains Mono"/>
              </a:defRPr>
            </a:lvl1pPr>
          </a:lstStyle>
          <a:p>
            <a:pPr algn="ctr">
              <a:lnSpc>
                <a:spcPts val="1500"/>
              </a:lnSpc>
            </a:pPr>
            <a:r>
              <a:rPr lang="en-US" altLang="ko-KR" sz="1050" b="1" i="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DC shape = (1402340, 81)</a:t>
            </a:r>
          </a:p>
        </p:txBody>
      </p:sp>
      <p:pic>
        <p:nvPicPr>
          <p:cNvPr id="79" name="Image 25" descr="preencoded.png">
            <a:extLst>
              <a:ext uri="{FF2B5EF4-FFF2-40B4-BE49-F238E27FC236}">
                <a16:creationId xmlns:a16="http://schemas.microsoft.com/office/drawing/2014/main" id="{83925A69-205C-C954-A493-7AA63A89B4B6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1153775" y="6553200"/>
            <a:ext cx="104775" cy="133350"/>
          </a:xfrm>
          <a:prstGeom prst="rect">
            <a:avLst/>
          </a:prstGeom>
        </p:spPr>
      </p:pic>
      <p:sp>
        <p:nvSpPr>
          <p:cNvPr id="87" name="Text 73">
            <a:extLst>
              <a:ext uri="{FF2B5EF4-FFF2-40B4-BE49-F238E27FC236}">
                <a16:creationId xmlns:a16="http://schemas.microsoft.com/office/drawing/2014/main" id="{2BBC14A7-D28C-220F-5681-1162E9764955}"/>
              </a:ext>
            </a:extLst>
          </p:cNvPr>
          <p:cNvSpPr/>
          <p:nvPr/>
        </p:nvSpPr>
        <p:spPr>
          <a:xfrm>
            <a:off x="11282136" y="6515100"/>
            <a:ext cx="971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Page 6/23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DED1F-F6F1-FCA7-01C0-839022062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FAF1B47A-BD10-87D5-63FC-82092F860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83439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EE32F48B-4ADF-D7B6-2075-96B8CC09D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001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BE1DE536-52FE-B171-6645-36BFA910F6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066800"/>
            <a:ext cx="3759200" cy="5251328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F9932989-849F-8A7E-701E-8BB638F8B9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219200"/>
            <a:ext cx="381000" cy="381000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DA3D7F65-8B1F-4FB9-48FB-F13D7402FA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1333500"/>
            <a:ext cx="152400" cy="152400"/>
          </a:xfrm>
          <a:prstGeom prst="rect">
            <a:avLst/>
          </a:prstGeom>
        </p:spPr>
      </p:pic>
      <p:sp>
        <p:nvSpPr>
          <p:cNvPr id="35" name="Text 0">
            <a:extLst>
              <a:ext uri="{FF2B5EF4-FFF2-40B4-BE49-F238E27FC236}">
                <a16:creationId xmlns:a16="http://schemas.microsoft.com/office/drawing/2014/main" id="{C344142D-6064-6D50-AEB7-FAFAB0652331}"/>
              </a:ext>
            </a:extLst>
          </p:cNvPr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EDA </a:t>
            </a:r>
            <a:r>
              <a:rPr lang="en-US" sz="2250" b="1" dirty="0" err="1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분석</a:t>
            </a:r>
            <a:r>
              <a:rPr 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: </a:t>
            </a:r>
            <a:r>
              <a:rPr lang="ko-KR" alt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시간 데이터</a:t>
            </a:r>
            <a:endParaRPr lang="en-US" sz="2250" dirty="0"/>
          </a:p>
        </p:txBody>
      </p:sp>
      <p:sp>
        <p:nvSpPr>
          <p:cNvPr id="36" name="Text 1">
            <a:extLst>
              <a:ext uri="{FF2B5EF4-FFF2-40B4-BE49-F238E27FC236}">
                <a16:creationId xmlns:a16="http://schemas.microsoft.com/office/drawing/2014/main" id="{803AEE3A-9ECB-4ACE-0BF1-7A982736EACF}"/>
              </a:ext>
            </a:extLst>
          </p:cNvPr>
          <p:cNvSpPr/>
          <p:nvPr/>
        </p:nvSpPr>
        <p:spPr>
          <a:xfrm>
            <a:off x="1028700" y="1276350"/>
            <a:ext cx="10972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시간대 패턴</a:t>
            </a:r>
            <a:endParaRPr lang="en-US" sz="1500" dirty="0"/>
          </a:p>
        </p:txBody>
      </p:sp>
      <p:pic>
        <p:nvPicPr>
          <p:cNvPr id="69" name="Image 5" descr="preencoded.png">
            <a:extLst>
              <a:ext uri="{FF2B5EF4-FFF2-40B4-BE49-F238E27FC236}">
                <a16:creationId xmlns:a16="http://schemas.microsoft.com/office/drawing/2014/main" id="{17373A9C-73AA-594E-1714-44906593C5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514850"/>
            <a:ext cx="3369560" cy="1394884"/>
          </a:xfrm>
          <a:prstGeom prst="rect">
            <a:avLst/>
          </a:prstGeom>
        </p:spPr>
      </p:pic>
      <p:pic>
        <p:nvPicPr>
          <p:cNvPr id="70" name="Image 6" descr="preencoded.png">
            <a:extLst>
              <a:ext uri="{FF2B5EF4-FFF2-40B4-BE49-F238E27FC236}">
                <a16:creationId xmlns:a16="http://schemas.microsoft.com/office/drawing/2014/main" id="{B3AFD2DB-5F24-3D75-0B58-B7AFAEA7CDD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4667250"/>
            <a:ext cx="152400" cy="152400"/>
          </a:xfrm>
          <a:prstGeom prst="rect">
            <a:avLst/>
          </a:prstGeom>
        </p:spPr>
      </p:pic>
      <p:sp>
        <p:nvSpPr>
          <p:cNvPr id="71" name="Text 2">
            <a:extLst>
              <a:ext uri="{FF2B5EF4-FFF2-40B4-BE49-F238E27FC236}">
                <a16:creationId xmlns:a16="http://schemas.microsoft.com/office/drawing/2014/main" id="{42061762-397E-3C88-2392-64790DD0EF53}"/>
              </a:ext>
            </a:extLst>
          </p:cNvPr>
          <p:cNvSpPr/>
          <p:nvPr/>
        </p:nvSpPr>
        <p:spPr>
          <a:xfrm>
            <a:off x="914400" y="4629150"/>
            <a:ext cx="12915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출퇴근 중심 패턴</a:t>
            </a:r>
            <a:endParaRPr lang="en-US" sz="1200" dirty="0"/>
          </a:p>
        </p:txBody>
      </p:sp>
      <p:sp>
        <p:nvSpPr>
          <p:cNvPr id="72" name="Text 3">
            <a:extLst>
              <a:ext uri="{FF2B5EF4-FFF2-40B4-BE49-F238E27FC236}">
                <a16:creationId xmlns:a16="http://schemas.microsoft.com/office/drawing/2014/main" id="{577A52CE-E88D-F523-18D3-9AF626D87AC5}"/>
              </a:ext>
            </a:extLst>
          </p:cNvPr>
          <p:cNvSpPr/>
          <p:nvPr/>
        </p:nvSpPr>
        <p:spPr>
          <a:xfrm>
            <a:off x="723900" y="4933950"/>
            <a:ext cx="5029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출근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05–06시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대여량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상승</a:t>
            </a:r>
            <a:endParaRPr lang="en-US" sz="1200" dirty="0"/>
          </a:p>
        </p:txBody>
      </p:sp>
      <p:sp>
        <p:nvSpPr>
          <p:cNvPr id="73" name="Text 4">
            <a:extLst>
              <a:ext uri="{FF2B5EF4-FFF2-40B4-BE49-F238E27FC236}">
                <a16:creationId xmlns:a16="http://schemas.microsoft.com/office/drawing/2014/main" id="{22BF2ADC-E274-3038-2394-E82F721D6941}"/>
              </a:ext>
            </a:extLst>
          </p:cNvPr>
          <p:cNvSpPr/>
          <p:nvPr/>
        </p:nvSpPr>
        <p:spPr>
          <a:xfrm>
            <a:off x="723900" y="5200650"/>
            <a:ext cx="5029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퇴근 시간 </a:t>
            </a:r>
            <a:r>
              <a:rPr lang="en-US" sz="12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18–21시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대여량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상승</a:t>
            </a:r>
            <a:endParaRPr lang="en-US" sz="1200" dirty="0"/>
          </a:p>
        </p:txBody>
      </p:sp>
      <p:sp>
        <p:nvSpPr>
          <p:cNvPr id="74" name="Text 5">
            <a:extLst>
              <a:ext uri="{FF2B5EF4-FFF2-40B4-BE49-F238E27FC236}">
                <a16:creationId xmlns:a16="http://schemas.microsoft.com/office/drawing/2014/main" id="{631CB6B2-58E2-F361-C54B-63CB2EB97DBC}"/>
              </a:ext>
            </a:extLst>
          </p:cNvPr>
          <p:cNvSpPr/>
          <p:nvPr/>
        </p:nvSpPr>
        <p:spPr>
          <a:xfrm>
            <a:off x="723900" y="5467350"/>
            <a:ext cx="5029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고도의 </a:t>
            </a: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-workingday 패턴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감지</a:t>
            </a:r>
            <a:endParaRPr lang="en-US" sz="1200" dirty="0"/>
          </a:p>
        </p:txBody>
      </p:sp>
      <p:pic>
        <p:nvPicPr>
          <p:cNvPr id="164" name="Image 2" descr="preencoded.png">
            <a:extLst>
              <a:ext uri="{FF2B5EF4-FFF2-40B4-BE49-F238E27FC236}">
                <a16:creationId xmlns:a16="http://schemas.microsoft.com/office/drawing/2014/main" id="{4D641484-4464-7092-BC50-ACD4304B9B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6900" y="1089025"/>
            <a:ext cx="3759200" cy="4876800"/>
          </a:xfrm>
          <a:prstGeom prst="rect">
            <a:avLst/>
          </a:prstGeom>
        </p:spPr>
      </p:pic>
      <p:pic>
        <p:nvPicPr>
          <p:cNvPr id="165" name="Image 3" descr="preencoded.png">
            <a:extLst>
              <a:ext uri="{FF2B5EF4-FFF2-40B4-BE49-F238E27FC236}">
                <a16:creationId xmlns:a16="http://schemas.microsoft.com/office/drawing/2014/main" id="{86E7434F-FDCB-2EA4-1906-00BFAF01D8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9300" y="1241425"/>
            <a:ext cx="381000" cy="381000"/>
          </a:xfrm>
          <a:prstGeom prst="rect">
            <a:avLst/>
          </a:prstGeom>
        </p:spPr>
      </p:pic>
      <p:pic>
        <p:nvPicPr>
          <p:cNvPr id="166" name="Image 4" descr="preencoded.png">
            <a:extLst>
              <a:ext uri="{FF2B5EF4-FFF2-40B4-BE49-F238E27FC236}">
                <a16:creationId xmlns:a16="http://schemas.microsoft.com/office/drawing/2014/main" id="{D3C14048-4EC2-FDF9-85D9-07C8B96EAB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3600" y="1355725"/>
            <a:ext cx="152400" cy="152400"/>
          </a:xfrm>
          <a:prstGeom prst="rect">
            <a:avLst/>
          </a:prstGeom>
        </p:spPr>
      </p:pic>
      <p:sp>
        <p:nvSpPr>
          <p:cNvPr id="167" name="Text 1">
            <a:extLst>
              <a:ext uri="{FF2B5EF4-FFF2-40B4-BE49-F238E27FC236}">
                <a16:creationId xmlns:a16="http://schemas.microsoft.com/office/drawing/2014/main" id="{673BFA48-3EF0-AD86-639E-6750A6FD97E9}"/>
              </a:ext>
            </a:extLst>
          </p:cNvPr>
          <p:cNvSpPr/>
          <p:nvPr/>
        </p:nvSpPr>
        <p:spPr>
          <a:xfrm>
            <a:off x="5054600" y="1298575"/>
            <a:ext cx="10972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시간대 패턴</a:t>
            </a:r>
            <a:endParaRPr lang="en-US" sz="1500" dirty="0"/>
          </a:p>
        </p:txBody>
      </p:sp>
      <p:pic>
        <p:nvPicPr>
          <p:cNvPr id="168" name="Image 5" descr="preencoded.png">
            <a:extLst>
              <a:ext uri="{FF2B5EF4-FFF2-40B4-BE49-F238E27FC236}">
                <a16:creationId xmlns:a16="http://schemas.microsoft.com/office/drawing/2014/main" id="{D88A4A75-2F4A-B915-4AB3-5ACDD31D7B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7400" y="4537075"/>
            <a:ext cx="3369560" cy="1295400"/>
          </a:xfrm>
          <a:prstGeom prst="rect">
            <a:avLst/>
          </a:prstGeom>
        </p:spPr>
      </p:pic>
      <p:pic>
        <p:nvPicPr>
          <p:cNvPr id="169" name="Image 6" descr="preencoded.png">
            <a:extLst>
              <a:ext uri="{FF2B5EF4-FFF2-40B4-BE49-F238E27FC236}">
                <a16:creationId xmlns:a16="http://schemas.microsoft.com/office/drawing/2014/main" id="{8217F2F8-4929-51D3-95C5-328BCC3F50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1700" y="4689475"/>
            <a:ext cx="152400" cy="152400"/>
          </a:xfrm>
          <a:prstGeom prst="rect">
            <a:avLst/>
          </a:prstGeom>
        </p:spPr>
      </p:pic>
      <p:sp>
        <p:nvSpPr>
          <p:cNvPr id="170" name="Text 2">
            <a:extLst>
              <a:ext uri="{FF2B5EF4-FFF2-40B4-BE49-F238E27FC236}">
                <a16:creationId xmlns:a16="http://schemas.microsoft.com/office/drawing/2014/main" id="{0BBEB239-92D6-96D0-EB2B-B324EE197509}"/>
              </a:ext>
            </a:extLst>
          </p:cNvPr>
          <p:cNvSpPr/>
          <p:nvPr/>
        </p:nvSpPr>
        <p:spPr>
          <a:xfrm>
            <a:off x="4940300" y="4651375"/>
            <a:ext cx="12915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출퇴근 중심 패턴</a:t>
            </a:r>
            <a:endParaRPr lang="en-US" sz="1200" dirty="0"/>
          </a:p>
        </p:txBody>
      </p:sp>
      <p:pic>
        <p:nvPicPr>
          <p:cNvPr id="178" name="Image 2" descr="preencoded.png">
            <a:extLst>
              <a:ext uri="{FF2B5EF4-FFF2-40B4-BE49-F238E27FC236}">
                <a16:creationId xmlns:a16="http://schemas.microsoft.com/office/drawing/2014/main" id="{2A9A1DC9-2184-D585-4987-7260D8725D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4500" y="1050925"/>
            <a:ext cx="3759200" cy="5251328"/>
          </a:xfrm>
          <a:prstGeom prst="rect">
            <a:avLst/>
          </a:prstGeom>
        </p:spPr>
      </p:pic>
      <p:sp>
        <p:nvSpPr>
          <p:cNvPr id="181" name="Text 1">
            <a:extLst>
              <a:ext uri="{FF2B5EF4-FFF2-40B4-BE49-F238E27FC236}">
                <a16:creationId xmlns:a16="http://schemas.microsoft.com/office/drawing/2014/main" id="{8754FEFE-0A2A-F6A1-3A67-5BD4E2C9BFEA}"/>
              </a:ext>
            </a:extLst>
          </p:cNvPr>
          <p:cNvSpPr/>
          <p:nvPr/>
        </p:nvSpPr>
        <p:spPr>
          <a:xfrm>
            <a:off x="4902200" y="1260475"/>
            <a:ext cx="10972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요일별 패턴</a:t>
            </a:r>
            <a:endParaRPr lang="en-US" sz="1500" dirty="0"/>
          </a:p>
        </p:txBody>
      </p:sp>
      <p:pic>
        <p:nvPicPr>
          <p:cNvPr id="182" name="Image 5" descr="preencoded.png">
            <a:extLst>
              <a:ext uri="{FF2B5EF4-FFF2-40B4-BE49-F238E27FC236}">
                <a16:creationId xmlns:a16="http://schemas.microsoft.com/office/drawing/2014/main" id="{092E60C1-154F-5D00-3A0E-1481913AC9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5000" y="4498975"/>
            <a:ext cx="3521960" cy="1394884"/>
          </a:xfrm>
          <a:prstGeom prst="rect">
            <a:avLst/>
          </a:prstGeom>
        </p:spPr>
      </p:pic>
      <p:sp>
        <p:nvSpPr>
          <p:cNvPr id="184" name="Text 2">
            <a:extLst>
              <a:ext uri="{FF2B5EF4-FFF2-40B4-BE49-F238E27FC236}">
                <a16:creationId xmlns:a16="http://schemas.microsoft.com/office/drawing/2014/main" id="{E2E40E47-55D3-471B-B66E-AD0F23B0DE3C}"/>
              </a:ext>
            </a:extLst>
          </p:cNvPr>
          <p:cNvSpPr/>
          <p:nvPr/>
        </p:nvSpPr>
        <p:spPr>
          <a:xfrm>
            <a:off x="4787900" y="4613275"/>
            <a:ext cx="12915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출퇴근</a:t>
            </a: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</a:t>
            </a: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차별</a:t>
            </a:r>
            <a:endParaRPr lang="en-US" sz="1200" dirty="0"/>
          </a:p>
        </p:txBody>
      </p:sp>
      <p:pic>
        <p:nvPicPr>
          <p:cNvPr id="185" name="Image 2" descr="preencoded.png">
            <a:extLst>
              <a:ext uri="{FF2B5EF4-FFF2-40B4-BE49-F238E27FC236}">
                <a16:creationId xmlns:a16="http://schemas.microsoft.com/office/drawing/2014/main" id="{89187711-B5CE-3EBE-02E1-8C84C0A5FE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0400" y="1069975"/>
            <a:ext cx="3759200" cy="5251328"/>
          </a:xfrm>
          <a:prstGeom prst="rect">
            <a:avLst/>
          </a:prstGeom>
        </p:spPr>
      </p:pic>
      <p:sp>
        <p:nvSpPr>
          <p:cNvPr id="188" name="Text 1">
            <a:extLst>
              <a:ext uri="{FF2B5EF4-FFF2-40B4-BE49-F238E27FC236}">
                <a16:creationId xmlns:a16="http://schemas.microsoft.com/office/drawing/2014/main" id="{DD5A0DDB-AF9F-5056-9020-140564AC6057}"/>
              </a:ext>
            </a:extLst>
          </p:cNvPr>
          <p:cNvSpPr/>
          <p:nvPr/>
        </p:nvSpPr>
        <p:spPr>
          <a:xfrm>
            <a:off x="8928100" y="1279525"/>
            <a:ext cx="10972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월별</a:t>
            </a: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패턴</a:t>
            </a:r>
            <a:endParaRPr lang="en-US" sz="1500" dirty="0"/>
          </a:p>
        </p:txBody>
      </p:sp>
      <p:pic>
        <p:nvPicPr>
          <p:cNvPr id="189" name="Image 5" descr="preencoded.png">
            <a:extLst>
              <a:ext uri="{FF2B5EF4-FFF2-40B4-BE49-F238E27FC236}">
                <a16:creationId xmlns:a16="http://schemas.microsoft.com/office/drawing/2014/main" id="{A7853635-F5C0-6E7E-868B-83DB227A6A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0900" y="4518025"/>
            <a:ext cx="3483860" cy="1394884"/>
          </a:xfrm>
          <a:prstGeom prst="rect">
            <a:avLst/>
          </a:prstGeom>
        </p:spPr>
      </p:pic>
      <p:sp>
        <p:nvSpPr>
          <p:cNvPr id="191" name="Text 2">
            <a:extLst>
              <a:ext uri="{FF2B5EF4-FFF2-40B4-BE49-F238E27FC236}">
                <a16:creationId xmlns:a16="http://schemas.microsoft.com/office/drawing/2014/main" id="{85C6FD36-60D3-304C-5A1E-271911A77F9F}"/>
              </a:ext>
            </a:extLst>
          </p:cNvPr>
          <p:cNvSpPr/>
          <p:nvPr/>
        </p:nvSpPr>
        <p:spPr>
          <a:xfrm>
            <a:off x="8813800" y="4632325"/>
            <a:ext cx="12915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계절성 추세</a:t>
            </a:r>
            <a:endParaRPr lang="en-US" sz="1200" dirty="0"/>
          </a:p>
        </p:txBody>
      </p:sp>
      <p:pic>
        <p:nvPicPr>
          <p:cNvPr id="193" name="그림 192" descr="스크린샷, 텍스트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99744B7-03D5-52AF-B13A-28749150036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" y="2038327"/>
            <a:ext cx="3195003" cy="1771673"/>
          </a:xfrm>
          <a:prstGeom prst="rect">
            <a:avLst/>
          </a:prstGeom>
          <a:ln w="88900" cap="sq" cmpd="thickThin">
            <a:solidFill>
              <a:schemeClr val="bg1">
                <a:lumMod val="65000"/>
              </a:schemeClr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94" name="Image 8" descr="preencoded.png">
            <a:extLst>
              <a:ext uri="{FF2B5EF4-FFF2-40B4-BE49-F238E27FC236}">
                <a16:creationId xmlns:a16="http://schemas.microsoft.com/office/drawing/2014/main" id="{9ADB714A-1824-7568-1C1F-4AC57D3EB21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0" y="4657725"/>
            <a:ext cx="114300" cy="152400"/>
          </a:xfrm>
          <a:prstGeom prst="rect">
            <a:avLst/>
          </a:prstGeom>
        </p:spPr>
      </p:pic>
      <p:pic>
        <p:nvPicPr>
          <p:cNvPr id="195" name="Image 6" descr="preencoded.png">
            <a:extLst>
              <a:ext uri="{FF2B5EF4-FFF2-40B4-BE49-F238E27FC236}">
                <a16:creationId xmlns:a16="http://schemas.microsoft.com/office/drawing/2014/main" id="{A1DFE704-0CFE-B5DF-D7FB-D096C43DAE9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30712" y="1230313"/>
            <a:ext cx="381000" cy="381000"/>
          </a:xfrm>
          <a:prstGeom prst="rect">
            <a:avLst/>
          </a:prstGeom>
        </p:spPr>
      </p:pic>
      <p:pic>
        <p:nvPicPr>
          <p:cNvPr id="196" name="Image 7" descr="preencoded.png">
            <a:extLst>
              <a:ext uri="{FF2B5EF4-FFF2-40B4-BE49-F238E27FC236}">
                <a16:creationId xmlns:a16="http://schemas.microsoft.com/office/drawing/2014/main" id="{C2DE9A20-264C-2F88-4CF2-40F823995B8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21200" y="1306513"/>
            <a:ext cx="200025" cy="228600"/>
          </a:xfrm>
          <a:prstGeom prst="rect">
            <a:avLst/>
          </a:prstGeom>
        </p:spPr>
      </p:pic>
      <p:sp>
        <p:nvSpPr>
          <p:cNvPr id="202" name="타원 201">
            <a:extLst>
              <a:ext uri="{FF2B5EF4-FFF2-40B4-BE49-F238E27FC236}">
                <a16:creationId xmlns:a16="http://schemas.microsoft.com/office/drawing/2014/main" id="{66F82DEB-A903-25B5-DC0F-981149494CCA}"/>
              </a:ext>
            </a:extLst>
          </p:cNvPr>
          <p:cNvSpPr/>
          <p:nvPr/>
        </p:nvSpPr>
        <p:spPr>
          <a:xfrm>
            <a:off x="8406447" y="1267460"/>
            <a:ext cx="400050" cy="37147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1" name="그래픽 200" descr="일일 일정표 단색으로 채워진">
            <a:extLst>
              <a:ext uri="{FF2B5EF4-FFF2-40B4-BE49-F238E27FC236}">
                <a16:creationId xmlns:a16="http://schemas.microsoft.com/office/drawing/2014/main" id="{F8F2C50C-FB66-DA91-E389-B08D743EBE0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437244" y="1262379"/>
            <a:ext cx="338456" cy="338456"/>
          </a:xfrm>
          <a:prstGeom prst="rect">
            <a:avLst/>
          </a:prstGeom>
        </p:spPr>
      </p:pic>
      <p:sp>
        <p:nvSpPr>
          <p:cNvPr id="203" name="타원 202">
            <a:extLst>
              <a:ext uri="{FF2B5EF4-FFF2-40B4-BE49-F238E27FC236}">
                <a16:creationId xmlns:a16="http://schemas.microsoft.com/office/drawing/2014/main" id="{9B6F5126-9BB0-DD01-A079-77702C72FD86}"/>
              </a:ext>
            </a:extLst>
          </p:cNvPr>
          <p:cNvSpPr/>
          <p:nvPr/>
        </p:nvSpPr>
        <p:spPr>
          <a:xfrm>
            <a:off x="8551068" y="4658360"/>
            <a:ext cx="220663" cy="2286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" name="그림 204" descr="텍스트, 스크린샷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BC1122C-A7D5-BC4A-7D2C-5152DD43DF7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19575" y="2002632"/>
            <a:ext cx="3394986" cy="1882566"/>
          </a:xfrm>
          <a:prstGeom prst="rect">
            <a:avLst/>
          </a:prstGeom>
          <a:ln w="88900" cap="sq" cmpd="thickThin">
            <a:solidFill>
              <a:schemeClr val="bg2">
                <a:lumMod val="75000"/>
              </a:schemeClr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09" name="Text 3">
            <a:extLst>
              <a:ext uri="{FF2B5EF4-FFF2-40B4-BE49-F238E27FC236}">
                <a16:creationId xmlns:a16="http://schemas.microsoft.com/office/drawing/2014/main" id="{99B9DB8B-212B-B517-B58B-46C32E316509}"/>
              </a:ext>
            </a:extLst>
          </p:cNvPr>
          <p:cNvSpPr/>
          <p:nvPr/>
        </p:nvSpPr>
        <p:spPr>
          <a:xfrm>
            <a:off x="4559300" y="4908550"/>
            <a:ext cx="5029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주말에도 대여 수요 유지</a:t>
            </a:r>
            <a:endParaRPr lang="en-US" sz="1200" dirty="0"/>
          </a:p>
        </p:txBody>
      </p:sp>
      <p:sp>
        <p:nvSpPr>
          <p:cNvPr id="210" name="Text 4">
            <a:extLst>
              <a:ext uri="{FF2B5EF4-FFF2-40B4-BE49-F238E27FC236}">
                <a16:creationId xmlns:a16="http://schemas.microsoft.com/office/drawing/2014/main" id="{91D9D019-B365-5C09-A9EC-BBFE52CB8483}"/>
              </a:ext>
            </a:extLst>
          </p:cNvPr>
          <p:cNvSpPr/>
          <p:nvPr/>
        </p:nvSpPr>
        <p:spPr>
          <a:xfrm>
            <a:off x="4559300" y="5175250"/>
            <a:ext cx="5029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평일 대비 주말 수요가 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2%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높음</a:t>
            </a:r>
            <a:endParaRPr lang="en-US" sz="1200" dirty="0"/>
          </a:p>
        </p:txBody>
      </p:sp>
      <p:sp>
        <p:nvSpPr>
          <p:cNvPr id="211" name="Text 5">
            <a:extLst>
              <a:ext uri="{FF2B5EF4-FFF2-40B4-BE49-F238E27FC236}">
                <a16:creationId xmlns:a16="http://schemas.microsoft.com/office/drawing/2014/main" id="{55299C1B-98BE-05DB-18C0-067617E6B13D}"/>
              </a:ext>
            </a:extLst>
          </p:cNvPr>
          <p:cNvSpPr/>
          <p:nvPr/>
        </p:nvSpPr>
        <p:spPr>
          <a:xfrm>
            <a:off x="4559300" y="5441950"/>
            <a:ext cx="5029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 도시 </a:t>
            </a:r>
            <a:r>
              <a:rPr lang="ko-KR" alt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비필수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이동성 비중이 약간 더 높음</a:t>
            </a:r>
            <a:endParaRPr lang="en-US" sz="1200" dirty="0"/>
          </a:p>
        </p:txBody>
      </p:sp>
      <p:pic>
        <p:nvPicPr>
          <p:cNvPr id="213" name="그림 212" descr="스크린샷, 그래프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CD060E-FF0A-AE4F-A315-D454773672A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94700" y="1979154"/>
            <a:ext cx="3483861" cy="1948321"/>
          </a:xfrm>
          <a:prstGeom prst="rect">
            <a:avLst/>
          </a:prstGeom>
          <a:ln w="88900" cap="sq" cmpd="thickThin">
            <a:solidFill>
              <a:schemeClr val="bg2">
                <a:lumMod val="75000"/>
              </a:schemeClr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15" name="Text 4">
            <a:extLst>
              <a:ext uri="{FF2B5EF4-FFF2-40B4-BE49-F238E27FC236}">
                <a16:creationId xmlns:a16="http://schemas.microsoft.com/office/drawing/2014/main" id="{A33A0F2B-C219-C9AC-5CFA-8814DF80A834}"/>
              </a:ext>
            </a:extLst>
          </p:cNvPr>
          <p:cNvSpPr/>
          <p:nvPr/>
        </p:nvSpPr>
        <p:spPr>
          <a:xfrm>
            <a:off x="8663940" y="5200650"/>
            <a:ext cx="5029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봄 과 가을 최고점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여름에 일시적 하락 </a:t>
            </a:r>
            <a:endParaRPr lang="en-US" sz="1200" dirty="0"/>
          </a:p>
        </p:txBody>
      </p:sp>
      <p:sp>
        <p:nvSpPr>
          <p:cNvPr id="216" name="Text 5">
            <a:extLst>
              <a:ext uri="{FF2B5EF4-FFF2-40B4-BE49-F238E27FC236}">
                <a16:creationId xmlns:a16="http://schemas.microsoft.com/office/drawing/2014/main" id="{E4E23F6B-BD05-74F5-2D96-04DD9B58E51C}"/>
              </a:ext>
            </a:extLst>
          </p:cNvPr>
          <p:cNvSpPr/>
          <p:nvPr/>
        </p:nvSpPr>
        <p:spPr>
          <a:xfrm>
            <a:off x="8663940" y="5467350"/>
            <a:ext cx="5029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날씨 변수와의 상호작용을 고려한 설계 필요</a:t>
            </a:r>
            <a:endParaRPr lang="en-US" sz="1200" dirty="0"/>
          </a:p>
        </p:txBody>
      </p:sp>
      <p:sp>
        <p:nvSpPr>
          <p:cNvPr id="217" name="Text 3">
            <a:extLst>
              <a:ext uri="{FF2B5EF4-FFF2-40B4-BE49-F238E27FC236}">
                <a16:creationId xmlns:a16="http://schemas.microsoft.com/office/drawing/2014/main" id="{74551A32-4FBF-9A07-3AD2-8624C26572EE}"/>
              </a:ext>
            </a:extLst>
          </p:cNvPr>
          <p:cNvSpPr/>
          <p:nvPr/>
        </p:nvSpPr>
        <p:spPr>
          <a:xfrm>
            <a:off x="8661399" y="4959350"/>
            <a:ext cx="5029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뚜렷한 계절성 추세</a:t>
            </a:r>
            <a:endParaRPr lang="en-US" sz="1200" dirty="0"/>
          </a:p>
        </p:txBody>
      </p:sp>
      <p:pic>
        <p:nvPicPr>
          <p:cNvPr id="223" name="Image 13" descr="preencoded.png">
            <a:extLst>
              <a:ext uri="{FF2B5EF4-FFF2-40B4-BE49-F238E27FC236}">
                <a16:creationId xmlns:a16="http://schemas.microsoft.com/office/drawing/2014/main" id="{D64C052E-DE2C-2E6F-E3A2-451D9E168BE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flipV="1">
            <a:off x="381000" y="6816604"/>
            <a:ext cx="11430000" cy="1031995"/>
          </a:xfrm>
          <a:prstGeom prst="rect">
            <a:avLst/>
          </a:prstGeom>
        </p:spPr>
      </p:pic>
      <p:pic>
        <p:nvPicPr>
          <p:cNvPr id="224" name="Image 14" descr="preencoded.png">
            <a:extLst>
              <a:ext uri="{FF2B5EF4-FFF2-40B4-BE49-F238E27FC236}">
                <a16:creationId xmlns:a16="http://schemas.microsoft.com/office/drawing/2014/main" id="{AC445345-B5CB-3261-48CC-1B47D5A2B1C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3400" y="6946781"/>
            <a:ext cx="114300" cy="181425"/>
          </a:xfrm>
          <a:prstGeom prst="rect">
            <a:avLst/>
          </a:prstGeom>
        </p:spPr>
      </p:pic>
      <p:sp>
        <p:nvSpPr>
          <p:cNvPr id="225" name="Text 2">
            <a:extLst>
              <a:ext uri="{FF2B5EF4-FFF2-40B4-BE49-F238E27FC236}">
                <a16:creationId xmlns:a16="http://schemas.microsoft.com/office/drawing/2014/main" id="{4A653136-F904-D38F-1F32-26FF023D790F}"/>
              </a:ext>
            </a:extLst>
          </p:cNvPr>
          <p:cNvSpPr/>
          <p:nvPr/>
        </p:nvSpPr>
        <p:spPr>
          <a:xfrm>
            <a:off x="762000" y="6918206"/>
            <a:ext cx="1943100" cy="2494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인사이트</a:t>
            </a:r>
            <a:endParaRPr lang="en-US" sz="1200" dirty="0"/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BEA2FEE4-01B2-1900-53B7-D4648C18FA33}"/>
              </a:ext>
            </a:extLst>
          </p:cNvPr>
          <p:cNvSpPr txBox="1"/>
          <p:nvPr/>
        </p:nvSpPr>
        <p:spPr>
          <a:xfrm>
            <a:off x="682625" y="7156391"/>
            <a:ext cx="10140950" cy="533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자전거 대여 수요는 특정 시점에 연속적으로 누적되는 추세형 시계열이기보다는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시간대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·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요일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·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계절에 따라 반복적으로 변동하는 주기적 수요 구조를 보이며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이는 수요 예측에서 과거 값 자체보다 해당 시점의 맥락적 시간 정보가 더 중요한 설명 요인임을 시사한다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.</a:t>
            </a:r>
            <a:endParaRPr lang="ko-KR" altLang="en-US" sz="12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6045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BC115-A625-AB4F-A798-4A9F73DE3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2E3A46B-FAC5-9F5B-5893-F35349F3F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83439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7267A386-B50E-29B3-879D-54AD4CC8D2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00100"/>
            <a:ext cx="762000" cy="38100"/>
          </a:xfrm>
          <a:prstGeom prst="rect">
            <a:avLst/>
          </a:prstGeom>
        </p:spPr>
      </p:pic>
      <p:pic>
        <p:nvPicPr>
          <p:cNvPr id="25" name="Image 23" descr="preencoded.png">
            <a:extLst>
              <a:ext uri="{FF2B5EF4-FFF2-40B4-BE49-F238E27FC236}">
                <a16:creationId xmlns:a16="http://schemas.microsoft.com/office/drawing/2014/main" id="{92038132-4BFE-E695-B1F9-69CE28B819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289050"/>
            <a:ext cx="11430000" cy="5099050"/>
          </a:xfrm>
          <a:prstGeom prst="rect">
            <a:avLst/>
          </a:prstGeom>
        </p:spPr>
      </p:pic>
      <p:pic>
        <p:nvPicPr>
          <p:cNvPr id="26" name="Image 24" descr="preencoded.png">
            <a:extLst>
              <a:ext uri="{FF2B5EF4-FFF2-40B4-BE49-F238E27FC236}">
                <a16:creationId xmlns:a16="http://schemas.microsoft.com/office/drawing/2014/main" id="{3407DCCF-9BCB-EAEB-1890-706E89F523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" y="1530350"/>
            <a:ext cx="381000" cy="381000"/>
          </a:xfrm>
          <a:prstGeom prst="rect">
            <a:avLst/>
          </a:prstGeom>
        </p:spPr>
      </p:pic>
      <p:pic>
        <p:nvPicPr>
          <p:cNvPr id="27" name="Image 25" descr="preencoded.png">
            <a:extLst>
              <a:ext uri="{FF2B5EF4-FFF2-40B4-BE49-F238E27FC236}">
                <a16:creationId xmlns:a16="http://schemas.microsoft.com/office/drawing/2014/main" id="{6209A676-DC1D-FBC8-A468-46391BEAB0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644650"/>
            <a:ext cx="152400" cy="152400"/>
          </a:xfrm>
          <a:prstGeom prst="rect">
            <a:avLst/>
          </a:prstGeom>
        </p:spPr>
      </p:pic>
      <p:sp>
        <p:nvSpPr>
          <p:cNvPr id="35" name="Text 0">
            <a:extLst>
              <a:ext uri="{FF2B5EF4-FFF2-40B4-BE49-F238E27FC236}">
                <a16:creationId xmlns:a16="http://schemas.microsoft.com/office/drawing/2014/main" id="{878F39AD-1A28-C2E4-2EC1-F3CA53BFC6EE}"/>
              </a:ext>
            </a:extLst>
          </p:cNvPr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altLang="ko-KR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EDA </a:t>
            </a:r>
            <a:r>
              <a:rPr lang="en-US" altLang="ko-KR" sz="2250" b="1" dirty="0" err="1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분석</a:t>
            </a:r>
            <a:r>
              <a:rPr lang="en-US" altLang="ko-KR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: </a:t>
            </a:r>
            <a:r>
              <a:rPr lang="ko-KR" alt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날씨 변수</a:t>
            </a:r>
            <a:endParaRPr lang="en-US" altLang="ko-KR" sz="2250" dirty="0"/>
          </a:p>
        </p:txBody>
      </p:sp>
      <p:sp>
        <p:nvSpPr>
          <p:cNvPr id="60" name="Text 25">
            <a:extLst>
              <a:ext uri="{FF2B5EF4-FFF2-40B4-BE49-F238E27FC236}">
                <a16:creationId xmlns:a16="http://schemas.microsoft.com/office/drawing/2014/main" id="{E9888864-739D-13EB-CF95-4092AA8A3E73}"/>
              </a:ext>
            </a:extLst>
          </p:cNvPr>
          <p:cNvSpPr/>
          <p:nvPr/>
        </p:nvSpPr>
        <p:spPr>
          <a:xfrm>
            <a:off x="1143000" y="1587500"/>
            <a:ext cx="137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기상 </a:t>
            </a:r>
            <a:r>
              <a:rPr lang="en-US" sz="15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요인</a:t>
            </a: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영향</a:t>
            </a: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500" dirty="0"/>
          </a:p>
        </p:txBody>
      </p:sp>
      <p:sp>
        <p:nvSpPr>
          <p:cNvPr id="66" name="Text 31">
            <a:extLst>
              <a:ext uri="{FF2B5EF4-FFF2-40B4-BE49-F238E27FC236}">
                <a16:creationId xmlns:a16="http://schemas.microsoft.com/office/drawing/2014/main" id="{71AAAE10-5176-6859-AFED-68ACC55F8CDD}"/>
              </a:ext>
            </a:extLst>
          </p:cNvPr>
          <p:cNvSpPr/>
          <p:nvPr/>
        </p:nvSpPr>
        <p:spPr>
          <a:xfrm>
            <a:off x="11220450" y="8001000"/>
            <a:ext cx="10629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Page 10/20</a:t>
            </a:r>
            <a:endParaRPr lang="en-US" sz="1050" dirty="0"/>
          </a:p>
        </p:txBody>
      </p:sp>
      <p:pic>
        <p:nvPicPr>
          <p:cNvPr id="10" name="그림 9" descr="텍스트, 스크린샷, 사각형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E00E9E-EE2B-9182-CEA3-FAE56F8EDC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2209800"/>
            <a:ext cx="4927600" cy="379741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1" name="Image 5" descr="preencoded.png">
            <a:extLst>
              <a:ext uri="{FF2B5EF4-FFF2-40B4-BE49-F238E27FC236}">
                <a16:creationId xmlns:a16="http://schemas.microsoft.com/office/drawing/2014/main" id="{DDCA500A-35EA-6320-601C-64F577ED31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3390" y="2152650"/>
            <a:ext cx="5120410" cy="3873618"/>
          </a:xfrm>
          <a:prstGeom prst="rect">
            <a:avLst/>
          </a:prstGeom>
        </p:spPr>
      </p:pic>
      <p:pic>
        <p:nvPicPr>
          <p:cNvPr id="12" name="Image 24" descr="preencoded.png">
            <a:extLst>
              <a:ext uri="{FF2B5EF4-FFF2-40B4-BE49-F238E27FC236}">
                <a16:creationId xmlns:a16="http://schemas.microsoft.com/office/drawing/2014/main" id="{5FA0B434-BD5C-F451-2B18-C0A8B47223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00" y="2228850"/>
            <a:ext cx="381000" cy="381000"/>
          </a:xfrm>
          <a:prstGeom prst="rect">
            <a:avLst/>
          </a:prstGeom>
        </p:spPr>
      </p:pic>
      <p:pic>
        <p:nvPicPr>
          <p:cNvPr id="13" name="Image 25" descr="preencoded.png">
            <a:extLst>
              <a:ext uri="{FF2B5EF4-FFF2-40B4-BE49-F238E27FC236}">
                <a16:creationId xmlns:a16="http://schemas.microsoft.com/office/drawing/2014/main" id="{805FCDE1-24E7-F5B9-0370-12B79A7CDA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4300" y="2343150"/>
            <a:ext cx="152400" cy="152400"/>
          </a:xfrm>
          <a:prstGeom prst="rect">
            <a:avLst/>
          </a:prstGeom>
        </p:spPr>
      </p:pic>
      <p:sp>
        <p:nvSpPr>
          <p:cNvPr id="14" name="Text 2">
            <a:extLst>
              <a:ext uri="{FF2B5EF4-FFF2-40B4-BE49-F238E27FC236}">
                <a16:creationId xmlns:a16="http://schemas.microsoft.com/office/drawing/2014/main" id="{B1CD7E09-782A-153D-77AC-7872EDA861FD}"/>
              </a:ext>
            </a:extLst>
          </p:cNvPr>
          <p:cNvSpPr/>
          <p:nvPr/>
        </p:nvSpPr>
        <p:spPr>
          <a:xfrm>
            <a:off x="6845300" y="2343150"/>
            <a:ext cx="19431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낮은 상관 관계의 날씨 변수</a:t>
            </a:r>
            <a:endParaRPr lang="en-US" sz="1200" dirty="0"/>
          </a:p>
        </p:txBody>
      </p:sp>
      <p:pic>
        <p:nvPicPr>
          <p:cNvPr id="16" name="그림 1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FA3D5CB-D8D9-9802-7E47-B9F29EB03BC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4096" y="2819401"/>
            <a:ext cx="4816354" cy="2457449"/>
          </a:xfrm>
          <a:prstGeom prst="rect">
            <a:avLst/>
          </a:prstGeom>
        </p:spPr>
      </p:pic>
      <p:pic>
        <p:nvPicPr>
          <p:cNvPr id="18" name="그래픽 17" descr="느낌표 단색으로 채워진">
            <a:extLst>
              <a:ext uri="{FF2B5EF4-FFF2-40B4-BE49-F238E27FC236}">
                <a16:creationId xmlns:a16="http://schemas.microsoft.com/office/drawing/2014/main" id="{E1CCD262-10CC-9D02-4D8A-AA7A6ECF270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50000" y="5372220"/>
            <a:ext cx="482600" cy="482600"/>
          </a:xfrm>
          <a:prstGeom prst="rect">
            <a:avLst/>
          </a:prstGeom>
        </p:spPr>
      </p:pic>
      <p:sp>
        <p:nvSpPr>
          <p:cNvPr id="19" name="Text 2">
            <a:extLst>
              <a:ext uri="{FF2B5EF4-FFF2-40B4-BE49-F238E27FC236}">
                <a16:creationId xmlns:a16="http://schemas.microsoft.com/office/drawing/2014/main" id="{CF61C106-0087-23F9-6AED-BCBEF8F495F2}"/>
              </a:ext>
            </a:extLst>
          </p:cNvPr>
          <p:cNvSpPr/>
          <p:nvPr/>
        </p:nvSpPr>
        <p:spPr>
          <a:xfrm>
            <a:off x="6832600" y="5518270"/>
            <a:ext cx="4248150" cy="4825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낮은 상관 관계의 날씨 변수 이지만 </a:t>
            </a:r>
            <a:r>
              <a:rPr lang="ko-KR" altLang="en-US" sz="14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임계값이</a:t>
            </a:r>
            <a:r>
              <a:rPr lang="ko-KR" altLang="en-US" sz="14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존재한다</a:t>
            </a:r>
            <a:r>
              <a:rPr lang="en-US" altLang="ko-KR" sz="14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400" dirty="0"/>
          </a:p>
        </p:txBody>
      </p:sp>
      <p:pic>
        <p:nvPicPr>
          <p:cNvPr id="24" name="Image 13" descr="preencoded.png">
            <a:extLst>
              <a:ext uri="{FF2B5EF4-FFF2-40B4-BE49-F238E27FC236}">
                <a16:creationId xmlns:a16="http://schemas.microsoft.com/office/drawing/2014/main" id="{2FF34423-A8CB-2B5E-663D-C46F8314C15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flipV="1">
            <a:off x="381000" y="6816604"/>
            <a:ext cx="11430000" cy="1031995"/>
          </a:xfrm>
          <a:prstGeom prst="rect">
            <a:avLst/>
          </a:prstGeom>
        </p:spPr>
      </p:pic>
      <p:pic>
        <p:nvPicPr>
          <p:cNvPr id="37" name="Image 14" descr="preencoded.png">
            <a:extLst>
              <a:ext uri="{FF2B5EF4-FFF2-40B4-BE49-F238E27FC236}">
                <a16:creationId xmlns:a16="http://schemas.microsoft.com/office/drawing/2014/main" id="{1062BD69-15BF-9DB7-DC12-300992C1E36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3400" y="6946781"/>
            <a:ext cx="114300" cy="181425"/>
          </a:xfrm>
          <a:prstGeom prst="rect">
            <a:avLst/>
          </a:prstGeom>
        </p:spPr>
      </p:pic>
      <p:sp>
        <p:nvSpPr>
          <p:cNvPr id="38" name="Text 2">
            <a:extLst>
              <a:ext uri="{FF2B5EF4-FFF2-40B4-BE49-F238E27FC236}">
                <a16:creationId xmlns:a16="http://schemas.microsoft.com/office/drawing/2014/main" id="{1272CF10-4050-3687-1B95-A6D9197C81E9}"/>
              </a:ext>
            </a:extLst>
          </p:cNvPr>
          <p:cNvSpPr/>
          <p:nvPr/>
        </p:nvSpPr>
        <p:spPr>
          <a:xfrm>
            <a:off x="762000" y="6918206"/>
            <a:ext cx="1943100" cy="2494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인사이트</a:t>
            </a:r>
            <a:endParaRPr lang="en-US" sz="12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FBECF04-72C6-C223-FE47-FD5483FAC818}"/>
              </a:ext>
            </a:extLst>
          </p:cNvPr>
          <p:cNvSpPr txBox="1"/>
          <p:nvPr/>
        </p:nvSpPr>
        <p:spPr>
          <a:xfrm>
            <a:off x="533400" y="7167043"/>
            <a:ext cx="11277600" cy="53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자전거 대여 수요는 개별 기상 변수의 단순한 선형 영향보다는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기온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·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습도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·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강수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·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일조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·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구름 상태가 결합된 ‘날씨 환경 </a:t>
            </a:r>
            <a:r>
              <a:rPr lang="ko-KR" alt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상태’에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 의해 조건부로 형성되는 구조적 특성을 보이며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이는 특정 기상 조합이 충족될 때만 수요가 유의미하게 확대되는 수요 메커니즘을 시사한다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.</a:t>
            </a:r>
            <a:endParaRPr lang="ko-KR" altLang="en-US" sz="12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0517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5B1BB-9FEB-7D18-1F02-22D4F2F39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875A73A7-668F-4088-83B8-797DAFB8F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83439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10E5A3C4-F7EE-16F4-76CD-23C4657BEF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00100"/>
            <a:ext cx="762000" cy="38100"/>
          </a:xfrm>
          <a:prstGeom prst="rect">
            <a:avLst/>
          </a:prstGeom>
        </p:spPr>
      </p:pic>
      <p:pic>
        <p:nvPicPr>
          <p:cNvPr id="25" name="Image 23" descr="preencoded.png">
            <a:extLst>
              <a:ext uri="{FF2B5EF4-FFF2-40B4-BE49-F238E27FC236}">
                <a16:creationId xmlns:a16="http://schemas.microsoft.com/office/drawing/2014/main" id="{2F71D2CB-E28E-0BBF-0A71-14D9C71932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289050"/>
            <a:ext cx="11430000" cy="5391150"/>
          </a:xfrm>
          <a:prstGeom prst="rect">
            <a:avLst/>
          </a:prstGeom>
        </p:spPr>
      </p:pic>
      <p:sp>
        <p:nvSpPr>
          <p:cNvPr id="35" name="Text 0">
            <a:extLst>
              <a:ext uri="{FF2B5EF4-FFF2-40B4-BE49-F238E27FC236}">
                <a16:creationId xmlns:a16="http://schemas.microsoft.com/office/drawing/2014/main" id="{D5F0D520-2B3D-0A24-9CDC-354A4C650DEF}"/>
              </a:ext>
            </a:extLst>
          </p:cNvPr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altLang="ko-KR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EDA </a:t>
            </a:r>
            <a:r>
              <a:rPr lang="en-US" altLang="ko-KR" sz="2250" b="1" dirty="0" err="1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분석</a:t>
            </a:r>
            <a:r>
              <a:rPr lang="en-US" altLang="ko-KR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: POI</a:t>
            </a:r>
            <a:r>
              <a:rPr lang="ko-KR" alt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변수</a:t>
            </a:r>
            <a:endParaRPr lang="en-US" altLang="ko-KR" sz="2250" dirty="0"/>
          </a:p>
        </p:txBody>
      </p:sp>
      <p:sp>
        <p:nvSpPr>
          <p:cNvPr id="60" name="Text 25">
            <a:extLst>
              <a:ext uri="{FF2B5EF4-FFF2-40B4-BE49-F238E27FC236}">
                <a16:creationId xmlns:a16="http://schemas.microsoft.com/office/drawing/2014/main" id="{034E9986-02F4-0A52-2DFA-EDF58F4392C7}"/>
              </a:ext>
            </a:extLst>
          </p:cNvPr>
          <p:cNvSpPr/>
          <p:nvPr/>
        </p:nvSpPr>
        <p:spPr>
          <a:xfrm>
            <a:off x="1143000" y="1587500"/>
            <a:ext cx="137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공간 요인 영향</a:t>
            </a:r>
            <a:endParaRPr lang="en-US" sz="1500" dirty="0"/>
          </a:p>
        </p:txBody>
      </p:sp>
      <p:sp>
        <p:nvSpPr>
          <p:cNvPr id="66" name="Text 31">
            <a:extLst>
              <a:ext uri="{FF2B5EF4-FFF2-40B4-BE49-F238E27FC236}">
                <a16:creationId xmlns:a16="http://schemas.microsoft.com/office/drawing/2014/main" id="{965F5D7F-3CB9-6B0E-749E-65BC87F0BE39}"/>
              </a:ext>
            </a:extLst>
          </p:cNvPr>
          <p:cNvSpPr/>
          <p:nvPr/>
        </p:nvSpPr>
        <p:spPr>
          <a:xfrm>
            <a:off x="11220450" y="8001000"/>
            <a:ext cx="10629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Page 10/20</a:t>
            </a:r>
            <a:endParaRPr lang="en-US" sz="1050" dirty="0"/>
          </a:p>
        </p:txBody>
      </p:sp>
      <p:pic>
        <p:nvPicPr>
          <p:cNvPr id="11" name="Image 5" descr="preencoded.png">
            <a:extLst>
              <a:ext uri="{FF2B5EF4-FFF2-40B4-BE49-F238E27FC236}">
                <a16:creationId xmlns:a16="http://schemas.microsoft.com/office/drawing/2014/main" id="{805DD528-DAD7-8347-427C-5301FB5A0A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3000" y="2133599"/>
            <a:ext cx="5120410" cy="4343401"/>
          </a:xfrm>
          <a:prstGeom prst="rect">
            <a:avLst/>
          </a:prstGeom>
        </p:spPr>
      </p:pic>
      <p:sp>
        <p:nvSpPr>
          <p:cNvPr id="14" name="Text 2">
            <a:extLst>
              <a:ext uri="{FF2B5EF4-FFF2-40B4-BE49-F238E27FC236}">
                <a16:creationId xmlns:a16="http://schemas.microsoft.com/office/drawing/2014/main" id="{D6449309-39B0-235A-E759-6764B848152E}"/>
              </a:ext>
            </a:extLst>
          </p:cNvPr>
          <p:cNvSpPr/>
          <p:nvPr/>
        </p:nvSpPr>
        <p:spPr>
          <a:xfrm>
            <a:off x="6845300" y="2343150"/>
            <a:ext cx="3949700" cy="3552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</a:t>
            </a:r>
            <a:r>
              <a:rPr lang="en-US" altLang="ko-KR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POI </a:t>
            </a: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에서 일정거리 이상 가까울 수록 </a:t>
            </a:r>
            <a:r>
              <a:rPr lang="ko-KR" altLang="en-US" sz="12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대여량</a:t>
            </a: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상한이 높다</a:t>
            </a:r>
            <a:endParaRPr lang="en-US" sz="1200" dirty="0"/>
          </a:p>
        </p:txBody>
      </p:sp>
      <p:pic>
        <p:nvPicPr>
          <p:cNvPr id="4" name="Image 9" descr="preencoded.png">
            <a:extLst>
              <a:ext uri="{FF2B5EF4-FFF2-40B4-BE49-F238E27FC236}">
                <a16:creationId xmlns:a16="http://schemas.microsoft.com/office/drawing/2014/main" id="{6D354AFA-7B77-3E7E-6285-8A2A6915E6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8643" y="1481560"/>
            <a:ext cx="468314" cy="468314"/>
          </a:xfrm>
          <a:prstGeom prst="rect">
            <a:avLst/>
          </a:prstGeom>
        </p:spPr>
      </p:pic>
      <p:pic>
        <p:nvPicPr>
          <p:cNvPr id="5" name="Image 14" descr="preencoded.png">
            <a:extLst>
              <a:ext uri="{FF2B5EF4-FFF2-40B4-BE49-F238E27FC236}">
                <a16:creationId xmlns:a16="http://schemas.microsoft.com/office/drawing/2014/main" id="{33BD8EE5-52AD-15E9-AC46-C2BDFBB8EE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066" y="1565644"/>
            <a:ext cx="276860" cy="369147"/>
          </a:xfrm>
          <a:prstGeom prst="rect">
            <a:avLst/>
          </a:prstGeom>
        </p:spPr>
      </p:pic>
      <p:pic>
        <p:nvPicPr>
          <p:cNvPr id="8" name="Image 9" descr="preencoded.png">
            <a:extLst>
              <a:ext uri="{FF2B5EF4-FFF2-40B4-BE49-F238E27FC236}">
                <a16:creationId xmlns:a16="http://schemas.microsoft.com/office/drawing/2014/main" id="{B6239E94-2931-ECDA-A499-939FCEAE96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7143" y="2281660"/>
            <a:ext cx="355283" cy="355283"/>
          </a:xfrm>
          <a:prstGeom prst="rect">
            <a:avLst/>
          </a:prstGeom>
        </p:spPr>
      </p:pic>
      <p:pic>
        <p:nvPicPr>
          <p:cNvPr id="9" name="Image 14" descr="preencoded.png">
            <a:extLst>
              <a:ext uri="{FF2B5EF4-FFF2-40B4-BE49-F238E27FC236}">
                <a16:creationId xmlns:a16="http://schemas.microsoft.com/office/drawing/2014/main" id="{92B79B94-0474-DE21-DB0B-DB4E5C272B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5566" y="2365744"/>
            <a:ext cx="210038" cy="280051"/>
          </a:xfrm>
          <a:prstGeom prst="rect">
            <a:avLst/>
          </a:prstGeom>
        </p:spPr>
      </p:pic>
      <p:pic>
        <p:nvPicPr>
          <p:cNvPr id="17" name="그림 16" descr="텍스트, 도표, 스크린샷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833B120-6282-FC2E-FCBF-0750AC1CCB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7349" y="2305050"/>
            <a:ext cx="5006340" cy="4171950"/>
          </a:xfrm>
          <a:prstGeom prst="rect">
            <a:avLst/>
          </a:prstGeom>
        </p:spPr>
      </p:pic>
      <p:sp>
        <p:nvSpPr>
          <p:cNvPr id="29" name="Text 2">
            <a:extLst>
              <a:ext uri="{FF2B5EF4-FFF2-40B4-BE49-F238E27FC236}">
                <a16:creationId xmlns:a16="http://schemas.microsoft.com/office/drawing/2014/main" id="{CCFB55D2-317D-10DF-056B-7F37C0BB235D}"/>
              </a:ext>
            </a:extLst>
          </p:cNvPr>
          <p:cNvSpPr/>
          <p:nvPr/>
        </p:nvSpPr>
        <p:spPr>
          <a:xfrm>
            <a:off x="6645604" y="4339168"/>
            <a:ext cx="4574846" cy="198543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인접 지하철 </a:t>
            </a:r>
            <a:r>
              <a:rPr lang="en-US" altLang="ko-KR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: 1km </a:t>
            </a: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거리안에 존재 할 시 높은 수요량</a:t>
            </a:r>
            <a:endParaRPr lang="en-US" altLang="ko-KR" sz="1200" b="1" dirty="0">
              <a:solidFill>
                <a:srgbClr val="1F2937"/>
              </a:solidFill>
              <a:latin typeface="Noto Sans KR" pitchFamily="34" charset="0"/>
              <a:ea typeface="Noto Sans KR" pitchFamily="34" charset="-122"/>
            </a:endParaRPr>
          </a:p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en-US" altLang="ko-KR" sz="1200" b="1" dirty="0">
              <a:solidFill>
                <a:srgbClr val="1F2937"/>
              </a:solidFill>
              <a:latin typeface="Noto Sans KR" pitchFamily="34" charset="0"/>
              <a:ea typeface="Noto Sans KR" pitchFamily="34" charset="-122"/>
            </a:endParaRPr>
          </a:p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버스 정류장 </a:t>
            </a:r>
            <a:r>
              <a:rPr lang="en-US" altLang="ko-KR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:  200m </a:t>
            </a: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거리안에 존재 할 시  높은 수요량</a:t>
            </a:r>
            <a:endParaRPr lang="en-US" altLang="ko-KR" sz="1200" b="1" dirty="0">
              <a:solidFill>
                <a:srgbClr val="1F2937"/>
              </a:solidFill>
              <a:latin typeface="Noto Sans KR" pitchFamily="34" charset="0"/>
              <a:ea typeface="Noto Sans KR" pitchFamily="34" charset="-122"/>
            </a:endParaRPr>
          </a:p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en-US" altLang="ko-KR" sz="1200" b="1" dirty="0">
              <a:solidFill>
                <a:srgbClr val="1F2937"/>
              </a:solidFill>
              <a:latin typeface="Noto Sans KR" pitchFamily="34" charset="0"/>
              <a:ea typeface="Noto Sans KR" pitchFamily="34" charset="-122"/>
            </a:endParaRPr>
          </a:p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학교  </a:t>
            </a:r>
            <a:r>
              <a:rPr lang="en-US" altLang="ko-KR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: 500m ~ 1km </a:t>
            </a: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구간에서 고수요 집중</a:t>
            </a:r>
            <a:endParaRPr lang="en-US" altLang="ko-KR" sz="1200" b="1" dirty="0">
              <a:solidFill>
                <a:srgbClr val="1F2937"/>
              </a:solidFill>
              <a:latin typeface="Noto Sans KR" pitchFamily="34" charset="0"/>
              <a:ea typeface="Noto Sans KR" pitchFamily="34" charset="-122"/>
            </a:endParaRPr>
          </a:p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en-US" altLang="ko-KR" sz="1200" b="1" dirty="0">
              <a:solidFill>
                <a:srgbClr val="1F2937"/>
              </a:solidFill>
              <a:latin typeface="Noto Sans KR" pitchFamily="34" charset="0"/>
              <a:ea typeface="Noto Sans KR" pitchFamily="34" charset="-122"/>
            </a:endParaRPr>
          </a:p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공원거리 </a:t>
            </a:r>
            <a:r>
              <a:rPr lang="en-US" altLang="ko-KR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: </a:t>
            </a: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분산이 넓고 패턴이 완만하지만</a:t>
            </a:r>
            <a:r>
              <a:rPr lang="en-US" altLang="ko-KR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,  500m ~ 2km </a:t>
            </a: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구간</a:t>
            </a:r>
            <a:endParaRPr lang="en-US" altLang="ko-KR" sz="1200" b="1" dirty="0">
              <a:solidFill>
                <a:srgbClr val="1F2937"/>
              </a:solidFill>
              <a:latin typeface="Noto Sans KR" pitchFamily="34" charset="0"/>
              <a:ea typeface="Noto Sans KR" pitchFamily="34" charset="-122"/>
            </a:endParaRPr>
          </a:p>
          <a:p>
            <a:pPr marL="0" indent="0">
              <a:lnSpc>
                <a:spcPts val="1800"/>
              </a:lnSpc>
              <a:buNone/>
            </a:pPr>
            <a:endParaRPr lang="en-US" altLang="ko-KR" sz="1200" b="1" dirty="0">
              <a:solidFill>
                <a:srgbClr val="1F2937"/>
              </a:solidFill>
              <a:latin typeface="Noto Sans KR" pitchFamily="34" charset="0"/>
              <a:ea typeface="Noto Sans KR" pitchFamily="34" charset="-122"/>
            </a:endParaRPr>
          </a:p>
        </p:txBody>
      </p:sp>
      <p:pic>
        <p:nvPicPr>
          <p:cNvPr id="32" name="그림 3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6CDAAF6-C2A0-C041-8041-D24CF7A4D45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45604" y="2793029"/>
            <a:ext cx="3843393" cy="1366540"/>
          </a:xfrm>
          <a:prstGeom prst="rect">
            <a:avLst/>
          </a:prstGeom>
        </p:spPr>
      </p:pic>
      <p:pic>
        <p:nvPicPr>
          <p:cNvPr id="37" name="Image 13" descr="preencoded.png">
            <a:extLst>
              <a:ext uri="{FF2B5EF4-FFF2-40B4-BE49-F238E27FC236}">
                <a16:creationId xmlns:a16="http://schemas.microsoft.com/office/drawing/2014/main" id="{16B87F56-BC0C-3802-A5A2-742E12DAE2E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flipV="1">
            <a:off x="381000" y="6816604"/>
            <a:ext cx="11430000" cy="1031995"/>
          </a:xfrm>
          <a:prstGeom prst="rect">
            <a:avLst/>
          </a:prstGeom>
        </p:spPr>
      </p:pic>
      <p:pic>
        <p:nvPicPr>
          <p:cNvPr id="38" name="Image 14" descr="preencoded.png">
            <a:extLst>
              <a:ext uri="{FF2B5EF4-FFF2-40B4-BE49-F238E27FC236}">
                <a16:creationId xmlns:a16="http://schemas.microsoft.com/office/drawing/2014/main" id="{725C127E-11B0-C38B-9DCE-6BEE5DC9CEA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3400" y="6946781"/>
            <a:ext cx="114300" cy="181425"/>
          </a:xfrm>
          <a:prstGeom prst="rect">
            <a:avLst/>
          </a:prstGeom>
        </p:spPr>
      </p:pic>
      <p:sp>
        <p:nvSpPr>
          <p:cNvPr id="39" name="Text 2">
            <a:extLst>
              <a:ext uri="{FF2B5EF4-FFF2-40B4-BE49-F238E27FC236}">
                <a16:creationId xmlns:a16="http://schemas.microsoft.com/office/drawing/2014/main" id="{715E5BB1-A293-8C47-E999-EB4979AC6A0B}"/>
              </a:ext>
            </a:extLst>
          </p:cNvPr>
          <p:cNvSpPr/>
          <p:nvPr/>
        </p:nvSpPr>
        <p:spPr>
          <a:xfrm>
            <a:off x="762000" y="6918206"/>
            <a:ext cx="1943100" cy="2494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인사이트</a:t>
            </a:r>
            <a:endParaRPr lang="en-US" sz="12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DD5C412-B5D5-1BDD-D5F7-51A040DB1656}"/>
              </a:ext>
            </a:extLst>
          </p:cNvPr>
          <p:cNvSpPr txBox="1"/>
          <p:nvPr/>
        </p:nvSpPr>
        <p:spPr>
          <a:xfrm>
            <a:off x="657066" y="7196151"/>
            <a:ext cx="11001534" cy="533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각 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POI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는 수요를 직접적으로 증가시키기보다는 대여 수요가 발생할 수 있는 ‘잠재적 </a:t>
            </a:r>
            <a:r>
              <a:rPr lang="ko-KR" alt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상한’을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 규정하는 역할을 하며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동일한 시간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·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날씨 조건에서도 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POI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접근성이 높은 지역에서만 대규모 수요가 관찰된다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.</a:t>
            </a:r>
            <a:endParaRPr lang="ko-KR" altLang="en-US" sz="12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5713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831278"/>
            <a:ext cx="12192000" cy="7848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-1524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415634"/>
            <a:ext cx="11125200" cy="3429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415634"/>
            <a:ext cx="11125200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415634"/>
            <a:ext cx="3137743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71143" y="415634"/>
            <a:ext cx="4326434" cy="457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19985" y="568034"/>
            <a:ext cx="1143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97577" y="415634"/>
            <a:ext cx="3661023" cy="457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46989" y="568034"/>
            <a:ext cx="1905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3400" y="872834"/>
            <a:ext cx="11125200" cy="4762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3400" y="1349084"/>
            <a:ext cx="11125200" cy="4762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825334"/>
            <a:ext cx="11125200" cy="457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3400" y="2282534"/>
            <a:ext cx="11125200" cy="4762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3400" y="2758784"/>
            <a:ext cx="11125200" cy="4762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3400" y="3235034"/>
            <a:ext cx="11125200" cy="6096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3400" y="3826447"/>
            <a:ext cx="190500" cy="1905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3400" y="4159822"/>
            <a:ext cx="5486400" cy="1672934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72200" y="4159822"/>
            <a:ext cx="5486400" cy="1745678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077575" y="6591300"/>
            <a:ext cx="104775" cy="13335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381000" y="-5715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EDA </a:t>
            </a:r>
            <a:r>
              <a:rPr lang="ko-KR" alt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분석 </a:t>
            </a:r>
            <a:r>
              <a:rPr lang="en-US" altLang="ko-KR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: </a:t>
            </a:r>
            <a:r>
              <a:rPr lang="en-US" sz="2250" b="1" dirty="0" err="1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도시간</a:t>
            </a:r>
            <a:r>
              <a:rPr 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패턴 비교 (Washington vs Seoul)</a:t>
            </a:r>
            <a:endParaRPr lang="en-US" sz="2250" dirty="0"/>
          </a:p>
        </p:txBody>
      </p:sp>
      <p:sp>
        <p:nvSpPr>
          <p:cNvPr id="26" name="Text 1"/>
          <p:cNvSpPr/>
          <p:nvPr/>
        </p:nvSpPr>
        <p:spPr>
          <a:xfrm>
            <a:off x="533400" y="-3466"/>
            <a:ext cx="11125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도시별 주요 특성 비교 결론</a:t>
            </a:r>
            <a:endParaRPr lang="en-US" sz="1500" dirty="0"/>
          </a:p>
        </p:txBody>
      </p:sp>
      <p:sp>
        <p:nvSpPr>
          <p:cNvPr id="27" name="Text 2"/>
          <p:cNvSpPr/>
          <p:nvPr/>
        </p:nvSpPr>
        <p:spPr>
          <a:xfrm>
            <a:off x="533400" y="415634"/>
            <a:ext cx="3137743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항목</a:t>
            </a:r>
            <a:endParaRPr lang="en-US" sz="1200" dirty="0"/>
          </a:p>
        </p:txBody>
      </p:sp>
      <p:sp>
        <p:nvSpPr>
          <p:cNvPr id="28" name="Text 3"/>
          <p:cNvSpPr/>
          <p:nvPr/>
        </p:nvSpPr>
        <p:spPr>
          <a:xfrm>
            <a:off x="5186660" y="529934"/>
            <a:ext cx="14859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Washington D.C.</a:t>
            </a:r>
            <a:endParaRPr lang="en-US" sz="1200" dirty="0"/>
          </a:p>
        </p:txBody>
      </p:sp>
      <p:sp>
        <p:nvSpPr>
          <p:cNvPr id="29" name="Text 4"/>
          <p:cNvSpPr/>
          <p:nvPr/>
        </p:nvSpPr>
        <p:spPr>
          <a:xfrm>
            <a:off x="9424154" y="529934"/>
            <a:ext cx="10744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서울시 따릉이</a:t>
            </a:r>
            <a:endParaRPr lang="en-US" sz="1200" dirty="0"/>
          </a:p>
        </p:txBody>
      </p:sp>
      <p:sp>
        <p:nvSpPr>
          <p:cNvPr id="30" name="Text 5"/>
          <p:cNvSpPr/>
          <p:nvPr/>
        </p:nvSpPr>
        <p:spPr>
          <a:xfrm>
            <a:off x="685800" y="872834"/>
            <a:ext cx="3137743" cy="4762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목적</a:t>
            </a:r>
            <a:endParaRPr lang="en-US" sz="1200" dirty="0"/>
          </a:p>
        </p:txBody>
      </p:sp>
      <p:sp>
        <p:nvSpPr>
          <p:cNvPr id="31" name="Text 6"/>
          <p:cNvSpPr/>
          <p:nvPr/>
        </p:nvSpPr>
        <p:spPr>
          <a:xfrm>
            <a:off x="5211425" y="1006184"/>
            <a:ext cx="12458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1D4ED8"/>
                </a:solidFill>
                <a:highlight>
                  <a:srgbClr val="DBEAFE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레저 + 출퇴근 혼합</a:t>
            </a:r>
            <a:endParaRPr lang="en-US" sz="900" dirty="0"/>
          </a:p>
        </p:txBody>
      </p:sp>
      <p:sp>
        <p:nvSpPr>
          <p:cNvPr id="32" name="Text 7"/>
          <p:cNvSpPr/>
          <p:nvPr/>
        </p:nvSpPr>
        <p:spPr>
          <a:xfrm>
            <a:off x="9405104" y="1006184"/>
            <a:ext cx="8458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15803D"/>
                </a:solidFill>
                <a:highlight>
                  <a:srgbClr val="DCFCE7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출퇴근 중심</a:t>
            </a:r>
            <a:endParaRPr lang="en-US" sz="900" dirty="0"/>
          </a:p>
        </p:txBody>
      </p:sp>
      <p:sp>
        <p:nvSpPr>
          <p:cNvPr id="33" name="Text 8"/>
          <p:cNvSpPr/>
          <p:nvPr/>
        </p:nvSpPr>
        <p:spPr>
          <a:xfrm>
            <a:off x="685800" y="1349084"/>
            <a:ext cx="3137743" cy="4762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날씨 민감도</a:t>
            </a:r>
            <a:endParaRPr lang="en-US" sz="1200" dirty="0"/>
          </a:p>
        </p:txBody>
      </p:sp>
      <p:sp>
        <p:nvSpPr>
          <p:cNvPr id="34" name="Text 9"/>
          <p:cNvSpPr/>
          <p:nvPr/>
        </p:nvSpPr>
        <p:spPr>
          <a:xfrm>
            <a:off x="5653385" y="1482434"/>
            <a:ext cx="3619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ko-KR" altLang="en-US" sz="900" dirty="0">
                <a:solidFill>
                  <a:srgbClr val="374151"/>
                </a:solidFill>
                <a:highlight>
                  <a:srgbClr val="F3F4F6"/>
                </a:highlight>
                <a:latin typeface="Noto Sans KR" pitchFamily="34" charset="0"/>
                <a:ea typeface="Noto Sans KR" pitchFamily="34" charset="-122"/>
              </a:rPr>
              <a:t>높음</a:t>
            </a:r>
            <a:endParaRPr lang="en-US" sz="900" dirty="0">
              <a:solidFill>
                <a:srgbClr val="374151"/>
              </a:solidFill>
              <a:highlight>
                <a:srgbClr val="F3F4F6"/>
              </a:highlight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35" name="Text 10"/>
          <p:cNvSpPr/>
          <p:nvPr/>
        </p:nvSpPr>
        <p:spPr>
          <a:xfrm>
            <a:off x="9647039" y="1482434"/>
            <a:ext cx="3619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ko-KR" altLang="en-US" sz="900" dirty="0">
                <a:solidFill>
                  <a:srgbClr val="374151"/>
                </a:solidFill>
                <a:highlight>
                  <a:srgbClr val="F3F4F6"/>
                </a:highlight>
                <a:latin typeface="Noto Sans KR" pitchFamily="34" charset="0"/>
                <a:ea typeface="Noto Sans KR" pitchFamily="34" charset="-122"/>
              </a:rPr>
              <a:t>중간</a:t>
            </a:r>
            <a:endParaRPr lang="en-US" sz="900" dirty="0">
              <a:solidFill>
                <a:srgbClr val="374151"/>
              </a:solidFill>
              <a:highlight>
                <a:srgbClr val="F3F4F6"/>
              </a:highlight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36" name="Text 11"/>
          <p:cNvSpPr/>
          <p:nvPr/>
        </p:nvSpPr>
        <p:spPr>
          <a:xfrm>
            <a:off x="685800" y="1825334"/>
            <a:ext cx="3137743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출퇴근 피크</a:t>
            </a:r>
            <a:endParaRPr lang="en-US" sz="1200" dirty="0"/>
          </a:p>
        </p:txBody>
      </p:sp>
      <p:sp>
        <p:nvSpPr>
          <p:cNvPr id="37" name="Text 12"/>
          <p:cNvSpPr/>
          <p:nvPr/>
        </p:nvSpPr>
        <p:spPr>
          <a:xfrm>
            <a:off x="5377160" y="1949159"/>
            <a:ext cx="914400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endParaRPr lang="en-US" sz="900" dirty="0"/>
          </a:p>
        </p:txBody>
      </p:sp>
      <p:sp>
        <p:nvSpPr>
          <p:cNvPr id="38" name="Text 13"/>
          <p:cNvSpPr/>
          <p:nvPr/>
        </p:nvSpPr>
        <p:spPr>
          <a:xfrm>
            <a:off x="9370814" y="1949159"/>
            <a:ext cx="914400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r>
              <a:rPr lang="ko-KR" altLang="en-US" sz="900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 </a:t>
            </a:r>
            <a:r>
              <a:rPr lang="en-US" altLang="ko-KR" sz="900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18</a:t>
            </a:r>
            <a:r>
              <a:rPr lang="ko-KR" altLang="en-US" sz="900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</a:t>
            </a:r>
            <a:endParaRPr lang="en-US" sz="900" dirty="0"/>
          </a:p>
        </p:txBody>
      </p:sp>
      <p:sp>
        <p:nvSpPr>
          <p:cNvPr id="39" name="Text 14"/>
          <p:cNvSpPr/>
          <p:nvPr/>
        </p:nvSpPr>
        <p:spPr>
          <a:xfrm>
            <a:off x="685800" y="2282534"/>
            <a:ext cx="3137743" cy="4762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계절성 피크</a:t>
            </a:r>
            <a:endParaRPr lang="en-US" sz="1200" dirty="0"/>
          </a:p>
        </p:txBody>
      </p:sp>
      <p:sp>
        <p:nvSpPr>
          <p:cNvPr id="40" name="Text 15"/>
          <p:cNvSpPr/>
          <p:nvPr/>
        </p:nvSpPr>
        <p:spPr>
          <a:xfrm>
            <a:off x="5268575" y="2415884"/>
            <a:ext cx="11315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ko-KR" altLang="en-US" sz="900" dirty="0">
                <a:solidFill>
                  <a:srgbClr val="374151"/>
                </a:solidFill>
                <a:highlight>
                  <a:srgbClr val="F3F4F6"/>
                </a:highlight>
                <a:latin typeface="Noto Sans KR" pitchFamily="34" charset="0"/>
                <a:ea typeface="Noto Sans KR" pitchFamily="34" charset="-122"/>
              </a:rPr>
              <a:t>비교적 완만함</a:t>
            </a:r>
            <a:endParaRPr lang="en-US" sz="900" dirty="0">
              <a:solidFill>
                <a:srgbClr val="374151"/>
              </a:solidFill>
              <a:highlight>
                <a:srgbClr val="F3F4F6"/>
              </a:highlight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41" name="Text 16"/>
          <p:cNvSpPr/>
          <p:nvPr/>
        </p:nvSpPr>
        <p:spPr>
          <a:xfrm>
            <a:off x="9342239" y="2415884"/>
            <a:ext cx="9715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ko-KR" altLang="en-US" sz="900" dirty="0">
                <a:solidFill>
                  <a:srgbClr val="374151"/>
                </a:solidFill>
                <a:highlight>
                  <a:srgbClr val="F3F4F6"/>
                </a:highlight>
                <a:latin typeface="Noto Sans KR" pitchFamily="34" charset="0"/>
                <a:ea typeface="Noto Sans KR" pitchFamily="34" charset="-122"/>
              </a:rPr>
              <a:t>매우 뚜렷함</a:t>
            </a:r>
            <a:endParaRPr lang="en-US" sz="900" dirty="0">
              <a:solidFill>
                <a:srgbClr val="374151"/>
              </a:solidFill>
              <a:highlight>
                <a:srgbClr val="F3F4F6"/>
              </a:highlight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42" name="Text 17"/>
          <p:cNvSpPr/>
          <p:nvPr/>
        </p:nvSpPr>
        <p:spPr>
          <a:xfrm>
            <a:off x="685800" y="2758784"/>
            <a:ext cx="3137743" cy="4762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지리적 요인</a:t>
            </a:r>
            <a:endParaRPr lang="en-US" sz="1200" dirty="0"/>
          </a:p>
        </p:txBody>
      </p:sp>
      <p:sp>
        <p:nvSpPr>
          <p:cNvPr id="43" name="Text 18"/>
          <p:cNvSpPr/>
          <p:nvPr/>
        </p:nvSpPr>
        <p:spPr>
          <a:xfrm>
            <a:off x="5653385" y="2892134"/>
            <a:ext cx="3619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highlight>
                  <a:srgbClr val="F3F4F6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적음</a:t>
            </a:r>
            <a:endParaRPr lang="en-US" sz="900" dirty="0"/>
          </a:p>
        </p:txBody>
      </p:sp>
      <p:sp>
        <p:nvSpPr>
          <p:cNvPr id="44" name="Text 19"/>
          <p:cNvSpPr/>
          <p:nvPr/>
        </p:nvSpPr>
        <p:spPr>
          <a:xfrm>
            <a:off x="9467969" y="2892134"/>
            <a:ext cx="7200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200"/>
              </a:lnSpc>
            </a:pPr>
            <a:r>
              <a:rPr lang="ko-KR" altLang="en-US" sz="900" dirty="0">
                <a:solidFill>
                  <a:srgbClr val="374151"/>
                </a:solidFill>
                <a:highlight>
                  <a:srgbClr val="F3F4F6"/>
                </a:highlight>
                <a:latin typeface="Noto Sans KR" pitchFamily="34" charset="0"/>
                <a:ea typeface="Noto Sans KR" pitchFamily="34" charset="-122"/>
              </a:rPr>
              <a:t>매우 강함</a:t>
            </a:r>
            <a:endParaRPr lang="en-US" sz="900" dirty="0">
              <a:solidFill>
                <a:srgbClr val="374151"/>
              </a:solidFill>
              <a:highlight>
                <a:srgbClr val="F3F4F6"/>
              </a:highlight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45" name="Text 20"/>
          <p:cNvSpPr/>
          <p:nvPr/>
        </p:nvSpPr>
        <p:spPr>
          <a:xfrm>
            <a:off x="685800" y="3235034"/>
            <a:ext cx="3137743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주말/평일 패턴</a:t>
            </a:r>
            <a:endParaRPr lang="en-US" sz="1200" dirty="0"/>
          </a:p>
        </p:txBody>
      </p:sp>
      <p:sp>
        <p:nvSpPr>
          <p:cNvPr id="46" name="Text 21"/>
          <p:cNvSpPr/>
          <p:nvPr/>
        </p:nvSpPr>
        <p:spPr>
          <a:xfrm>
            <a:off x="3823543" y="3349334"/>
            <a:ext cx="402163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주말 수요 증가</a:t>
            </a:r>
            <a:endParaRPr lang="en-US" sz="1050" dirty="0"/>
          </a:p>
        </p:txBody>
      </p:sp>
      <p:sp>
        <p:nvSpPr>
          <p:cNvPr id="48" name="Text 23"/>
          <p:cNvSpPr/>
          <p:nvPr/>
        </p:nvSpPr>
        <p:spPr>
          <a:xfrm>
            <a:off x="8149977" y="3349334"/>
            <a:ext cx="335622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평일 패턴 유지</a:t>
            </a:r>
            <a:endParaRPr lang="en-US" sz="1050" dirty="0"/>
          </a:p>
        </p:txBody>
      </p:sp>
      <p:sp>
        <p:nvSpPr>
          <p:cNvPr id="50" name="Text 25"/>
          <p:cNvSpPr/>
          <p:nvPr/>
        </p:nvSpPr>
        <p:spPr>
          <a:xfrm>
            <a:off x="800100" y="3778822"/>
            <a:ext cx="11125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차이점</a:t>
            </a:r>
            <a:endParaRPr lang="en-US" sz="1500" dirty="0"/>
          </a:p>
        </p:txBody>
      </p:sp>
      <p:sp>
        <p:nvSpPr>
          <p:cNvPr id="51" name="Text 26"/>
          <p:cNvSpPr/>
          <p:nvPr/>
        </p:nvSpPr>
        <p:spPr>
          <a:xfrm>
            <a:off x="647700" y="4274122"/>
            <a:ext cx="5257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Washington D.C.</a:t>
            </a:r>
            <a:endParaRPr lang="en-US" sz="1200" dirty="0"/>
          </a:p>
        </p:txBody>
      </p:sp>
      <p:sp>
        <p:nvSpPr>
          <p:cNvPr id="52" name="Text 27"/>
          <p:cNvSpPr/>
          <p:nvPr/>
        </p:nvSpPr>
        <p:spPr>
          <a:xfrm>
            <a:off x="647700" y="4540822"/>
            <a:ext cx="5257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도시 구조 기반 설명력은 낮음</a:t>
            </a:r>
            <a:endParaRPr lang="en-US" sz="1050" dirty="0"/>
          </a:p>
        </p:txBody>
      </p:sp>
      <p:sp>
        <p:nvSpPr>
          <p:cNvPr id="53" name="Text 28"/>
          <p:cNvSpPr/>
          <p:nvPr/>
        </p:nvSpPr>
        <p:spPr>
          <a:xfrm>
            <a:off x="647700" y="4769422"/>
            <a:ext cx="5257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단일 또는 완만한 오후 피크</a:t>
            </a:r>
            <a:endParaRPr lang="en-US" sz="1050" dirty="0"/>
          </a:p>
        </p:txBody>
      </p:sp>
      <p:sp>
        <p:nvSpPr>
          <p:cNvPr id="54" name="Text 29"/>
          <p:cNvSpPr/>
          <p:nvPr/>
        </p:nvSpPr>
        <p:spPr>
          <a:xfrm>
            <a:off x="647700" y="4998022"/>
            <a:ext cx="5257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주말 수요의 확실한 우세</a:t>
            </a:r>
            <a:endParaRPr lang="en-US" sz="105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55" name="Text 30"/>
          <p:cNvSpPr/>
          <p:nvPr/>
        </p:nvSpPr>
        <p:spPr>
          <a:xfrm>
            <a:off x="647700" y="5226622"/>
            <a:ext cx="63093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비교적 완만한 월 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계절 패턴</a:t>
            </a:r>
            <a:endParaRPr lang="en-US" altLang="ko-KR" sz="105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조절 변수 성격의 기상요인 </a:t>
            </a:r>
            <a:endParaRPr lang="en-US" altLang="ko-KR" sz="105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</a:endParaRPr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공간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레저 중심 수요 구조</a:t>
            </a:r>
            <a:endParaRPr lang="en-US" sz="105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56" name="Text 31"/>
          <p:cNvSpPr/>
          <p:nvPr/>
        </p:nvSpPr>
        <p:spPr>
          <a:xfrm>
            <a:off x="6286500" y="4274122"/>
            <a:ext cx="5257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서울시 따릉이</a:t>
            </a:r>
            <a:endParaRPr lang="en-US" sz="1200" dirty="0"/>
          </a:p>
        </p:txBody>
      </p:sp>
      <p:sp>
        <p:nvSpPr>
          <p:cNvPr id="57" name="Text 32"/>
          <p:cNvSpPr/>
          <p:nvPr/>
        </p:nvSpPr>
        <p:spPr>
          <a:xfrm>
            <a:off x="6286500" y="4540822"/>
            <a:ext cx="5257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도시 구조 기반 설명력이 매우 </a:t>
            </a: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높음</a:t>
            </a:r>
            <a:endParaRPr lang="en-US" sz="1050" dirty="0"/>
          </a:p>
        </p:txBody>
      </p:sp>
      <p:sp>
        <p:nvSpPr>
          <p:cNvPr id="58" name="Text 33"/>
          <p:cNvSpPr/>
          <p:nvPr/>
        </p:nvSpPr>
        <p:spPr>
          <a:xfrm>
            <a:off x="6286500" y="4769422"/>
            <a:ext cx="5257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줄 퇴근 이중 피크 매우 뚜렷함</a:t>
            </a:r>
            <a:endParaRPr lang="en-US" sz="1050" dirty="0"/>
          </a:p>
        </p:txBody>
      </p:sp>
      <p:sp>
        <p:nvSpPr>
          <p:cNvPr id="59" name="Text 34"/>
          <p:cNvSpPr/>
          <p:nvPr/>
        </p:nvSpPr>
        <p:spPr>
          <a:xfrm>
            <a:off x="6286500" y="4998022"/>
            <a:ext cx="5257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평일 과 주말 수요 모두 보장됨 차이가 뚜렷하지 않음</a:t>
            </a:r>
            <a:endParaRPr lang="en-US" sz="1050" dirty="0"/>
          </a:p>
        </p:txBody>
      </p:sp>
      <p:sp>
        <p:nvSpPr>
          <p:cNvPr id="60" name="Text 35"/>
          <p:cNvSpPr/>
          <p:nvPr/>
        </p:nvSpPr>
        <p:spPr>
          <a:xfrm>
            <a:off x="6286500" y="5226622"/>
            <a:ext cx="5257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여름과 겨울에 수요가 감소하는 계절 패턴</a:t>
            </a:r>
            <a:endParaRPr lang="en-US" sz="1050" dirty="0"/>
          </a:p>
        </p:txBody>
      </p:sp>
      <p:sp>
        <p:nvSpPr>
          <p:cNvPr id="61" name="Text 36"/>
          <p:cNvSpPr/>
          <p:nvPr/>
        </p:nvSpPr>
        <p:spPr>
          <a:xfrm>
            <a:off x="11220450" y="6553200"/>
            <a:ext cx="10629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Page 11/20</a:t>
            </a:r>
            <a:endParaRPr lang="en-US" sz="1050" dirty="0"/>
          </a:p>
        </p:txBody>
      </p:sp>
      <p:sp>
        <p:nvSpPr>
          <p:cNvPr id="62" name="Text 35">
            <a:extLst>
              <a:ext uri="{FF2B5EF4-FFF2-40B4-BE49-F238E27FC236}">
                <a16:creationId xmlns:a16="http://schemas.microsoft.com/office/drawing/2014/main" id="{AE450DFD-5C25-FF61-D95A-F04CA081092D}"/>
              </a:ext>
            </a:extLst>
          </p:cNvPr>
          <p:cNvSpPr/>
          <p:nvPr/>
        </p:nvSpPr>
        <p:spPr>
          <a:xfrm>
            <a:off x="6286500" y="5461272"/>
            <a:ext cx="5257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비선형의 임계 값 조건부 구조의 기상 요인</a:t>
            </a:r>
            <a:endParaRPr lang="en-US" altLang="ko-KR" sz="105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</a:endParaRPr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서울 인프라 연계형 수요 구조</a:t>
            </a:r>
            <a:endParaRPr lang="en-US" sz="1050" dirty="0"/>
          </a:p>
        </p:txBody>
      </p:sp>
      <p:sp>
        <p:nvSpPr>
          <p:cNvPr id="63" name="Text 15">
            <a:extLst>
              <a:ext uri="{FF2B5EF4-FFF2-40B4-BE49-F238E27FC236}">
                <a16:creationId xmlns:a16="http://schemas.microsoft.com/office/drawing/2014/main" id="{13E28791-676D-C85F-B57C-C62FD89A7738}"/>
              </a:ext>
            </a:extLst>
          </p:cNvPr>
          <p:cNvSpPr/>
          <p:nvPr/>
        </p:nvSpPr>
        <p:spPr>
          <a:xfrm>
            <a:off x="5274925" y="1948296"/>
            <a:ext cx="11315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highlight>
                  <a:srgbClr val="F3F4F6"/>
                </a:highlight>
                <a:latin typeface="Noto Sans KR" pitchFamily="34" charset="0"/>
                <a:ea typeface="Noto Sans KR" pitchFamily="34" charset="-122"/>
              </a:rPr>
              <a:t>8</a:t>
            </a:r>
            <a:r>
              <a:rPr lang="ko-KR" altLang="en-US" sz="900" dirty="0">
                <a:solidFill>
                  <a:srgbClr val="374151"/>
                </a:solidFill>
                <a:highlight>
                  <a:srgbClr val="F3F4F6"/>
                </a:highlight>
                <a:latin typeface="Noto Sans KR" pitchFamily="34" charset="0"/>
                <a:ea typeface="Noto Sans KR" pitchFamily="34" charset="-122"/>
              </a:rPr>
              <a:t>시</a:t>
            </a:r>
            <a:r>
              <a:rPr lang="en-US" altLang="ko-KR" sz="900" dirty="0">
                <a:solidFill>
                  <a:srgbClr val="374151"/>
                </a:solidFill>
                <a:highlight>
                  <a:srgbClr val="F3F4F6"/>
                </a:highlight>
                <a:latin typeface="Noto Sans KR" pitchFamily="34" charset="0"/>
                <a:ea typeface="Noto Sans KR" pitchFamily="34" charset="-122"/>
              </a:rPr>
              <a:t>/17</a:t>
            </a:r>
            <a:r>
              <a:rPr lang="ko-KR" altLang="en-US" sz="900" dirty="0">
                <a:solidFill>
                  <a:srgbClr val="374151"/>
                </a:solidFill>
                <a:highlight>
                  <a:srgbClr val="F3F4F6"/>
                </a:highlight>
                <a:latin typeface="Noto Sans KR" pitchFamily="34" charset="0"/>
                <a:ea typeface="Noto Sans KR" pitchFamily="34" charset="-122"/>
              </a:rPr>
              <a:t>시</a:t>
            </a:r>
            <a:endParaRPr lang="en-US" sz="900" dirty="0">
              <a:solidFill>
                <a:srgbClr val="374151"/>
              </a:solidFill>
              <a:highlight>
                <a:srgbClr val="F3F4F6"/>
              </a:highlight>
              <a:latin typeface="Noto Sans KR" pitchFamily="34" charset="0"/>
              <a:ea typeface="Noto Sans KR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3914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001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066800"/>
            <a:ext cx="11430000" cy="5943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266825"/>
            <a:ext cx="190500" cy="190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1266825"/>
            <a:ext cx="142875" cy="190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4419600"/>
            <a:ext cx="11125200" cy="2438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4572000"/>
            <a:ext cx="342900" cy="419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4648200"/>
            <a:ext cx="19050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5105400"/>
            <a:ext cx="108204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5638800"/>
            <a:ext cx="5334000" cy="1066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72200" y="5638800"/>
            <a:ext cx="5334000" cy="1066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077575" y="7086600"/>
            <a:ext cx="104775" cy="13335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EDA </a:t>
            </a:r>
            <a:r>
              <a:rPr lang="ko-KR" alt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분석 </a:t>
            </a:r>
            <a:r>
              <a:rPr lang="en-US" altLang="ko-KR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: </a:t>
            </a:r>
            <a:r>
              <a:rPr lang="en-US" sz="2250" b="1" dirty="0" err="1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종합</a:t>
            </a:r>
            <a:r>
              <a:rPr 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결론</a:t>
            </a:r>
            <a:endParaRPr lang="en-US" sz="2250" dirty="0"/>
          </a:p>
        </p:txBody>
      </p:sp>
      <p:sp>
        <p:nvSpPr>
          <p:cNvPr id="15" name="Text 1"/>
          <p:cNvSpPr/>
          <p:nvPr/>
        </p:nvSpPr>
        <p:spPr>
          <a:xfrm>
            <a:off x="800100" y="1219200"/>
            <a:ext cx="5410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질문의 답</a:t>
            </a:r>
            <a:endParaRPr lang="en-US" sz="1500" dirty="0"/>
          </a:p>
        </p:txBody>
      </p:sp>
      <p:sp>
        <p:nvSpPr>
          <p:cNvPr id="16" name="Text 2"/>
          <p:cNvSpPr/>
          <p:nvPr/>
        </p:nvSpPr>
        <p:spPr>
          <a:xfrm>
            <a:off x="838200" y="1638300"/>
            <a:ext cx="6126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자전거 수요는 </a:t>
            </a:r>
            <a:r>
              <a:rPr lang="en-US" altLang="ko-KR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</a:t>
            </a: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시간대 </a:t>
            </a:r>
            <a:r>
              <a:rPr lang="en-US" altLang="ko-KR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 </a:t>
            </a: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기상 </a:t>
            </a:r>
            <a:r>
              <a:rPr lang="en-US" altLang="ko-KR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 </a:t>
            </a: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입지</a:t>
            </a:r>
            <a:r>
              <a:rPr lang="en-US" altLang="ko-KR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(POI)’</a:t>
            </a: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의 결합 효과에 의해 결정된다</a:t>
            </a:r>
            <a:r>
              <a:rPr lang="en-US" altLang="ko-KR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200" dirty="0"/>
          </a:p>
        </p:txBody>
      </p:sp>
      <p:sp>
        <p:nvSpPr>
          <p:cNvPr id="17" name="Text 3"/>
          <p:cNvSpPr/>
          <p:nvPr/>
        </p:nvSpPr>
        <p:spPr>
          <a:xfrm>
            <a:off x="838200" y="1866900"/>
            <a:ext cx="476250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D.C., </a:t>
            </a:r>
            <a:r>
              <a:rPr 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</a:t>
            </a: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도시 모두 시간대 패턴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출퇴근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활동시간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 존재하나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도시별 이용 목적과 인프라 구조 차이로 변수 중요도가 달라진다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050" dirty="0"/>
          </a:p>
        </p:txBody>
      </p:sp>
      <p:sp>
        <p:nvSpPr>
          <p:cNvPr id="18" name="Text 4"/>
          <p:cNvSpPr/>
          <p:nvPr/>
        </p:nvSpPr>
        <p:spPr>
          <a:xfrm>
            <a:off x="838200" y="2336800"/>
            <a:ext cx="5105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출퇴근 기반 패턴은 공통적으로 관찰되지만</a:t>
            </a:r>
            <a:r>
              <a:rPr lang="en-US" altLang="ko-KR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강도와 형태가 도시별로 다르다</a:t>
            </a:r>
            <a:r>
              <a:rPr lang="en-US" altLang="ko-KR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200" dirty="0"/>
          </a:p>
        </p:txBody>
      </p:sp>
      <p:sp>
        <p:nvSpPr>
          <p:cNvPr id="19" name="Text 5"/>
          <p:cNvSpPr/>
          <p:nvPr/>
        </p:nvSpPr>
        <p:spPr>
          <a:xfrm>
            <a:off x="838200" y="2565400"/>
            <a:ext cx="61264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171450" indent="-171450" algn="l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서울의 경우 주말 평균 수요가 평일 보다  소폭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(2%)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높게 나타난다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</a:p>
          <a:p>
            <a:pPr marL="171450" indent="-171450" algn="l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DC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는 주말 레저 수요 비중이 커서 요일 효고와 변동성이 크다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.</a:t>
            </a:r>
            <a:endParaRPr lang="en-US" sz="1050" dirty="0"/>
          </a:p>
        </p:txBody>
      </p:sp>
      <p:sp>
        <p:nvSpPr>
          <p:cNvPr id="20" name="Text 6"/>
          <p:cNvSpPr/>
          <p:nvPr/>
        </p:nvSpPr>
        <p:spPr>
          <a:xfrm>
            <a:off x="838200" y="3086100"/>
            <a:ext cx="5105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POI (</a:t>
            </a: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도시 구조</a:t>
            </a:r>
            <a:r>
              <a:rPr lang="en-US" altLang="ko-KR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 </a:t>
            </a: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변수는 수요 상한을 규정하는 핵심 제약 조건으로 작동한다</a:t>
            </a:r>
            <a:r>
              <a:rPr lang="en-US" altLang="ko-KR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200" dirty="0"/>
          </a:p>
        </p:txBody>
      </p:sp>
      <p:sp>
        <p:nvSpPr>
          <p:cNvPr id="21" name="Text 7"/>
          <p:cNvSpPr/>
          <p:nvPr/>
        </p:nvSpPr>
        <p:spPr>
          <a:xfrm>
            <a:off x="838200" y="3314700"/>
            <a:ext cx="61264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POI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는 단순 상관이 낮아도 가까운 구간에서만 고수요가 발생하는 임계 구조를 만든다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050" dirty="0"/>
          </a:p>
        </p:txBody>
      </p:sp>
      <p:sp>
        <p:nvSpPr>
          <p:cNvPr id="22" name="Text 8"/>
          <p:cNvSpPr/>
          <p:nvPr/>
        </p:nvSpPr>
        <p:spPr>
          <a:xfrm>
            <a:off x="6467475" y="1219200"/>
            <a:ext cx="5410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모델링</a:t>
            </a: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방향</a:t>
            </a:r>
            <a:endParaRPr lang="en-US" sz="1500" dirty="0"/>
          </a:p>
        </p:txBody>
      </p:sp>
      <p:sp>
        <p:nvSpPr>
          <p:cNvPr id="23" name="Text 9"/>
          <p:cNvSpPr/>
          <p:nvPr/>
        </p:nvSpPr>
        <p:spPr>
          <a:xfrm>
            <a:off x="6553200" y="1638300"/>
            <a:ext cx="5105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서울별 특화 모델링 방식</a:t>
            </a:r>
            <a:endParaRPr lang="en-US" sz="1200" dirty="0"/>
          </a:p>
        </p:txBody>
      </p:sp>
      <p:sp>
        <p:nvSpPr>
          <p:cNvPr id="24" name="Text 10"/>
          <p:cNvSpPr/>
          <p:nvPr/>
        </p:nvSpPr>
        <p:spPr>
          <a:xfrm>
            <a:off x="6553200" y="1866900"/>
            <a:ext cx="5105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서울의 경우</a:t>
            </a:r>
            <a:endParaRPr lang="en-US" sz="1050" dirty="0"/>
          </a:p>
        </p:txBody>
      </p:sp>
      <p:sp>
        <p:nvSpPr>
          <p:cNvPr id="25" name="Text 11"/>
          <p:cNvSpPr/>
          <p:nvPr/>
        </p:nvSpPr>
        <p:spPr>
          <a:xfrm>
            <a:off x="6591300" y="2095500"/>
            <a:ext cx="5067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indent="-342900">
              <a:lnSpc>
                <a:spcPts val="1500"/>
              </a:lnSpc>
              <a:buSzPct val="100000"/>
              <a:buChar char="•"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공간 피처의 강화</a:t>
            </a:r>
            <a:endParaRPr lang="en-US" sz="105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26" name="Text 12"/>
          <p:cNvSpPr/>
          <p:nvPr/>
        </p:nvSpPr>
        <p:spPr>
          <a:xfrm>
            <a:off x="6591300" y="2362200"/>
            <a:ext cx="5067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POI 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유형별 역할을 반영한 상호작용 설계</a:t>
            </a:r>
            <a:endParaRPr lang="en-US" sz="105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27" name="Text 13"/>
          <p:cNvSpPr/>
          <p:nvPr/>
        </p:nvSpPr>
        <p:spPr>
          <a:xfrm>
            <a:off x="6591300" y="2628900"/>
            <a:ext cx="5067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indent="-342900">
              <a:lnSpc>
                <a:spcPts val="1500"/>
              </a:lnSpc>
              <a:buSzPct val="100000"/>
              <a:buChar char="•"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출퇴근 피크 반영을 위한 시간대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x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요일 상호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작용 및 비선형 처리</a:t>
            </a:r>
            <a:endParaRPr lang="en-US" sz="105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28" name="Text 14"/>
          <p:cNvSpPr/>
          <p:nvPr/>
        </p:nvSpPr>
        <p:spPr>
          <a:xfrm>
            <a:off x="6553200" y="2971800"/>
            <a:ext cx="5105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Washington 모델링 방식</a:t>
            </a:r>
            <a:endParaRPr lang="en-US" sz="1200" dirty="0"/>
          </a:p>
        </p:txBody>
      </p:sp>
      <p:sp>
        <p:nvSpPr>
          <p:cNvPr id="29" name="Text 15"/>
          <p:cNvSpPr/>
          <p:nvPr/>
        </p:nvSpPr>
        <p:spPr>
          <a:xfrm>
            <a:off x="6553200" y="3200400"/>
            <a:ext cx="5105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워싱턴의 경우</a:t>
            </a:r>
            <a:endParaRPr lang="en-US" sz="1050" dirty="0"/>
          </a:p>
        </p:txBody>
      </p:sp>
      <p:sp>
        <p:nvSpPr>
          <p:cNvPr id="30" name="Text 16"/>
          <p:cNvSpPr/>
          <p:nvPr/>
        </p:nvSpPr>
        <p:spPr>
          <a:xfrm>
            <a:off x="6591300" y="3429000"/>
            <a:ext cx="6080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indent="-342900">
              <a:lnSpc>
                <a:spcPts val="1500"/>
              </a:lnSpc>
              <a:buSzPct val="100000"/>
              <a:buChar char="•"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계절성과 주말효과가 강하므로 시즌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/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주말 구조를 우선 반영</a:t>
            </a:r>
            <a:endParaRPr lang="en-US" sz="105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31" name="Text 17"/>
          <p:cNvSpPr/>
          <p:nvPr/>
        </p:nvSpPr>
        <p:spPr>
          <a:xfrm>
            <a:off x="6591300" y="3695700"/>
            <a:ext cx="5067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indent="-342900">
              <a:lnSpc>
                <a:spcPts val="1500"/>
              </a:lnSpc>
              <a:buSzPct val="100000"/>
              <a:buChar char="•"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기상변수는 종합 상태 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+ 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주요 원인 변수의 조합으로 사용</a:t>
            </a:r>
            <a:endParaRPr lang="en-US" sz="105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32" name="Text 18"/>
          <p:cNvSpPr/>
          <p:nvPr/>
        </p:nvSpPr>
        <p:spPr>
          <a:xfrm>
            <a:off x="6591300" y="3962400"/>
            <a:ext cx="5067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indent="-342900">
              <a:lnSpc>
                <a:spcPts val="1500"/>
              </a:lnSpc>
              <a:buSzPct val="100000"/>
              <a:buChar char="•"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관광 레저 수요를 설명 할 수 있는 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POI 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요소의 비중 확대</a:t>
            </a:r>
            <a:endParaRPr lang="en-US" sz="105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33" name="Text 19"/>
          <p:cNvSpPr/>
          <p:nvPr/>
        </p:nvSpPr>
        <p:spPr>
          <a:xfrm>
            <a:off x="1143000" y="4648200"/>
            <a:ext cx="8915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종합 결론</a:t>
            </a:r>
            <a:endParaRPr lang="en-US" sz="1500" dirty="0"/>
          </a:p>
        </p:txBody>
      </p:sp>
      <p:sp>
        <p:nvSpPr>
          <p:cNvPr id="34" name="Text 20"/>
          <p:cNvSpPr/>
          <p:nvPr/>
        </p:nvSpPr>
        <p:spPr>
          <a:xfrm>
            <a:off x="685800" y="5105400"/>
            <a:ext cx="10820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500"/>
              </a:lnSpc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자전거 수요 예측의 성능은 과거 수요 패턴보다 각 도시의 이동 맥락을 반영한 시간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·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기상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·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공간 조건을 얼마나 정교하게 </a:t>
            </a:r>
            <a:r>
              <a:rPr lang="ko-KR" alt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모델링하느냐에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 의해 결정 될 것으로 예상된다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.</a:t>
            </a:r>
            <a:b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따라서 도시별로 피처 중요도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·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상호작용 구조를 달리 설계하는 ‘도시 맞춤형 </a:t>
            </a:r>
            <a:r>
              <a:rPr lang="ko-KR" alt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모델링’이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 필요</a:t>
            </a:r>
            <a:endParaRPr lang="en-US" sz="105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35" name="Text 21"/>
          <p:cNvSpPr/>
          <p:nvPr/>
        </p:nvSpPr>
        <p:spPr>
          <a:xfrm>
            <a:off x="800100" y="5753100"/>
            <a:ext cx="5105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D.C. 모델링</a:t>
            </a:r>
            <a:endParaRPr lang="en-US" sz="1200" dirty="0"/>
          </a:p>
        </p:txBody>
      </p:sp>
      <p:sp>
        <p:nvSpPr>
          <p:cNvPr id="36" name="Text 22"/>
          <p:cNvSpPr/>
          <p:nvPr/>
        </p:nvSpPr>
        <p:spPr>
          <a:xfrm>
            <a:off x="800100" y="6019800"/>
            <a:ext cx="5105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계절성 주말 효과를 중심으로 기본베이스라인을 안정화</a:t>
            </a:r>
            <a:endParaRPr lang="en-US" altLang="ko-KR" sz="105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</a:endParaRPr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날씨 조합으로 기상 </a:t>
            </a:r>
            <a:r>
              <a:rPr lang="ko-KR" alt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영햐의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 비선형 반응 포착</a:t>
            </a:r>
            <a:endParaRPr lang="en-US" altLang="ko-KR" sz="105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</a:endParaRPr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공원 관광 레저 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POI 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기반 공간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수요 잠재력 반영</a:t>
            </a:r>
            <a:endParaRPr lang="en-US" sz="105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39" name="Text 25"/>
          <p:cNvSpPr/>
          <p:nvPr/>
        </p:nvSpPr>
        <p:spPr>
          <a:xfrm>
            <a:off x="6286500" y="5753100"/>
            <a:ext cx="5105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 모델링</a:t>
            </a:r>
            <a:endParaRPr lang="en-US" sz="1200" dirty="0"/>
          </a:p>
        </p:txBody>
      </p:sp>
      <p:sp>
        <p:nvSpPr>
          <p:cNvPr id="40" name="Text 26"/>
          <p:cNvSpPr/>
          <p:nvPr/>
        </p:nvSpPr>
        <p:spPr>
          <a:xfrm>
            <a:off x="6286500" y="6019800"/>
            <a:ext cx="5105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지하철역 버스 정류장 접근성 기반 환승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/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통근 수요 핵심 반영</a:t>
            </a:r>
            <a:endParaRPr lang="en-US" altLang="ko-KR" sz="105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</a:endParaRPr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시간대 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/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요일 상호작용 강조하여 출퇴근 패턴을 구조적 학습</a:t>
            </a:r>
            <a:endParaRPr lang="en-US" altLang="ko-KR" sz="105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</a:endParaRPr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학교 업무지구  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POI 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유형별 역할 분해로 입지기반 수요 상한 모델링</a:t>
            </a:r>
            <a:endParaRPr lang="en-US" sz="105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43" name="Text 29"/>
          <p:cNvSpPr/>
          <p:nvPr/>
        </p:nvSpPr>
        <p:spPr>
          <a:xfrm>
            <a:off x="11220450" y="7048500"/>
            <a:ext cx="10629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Page 13/20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001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066800"/>
            <a:ext cx="6720780" cy="1181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77575" y="6553200"/>
            <a:ext cx="104775" cy="13335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ko-KR" alt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모델링 전략 설계 </a:t>
            </a:r>
            <a:r>
              <a:rPr lang="en-US" altLang="ko-KR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: </a:t>
            </a:r>
            <a:r>
              <a:rPr lang="ko-KR" alt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피처 설계</a:t>
            </a:r>
            <a:endParaRPr lang="en-US" sz="2250" dirty="0"/>
          </a:p>
        </p:txBody>
      </p:sp>
      <p:sp>
        <p:nvSpPr>
          <p:cNvPr id="17" name="Text 1"/>
          <p:cNvSpPr/>
          <p:nvPr/>
        </p:nvSpPr>
        <p:spPr>
          <a:xfrm>
            <a:off x="876300" y="1257300"/>
            <a:ext cx="63397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문제 정의 </a:t>
            </a:r>
            <a:endParaRPr lang="en-US" sz="1500" dirty="0"/>
          </a:p>
        </p:txBody>
      </p:sp>
      <p:sp>
        <p:nvSpPr>
          <p:cNvPr id="28" name="Text 12"/>
          <p:cNvSpPr/>
          <p:nvPr/>
        </p:nvSpPr>
        <p:spPr>
          <a:xfrm>
            <a:off x="11220450" y="6515100"/>
            <a:ext cx="10629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Page 15/20</a:t>
            </a:r>
            <a:endParaRPr lang="en-US" sz="1050" dirty="0"/>
          </a:p>
        </p:txBody>
      </p:sp>
      <p:pic>
        <p:nvPicPr>
          <p:cNvPr id="29" name="Image 3" descr="preencoded.png">
            <a:extLst>
              <a:ext uri="{FF2B5EF4-FFF2-40B4-BE49-F238E27FC236}">
                <a16:creationId xmlns:a16="http://schemas.microsoft.com/office/drawing/2014/main" id="{6A47520C-6523-224B-0905-554D92CC97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350" y="1257300"/>
            <a:ext cx="228600" cy="2286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85E1B410-9866-C6A5-1700-A526E227BD46}"/>
              </a:ext>
            </a:extLst>
          </p:cNvPr>
          <p:cNvSpPr txBox="1"/>
          <p:nvPr/>
        </p:nvSpPr>
        <p:spPr>
          <a:xfrm>
            <a:off x="876300" y="1529854"/>
            <a:ext cx="4823756" cy="6095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타겟</a:t>
            </a:r>
            <a:r>
              <a:rPr lang="en-US" altLang="ko-KR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 :  </a:t>
            </a:r>
            <a:r>
              <a:rPr lang="ko-KR" alt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수요량</a:t>
            </a:r>
            <a:r>
              <a:rPr lang="en-US" altLang="ko-KR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rental_count</a:t>
            </a:r>
            <a:r>
              <a:rPr lang="en-US" altLang="ko-KR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)</a:t>
            </a:r>
            <a:r>
              <a:rPr lang="ko-KR" alt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의 회귀</a:t>
            </a:r>
            <a:r>
              <a:rPr lang="en-US" altLang="ko-KR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(Regression)</a:t>
            </a:r>
            <a:r>
              <a:rPr lang="ko-KR" alt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 예측</a:t>
            </a:r>
            <a:endParaRPr lang="en-US" altLang="ko-KR" sz="1200" dirty="0">
              <a:solidFill>
                <a:srgbClr val="000000"/>
              </a:solidFill>
              <a:latin typeface="Noto Sans KR" pitchFamily="34" charset="0"/>
              <a:ea typeface="Noto Sans KR" pitchFamily="34" charset="-122"/>
            </a:endParaRPr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도시 단위로 분리 학습 </a:t>
            </a:r>
            <a:r>
              <a:rPr lang="en-US" altLang="ko-KR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(</a:t>
            </a:r>
            <a:r>
              <a:rPr lang="ko-KR" alt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도시별 데이터 스키마 차이는 코드에서 흡수</a:t>
            </a:r>
            <a:r>
              <a:rPr lang="en-US" altLang="ko-KR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) </a:t>
            </a:r>
            <a:endParaRPr lang="ko-KR" altLang="en-US" sz="1500" dirty="0">
              <a:solidFill>
                <a:srgbClr val="000000"/>
              </a:solidFill>
              <a:latin typeface="Noto Sans KR" pitchFamily="34" charset="0"/>
              <a:ea typeface="Noto Sans KR" pitchFamily="34" charset="-122"/>
            </a:endParaRPr>
          </a:p>
        </p:txBody>
      </p:sp>
      <p:pic>
        <p:nvPicPr>
          <p:cNvPr id="36" name="Image 2" descr="preencoded.png">
            <a:extLst>
              <a:ext uri="{FF2B5EF4-FFF2-40B4-BE49-F238E27FC236}">
                <a16:creationId xmlns:a16="http://schemas.microsoft.com/office/drawing/2014/main" id="{F853DEA7-CDAD-5220-54CD-C6718BE14B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2324100"/>
            <a:ext cx="6720780" cy="596900"/>
          </a:xfrm>
          <a:prstGeom prst="rect">
            <a:avLst/>
          </a:prstGeom>
          <a:solidFill>
            <a:srgbClr val="FF0000"/>
          </a:solidFill>
        </p:spPr>
      </p:pic>
      <p:pic>
        <p:nvPicPr>
          <p:cNvPr id="37" name="Image 10" descr="preencoded.png">
            <a:extLst>
              <a:ext uri="{FF2B5EF4-FFF2-40B4-BE49-F238E27FC236}">
                <a16:creationId xmlns:a16="http://schemas.microsoft.com/office/drawing/2014/main" id="{30749CB7-C76A-0FF5-A24D-BDBE3EB8269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" y="2476500"/>
            <a:ext cx="228600" cy="228600"/>
          </a:xfrm>
          <a:prstGeom prst="rect">
            <a:avLst/>
          </a:prstGeom>
        </p:spPr>
      </p:pic>
      <p:sp>
        <p:nvSpPr>
          <p:cNvPr id="38" name="Text 1">
            <a:extLst>
              <a:ext uri="{FF2B5EF4-FFF2-40B4-BE49-F238E27FC236}">
                <a16:creationId xmlns:a16="http://schemas.microsoft.com/office/drawing/2014/main" id="{8B7F1F07-3FBE-0433-25F3-7E4FD20F9265}"/>
              </a:ext>
            </a:extLst>
          </p:cNvPr>
          <p:cNvSpPr/>
          <p:nvPr/>
        </p:nvSpPr>
        <p:spPr>
          <a:xfrm>
            <a:off x="876300" y="2476500"/>
            <a:ext cx="63397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피처 전략 </a:t>
            </a:r>
            <a:r>
              <a:rPr lang="en-US" altLang="ko-KR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: Time + Weather + POI </a:t>
            </a:r>
            <a:r>
              <a:rPr lang="ko-KR" alt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결합</a:t>
            </a:r>
            <a:endParaRPr lang="en-US" sz="1500" dirty="0"/>
          </a:p>
        </p:txBody>
      </p:sp>
      <p:pic>
        <p:nvPicPr>
          <p:cNvPr id="40" name="Image 11" descr="preencoded.png">
            <a:extLst>
              <a:ext uri="{FF2B5EF4-FFF2-40B4-BE49-F238E27FC236}">
                <a16:creationId xmlns:a16="http://schemas.microsoft.com/office/drawing/2014/main" id="{CC004BCB-C0C8-F706-C90A-39497CB7947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869" y="3086100"/>
            <a:ext cx="2044750" cy="2019300"/>
          </a:xfrm>
          <a:prstGeom prst="rect">
            <a:avLst/>
          </a:prstGeom>
        </p:spPr>
      </p:pic>
      <p:pic>
        <p:nvPicPr>
          <p:cNvPr id="41" name="Image 12" descr="preencoded.png">
            <a:extLst>
              <a:ext uri="{FF2B5EF4-FFF2-40B4-BE49-F238E27FC236}">
                <a16:creationId xmlns:a16="http://schemas.microsoft.com/office/drawing/2014/main" id="{BF1379F6-99EC-206B-2E72-08560A3D58E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0269" y="3238500"/>
            <a:ext cx="200025" cy="304800"/>
          </a:xfrm>
          <a:prstGeom prst="rect">
            <a:avLst/>
          </a:prstGeom>
        </p:spPr>
      </p:pic>
      <p:pic>
        <p:nvPicPr>
          <p:cNvPr id="42" name="Image 13" descr="preencoded.png">
            <a:extLst>
              <a:ext uri="{FF2B5EF4-FFF2-40B4-BE49-F238E27FC236}">
                <a16:creationId xmlns:a16="http://schemas.microsoft.com/office/drawing/2014/main" id="{E7A4F3D9-75FF-D78B-0550-4EFB21FC231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0269" y="3695700"/>
            <a:ext cx="114300" cy="152400"/>
          </a:xfrm>
          <a:prstGeom prst="rect">
            <a:avLst/>
          </a:prstGeom>
        </p:spPr>
      </p:pic>
      <p:pic>
        <p:nvPicPr>
          <p:cNvPr id="43" name="Image 14" descr="preencoded.png">
            <a:extLst>
              <a:ext uri="{FF2B5EF4-FFF2-40B4-BE49-F238E27FC236}">
                <a16:creationId xmlns:a16="http://schemas.microsoft.com/office/drawing/2014/main" id="{F16177A0-993E-D419-FF37-BBA1C23C42F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0269" y="3962400"/>
            <a:ext cx="114300" cy="152400"/>
          </a:xfrm>
          <a:prstGeom prst="rect">
            <a:avLst/>
          </a:prstGeom>
        </p:spPr>
      </p:pic>
      <p:pic>
        <p:nvPicPr>
          <p:cNvPr id="44" name="Image 15" descr="preencoded.png">
            <a:extLst>
              <a:ext uri="{FF2B5EF4-FFF2-40B4-BE49-F238E27FC236}">
                <a16:creationId xmlns:a16="http://schemas.microsoft.com/office/drawing/2014/main" id="{2AEE317B-6827-0645-CE79-68A17D51672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0269" y="4229100"/>
            <a:ext cx="114300" cy="152400"/>
          </a:xfrm>
          <a:prstGeom prst="rect">
            <a:avLst/>
          </a:prstGeom>
        </p:spPr>
      </p:pic>
      <p:pic>
        <p:nvPicPr>
          <p:cNvPr id="45" name="Image 16" descr="preencoded.png">
            <a:extLst>
              <a:ext uri="{FF2B5EF4-FFF2-40B4-BE49-F238E27FC236}">
                <a16:creationId xmlns:a16="http://schemas.microsoft.com/office/drawing/2014/main" id="{5099F093-7088-E4B6-7D77-F1048318D32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03090" y="3086100"/>
            <a:ext cx="2044750" cy="2019300"/>
          </a:xfrm>
          <a:prstGeom prst="rect">
            <a:avLst/>
          </a:prstGeom>
        </p:spPr>
      </p:pic>
      <p:pic>
        <p:nvPicPr>
          <p:cNvPr id="46" name="Image 17" descr="preencoded.png">
            <a:extLst>
              <a:ext uri="{FF2B5EF4-FFF2-40B4-BE49-F238E27FC236}">
                <a16:creationId xmlns:a16="http://schemas.microsoft.com/office/drawing/2014/main" id="{A48C36D7-D210-8C8F-F8E8-17F66ACC23C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55490" y="3238500"/>
            <a:ext cx="285750" cy="304800"/>
          </a:xfrm>
          <a:prstGeom prst="rect">
            <a:avLst/>
          </a:prstGeom>
        </p:spPr>
      </p:pic>
      <p:pic>
        <p:nvPicPr>
          <p:cNvPr id="47" name="Image 18" descr="preencoded.png">
            <a:extLst>
              <a:ext uri="{FF2B5EF4-FFF2-40B4-BE49-F238E27FC236}">
                <a16:creationId xmlns:a16="http://schemas.microsoft.com/office/drawing/2014/main" id="{E450BB2D-5DD6-73AA-1E8B-5B65DE528AE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55490" y="3695700"/>
            <a:ext cx="114300" cy="152400"/>
          </a:xfrm>
          <a:prstGeom prst="rect">
            <a:avLst/>
          </a:prstGeom>
        </p:spPr>
      </p:pic>
      <p:pic>
        <p:nvPicPr>
          <p:cNvPr id="48" name="Image 19" descr="preencoded.png">
            <a:extLst>
              <a:ext uri="{FF2B5EF4-FFF2-40B4-BE49-F238E27FC236}">
                <a16:creationId xmlns:a16="http://schemas.microsoft.com/office/drawing/2014/main" id="{E39EB2FA-8FA3-9042-CD1B-5E3EF2D84BB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55490" y="3962400"/>
            <a:ext cx="114300" cy="152400"/>
          </a:xfrm>
          <a:prstGeom prst="rect">
            <a:avLst/>
          </a:prstGeom>
        </p:spPr>
      </p:pic>
      <p:pic>
        <p:nvPicPr>
          <p:cNvPr id="49" name="Image 20" descr="preencoded.png">
            <a:extLst>
              <a:ext uri="{FF2B5EF4-FFF2-40B4-BE49-F238E27FC236}">
                <a16:creationId xmlns:a16="http://schemas.microsoft.com/office/drawing/2014/main" id="{F8263E92-07D5-2DE3-E39E-4E728944637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55490" y="4229100"/>
            <a:ext cx="114300" cy="152400"/>
          </a:xfrm>
          <a:prstGeom prst="rect">
            <a:avLst/>
          </a:prstGeom>
        </p:spPr>
      </p:pic>
      <p:pic>
        <p:nvPicPr>
          <p:cNvPr id="50" name="Image 21" descr="preencoded.png">
            <a:extLst>
              <a:ext uri="{FF2B5EF4-FFF2-40B4-BE49-F238E27FC236}">
                <a16:creationId xmlns:a16="http://schemas.microsoft.com/office/drawing/2014/main" id="{D7F56F79-80F9-8C74-29CE-ADD93B27E40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55490" y="4495800"/>
            <a:ext cx="114300" cy="152400"/>
          </a:xfrm>
          <a:prstGeom prst="rect">
            <a:avLst/>
          </a:prstGeom>
        </p:spPr>
      </p:pic>
      <p:pic>
        <p:nvPicPr>
          <p:cNvPr id="51" name="Image 22" descr="preencoded.png">
            <a:extLst>
              <a:ext uri="{FF2B5EF4-FFF2-40B4-BE49-F238E27FC236}">
                <a16:creationId xmlns:a16="http://schemas.microsoft.com/office/drawing/2014/main" id="{D7BDC3CE-2391-3188-3E99-208544D0059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55490" y="4762500"/>
            <a:ext cx="114300" cy="152400"/>
          </a:xfrm>
          <a:prstGeom prst="rect">
            <a:avLst/>
          </a:prstGeom>
        </p:spPr>
      </p:pic>
      <p:pic>
        <p:nvPicPr>
          <p:cNvPr id="52" name="Image 23" descr="preencoded.png">
            <a:extLst>
              <a:ext uri="{FF2B5EF4-FFF2-40B4-BE49-F238E27FC236}">
                <a16:creationId xmlns:a16="http://schemas.microsoft.com/office/drawing/2014/main" id="{243954B4-2BCB-4C8F-067D-1903D36F8D5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09440" y="3086100"/>
            <a:ext cx="2044750" cy="2019300"/>
          </a:xfrm>
          <a:prstGeom prst="rect">
            <a:avLst/>
          </a:prstGeom>
        </p:spPr>
      </p:pic>
      <p:pic>
        <p:nvPicPr>
          <p:cNvPr id="53" name="Image 24" descr="preencoded.png">
            <a:extLst>
              <a:ext uri="{FF2B5EF4-FFF2-40B4-BE49-F238E27FC236}">
                <a16:creationId xmlns:a16="http://schemas.microsoft.com/office/drawing/2014/main" id="{5E674BC8-878C-AB0D-5A5A-E16A999CFCC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61840" y="3238500"/>
            <a:ext cx="171450" cy="304800"/>
          </a:xfrm>
          <a:prstGeom prst="rect">
            <a:avLst/>
          </a:prstGeom>
        </p:spPr>
      </p:pic>
      <p:pic>
        <p:nvPicPr>
          <p:cNvPr id="54" name="Image 25" descr="preencoded.png">
            <a:extLst>
              <a:ext uri="{FF2B5EF4-FFF2-40B4-BE49-F238E27FC236}">
                <a16:creationId xmlns:a16="http://schemas.microsoft.com/office/drawing/2014/main" id="{179B21B8-CFB3-9198-8714-A4FBEC9A7C9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61840" y="3695700"/>
            <a:ext cx="114300" cy="152400"/>
          </a:xfrm>
          <a:prstGeom prst="rect">
            <a:avLst/>
          </a:prstGeom>
        </p:spPr>
      </p:pic>
      <p:pic>
        <p:nvPicPr>
          <p:cNvPr id="55" name="Image 26" descr="preencoded.png">
            <a:extLst>
              <a:ext uri="{FF2B5EF4-FFF2-40B4-BE49-F238E27FC236}">
                <a16:creationId xmlns:a16="http://schemas.microsoft.com/office/drawing/2014/main" id="{07CDB077-31ED-E760-0317-5622A87A029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61840" y="3962400"/>
            <a:ext cx="114300" cy="152400"/>
          </a:xfrm>
          <a:prstGeom prst="rect">
            <a:avLst/>
          </a:prstGeom>
        </p:spPr>
      </p:pic>
      <p:pic>
        <p:nvPicPr>
          <p:cNvPr id="56" name="Image 27" descr="preencoded.png">
            <a:extLst>
              <a:ext uri="{FF2B5EF4-FFF2-40B4-BE49-F238E27FC236}">
                <a16:creationId xmlns:a16="http://schemas.microsoft.com/office/drawing/2014/main" id="{71C46A7A-BE5F-B765-BCCE-AC4F2C6360B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61840" y="4343400"/>
            <a:ext cx="114300" cy="152400"/>
          </a:xfrm>
          <a:prstGeom prst="rect">
            <a:avLst/>
          </a:prstGeom>
        </p:spPr>
      </p:pic>
      <p:sp>
        <p:nvSpPr>
          <p:cNvPr id="57" name="Text 10">
            <a:extLst>
              <a:ext uri="{FF2B5EF4-FFF2-40B4-BE49-F238E27FC236}">
                <a16:creationId xmlns:a16="http://schemas.microsoft.com/office/drawing/2014/main" id="{3BE2C9D2-998E-FBF9-2C22-5388826094AC}"/>
              </a:ext>
            </a:extLst>
          </p:cNvPr>
          <p:cNvSpPr/>
          <p:nvPr/>
        </p:nvSpPr>
        <p:spPr>
          <a:xfrm>
            <a:off x="794594" y="3257550"/>
            <a:ext cx="62757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Time</a:t>
            </a:r>
            <a:endParaRPr lang="en-US" sz="1500" dirty="0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455C406E-03FB-94C4-1C59-8AC152EE2125}"/>
              </a:ext>
            </a:extLst>
          </p:cNvPr>
          <p:cNvSpPr/>
          <p:nvPr/>
        </p:nvSpPr>
        <p:spPr>
          <a:xfrm>
            <a:off x="480269" y="3657600"/>
            <a:ext cx="19304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month</a:t>
            </a:r>
            <a:endParaRPr lang="en-US" sz="1200" dirty="0"/>
          </a:p>
        </p:txBody>
      </p:sp>
      <p:sp>
        <p:nvSpPr>
          <p:cNvPr id="59" name="Text 12">
            <a:extLst>
              <a:ext uri="{FF2B5EF4-FFF2-40B4-BE49-F238E27FC236}">
                <a16:creationId xmlns:a16="http://schemas.microsoft.com/office/drawing/2014/main" id="{E71754F6-BA03-8BFD-CD5E-EB2F5121915D}"/>
              </a:ext>
            </a:extLst>
          </p:cNvPr>
          <p:cNvSpPr/>
          <p:nvPr/>
        </p:nvSpPr>
        <p:spPr>
          <a:xfrm>
            <a:off x="480269" y="3924300"/>
            <a:ext cx="19304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weekend</a:t>
            </a:r>
            <a:endParaRPr lang="en-US" sz="1200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D87E7EF0-FAD0-BF2E-51A7-20455684E7EA}"/>
              </a:ext>
            </a:extLst>
          </p:cNvPr>
          <p:cNvSpPr/>
          <p:nvPr/>
        </p:nvSpPr>
        <p:spPr>
          <a:xfrm>
            <a:off x="480269" y="4191000"/>
            <a:ext cx="23165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quarter_flag</a:t>
            </a:r>
            <a:endParaRPr lang="en-US" sz="1200" dirty="0"/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0A3B4C02-5F08-F88E-C44A-0EBF6B89B73C}"/>
              </a:ext>
            </a:extLst>
          </p:cNvPr>
          <p:cNvSpPr/>
          <p:nvPr/>
        </p:nvSpPr>
        <p:spPr>
          <a:xfrm>
            <a:off x="3255540" y="3257550"/>
            <a:ext cx="109317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91C1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Weather</a:t>
            </a:r>
            <a:endParaRPr lang="en-US" sz="1500" dirty="0"/>
          </a:p>
        </p:txBody>
      </p:sp>
      <p:sp>
        <p:nvSpPr>
          <p:cNvPr id="62" name="Text 15">
            <a:extLst>
              <a:ext uri="{FF2B5EF4-FFF2-40B4-BE49-F238E27FC236}">
                <a16:creationId xmlns:a16="http://schemas.microsoft.com/office/drawing/2014/main" id="{8192501E-BAE7-508B-4700-38F81768DB1C}"/>
              </a:ext>
            </a:extLst>
          </p:cNvPr>
          <p:cNvSpPr/>
          <p:nvPr/>
        </p:nvSpPr>
        <p:spPr>
          <a:xfrm>
            <a:off x="2855490" y="3657600"/>
            <a:ext cx="23165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temperature</a:t>
            </a:r>
            <a:endParaRPr lang="en-US" sz="1200" dirty="0"/>
          </a:p>
        </p:txBody>
      </p:sp>
      <p:sp>
        <p:nvSpPr>
          <p:cNvPr id="63" name="Text 16">
            <a:extLst>
              <a:ext uri="{FF2B5EF4-FFF2-40B4-BE49-F238E27FC236}">
                <a16:creationId xmlns:a16="http://schemas.microsoft.com/office/drawing/2014/main" id="{B7D57F9C-9D23-F629-EE52-F5404266766E}"/>
              </a:ext>
            </a:extLst>
          </p:cNvPr>
          <p:cNvSpPr/>
          <p:nvPr/>
        </p:nvSpPr>
        <p:spPr>
          <a:xfrm>
            <a:off x="2855490" y="3924300"/>
            <a:ext cx="23165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Precipitation</a:t>
            </a:r>
            <a:endParaRPr lang="en-US" sz="1200" dirty="0"/>
          </a:p>
        </p:txBody>
      </p:sp>
      <p:sp>
        <p:nvSpPr>
          <p:cNvPr id="64" name="Text 17">
            <a:extLst>
              <a:ext uri="{FF2B5EF4-FFF2-40B4-BE49-F238E27FC236}">
                <a16:creationId xmlns:a16="http://schemas.microsoft.com/office/drawing/2014/main" id="{E748349C-C42D-5209-F0B5-BA019F89BFF5}"/>
              </a:ext>
            </a:extLst>
          </p:cNvPr>
          <p:cNvSpPr/>
          <p:nvPr/>
        </p:nvSpPr>
        <p:spPr>
          <a:xfrm>
            <a:off x="2855490" y="4191000"/>
            <a:ext cx="19304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windspeed</a:t>
            </a:r>
            <a:endParaRPr lang="en-US" sz="1200" dirty="0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77C8E237-E96C-7EF2-A55D-488526C925C5}"/>
              </a:ext>
            </a:extLst>
          </p:cNvPr>
          <p:cNvSpPr/>
          <p:nvPr/>
        </p:nvSpPr>
        <p:spPr>
          <a:xfrm>
            <a:off x="2855490" y="4457700"/>
            <a:ext cx="19304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humidity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536E27FC-F141-46D1-E8A4-A64C09BF595A}"/>
              </a:ext>
            </a:extLst>
          </p:cNvPr>
          <p:cNvSpPr/>
          <p:nvPr/>
        </p:nvSpPr>
        <p:spPr>
          <a:xfrm>
            <a:off x="2855490" y="4724400"/>
            <a:ext cx="19304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sunshine</a:t>
            </a:r>
            <a:endParaRPr lang="en-US" sz="12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A9B6BB84-772C-4BF7-FEC8-2E055D38B9F3}"/>
              </a:ext>
            </a:extLst>
          </p:cNvPr>
          <p:cNvSpPr/>
          <p:nvPr/>
        </p:nvSpPr>
        <p:spPr>
          <a:xfrm>
            <a:off x="5547590" y="3257550"/>
            <a:ext cx="4470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POI</a:t>
            </a:r>
            <a:endParaRPr lang="en-US" sz="15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97026E55-A43B-D5DE-4CBC-CE11B3090F1B}"/>
              </a:ext>
            </a:extLst>
          </p:cNvPr>
          <p:cNvSpPr/>
          <p:nvPr/>
        </p:nvSpPr>
        <p:spPr>
          <a:xfrm>
            <a:off x="5261840" y="3657600"/>
            <a:ext cx="23165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Holding quantity</a:t>
            </a:r>
            <a:endParaRPr lang="en-US" sz="1200" dirty="0"/>
          </a:p>
        </p:txBody>
      </p:sp>
      <p:sp>
        <p:nvSpPr>
          <p:cNvPr id="69" name="Text 22">
            <a:extLst>
              <a:ext uri="{FF2B5EF4-FFF2-40B4-BE49-F238E27FC236}">
                <a16:creationId xmlns:a16="http://schemas.microsoft.com/office/drawing/2014/main" id="{8407605E-BA9B-ADFF-997C-B3CDC3C4F30B}"/>
              </a:ext>
            </a:extLst>
          </p:cNvPr>
          <p:cNvSpPr/>
          <p:nvPr/>
        </p:nvSpPr>
        <p:spPr>
          <a:xfrm>
            <a:off x="5261840" y="3924300"/>
            <a:ext cx="19304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POI 거리</a:t>
            </a:r>
            <a:endParaRPr lang="en-US" sz="1200" dirty="0"/>
          </a:p>
        </p:txBody>
      </p:sp>
      <p:sp>
        <p:nvSpPr>
          <p:cNvPr id="70" name="Text 23">
            <a:extLst>
              <a:ext uri="{FF2B5EF4-FFF2-40B4-BE49-F238E27FC236}">
                <a16:creationId xmlns:a16="http://schemas.microsoft.com/office/drawing/2014/main" id="{8A1E7EF3-EC66-E935-A9CC-1BB3196F38CF}"/>
              </a:ext>
            </a:extLst>
          </p:cNvPr>
          <p:cNvSpPr/>
          <p:nvPr/>
        </p:nvSpPr>
        <p:spPr>
          <a:xfrm>
            <a:off x="5278881" y="4279900"/>
            <a:ext cx="19304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반경별 개수 피처(100~2000m)</a:t>
            </a:r>
            <a:endParaRPr lang="en-US" sz="1200" dirty="0"/>
          </a:p>
        </p:txBody>
      </p:sp>
      <p:pic>
        <p:nvPicPr>
          <p:cNvPr id="90" name="Image 13" descr="preencoded.png">
            <a:extLst>
              <a:ext uri="{FF2B5EF4-FFF2-40B4-BE49-F238E27FC236}">
                <a16:creationId xmlns:a16="http://schemas.microsoft.com/office/drawing/2014/main" id="{ED42F918-9EC3-443E-1F95-06362DD8B9B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flipV="1">
            <a:off x="254121" y="5408312"/>
            <a:ext cx="11430000" cy="1031995"/>
          </a:xfrm>
          <a:prstGeom prst="rect">
            <a:avLst/>
          </a:prstGeom>
        </p:spPr>
      </p:pic>
      <p:sp>
        <p:nvSpPr>
          <p:cNvPr id="92" name="Text 2">
            <a:extLst>
              <a:ext uri="{FF2B5EF4-FFF2-40B4-BE49-F238E27FC236}">
                <a16:creationId xmlns:a16="http://schemas.microsoft.com/office/drawing/2014/main" id="{602B5E88-AE27-8285-53EE-CE4CCD5D8EAB}"/>
              </a:ext>
            </a:extLst>
          </p:cNvPr>
          <p:cNvSpPr/>
          <p:nvPr/>
        </p:nvSpPr>
        <p:spPr>
          <a:xfrm>
            <a:off x="706559" y="5509914"/>
            <a:ext cx="1943100" cy="2494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전략적 의미</a:t>
            </a:r>
            <a:endParaRPr lang="en-US" sz="12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7977F0A-7DBA-A242-FFDC-8693C7F4DF0D}"/>
              </a:ext>
            </a:extLst>
          </p:cNvPr>
          <p:cNvSpPr txBox="1"/>
          <p:nvPr/>
        </p:nvSpPr>
        <p:spPr>
          <a:xfrm>
            <a:off x="477959" y="5758751"/>
            <a:ext cx="11277600" cy="302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EDA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에서 도출한 “수요는 시간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·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날씨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·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공간의 결합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(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조건부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)”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이라는 구조를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, 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코드가 그대로 피처 그룹화 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+ all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결합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.</a:t>
            </a:r>
            <a:endParaRPr lang="ko-KR" altLang="en-US" sz="12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</a:endParaRPr>
          </a:p>
        </p:txBody>
      </p:sp>
      <p:pic>
        <p:nvPicPr>
          <p:cNvPr id="97" name="Image 2" descr="preencoded.png">
            <a:extLst>
              <a:ext uri="{FF2B5EF4-FFF2-40B4-BE49-F238E27FC236}">
                <a16:creationId xmlns:a16="http://schemas.microsoft.com/office/drawing/2014/main" id="{7A64C6BC-0353-5472-A4AC-5B248420F2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4095" y="1074340"/>
            <a:ext cx="4423555" cy="4022016"/>
          </a:xfrm>
          <a:prstGeom prst="rect">
            <a:avLst/>
          </a:prstGeom>
        </p:spPr>
      </p:pic>
      <p:pic>
        <p:nvPicPr>
          <p:cNvPr id="94" name="Image 7" descr="preencoded.png">
            <a:extLst>
              <a:ext uri="{FF2B5EF4-FFF2-40B4-BE49-F238E27FC236}">
                <a16:creationId xmlns:a16="http://schemas.microsoft.com/office/drawing/2014/main" id="{872A59BE-B7C4-3736-CD83-65AB72C6C41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65981" y="5550608"/>
            <a:ext cx="142875" cy="190500"/>
          </a:xfrm>
          <a:prstGeom prst="rect">
            <a:avLst/>
          </a:prstGeom>
        </p:spPr>
      </p:pic>
      <p:pic>
        <p:nvPicPr>
          <p:cNvPr id="95" name="Image 12" descr="preencoded.png">
            <a:extLst>
              <a:ext uri="{FF2B5EF4-FFF2-40B4-BE49-F238E27FC236}">
                <a16:creationId xmlns:a16="http://schemas.microsoft.com/office/drawing/2014/main" id="{3C7D0342-8121-B7E6-20F5-2B8E8A2117B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39905" y="1155232"/>
            <a:ext cx="238475" cy="317967"/>
          </a:xfrm>
          <a:prstGeom prst="rect">
            <a:avLst/>
          </a:prstGeom>
        </p:spPr>
      </p:pic>
      <p:pic>
        <p:nvPicPr>
          <p:cNvPr id="96" name="Image 13" descr="preencoded.png">
            <a:extLst>
              <a:ext uri="{FF2B5EF4-FFF2-40B4-BE49-F238E27FC236}">
                <a16:creationId xmlns:a16="http://schemas.microsoft.com/office/drawing/2014/main" id="{3AE4CA84-D88E-5CBC-A206-99571FFB49F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416105" y="1241239"/>
            <a:ext cx="111288" cy="127186"/>
          </a:xfrm>
          <a:prstGeom prst="rect">
            <a:avLst/>
          </a:prstGeom>
        </p:spPr>
      </p:pic>
      <p:pic>
        <p:nvPicPr>
          <p:cNvPr id="89" name="그림 88" descr="텍스트, 스크린샷, 폰트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2A38AE-AB61-DC38-4A00-12C8F42EC385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477690" y="1643305"/>
            <a:ext cx="4027383" cy="33096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79F4E-EA31-D55F-F08A-7B8545098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FD4DEFD9-9390-A3F5-3AA2-B8E2ACB12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B8083A6D-8DDD-EC73-4D19-384ECA796E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001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D9DB3512-82B1-B4B4-00FD-86AEE888E1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066801"/>
            <a:ext cx="6720780" cy="1943100"/>
          </a:xfrm>
          <a:prstGeom prst="rect">
            <a:avLst/>
          </a:prstGeom>
        </p:spPr>
      </p:pic>
      <p:pic>
        <p:nvPicPr>
          <p:cNvPr id="15" name="Image 13" descr="preencoded.png">
            <a:extLst>
              <a:ext uri="{FF2B5EF4-FFF2-40B4-BE49-F238E27FC236}">
                <a16:creationId xmlns:a16="http://schemas.microsoft.com/office/drawing/2014/main" id="{A5703C56-BEE6-8760-AC5B-9EF477E838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77575" y="6553200"/>
            <a:ext cx="104775" cy="133350"/>
          </a:xfrm>
          <a:prstGeom prst="rect">
            <a:avLst/>
          </a:prstGeom>
        </p:spPr>
      </p:pic>
      <p:sp>
        <p:nvSpPr>
          <p:cNvPr id="16" name="Text 0">
            <a:extLst>
              <a:ext uri="{FF2B5EF4-FFF2-40B4-BE49-F238E27FC236}">
                <a16:creationId xmlns:a16="http://schemas.microsoft.com/office/drawing/2014/main" id="{03227330-FB1E-19F7-9524-8C0A82202FB2}"/>
              </a:ext>
            </a:extLst>
          </p:cNvPr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ko-KR" alt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모델링 전략 설계 </a:t>
            </a:r>
            <a:r>
              <a:rPr lang="en-US" altLang="ko-KR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: </a:t>
            </a:r>
            <a:r>
              <a:rPr lang="ko-KR" altLang="en-US" sz="2250" b="1" dirty="0" err="1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전처리</a:t>
            </a:r>
            <a:endParaRPr lang="en-US" sz="225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A1B134DE-33AA-3530-B3D9-D73A8A6F5E88}"/>
              </a:ext>
            </a:extLst>
          </p:cNvPr>
          <p:cNvSpPr/>
          <p:nvPr/>
        </p:nvSpPr>
        <p:spPr>
          <a:xfrm>
            <a:off x="876300" y="1257300"/>
            <a:ext cx="63397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데이터 분할 전략</a:t>
            </a:r>
            <a:endParaRPr lang="en-US" sz="1500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1BAC19C9-3CB9-0193-ADE7-B39E934E455D}"/>
              </a:ext>
            </a:extLst>
          </p:cNvPr>
          <p:cNvSpPr/>
          <p:nvPr/>
        </p:nvSpPr>
        <p:spPr>
          <a:xfrm>
            <a:off x="11220450" y="6515100"/>
            <a:ext cx="10629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Page 15/20</a:t>
            </a:r>
            <a:endParaRPr lang="en-US" sz="105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66C9807-EBD8-3091-B5EA-70C5DBCEF425}"/>
              </a:ext>
            </a:extLst>
          </p:cNvPr>
          <p:cNvSpPr txBox="1"/>
          <p:nvPr/>
        </p:nvSpPr>
        <p:spPr>
          <a:xfrm>
            <a:off x="876300" y="1529854"/>
            <a:ext cx="4299575" cy="340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100"/>
              </a:lnSpc>
            </a:pPr>
            <a:r>
              <a:rPr lang="ko-KR" alt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시계열 홀드아웃 검증을 통한 과거</a:t>
            </a:r>
            <a:r>
              <a:rPr lang="en-US" altLang="ko-KR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-&gt; </a:t>
            </a:r>
            <a:r>
              <a:rPr lang="ko-KR" alt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미래 순서 유지</a:t>
            </a:r>
            <a:r>
              <a:rPr lang="en-US" altLang="ko-KR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 </a:t>
            </a:r>
            <a:endParaRPr lang="ko-KR" altLang="en-US" sz="1500" dirty="0">
              <a:solidFill>
                <a:srgbClr val="000000"/>
              </a:solidFill>
              <a:latin typeface="Noto Sans KR" pitchFamily="34" charset="0"/>
              <a:ea typeface="Noto Sans KR" pitchFamily="34" charset="-122"/>
            </a:endParaRPr>
          </a:p>
        </p:txBody>
      </p:sp>
      <p:pic>
        <p:nvPicPr>
          <p:cNvPr id="90" name="Image 13" descr="preencoded.png">
            <a:extLst>
              <a:ext uri="{FF2B5EF4-FFF2-40B4-BE49-F238E27FC236}">
                <a16:creationId xmlns:a16="http://schemas.microsoft.com/office/drawing/2014/main" id="{7153AE21-0ACB-D4AF-EA0B-C4596C625A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V="1">
            <a:off x="254121" y="5408312"/>
            <a:ext cx="11430000" cy="1031995"/>
          </a:xfrm>
          <a:prstGeom prst="rect">
            <a:avLst/>
          </a:prstGeom>
        </p:spPr>
      </p:pic>
      <p:sp>
        <p:nvSpPr>
          <p:cNvPr id="92" name="Text 2">
            <a:extLst>
              <a:ext uri="{FF2B5EF4-FFF2-40B4-BE49-F238E27FC236}">
                <a16:creationId xmlns:a16="http://schemas.microsoft.com/office/drawing/2014/main" id="{7C4A6257-57AC-D961-CBD3-82C48973FA71}"/>
              </a:ext>
            </a:extLst>
          </p:cNvPr>
          <p:cNvSpPr/>
          <p:nvPr/>
        </p:nvSpPr>
        <p:spPr>
          <a:xfrm>
            <a:off x="706559" y="5509914"/>
            <a:ext cx="1943100" cy="2494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전략적 의미</a:t>
            </a:r>
            <a:endParaRPr lang="en-US" sz="12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72D08A4-60B7-B96A-F367-D47F84D4DDD0}"/>
              </a:ext>
            </a:extLst>
          </p:cNvPr>
          <p:cNvSpPr txBox="1"/>
          <p:nvPr/>
        </p:nvSpPr>
        <p:spPr>
          <a:xfrm>
            <a:off x="477959" y="5758751"/>
            <a:ext cx="11277600" cy="533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미래 데이터를 학습에 섞지 않아서 “시간 </a:t>
            </a:r>
            <a:r>
              <a:rPr lang="ko-KR" alt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누수”를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 방지하는 기본 시계열 검증 구조를 사용 하면서도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, IQR 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적용을 하여 일반 구간 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RMSE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안정화를 노리는 전략과</a:t>
            </a:r>
            <a:b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IQR </a:t>
            </a:r>
            <a:r>
              <a:rPr lang="ko-KR" alt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미적용하여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 실제 운영환경의 변동성 까지 학습 하려는 전략을 비교하여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정상 수요 예측 과 피크 포함 예측 중 </a:t>
            </a:r>
            <a:r>
              <a:rPr lang="ko-KR" alt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어느쪽이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 예측에 </a:t>
            </a:r>
            <a:r>
              <a:rPr lang="ko-KR" alt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강한지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 판단 하기 위함</a:t>
            </a:r>
            <a:endParaRPr lang="en-US" altLang="ko-KR" sz="12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</a:endParaRPr>
          </a:p>
        </p:txBody>
      </p:sp>
      <p:pic>
        <p:nvPicPr>
          <p:cNvPr id="94" name="Image 7" descr="preencoded.png">
            <a:extLst>
              <a:ext uri="{FF2B5EF4-FFF2-40B4-BE49-F238E27FC236}">
                <a16:creationId xmlns:a16="http://schemas.microsoft.com/office/drawing/2014/main" id="{D01B8084-7E10-1EE6-22C7-EA78978CB8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981" y="5550608"/>
            <a:ext cx="142875" cy="190500"/>
          </a:xfrm>
          <a:prstGeom prst="rect">
            <a:avLst/>
          </a:prstGeom>
        </p:spPr>
      </p:pic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494C8B6E-B11D-3F5B-FD34-C3DC6D91B20C}"/>
              </a:ext>
            </a:extLst>
          </p:cNvPr>
          <p:cNvSpPr/>
          <p:nvPr/>
        </p:nvSpPr>
        <p:spPr>
          <a:xfrm>
            <a:off x="892124" y="1978198"/>
            <a:ext cx="3048001" cy="484632"/>
          </a:xfrm>
          <a:prstGeom prst="right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100"/>
              </a:lnSpc>
            </a:pPr>
            <a:r>
              <a:rPr lang="en-US" altLang="ko-KR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Train</a:t>
            </a:r>
            <a:endParaRPr lang="ko-KR" altLang="en-US" sz="1500" b="1" dirty="0">
              <a:solidFill>
                <a:srgbClr val="000000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10" name="화살표: 톱니 모양의 오른쪽 9">
            <a:extLst>
              <a:ext uri="{FF2B5EF4-FFF2-40B4-BE49-F238E27FC236}">
                <a16:creationId xmlns:a16="http://schemas.microsoft.com/office/drawing/2014/main" id="{30514A92-AC6A-1F38-B4C2-9C5C2AB244EE}"/>
              </a:ext>
            </a:extLst>
          </p:cNvPr>
          <p:cNvSpPr/>
          <p:nvPr/>
        </p:nvSpPr>
        <p:spPr>
          <a:xfrm>
            <a:off x="3807400" y="1978198"/>
            <a:ext cx="1295400" cy="484632"/>
          </a:xfrm>
          <a:prstGeom prst="notchedRigh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Val</a:t>
            </a:r>
            <a:endParaRPr lang="ko-KR" altLang="en-US" sz="1500" b="1" dirty="0">
              <a:solidFill>
                <a:srgbClr val="000000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11" name="화살표: 톱니 모양의 오른쪽 10">
            <a:extLst>
              <a:ext uri="{FF2B5EF4-FFF2-40B4-BE49-F238E27FC236}">
                <a16:creationId xmlns:a16="http://schemas.microsoft.com/office/drawing/2014/main" id="{38BBEC72-321A-F388-B30A-FA8A25439AEB}"/>
              </a:ext>
            </a:extLst>
          </p:cNvPr>
          <p:cNvSpPr/>
          <p:nvPr/>
        </p:nvSpPr>
        <p:spPr>
          <a:xfrm>
            <a:off x="4981525" y="1975222"/>
            <a:ext cx="1295400" cy="484632"/>
          </a:xfrm>
          <a:prstGeom prst="notched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Test</a:t>
            </a:r>
            <a:endParaRPr lang="ko-KR" altLang="en-US" sz="1500" b="1" dirty="0">
              <a:solidFill>
                <a:srgbClr val="000000"/>
              </a:solidFill>
              <a:latin typeface="Noto Sans KR" pitchFamily="34" charset="0"/>
              <a:ea typeface="Noto Sans KR" pitchFamily="34" charset="-122"/>
            </a:endParaRPr>
          </a:p>
        </p:txBody>
      </p:sp>
      <p:pic>
        <p:nvPicPr>
          <p:cNvPr id="72" name="Image 6" descr="preencoded.png">
            <a:extLst>
              <a:ext uri="{FF2B5EF4-FFF2-40B4-BE49-F238E27FC236}">
                <a16:creationId xmlns:a16="http://schemas.microsoft.com/office/drawing/2014/main" id="{90819DF3-9E57-8719-2E50-28DC04C2A9E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96145" y="2343395"/>
            <a:ext cx="548580" cy="266700"/>
          </a:xfrm>
          <a:prstGeom prst="rect">
            <a:avLst/>
          </a:prstGeom>
        </p:spPr>
      </p:pic>
      <p:pic>
        <p:nvPicPr>
          <p:cNvPr id="74" name="Image 8" descr="preencoded.png">
            <a:extLst>
              <a:ext uri="{FF2B5EF4-FFF2-40B4-BE49-F238E27FC236}">
                <a16:creationId xmlns:a16="http://schemas.microsoft.com/office/drawing/2014/main" id="{B29525AB-7D0E-3C48-6F25-CCE939C944B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65085" y="2329480"/>
            <a:ext cx="525066" cy="266700"/>
          </a:xfrm>
          <a:prstGeom prst="rect">
            <a:avLst/>
          </a:prstGeom>
        </p:spPr>
      </p:pic>
      <p:pic>
        <p:nvPicPr>
          <p:cNvPr id="76" name="Image 10" descr="preencoded.png">
            <a:extLst>
              <a:ext uri="{FF2B5EF4-FFF2-40B4-BE49-F238E27FC236}">
                <a16:creationId xmlns:a16="http://schemas.microsoft.com/office/drawing/2014/main" id="{83B634D8-B86F-23A5-D11A-6B6F47CC25F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54389" y="2344147"/>
            <a:ext cx="525066" cy="266700"/>
          </a:xfrm>
          <a:prstGeom prst="rect">
            <a:avLst/>
          </a:prstGeom>
        </p:spPr>
      </p:pic>
      <p:sp>
        <p:nvSpPr>
          <p:cNvPr id="78" name="Text 4">
            <a:extLst>
              <a:ext uri="{FF2B5EF4-FFF2-40B4-BE49-F238E27FC236}">
                <a16:creationId xmlns:a16="http://schemas.microsoft.com/office/drawing/2014/main" id="{0BFDCAF0-6210-6522-A5D5-614C5FD25D41}"/>
              </a:ext>
            </a:extLst>
          </p:cNvPr>
          <p:cNvSpPr/>
          <p:nvPr/>
        </p:nvSpPr>
        <p:spPr>
          <a:xfrm>
            <a:off x="2041287" y="2343395"/>
            <a:ext cx="65829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70%</a:t>
            </a:r>
            <a:endParaRPr lang="en-US" sz="1050" dirty="0"/>
          </a:p>
        </p:txBody>
      </p:sp>
      <p:sp>
        <p:nvSpPr>
          <p:cNvPr id="80" name="Text 6">
            <a:extLst>
              <a:ext uri="{FF2B5EF4-FFF2-40B4-BE49-F238E27FC236}">
                <a16:creationId xmlns:a16="http://schemas.microsoft.com/office/drawing/2014/main" id="{A6930E40-125A-AA84-D422-F2E241B2E8A4}"/>
              </a:ext>
            </a:extLst>
          </p:cNvPr>
          <p:cNvSpPr/>
          <p:nvPr/>
        </p:nvSpPr>
        <p:spPr>
          <a:xfrm>
            <a:off x="4112578" y="2329480"/>
            <a:ext cx="63007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16653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15%</a:t>
            </a:r>
            <a:endParaRPr lang="en-US" sz="1050" dirty="0"/>
          </a:p>
        </p:txBody>
      </p:sp>
      <p:sp>
        <p:nvSpPr>
          <p:cNvPr id="82" name="Text 8">
            <a:extLst>
              <a:ext uri="{FF2B5EF4-FFF2-40B4-BE49-F238E27FC236}">
                <a16:creationId xmlns:a16="http://schemas.microsoft.com/office/drawing/2014/main" id="{280A045B-B208-3CBE-F30C-FBE826D0748A}"/>
              </a:ext>
            </a:extLst>
          </p:cNvPr>
          <p:cNvSpPr/>
          <p:nvPr/>
        </p:nvSpPr>
        <p:spPr>
          <a:xfrm>
            <a:off x="5301883" y="2344147"/>
            <a:ext cx="63007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B21A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15%</a:t>
            </a:r>
            <a:endParaRPr lang="en-US" sz="1050" dirty="0"/>
          </a:p>
        </p:txBody>
      </p:sp>
      <p:pic>
        <p:nvPicPr>
          <p:cNvPr id="83" name="Image 3" descr="preencoded.png">
            <a:extLst>
              <a:ext uri="{FF2B5EF4-FFF2-40B4-BE49-F238E27FC236}">
                <a16:creationId xmlns:a16="http://schemas.microsoft.com/office/drawing/2014/main" id="{4CA17FA0-31F7-5404-13A5-60AB56BFF11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0063" y="1257300"/>
            <a:ext cx="257175" cy="228600"/>
          </a:xfrm>
          <a:prstGeom prst="rect">
            <a:avLst/>
          </a:prstGeom>
        </p:spPr>
      </p:pic>
      <p:pic>
        <p:nvPicPr>
          <p:cNvPr id="111" name="Image 2" descr="preencoded.png">
            <a:extLst>
              <a:ext uri="{FF2B5EF4-FFF2-40B4-BE49-F238E27FC236}">
                <a16:creationId xmlns:a16="http://schemas.microsoft.com/office/drawing/2014/main" id="{B3A12833-FBFD-A7D1-9059-29AC98AC78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3116266"/>
            <a:ext cx="6720780" cy="1892240"/>
          </a:xfrm>
          <a:prstGeom prst="rect">
            <a:avLst/>
          </a:prstGeom>
        </p:spPr>
      </p:pic>
      <p:sp>
        <p:nvSpPr>
          <p:cNvPr id="112" name="Text 1">
            <a:extLst>
              <a:ext uri="{FF2B5EF4-FFF2-40B4-BE49-F238E27FC236}">
                <a16:creationId xmlns:a16="http://schemas.microsoft.com/office/drawing/2014/main" id="{64FC943F-DDD5-4E3A-11A2-B0C6DD8BC2D8}"/>
              </a:ext>
            </a:extLst>
          </p:cNvPr>
          <p:cNvSpPr/>
          <p:nvPr/>
        </p:nvSpPr>
        <p:spPr>
          <a:xfrm>
            <a:off x="876300" y="3192464"/>
            <a:ext cx="63397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데이터 </a:t>
            </a:r>
            <a:r>
              <a:rPr lang="ko-KR" altLang="en-US" sz="1500" b="1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전처리</a:t>
            </a:r>
            <a:r>
              <a:rPr lang="ko-KR" alt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 전략</a:t>
            </a:r>
            <a:endParaRPr lang="en-US" sz="1500" dirty="0"/>
          </a:p>
        </p:txBody>
      </p:sp>
      <p:pic>
        <p:nvPicPr>
          <p:cNvPr id="114" name="Image 12" descr="preencoded.png">
            <a:extLst>
              <a:ext uri="{FF2B5EF4-FFF2-40B4-BE49-F238E27FC236}">
                <a16:creationId xmlns:a16="http://schemas.microsoft.com/office/drawing/2014/main" id="{10ADA10B-2229-4CDC-D7C7-203127913C1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1285" y="3230564"/>
            <a:ext cx="228600" cy="228600"/>
          </a:xfrm>
          <a:prstGeom prst="rect">
            <a:avLst/>
          </a:prstGeom>
        </p:spPr>
      </p:pic>
      <p:pic>
        <p:nvPicPr>
          <p:cNvPr id="118" name="Image 14" descr="preencoded.png">
            <a:extLst>
              <a:ext uri="{FF2B5EF4-FFF2-40B4-BE49-F238E27FC236}">
                <a16:creationId xmlns:a16="http://schemas.microsoft.com/office/drawing/2014/main" id="{0D8EF530-42DC-F653-5B2D-89864A7D980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2124" y="3691733"/>
            <a:ext cx="228600" cy="304800"/>
          </a:xfrm>
          <a:prstGeom prst="rect">
            <a:avLst/>
          </a:prstGeom>
        </p:spPr>
      </p:pic>
      <p:pic>
        <p:nvPicPr>
          <p:cNvPr id="119" name="Image 19" descr="preencoded.png">
            <a:extLst>
              <a:ext uri="{FF2B5EF4-FFF2-40B4-BE49-F238E27FC236}">
                <a16:creationId xmlns:a16="http://schemas.microsoft.com/office/drawing/2014/main" id="{285DDCD5-1C6D-B013-B5CE-D7ECAB59366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2124" y="4339476"/>
            <a:ext cx="228600" cy="304800"/>
          </a:xfrm>
          <a:prstGeom prst="rect">
            <a:avLst/>
          </a:prstGeom>
        </p:spPr>
      </p:pic>
      <p:sp>
        <p:nvSpPr>
          <p:cNvPr id="120" name="TextBox 119">
            <a:extLst>
              <a:ext uri="{FF2B5EF4-FFF2-40B4-BE49-F238E27FC236}">
                <a16:creationId xmlns:a16="http://schemas.microsoft.com/office/drawing/2014/main" id="{9E33153C-7E49-70E9-3B45-EE02ACC1E8B5}"/>
              </a:ext>
            </a:extLst>
          </p:cNvPr>
          <p:cNvSpPr txBox="1"/>
          <p:nvPr/>
        </p:nvSpPr>
        <p:spPr>
          <a:xfrm>
            <a:off x="1143000" y="3688859"/>
            <a:ext cx="1308371" cy="340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100"/>
              </a:lnSpc>
            </a:pPr>
            <a:r>
              <a:rPr lang="en-US" altLang="ko-KR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IQR </a:t>
            </a:r>
            <a:r>
              <a:rPr lang="ko-KR" alt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적용 버전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3C7C4E00-FA95-1EAD-74E3-962FC1475923}"/>
              </a:ext>
            </a:extLst>
          </p:cNvPr>
          <p:cNvSpPr txBox="1"/>
          <p:nvPr/>
        </p:nvSpPr>
        <p:spPr>
          <a:xfrm>
            <a:off x="1143000" y="4317739"/>
            <a:ext cx="1484702" cy="340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100"/>
              </a:lnSpc>
            </a:pPr>
            <a:r>
              <a:rPr lang="en-US" altLang="ko-KR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IQR </a:t>
            </a:r>
            <a:r>
              <a:rPr lang="ko-KR" alt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미적용 버전</a:t>
            </a:r>
          </a:p>
        </p:txBody>
      </p:sp>
      <p:sp>
        <p:nvSpPr>
          <p:cNvPr id="123" name="Text 14">
            <a:extLst>
              <a:ext uri="{FF2B5EF4-FFF2-40B4-BE49-F238E27FC236}">
                <a16:creationId xmlns:a16="http://schemas.microsoft.com/office/drawing/2014/main" id="{27F8DCD9-E77C-9A89-E5F9-A0F9F133F72A}"/>
              </a:ext>
            </a:extLst>
          </p:cNvPr>
          <p:cNvSpPr/>
          <p:nvPr/>
        </p:nvSpPr>
        <p:spPr>
          <a:xfrm>
            <a:off x="1249153" y="3995397"/>
            <a:ext cx="4281098" cy="3371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rental_count 제외한 수치형 피처들에 대해 IQR 기반 </a:t>
            </a:r>
            <a:r>
              <a:rPr lang="en-US" sz="12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이상치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제거</a:t>
            </a:r>
            <a:endParaRPr lang="en-US" sz="1200" dirty="0">
              <a:solidFill>
                <a:srgbClr val="000000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124" name="Text 14">
            <a:extLst>
              <a:ext uri="{FF2B5EF4-FFF2-40B4-BE49-F238E27FC236}">
                <a16:creationId xmlns:a16="http://schemas.microsoft.com/office/drawing/2014/main" id="{6D26B0E5-4DBD-B605-10F8-33ABB8F91A90}"/>
              </a:ext>
            </a:extLst>
          </p:cNvPr>
          <p:cNvSpPr/>
          <p:nvPr/>
        </p:nvSpPr>
        <p:spPr>
          <a:xfrm>
            <a:off x="1249153" y="4591005"/>
            <a:ext cx="4281098" cy="3371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indent="0">
              <a:lnSpc>
                <a:spcPts val="2100"/>
              </a:lnSpc>
              <a:buNone/>
            </a:pPr>
            <a:r>
              <a:rPr lang="ko-KR" alt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이상치 제거 없이 원본 분포 유지</a:t>
            </a:r>
            <a:endParaRPr lang="en-US" sz="1200" dirty="0">
              <a:solidFill>
                <a:srgbClr val="000000"/>
              </a:solidFill>
              <a:latin typeface="Noto Sans KR" pitchFamily="34" charset="0"/>
              <a:ea typeface="Noto Sans KR" pitchFamily="34" charset="-122"/>
            </a:endParaRPr>
          </a:p>
        </p:txBody>
      </p:sp>
      <p:pic>
        <p:nvPicPr>
          <p:cNvPr id="127" name="Image 2" descr="preencoded.png">
            <a:extLst>
              <a:ext uri="{FF2B5EF4-FFF2-40B4-BE49-F238E27FC236}">
                <a16:creationId xmlns:a16="http://schemas.microsoft.com/office/drawing/2014/main" id="{C5E1D9AE-0145-5424-3EAD-B781E1A94B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9339" y="1074339"/>
            <a:ext cx="4434782" cy="1892240"/>
          </a:xfrm>
          <a:prstGeom prst="rect">
            <a:avLst/>
          </a:prstGeom>
        </p:spPr>
      </p:pic>
      <p:pic>
        <p:nvPicPr>
          <p:cNvPr id="128" name="Image 2" descr="preencoded.png">
            <a:extLst>
              <a:ext uri="{FF2B5EF4-FFF2-40B4-BE49-F238E27FC236}">
                <a16:creationId xmlns:a16="http://schemas.microsoft.com/office/drawing/2014/main" id="{D9E0A1BE-F816-5CA5-9FF3-FAAF17ED9C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9339" y="3145448"/>
            <a:ext cx="4434782" cy="1892240"/>
          </a:xfrm>
          <a:prstGeom prst="rect">
            <a:avLst/>
          </a:prstGeom>
        </p:spPr>
      </p:pic>
      <p:pic>
        <p:nvPicPr>
          <p:cNvPr id="126" name="그림 125">
            <a:extLst>
              <a:ext uri="{FF2B5EF4-FFF2-40B4-BE49-F238E27FC236}">
                <a16:creationId xmlns:a16="http://schemas.microsoft.com/office/drawing/2014/main" id="{105C6BFC-9463-BD1A-9E58-0AB285E309F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67880" y="3707282"/>
            <a:ext cx="3381120" cy="840610"/>
          </a:xfrm>
          <a:prstGeom prst="rect">
            <a:avLst/>
          </a:prstGeom>
        </p:spPr>
      </p:pic>
      <p:pic>
        <p:nvPicPr>
          <p:cNvPr id="129" name="Image 12" descr="preencoded.png">
            <a:extLst>
              <a:ext uri="{FF2B5EF4-FFF2-40B4-BE49-F238E27FC236}">
                <a16:creationId xmlns:a16="http://schemas.microsoft.com/office/drawing/2014/main" id="{348FCE34-376D-7F30-A143-87E7B70498E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39905" y="1155232"/>
            <a:ext cx="238475" cy="317967"/>
          </a:xfrm>
          <a:prstGeom prst="rect">
            <a:avLst/>
          </a:prstGeom>
        </p:spPr>
      </p:pic>
      <p:pic>
        <p:nvPicPr>
          <p:cNvPr id="130" name="Image 13" descr="preencoded.png">
            <a:extLst>
              <a:ext uri="{FF2B5EF4-FFF2-40B4-BE49-F238E27FC236}">
                <a16:creationId xmlns:a16="http://schemas.microsoft.com/office/drawing/2014/main" id="{F7FE8064-6A9B-8A95-968A-0B14D6097CB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16105" y="1241239"/>
            <a:ext cx="111288" cy="127186"/>
          </a:xfrm>
          <a:prstGeom prst="rect">
            <a:avLst/>
          </a:prstGeom>
        </p:spPr>
      </p:pic>
      <p:pic>
        <p:nvPicPr>
          <p:cNvPr id="131" name="Image 12" descr="preencoded.png">
            <a:extLst>
              <a:ext uri="{FF2B5EF4-FFF2-40B4-BE49-F238E27FC236}">
                <a16:creationId xmlns:a16="http://schemas.microsoft.com/office/drawing/2014/main" id="{630DD9AF-98FE-478C-3DA8-EF096F13BAE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39905" y="3263363"/>
            <a:ext cx="238475" cy="317967"/>
          </a:xfrm>
          <a:prstGeom prst="rect">
            <a:avLst/>
          </a:prstGeom>
        </p:spPr>
      </p:pic>
      <p:pic>
        <p:nvPicPr>
          <p:cNvPr id="132" name="Image 13" descr="preencoded.png">
            <a:extLst>
              <a:ext uri="{FF2B5EF4-FFF2-40B4-BE49-F238E27FC236}">
                <a16:creationId xmlns:a16="http://schemas.microsoft.com/office/drawing/2014/main" id="{C1F5AC14-37DD-FC76-811C-64A68979D37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16105" y="3349370"/>
            <a:ext cx="111288" cy="127186"/>
          </a:xfrm>
          <a:prstGeom prst="rect">
            <a:avLst/>
          </a:prstGeom>
        </p:spPr>
      </p:pic>
      <p:pic>
        <p:nvPicPr>
          <p:cNvPr id="134" name="그림 133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AAF202F-8154-0BF7-A80D-3F1B960E358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705099" y="1485900"/>
            <a:ext cx="3505979" cy="133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263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8C9A3-225C-F362-F2B5-BA70312B5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6808D912-ED0F-08E4-3CEE-C69DD6A5D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3D1AB9D0-775A-560D-72B5-536D125089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001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21296908-073D-3CFC-D2C3-4510EBC229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066801"/>
            <a:ext cx="5715000" cy="2019300"/>
          </a:xfrm>
          <a:prstGeom prst="rect">
            <a:avLst/>
          </a:prstGeom>
        </p:spPr>
      </p:pic>
      <p:pic>
        <p:nvPicPr>
          <p:cNvPr id="15" name="Image 13" descr="preencoded.png">
            <a:extLst>
              <a:ext uri="{FF2B5EF4-FFF2-40B4-BE49-F238E27FC236}">
                <a16:creationId xmlns:a16="http://schemas.microsoft.com/office/drawing/2014/main" id="{0015EB08-102F-BF79-F677-1B40D9AC42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77575" y="6553200"/>
            <a:ext cx="104775" cy="133350"/>
          </a:xfrm>
          <a:prstGeom prst="rect">
            <a:avLst/>
          </a:prstGeom>
        </p:spPr>
      </p:pic>
      <p:sp>
        <p:nvSpPr>
          <p:cNvPr id="16" name="Text 0">
            <a:extLst>
              <a:ext uri="{FF2B5EF4-FFF2-40B4-BE49-F238E27FC236}">
                <a16:creationId xmlns:a16="http://schemas.microsoft.com/office/drawing/2014/main" id="{95E13494-D1AF-E369-2A27-18BCFEF48A0C}"/>
              </a:ext>
            </a:extLst>
          </p:cNvPr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ko-KR" alt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모델링 전략 설계 </a:t>
            </a:r>
            <a:r>
              <a:rPr lang="en-US" altLang="ko-KR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: </a:t>
            </a:r>
            <a:r>
              <a:rPr lang="ko-KR" alt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학습 및 평가</a:t>
            </a:r>
            <a:endParaRPr lang="en-US" sz="225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70FFB172-D4A3-DFAA-167A-F416AFEC1E6A}"/>
              </a:ext>
            </a:extLst>
          </p:cNvPr>
          <p:cNvSpPr/>
          <p:nvPr/>
        </p:nvSpPr>
        <p:spPr>
          <a:xfrm>
            <a:off x="876300" y="1257300"/>
            <a:ext cx="63397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트리</a:t>
            </a:r>
            <a:r>
              <a:rPr lang="en-US" altLang="ko-KR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ko-KR" alt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기반</a:t>
            </a:r>
            <a:r>
              <a:rPr lang="en-US" altLang="ko-KR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ko-KR" alt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모델  선정</a:t>
            </a:r>
            <a:endParaRPr lang="en-US" sz="1500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DA8B481B-851B-D444-8E6B-37CEDF050686}"/>
              </a:ext>
            </a:extLst>
          </p:cNvPr>
          <p:cNvSpPr/>
          <p:nvPr/>
        </p:nvSpPr>
        <p:spPr>
          <a:xfrm>
            <a:off x="11220450" y="6515100"/>
            <a:ext cx="10629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Page 15/20</a:t>
            </a:r>
            <a:endParaRPr lang="en-US" sz="1050" dirty="0"/>
          </a:p>
        </p:txBody>
      </p:sp>
      <p:pic>
        <p:nvPicPr>
          <p:cNvPr id="90" name="Image 13" descr="preencoded.png">
            <a:extLst>
              <a:ext uri="{FF2B5EF4-FFF2-40B4-BE49-F238E27FC236}">
                <a16:creationId xmlns:a16="http://schemas.microsoft.com/office/drawing/2014/main" id="{E6DC50D7-8A74-2B0E-153A-D6F5300816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V="1">
            <a:off x="254121" y="5408312"/>
            <a:ext cx="11430000" cy="1031995"/>
          </a:xfrm>
          <a:prstGeom prst="rect">
            <a:avLst/>
          </a:prstGeom>
        </p:spPr>
      </p:pic>
      <p:sp>
        <p:nvSpPr>
          <p:cNvPr id="92" name="Text 2">
            <a:extLst>
              <a:ext uri="{FF2B5EF4-FFF2-40B4-BE49-F238E27FC236}">
                <a16:creationId xmlns:a16="http://schemas.microsoft.com/office/drawing/2014/main" id="{B6500339-DAC0-7E2A-C631-6FFA63C08918}"/>
              </a:ext>
            </a:extLst>
          </p:cNvPr>
          <p:cNvSpPr/>
          <p:nvPr/>
        </p:nvSpPr>
        <p:spPr>
          <a:xfrm>
            <a:off x="706559" y="5509914"/>
            <a:ext cx="1943100" cy="2494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전략적 의미</a:t>
            </a:r>
            <a:endParaRPr lang="en-US" sz="12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5AF982D-0816-0DDD-F0D0-B52945CDEC41}"/>
              </a:ext>
            </a:extLst>
          </p:cNvPr>
          <p:cNvSpPr txBox="1"/>
          <p:nvPr/>
        </p:nvSpPr>
        <p:spPr>
          <a:xfrm>
            <a:off x="477959" y="5758751"/>
            <a:ext cx="11277600" cy="533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트리 기반 계열로 통일 → 비선형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/</a:t>
            </a:r>
            <a:r>
              <a:rPr lang="ko-KR" alt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임계값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/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상호작용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(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시간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×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날씨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×POI)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을 자동으로 학습하기 위한 선택하였습니다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.</a:t>
            </a:r>
            <a:b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최종학습에서 </a:t>
            </a:r>
            <a:r>
              <a:rPr lang="en-US" altLang="ko-KR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val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은 </a:t>
            </a:r>
            <a:r>
              <a:rPr lang="ko-KR" alt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하이퍼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/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모델 선택 근거를 제공하고 최종 모델의 가능한 많은 과거 데이터를  써서 성능을 끌어올린 뒤 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test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로 예측 성능을 확인하기 위함</a:t>
            </a:r>
            <a:endParaRPr lang="en-US" altLang="ko-KR" sz="12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</a:endParaRPr>
          </a:p>
        </p:txBody>
      </p:sp>
      <p:pic>
        <p:nvPicPr>
          <p:cNvPr id="94" name="Image 7" descr="preencoded.png">
            <a:extLst>
              <a:ext uri="{FF2B5EF4-FFF2-40B4-BE49-F238E27FC236}">
                <a16:creationId xmlns:a16="http://schemas.microsoft.com/office/drawing/2014/main" id="{D629A016-E2A5-1988-D30F-4FCF71D510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981" y="5550608"/>
            <a:ext cx="142875" cy="190500"/>
          </a:xfrm>
          <a:prstGeom prst="rect">
            <a:avLst/>
          </a:prstGeom>
        </p:spPr>
      </p:pic>
      <p:pic>
        <p:nvPicPr>
          <p:cNvPr id="111" name="Image 2" descr="preencoded.png">
            <a:extLst>
              <a:ext uri="{FF2B5EF4-FFF2-40B4-BE49-F238E27FC236}">
                <a16:creationId xmlns:a16="http://schemas.microsoft.com/office/drawing/2014/main" id="{BF21DD34-7B2A-8928-9755-C5F6550621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9371" y="1104901"/>
            <a:ext cx="5362574" cy="1982143"/>
          </a:xfrm>
          <a:prstGeom prst="rect">
            <a:avLst/>
          </a:prstGeom>
        </p:spPr>
      </p:pic>
      <p:pic>
        <p:nvPicPr>
          <p:cNvPr id="5" name="Image 2" descr="preencoded.png">
            <a:extLst>
              <a:ext uri="{FF2B5EF4-FFF2-40B4-BE49-F238E27FC236}">
                <a16:creationId xmlns:a16="http://schemas.microsoft.com/office/drawing/2014/main" id="{ECBFF6E0-6415-87A9-02FD-2D45666DEDD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7213" y="1279310"/>
            <a:ext cx="257175" cy="228600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E65D3995-878C-A052-98E3-5E90733CCB3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17551" y="1854200"/>
            <a:ext cx="304800" cy="381000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1D99102C-5E2E-6C28-136A-AC9DDED5B457}"/>
              </a:ext>
            </a:extLst>
          </p:cNvPr>
          <p:cNvSpPr/>
          <p:nvPr/>
        </p:nvSpPr>
        <p:spPr>
          <a:xfrm>
            <a:off x="793755" y="2362200"/>
            <a:ext cx="17525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RandomForest</a:t>
            </a:r>
            <a:endParaRPr lang="en-US" sz="1350" dirty="0"/>
          </a:p>
        </p:txBody>
      </p:sp>
      <p:pic>
        <p:nvPicPr>
          <p:cNvPr id="13" name="Image 6" descr="preencoded.png">
            <a:extLst>
              <a:ext uri="{FF2B5EF4-FFF2-40B4-BE49-F238E27FC236}">
                <a16:creationId xmlns:a16="http://schemas.microsoft.com/office/drawing/2014/main" id="{A07B7336-6DD2-EB37-B09D-874F622D10E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1353" y="1859606"/>
            <a:ext cx="342900" cy="381000"/>
          </a:xfrm>
          <a:prstGeom prst="rect">
            <a:avLst/>
          </a:prstGeom>
        </p:spPr>
      </p:pic>
      <p:sp>
        <p:nvSpPr>
          <p:cNvPr id="14" name="Text 4">
            <a:extLst>
              <a:ext uri="{FF2B5EF4-FFF2-40B4-BE49-F238E27FC236}">
                <a16:creationId xmlns:a16="http://schemas.microsoft.com/office/drawing/2014/main" id="{04C8B3AA-096F-3D84-6DE4-489D43CCD121}"/>
              </a:ext>
            </a:extLst>
          </p:cNvPr>
          <p:cNvSpPr/>
          <p:nvPr/>
        </p:nvSpPr>
        <p:spPr>
          <a:xfrm>
            <a:off x="2496607" y="2367606"/>
            <a:ext cx="17525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XGBRegressor</a:t>
            </a:r>
            <a:endParaRPr lang="en-US" sz="1350" dirty="0"/>
          </a:p>
        </p:txBody>
      </p:sp>
      <p:pic>
        <p:nvPicPr>
          <p:cNvPr id="19" name="Image 8" descr="preencoded.png">
            <a:extLst>
              <a:ext uri="{FF2B5EF4-FFF2-40B4-BE49-F238E27FC236}">
                <a16:creationId xmlns:a16="http://schemas.microsoft.com/office/drawing/2014/main" id="{D43E88DE-BC25-7FB3-FC24-E1D1AB8A380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44864" y="1866900"/>
            <a:ext cx="257175" cy="381000"/>
          </a:xfrm>
          <a:prstGeom prst="rect">
            <a:avLst/>
          </a:prstGeom>
        </p:spPr>
      </p:pic>
      <p:sp>
        <p:nvSpPr>
          <p:cNvPr id="20" name="Text 6">
            <a:extLst>
              <a:ext uri="{FF2B5EF4-FFF2-40B4-BE49-F238E27FC236}">
                <a16:creationId xmlns:a16="http://schemas.microsoft.com/office/drawing/2014/main" id="{44FBA2CE-A19E-00EA-8501-060AA4C2E95B}"/>
              </a:ext>
            </a:extLst>
          </p:cNvPr>
          <p:cNvSpPr/>
          <p:nvPr/>
        </p:nvSpPr>
        <p:spPr>
          <a:xfrm>
            <a:off x="4197256" y="2362200"/>
            <a:ext cx="17525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B91C1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LGBMRegressor</a:t>
            </a:r>
            <a:endParaRPr lang="en-US" sz="1350" dirty="0"/>
          </a:p>
        </p:txBody>
      </p:sp>
      <p:pic>
        <p:nvPicPr>
          <p:cNvPr id="30" name="Image 2" descr="preencoded.png">
            <a:extLst>
              <a:ext uri="{FF2B5EF4-FFF2-40B4-BE49-F238E27FC236}">
                <a16:creationId xmlns:a16="http://schemas.microsoft.com/office/drawing/2014/main" id="{7A133779-D604-47E2-5BDE-61260576AC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7784" y="3223914"/>
            <a:ext cx="5362574" cy="1387887"/>
          </a:xfrm>
          <a:prstGeom prst="rect">
            <a:avLst/>
          </a:prstGeom>
        </p:spPr>
      </p:pic>
      <p:pic>
        <p:nvPicPr>
          <p:cNvPr id="31" name="Image 2" descr="preencoded.png">
            <a:extLst>
              <a:ext uri="{FF2B5EF4-FFF2-40B4-BE49-F238E27FC236}">
                <a16:creationId xmlns:a16="http://schemas.microsoft.com/office/drawing/2014/main" id="{41CBC0D6-087A-091F-8B14-94C76736B4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713" y="3203794"/>
            <a:ext cx="5715000" cy="2019300"/>
          </a:xfrm>
          <a:prstGeom prst="rect">
            <a:avLst/>
          </a:prstGeom>
        </p:spPr>
      </p:pic>
      <p:pic>
        <p:nvPicPr>
          <p:cNvPr id="21" name="Image 10" descr="preencoded.png">
            <a:extLst>
              <a:ext uri="{FF2B5EF4-FFF2-40B4-BE49-F238E27FC236}">
                <a16:creationId xmlns:a16="http://schemas.microsoft.com/office/drawing/2014/main" id="{EBC1D7D3-9EAA-D64F-4487-9F60EC4CA25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7959" y="3352800"/>
            <a:ext cx="190500" cy="190500"/>
          </a:xfrm>
          <a:prstGeom prst="rect">
            <a:avLst/>
          </a:prstGeom>
        </p:spPr>
      </p:pic>
      <p:sp>
        <p:nvSpPr>
          <p:cNvPr id="22" name="Text 1">
            <a:extLst>
              <a:ext uri="{FF2B5EF4-FFF2-40B4-BE49-F238E27FC236}">
                <a16:creationId xmlns:a16="http://schemas.microsoft.com/office/drawing/2014/main" id="{57857DEE-A98A-84E3-D5D0-CEDDCBE130B1}"/>
              </a:ext>
            </a:extLst>
          </p:cNvPr>
          <p:cNvSpPr/>
          <p:nvPr/>
        </p:nvSpPr>
        <p:spPr>
          <a:xfrm>
            <a:off x="876300" y="3314700"/>
            <a:ext cx="63397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하이퍼파라미터</a:t>
            </a:r>
            <a:r>
              <a:rPr lang="ko-KR" alt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 튜닝</a:t>
            </a:r>
            <a:endParaRPr lang="en-US" sz="1500" dirty="0"/>
          </a:p>
        </p:txBody>
      </p:sp>
      <p:pic>
        <p:nvPicPr>
          <p:cNvPr id="23" name="Image 11" descr="preencoded.png">
            <a:extLst>
              <a:ext uri="{FF2B5EF4-FFF2-40B4-BE49-F238E27FC236}">
                <a16:creationId xmlns:a16="http://schemas.microsoft.com/office/drawing/2014/main" id="{51AE27B2-3FC0-0532-A6B5-F2E1F7B393D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4347" y="3885256"/>
            <a:ext cx="152400" cy="152400"/>
          </a:xfrm>
          <a:prstGeom prst="rect">
            <a:avLst/>
          </a:prstGeom>
        </p:spPr>
      </p:pic>
      <p:pic>
        <p:nvPicPr>
          <p:cNvPr id="24" name="Image 12" descr="preencoded.png">
            <a:extLst>
              <a:ext uri="{FF2B5EF4-FFF2-40B4-BE49-F238E27FC236}">
                <a16:creationId xmlns:a16="http://schemas.microsoft.com/office/drawing/2014/main" id="{973DE8FF-5440-CDF9-B15D-3767EC97AF6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4347" y="4190056"/>
            <a:ext cx="152400" cy="152400"/>
          </a:xfrm>
          <a:prstGeom prst="rect">
            <a:avLst/>
          </a:prstGeom>
        </p:spPr>
      </p:pic>
      <p:pic>
        <p:nvPicPr>
          <p:cNvPr id="25" name="Image 13" descr="preencoded.png">
            <a:extLst>
              <a:ext uri="{FF2B5EF4-FFF2-40B4-BE49-F238E27FC236}">
                <a16:creationId xmlns:a16="http://schemas.microsoft.com/office/drawing/2014/main" id="{1BB1D9EE-F019-33C1-F7DB-D29C06BC00A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4347" y="4494856"/>
            <a:ext cx="152400" cy="152400"/>
          </a:xfrm>
          <a:prstGeom prst="rect">
            <a:avLst/>
          </a:prstGeom>
        </p:spPr>
      </p:pic>
      <p:sp>
        <p:nvSpPr>
          <p:cNvPr id="26" name="Text 9">
            <a:extLst>
              <a:ext uri="{FF2B5EF4-FFF2-40B4-BE49-F238E27FC236}">
                <a16:creationId xmlns:a16="http://schemas.microsoft.com/office/drawing/2014/main" id="{CA83E147-CA2B-0CDA-7363-7EE57EAB533F}"/>
              </a:ext>
            </a:extLst>
          </p:cNvPr>
          <p:cNvSpPr/>
          <p:nvPr/>
        </p:nvSpPr>
        <p:spPr>
          <a:xfrm>
            <a:off x="1152947" y="3847156"/>
            <a:ext cx="379191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RandomizedSearchCV를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통한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ko-KR" alt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하이퍼파라미터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 자동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탐색</a:t>
            </a:r>
            <a:endParaRPr lang="en-US" sz="12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33DFA057-D617-B550-7733-DAF763AB93E9}"/>
              </a:ext>
            </a:extLst>
          </p:cNvPr>
          <p:cNvSpPr/>
          <p:nvPr/>
        </p:nvSpPr>
        <p:spPr>
          <a:xfrm>
            <a:off x="1152947" y="4151956"/>
            <a:ext cx="318343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튜닝용 샘플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최대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 200,000행</a:t>
            </a: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677092B0-D0B5-B756-105D-7A9C1456A8BD}"/>
              </a:ext>
            </a:extLst>
          </p:cNvPr>
          <p:cNvSpPr/>
          <p:nvPr/>
        </p:nvSpPr>
        <p:spPr>
          <a:xfrm>
            <a:off x="1152947" y="4456756"/>
            <a:ext cx="279284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모든 모델에 동일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파이프라인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적용</a:t>
            </a:r>
            <a:endParaRPr lang="en-US" sz="12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</a:endParaRPr>
          </a:p>
        </p:txBody>
      </p:sp>
      <p:pic>
        <p:nvPicPr>
          <p:cNvPr id="32" name="Image 14" descr="preencoded.png">
            <a:extLst>
              <a:ext uri="{FF2B5EF4-FFF2-40B4-BE49-F238E27FC236}">
                <a16:creationId xmlns:a16="http://schemas.microsoft.com/office/drawing/2014/main" id="{283AD397-A273-08D1-8D62-79900235FCD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72250" y="1254125"/>
            <a:ext cx="285750" cy="228600"/>
          </a:xfrm>
          <a:prstGeom prst="rect">
            <a:avLst/>
          </a:prstGeom>
        </p:spPr>
      </p:pic>
      <p:sp>
        <p:nvSpPr>
          <p:cNvPr id="35" name="Text 1">
            <a:extLst>
              <a:ext uri="{FF2B5EF4-FFF2-40B4-BE49-F238E27FC236}">
                <a16:creationId xmlns:a16="http://schemas.microsoft.com/office/drawing/2014/main" id="{15DAF377-6515-B02A-F997-27F16CEEAAC7}"/>
              </a:ext>
            </a:extLst>
          </p:cNvPr>
          <p:cNvSpPr/>
          <p:nvPr/>
        </p:nvSpPr>
        <p:spPr>
          <a:xfrm>
            <a:off x="7040879" y="1234202"/>
            <a:ext cx="63397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학습 및 재 학습 과정</a:t>
            </a:r>
            <a:endParaRPr lang="en-US" sz="1500" dirty="0"/>
          </a:p>
        </p:txBody>
      </p:sp>
      <p:pic>
        <p:nvPicPr>
          <p:cNvPr id="47" name="Image 16" descr="preencoded.png">
            <a:extLst>
              <a:ext uri="{FF2B5EF4-FFF2-40B4-BE49-F238E27FC236}">
                <a16:creationId xmlns:a16="http://schemas.microsoft.com/office/drawing/2014/main" id="{8DFF8D7E-0355-7D6B-7C1E-6FD7DDC1772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69534" y="1728558"/>
            <a:ext cx="1210717" cy="676275"/>
          </a:xfrm>
          <a:prstGeom prst="rect">
            <a:avLst/>
          </a:prstGeom>
        </p:spPr>
      </p:pic>
      <p:pic>
        <p:nvPicPr>
          <p:cNvPr id="48" name="Image 17" descr="preencoded.png">
            <a:extLst>
              <a:ext uri="{FF2B5EF4-FFF2-40B4-BE49-F238E27FC236}">
                <a16:creationId xmlns:a16="http://schemas.microsoft.com/office/drawing/2014/main" id="{DD3DF2AD-F271-0856-3757-51413C85BF2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08143" y="1871433"/>
            <a:ext cx="133350" cy="152400"/>
          </a:xfrm>
          <a:prstGeom prst="rect">
            <a:avLst/>
          </a:prstGeom>
        </p:spPr>
      </p:pic>
      <p:pic>
        <p:nvPicPr>
          <p:cNvPr id="49" name="Image 19" descr="preencoded.png">
            <a:extLst>
              <a:ext uri="{FF2B5EF4-FFF2-40B4-BE49-F238E27FC236}">
                <a16:creationId xmlns:a16="http://schemas.microsoft.com/office/drawing/2014/main" id="{84BEAB7D-25CC-E12E-32F8-8FEB7E8AD31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32143" y="1728558"/>
            <a:ext cx="1210717" cy="676275"/>
          </a:xfrm>
          <a:prstGeom prst="rect">
            <a:avLst/>
          </a:prstGeom>
        </p:spPr>
      </p:pic>
      <p:pic>
        <p:nvPicPr>
          <p:cNvPr id="50" name="Image 20" descr="preencoded.png">
            <a:extLst>
              <a:ext uri="{FF2B5EF4-FFF2-40B4-BE49-F238E27FC236}">
                <a16:creationId xmlns:a16="http://schemas.microsoft.com/office/drawing/2014/main" id="{2762ECF7-E7E5-ED5C-763C-261C615AD23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61227" y="1871433"/>
            <a:ext cx="152400" cy="152400"/>
          </a:xfrm>
          <a:prstGeom prst="rect">
            <a:avLst/>
          </a:prstGeom>
        </p:spPr>
      </p:pic>
      <p:pic>
        <p:nvPicPr>
          <p:cNvPr id="51" name="Image 22" descr="preencoded.png">
            <a:extLst>
              <a:ext uri="{FF2B5EF4-FFF2-40B4-BE49-F238E27FC236}">
                <a16:creationId xmlns:a16="http://schemas.microsoft.com/office/drawing/2014/main" id="{90AB7DEE-D42B-3537-676C-37AC6C3B287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110988" y="1728558"/>
            <a:ext cx="1210717" cy="676275"/>
          </a:xfrm>
          <a:prstGeom prst="rect">
            <a:avLst/>
          </a:prstGeom>
        </p:spPr>
      </p:pic>
      <p:pic>
        <p:nvPicPr>
          <p:cNvPr id="52" name="Image 23" descr="preencoded.png">
            <a:extLst>
              <a:ext uri="{FF2B5EF4-FFF2-40B4-BE49-F238E27FC236}">
                <a16:creationId xmlns:a16="http://schemas.microsoft.com/office/drawing/2014/main" id="{36C5CB49-3AC9-A465-46F4-48150EF4EDD6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640072" y="1871433"/>
            <a:ext cx="152400" cy="152400"/>
          </a:xfrm>
          <a:prstGeom prst="rect">
            <a:avLst/>
          </a:prstGeom>
        </p:spPr>
      </p:pic>
      <p:sp>
        <p:nvSpPr>
          <p:cNvPr id="53" name="Text 14">
            <a:extLst>
              <a:ext uri="{FF2B5EF4-FFF2-40B4-BE49-F238E27FC236}">
                <a16:creationId xmlns:a16="http://schemas.microsoft.com/office/drawing/2014/main" id="{D3B8E73C-DF51-47B3-C5A7-163BDFF45C06}"/>
              </a:ext>
            </a:extLst>
          </p:cNvPr>
          <p:cNvSpPr/>
          <p:nvPr/>
        </p:nvSpPr>
        <p:spPr>
          <a:xfrm>
            <a:off x="6783834" y="2100033"/>
            <a:ext cx="98211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튜닝</a:t>
            </a:r>
            <a:endParaRPr lang="en-US" sz="1050" dirty="0"/>
          </a:p>
        </p:txBody>
      </p:sp>
      <p:sp>
        <p:nvSpPr>
          <p:cNvPr id="54" name="Text 15">
            <a:extLst>
              <a:ext uri="{FF2B5EF4-FFF2-40B4-BE49-F238E27FC236}">
                <a16:creationId xmlns:a16="http://schemas.microsoft.com/office/drawing/2014/main" id="{4EDC4950-1811-F70C-C47D-05A56AF8D467}"/>
              </a:ext>
            </a:extLst>
          </p:cNvPr>
          <p:cNvSpPr/>
          <p:nvPr/>
        </p:nvSpPr>
        <p:spPr>
          <a:xfrm>
            <a:off x="8546443" y="2100033"/>
            <a:ext cx="98211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재학습</a:t>
            </a:r>
            <a:endParaRPr lang="en-US" sz="1050" dirty="0"/>
          </a:p>
        </p:txBody>
      </p:sp>
      <p:sp>
        <p:nvSpPr>
          <p:cNvPr id="55" name="Text 16">
            <a:extLst>
              <a:ext uri="{FF2B5EF4-FFF2-40B4-BE49-F238E27FC236}">
                <a16:creationId xmlns:a16="http://schemas.microsoft.com/office/drawing/2014/main" id="{D1D38450-300A-B4D8-0914-3DF4F5902792}"/>
              </a:ext>
            </a:extLst>
          </p:cNvPr>
          <p:cNvSpPr/>
          <p:nvPr/>
        </p:nvSpPr>
        <p:spPr>
          <a:xfrm>
            <a:off x="10225288" y="2100033"/>
            <a:ext cx="98211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평가</a:t>
            </a:r>
            <a:endParaRPr lang="en-US" sz="1050" dirty="0"/>
          </a:p>
        </p:txBody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C465451E-76DD-95BA-B32C-7D4F2AA0E58B}"/>
              </a:ext>
            </a:extLst>
          </p:cNvPr>
          <p:cNvSpPr/>
          <p:nvPr/>
        </p:nvSpPr>
        <p:spPr>
          <a:xfrm>
            <a:off x="6477000" y="2493733"/>
            <a:ext cx="15659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train</a:t>
            </a:r>
          </a:p>
        </p:txBody>
      </p:sp>
      <p:sp>
        <p:nvSpPr>
          <p:cNvPr id="57" name="Text 18">
            <a:extLst>
              <a:ext uri="{FF2B5EF4-FFF2-40B4-BE49-F238E27FC236}">
                <a16:creationId xmlns:a16="http://schemas.microsoft.com/office/drawing/2014/main" id="{9B1F2EA7-462C-9BE6-DAD1-18A6F33E01D5}"/>
              </a:ext>
            </a:extLst>
          </p:cNvPr>
          <p:cNvSpPr/>
          <p:nvPr/>
        </p:nvSpPr>
        <p:spPr>
          <a:xfrm>
            <a:off x="8385114" y="2471508"/>
            <a:ext cx="130492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train+val</a:t>
            </a:r>
            <a:endParaRPr lang="en-US" sz="1200" dirty="0">
              <a:solidFill>
                <a:srgbClr val="000000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488FEAEE-A610-1258-6A78-41006A59F1D1}"/>
              </a:ext>
            </a:extLst>
          </p:cNvPr>
          <p:cNvSpPr/>
          <p:nvPr/>
        </p:nvSpPr>
        <p:spPr>
          <a:xfrm>
            <a:off x="10068529" y="2493055"/>
            <a:ext cx="130492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test로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평가</a:t>
            </a:r>
            <a:endParaRPr lang="en-US" sz="1200" dirty="0">
              <a:solidFill>
                <a:srgbClr val="000000"/>
              </a:solidFill>
              <a:latin typeface="Noto Sans KR" pitchFamily="34" charset="0"/>
              <a:ea typeface="Noto Sans KR" pitchFamily="34" charset="-122"/>
            </a:endParaRP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13229039-B4E1-CE74-4C59-7E2A9C830D9B}"/>
              </a:ext>
            </a:extLst>
          </p:cNvPr>
          <p:cNvCxnSpPr>
            <a:stCxn id="47" idx="3"/>
            <a:endCxn id="49" idx="1"/>
          </p:cNvCxnSpPr>
          <p:nvPr/>
        </p:nvCxnSpPr>
        <p:spPr>
          <a:xfrm>
            <a:off x="7880251" y="2066696"/>
            <a:ext cx="5518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1F622E39-8449-F233-5D8A-5FF083209C52}"/>
              </a:ext>
            </a:extLst>
          </p:cNvPr>
          <p:cNvCxnSpPr>
            <a:stCxn id="49" idx="3"/>
            <a:endCxn id="51" idx="1"/>
          </p:cNvCxnSpPr>
          <p:nvPr/>
        </p:nvCxnSpPr>
        <p:spPr>
          <a:xfrm>
            <a:off x="9642860" y="2066696"/>
            <a:ext cx="4681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Image 25" descr="preencoded.png">
            <a:extLst>
              <a:ext uri="{FF2B5EF4-FFF2-40B4-BE49-F238E27FC236}">
                <a16:creationId xmlns:a16="http://schemas.microsoft.com/office/drawing/2014/main" id="{4D312A24-6D7D-FD3D-45EE-A78C6ECF12A4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38925" y="3458519"/>
            <a:ext cx="219075" cy="190500"/>
          </a:xfrm>
          <a:prstGeom prst="rect">
            <a:avLst/>
          </a:prstGeom>
        </p:spPr>
      </p:pic>
      <p:sp>
        <p:nvSpPr>
          <p:cNvPr id="66" name="Text 1">
            <a:extLst>
              <a:ext uri="{FF2B5EF4-FFF2-40B4-BE49-F238E27FC236}">
                <a16:creationId xmlns:a16="http://schemas.microsoft.com/office/drawing/2014/main" id="{8B469E52-1133-C3E0-B006-5677EA92EBA8}"/>
              </a:ext>
            </a:extLst>
          </p:cNvPr>
          <p:cNvSpPr/>
          <p:nvPr/>
        </p:nvSpPr>
        <p:spPr>
          <a:xfrm>
            <a:off x="7109141" y="3457047"/>
            <a:ext cx="63397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평가지표</a:t>
            </a:r>
            <a:endParaRPr lang="en-US" sz="1500" dirty="0"/>
          </a:p>
        </p:txBody>
      </p:sp>
      <p:pic>
        <p:nvPicPr>
          <p:cNvPr id="67" name="Image 26" descr="preencoded.png">
            <a:extLst>
              <a:ext uri="{FF2B5EF4-FFF2-40B4-BE49-F238E27FC236}">
                <a16:creationId xmlns:a16="http://schemas.microsoft.com/office/drawing/2014/main" id="{BC335521-612D-8935-39F4-914773284C70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725352" y="3784945"/>
            <a:ext cx="1246882" cy="647700"/>
          </a:xfrm>
          <a:prstGeom prst="rect">
            <a:avLst/>
          </a:prstGeom>
        </p:spPr>
      </p:pic>
      <p:sp>
        <p:nvSpPr>
          <p:cNvPr id="68" name="Text 21">
            <a:extLst>
              <a:ext uri="{FF2B5EF4-FFF2-40B4-BE49-F238E27FC236}">
                <a16:creationId xmlns:a16="http://schemas.microsoft.com/office/drawing/2014/main" id="{F62D48E6-8208-333F-D721-AE0009FC1771}"/>
              </a:ext>
            </a:extLst>
          </p:cNvPr>
          <p:cNvSpPr/>
          <p:nvPr/>
        </p:nvSpPr>
        <p:spPr>
          <a:xfrm>
            <a:off x="6839652" y="3899245"/>
            <a:ext cx="101828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RMSE</a:t>
            </a:r>
            <a:endParaRPr lang="en-US" sz="1200" dirty="0"/>
          </a:p>
        </p:txBody>
      </p:sp>
      <p:sp>
        <p:nvSpPr>
          <p:cNvPr id="69" name="Text 22">
            <a:extLst>
              <a:ext uri="{FF2B5EF4-FFF2-40B4-BE49-F238E27FC236}">
                <a16:creationId xmlns:a16="http://schemas.microsoft.com/office/drawing/2014/main" id="{3E452FE7-B1F2-33FE-9B93-B5F5DF1F90DF}"/>
              </a:ext>
            </a:extLst>
          </p:cNvPr>
          <p:cNvSpPr/>
          <p:nvPr/>
        </p:nvSpPr>
        <p:spPr>
          <a:xfrm>
            <a:off x="6737823" y="4127845"/>
            <a:ext cx="122193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평균 제곱근 오차</a:t>
            </a:r>
            <a:endParaRPr lang="en-US" sz="1050" dirty="0"/>
          </a:p>
        </p:txBody>
      </p:sp>
      <p:pic>
        <p:nvPicPr>
          <p:cNvPr id="75" name="Image 28" descr="preencoded.png">
            <a:extLst>
              <a:ext uri="{FF2B5EF4-FFF2-40B4-BE49-F238E27FC236}">
                <a16:creationId xmlns:a16="http://schemas.microsoft.com/office/drawing/2014/main" id="{53F1A6BB-B40F-4656-9AE7-8B9C475A4C4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487080" y="3797645"/>
            <a:ext cx="804416" cy="647700"/>
          </a:xfrm>
          <a:prstGeom prst="rect">
            <a:avLst/>
          </a:prstGeom>
        </p:spPr>
      </p:pic>
      <p:sp>
        <p:nvSpPr>
          <p:cNvPr id="77" name="Text 25">
            <a:extLst>
              <a:ext uri="{FF2B5EF4-FFF2-40B4-BE49-F238E27FC236}">
                <a16:creationId xmlns:a16="http://schemas.microsoft.com/office/drawing/2014/main" id="{B27BADC5-32BE-B0DA-150C-DEC8794C7141}"/>
              </a:ext>
            </a:extLst>
          </p:cNvPr>
          <p:cNvSpPr/>
          <p:nvPr/>
        </p:nvSpPr>
        <p:spPr>
          <a:xfrm>
            <a:off x="8601380" y="3911945"/>
            <a:ext cx="57581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B91C1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R²</a:t>
            </a:r>
            <a:endParaRPr lang="en-US" sz="1200" dirty="0"/>
          </a:p>
        </p:txBody>
      </p:sp>
      <p:sp>
        <p:nvSpPr>
          <p:cNvPr id="79" name="Text 26">
            <a:extLst>
              <a:ext uri="{FF2B5EF4-FFF2-40B4-BE49-F238E27FC236}">
                <a16:creationId xmlns:a16="http://schemas.microsoft.com/office/drawing/2014/main" id="{BA654FEF-9805-D12F-1A37-61D90E54CC66}"/>
              </a:ext>
            </a:extLst>
          </p:cNvPr>
          <p:cNvSpPr/>
          <p:nvPr/>
        </p:nvSpPr>
        <p:spPr>
          <a:xfrm>
            <a:off x="8543798" y="4140545"/>
            <a:ext cx="69097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결정 계수</a:t>
            </a:r>
            <a:endParaRPr lang="en-US" sz="1050" dirty="0"/>
          </a:p>
        </p:txBody>
      </p:sp>
      <p:pic>
        <p:nvPicPr>
          <p:cNvPr id="85" name="Image 2" descr="preencoded.png">
            <a:extLst>
              <a:ext uri="{FF2B5EF4-FFF2-40B4-BE49-F238E27FC236}">
                <a16:creationId xmlns:a16="http://schemas.microsoft.com/office/drawing/2014/main" id="{73D96EFB-F3F2-C9E1-B309-9CFD6BF573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9457" y="4747727"/>
            <a:ext cx="5362574" cy="533032"/>
          </a:xfrm>
          <a:prstGeom prst="rect">
            <a:avLst/>
          </a:prstGeom>
        </p:spPr>
      </p:pic>
      <p:pic>
        <p:nvPicPr>
          <p:cNvPr id="81" name="Image 22" descr="preencoded.png">
            <a:extLst>
              <a:ext uri="{FF2B5EF4-FFF2-40B4-BE49-F238E27FC236}">
                <a16:creationId xmlns:a16="http://schemas.microsoft.com/office/drawing/2014/main" id="{01703D2F-C184-1284-998E-989D097120F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669534" y="4952809"/>
            <a:ext cx="190500" cy="190500"/>
          </a:xfrm>
          <a:prstGeom prst="rect">
            <a:avLst/>
          </a:prstGeom>
        </p:spPr>
      </p:pic>
      <p:sp>
        <p:nvSpPr>
          <p:cNvPr id="84" name="Text 1">
            <a:extLst>
              <a:ext uri="{FF2B5EF4-FFF2-40B4-BE49-F238E27FC236}">
                <a16:creationId xmlns:a16="http://schemas.microsoft.com/office/drawing/2014/main" id="{06C875A2-F379-DE23-8BD7-175A80CED255}"/>
              </a:ext>
            </a:extLst>
          </p:cNvPr>
          <p:cNvSpPr/>
          <p:nvPr/>
        </p:nvSpPr>
        <p:spPr>
          <a:xfrm>
            <a:off x="7109141" y="4880141"/>
            <a:ext cx="63397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산출물 관리 </a:t>
            </a:r>
            <a:r>
              <a:rPr lang="en-US" altLang="ko-KR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(</a:t>
            </a:r>
            <a:r>
              <a:rPr lang="ko-KR" alt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로그 및 모델 저장</a:t>
            </a:r>
            <a:r>
              <a:rPr lang="en-US" altLang="ko-KR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)</a:t>
            </a:r>
            <a:r>
              <a:rPr lang="ko-KR" alt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로 재현성 보장 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0283508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328B5-9990-773B-2CD6-787E03AAB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CC93422-D58F-5B7D-E7F7-5C36072DC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A4FD8509-3D6A-42A4-F844-01E33BBCEF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001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A08BAF31-E718-8DBD-B255-D6AFF6471E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999" y="1066800"/>
            <a:ext cx="5715001" cy="4150674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AD51047-079A-DFE9-361E-B4FF64726B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95400"/>
            <a:ext cx="190500" cy="190500"/>
          </a:xfrm>
          <a:prstGeom prst="rect">
            <a:avLst/>
          </a:prstGeom>
        </p:spPr>
      </p:pic>
      <p:pic>
        <p:nvPicPr>
          <p:cNvPr id="15" name="Image 13" descr="preencoded.png">
            <a:extLst>
              <a:ext uri="{FF2B5EF4-FFF2-40B4-BE49-F238E27FC236}">
                <a16:creationId xmlns:a16="http://schemas.microsoft.com/office/drawing/2014/main" id="{C4795C14-2356-671E-44A9-7DC4107C3E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77575" y="6553200"/>
            <a:ext cx="104775" cy="133350"/>
          </a:xfrm>
          <a:prstGeom prst="rect">
            <a:avLst/>
          </a:prstGeom>
        </p:spPr>
      </p:pic>
      <p:sp>
        <p:nvSpPr>
          <p:cNvPr id="16" name="Text 0">
            <a:extLst>
              <a:ext uri="{FF2B5EF4-FFF2-40B4-BE49-F238E27FC236}">
                <a16:creationId xmlns:a16="http://schemas.microsoft.com/office/drawing/2014/main" id="{4252F291-954E-3D35-450E-87EFA2F0816F}"/>
              </a:ext>
            </a:extLst>
          </p:cNvPr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ko-KR" alt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모델 학습 및 평가</a:t>
            </a:r>
            <a:endParaRPr lang="en-US" altLang="ko-KR" sz="2250" b="1" dirty="0">
              <a:solidFill>
                <a:srgbClr val="1F2937"/>
              </a:solidFill>
              <a:latin typeface="Noto Serif KR" pitchFamily="34" charset="0"/>
              <a:ea typeface="Noto Serif KR" pitchFamily="34" charset="-122"/>
              <a:cs typeface="Noto Serif KR" pitchFamily="34" charset="-120"/>
            </a:endParaRP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754AE382-575B-01B7-E3BB-5C119A6773AB}"/>
              </a:ext>
            </a:extLst>
          </p:cNvPr>
          <p:cNvSpPr/>
          <p:nvPr/>
        </p:nvSpPr>
        <p:spPr>
          <a:xfrm>
            <a:off x="876300" y="1257300"/>
            <a:ext cx="63397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</a:t>
            </a:r>
            <a:r>
              <a:rPr lang="en-US" sz="1500" b="1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</a:t>
            </a: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 </a:t>
            </a:r>
            <a:r>
              <a:rPr lang="en-US" sz="1500" b="1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</a:t>
            </a: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(Seoul)</a:t>
            </a:r>
          </a:p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500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056AFFAE-0846-F1C5-7D55-0EF532E1843B}"/>
              </a:ext>
            </a:extLst>
          </p:cNvPr>
          <p:cNvSpPr/>
          <p:nvPr/>
        </p:nvSpPr>
        <p:spPr>
          <a:xfrm>
            <a:off x="11220450" y="6515100"/>
            <a:ext cx="10629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Page 15/20</a:t>
            </a:r>
            <a:endParaRPr lang="en-US" sz="1050" dirty="0"/>
          </a:p>
        </p:txBody>
      </p:sp>
      <p:pic>
        <p:nvPicPr>
          <p:cNvPr id="48" name="Image 6" descr="preencoded.png">
            <a:extLst>
              <a:ext uri="{FF2B5EF4-FFF2-40B4-BE49-F238E27FC236}">
                <a16:creationId xmlns:a16="http://schemas.microsoft.com/office/drawing/2014/main" id="{CDA154A1-CAD8-3B0D-B365-90AB1BA454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4425" y="1066800"/>
            <a:ext cx="5616575" cy="4127500"/>
          </a:xfrm>
          <a:prstGeom prst="rect">
            <a:avLst/>
          </a:prstGeom>
        </p:spPr>
      </p:pic>
      <p:pic>
        <p:nvPicPr>
          <p:cNvPr id="49" name="Image 7" descr="preencoded.png">
            <a:extLst>
              <a:ext uri="{FF2B5EF4-FFF2-40B4-BE49-F238E27FC236}">
                <a16:creationId xmlns:a16="http://schemas.microsoft.com/office/drawing/2014/main" id="{F18C3C84-5775-060D-82D3-E50751013D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4126" y="1295400"/>
            <a:ext cx="142875" cy="190500"/>
          </a:xfrm>
          <a:prstGeom prst="rect">
            <a:avLst/>
          </a:prstGeom>
        </p:spPr>
      </p:pic>
      <p:sp>
        <p:nvSpPr>
          <p:cNvPr id="55" name="Text 3">
            <a:extLst>
              <a:ext uri="{FF2B5EF4-FFF2-40B4-BE49-F238E27FC236}">
                <a16:creationId xmlns:a16="http://schemas.microsoft.com/office/drawing/2014/main" id="{373A5E9D-A6DE-B99C-384E-7B441A859061}"/>
              </a:ext>
            </a:extLst>
          </p:cNvPr>
          <p:cNvSpPr/>
          <p:nvPr/>
        </p:nvSpPr>
        <p:spPr>
          <a:xfrm>
            <a:off x="6591301" y="1257300"/>
            <a:ext cx="40996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시각화</a:t>
            </a:r>
            <a:endParaRPr lang="en-US" sz="1500" dirty="0"/>
          </a:p>
        </p:txBody>
      </p:sp>
      <p:pic>
        <p:nvPicPr>
          <p:cNvPr id="80" name="Image 3" descr="preencoded.png">
            <a:extLst>
              <a:ext uri="{FF2B5EF4-FFF2-40B4-BE49-F238E27FC236}">
                <a16:creationId xmlns:a16="http://schemas.microsoft.com/office/drawing/2014/main" id="{5AEF891A-E192-2FB8-4CC5-9EDF92C450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348429"/>
            <a:ext cx="190500" cy="190500"/>
          </a:xfrm>
          <a:prstGeom prst="rect">
            <a:avLst/>
          </a:prstGeom>
        </p:spPr>
      </p:pic>
      <p:sp>
        <p:nvSpPr>
          <p:cNvPr id="81" name="Text 1">
            <a:extLst>
              <a:ext uri="{FF2B5EF4-FFF2-40B4-BE49-F238E27FC236}">
                <a16:creationId xmlns:a16="http://schemas.microsoft.com/office/drawing/2014/main" id="{66F856A7-11EC-032E-F959-52A610B7D31D}"/>
              </a:ext>
            </a:extLst>
          </p:cNvPr>
          <p:cNvSpPr/>
          <p:nvPr/>
        </p:nvSpPr>
        <p:spPr>
          <a:xfrm>
            <a:off x="876300" y="3310329"/>
            <a:ext cx="63397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모델 성능 비교</a:t>
            </a: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(WDC)</a:t>
            </a:r>
          </a:p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500" dirty="0"/>
          </a:p>
        </p:txBody>
      </p:sp>
      <p:pic>
        <p:nvPicPr>
          <p:cNvPr id="23" name="Image 13" descr="preencoded.png">
            <a:extLst>
              <a:ext uri="{FF2B5EF4-FFF2-40B4-BE49-F238E27FC236}">
                <a16:creationId xmlns:a16="http://schemas.microsoft.com/office/drawing/2014/main" id="{D2297E73-FDDE-5F7B-4B7E-137A3DB82E2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V="1">
            <a:off x="254121" y="5408312"/>
            <a:ext cx="11430000" cy="1031995"/>
          </a:xfrm>
          <a:prstGeom prst="rect">
            <a:avLst/>
          </a:prstGeom>
        </p:spPr>
      </p:pic>
      <p:sp>
        <p:nvSpPr>
          <p:cNvPr id="24" name="Text 2">
            <a:extLst>
              <a:ext uri="{FF2B5EF4-FFF2-40B4-BE49-F238E27FC236}">
                <a16:creationId xmlns:a16="http://schemas.microsoft.com/office/drawing/2014/main" id="{7127311C-F4EF-FE7E-2852-00FAA4AAF19D}"/>
              </a:ext>
            </a:extLst>
          </p:cNvPr>
          <p:cNvSpPr/>
          <p:nvPr/>
        </p:nvSpPr>
        <p:spPr>
          <a:xfrm>
            <a:off x="706559" y="5509914"/>
            <a:ext cx="1943100" cy="2494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학습 결론</a:t>
            </a:r>
            <a:endParaRPr lang="en-US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8EE9AD-DAF5-CE97-3B82-6BB6406588E0}"/>
              </a:ext>
            </a:extLst>
          </p:cNvPr>
          <p:cNvSpPr txBox="1"/>
          <p:nvPr/>
        </p:nvSpPr>
        <p:spPr>
          <a:xfrm>
            <a:off x="477959" y="5758751"/>
            <a:ext cx="11277600" cy="533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두 도시 모두에서 </a:t>
            </a:r>
            <a:r>
              <a:rPr lang="en-US" altLang="ko-KR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LightGBM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이 최적 모델로 확인되었으며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데이터 특성에 따라 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Seoul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은 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IQR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적용이 성능 향상에 효과적이었던 반면 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Washington DC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는 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No-IQR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전략이 데이터 다양성을 유지하며 모든 지표에서 우수한 성능을 보였다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.</a:t>
            </a:r>
          </a:p>
        </p:txBody>
      </p:sp>
      <p:pic>
        <p:nvPicPr>
          <p:cNvPr id="26" name="Image 7" descr="preencoded.png">
            <a:extLst>
              <a:ext uri="{FF2B5EF4-FFF2-40B4-BE49-F238E27FC236}">
                <a16:creationId xmlns:a16="http://schemas.microsoft.com/office/drawing/2014/main" id="{3C27BA1D-E4DB-BB4C-1B26-DEB4D3FD791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981" y="5550608"/>
            <a:ext cx="142875" cy="190500"/>
          </a:xfrm>
          <a:prstGeom prst="rect">
            <a:avLst/>
          </a:prstGeom>
        </p:spPr>
      </p:pic>
      <p:pic>
        <p:nvPicPr>
          <p:cNvPr id="11" name="그림 10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2184017-0454-5DFC-3112-95EC41107D2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4695" y="1541607"/>
            <a:ext cx="4192378" cy="1545404"/>
          </a:xfrm>
          <a:prstGeom prst="rect">
            <a:avLst/>
          </a:prstGeom>
        </p:spPr>
      </p:pic>
      <p:pic>
        <p:nvPicPr>
          <p:cNvPr id="14" name="그림 1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C79486-CEB6-0F93-1711-8BD092CCB34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4695" y="3672500"/>
            <a:ext cx="4076700" cy="1537289"/>
          </a:xfrm>
          <a:prstGeom prst="rect">
            <a:avLst/>
          </a:prstGeom>
        </p:spPr>
      </p:pic>
      <p:pic>
        <p:nvPicPr>
          <p:cNvPr id="83" name="그림 82">
            <a:extLst>
              <a:ext uri="{FF2B5EF4-FFF2-40B4-BE49-F238E27FC236}">
                <a16:creationId xmlns:a16="http://schemas.microsoft.com/office/drawing/2014/main" id="{C511C33F-7EE2-8BFC-D0C8-54B63AE224A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38933" y="1530468"/>
            <a:ext cx="2478524" cy="1898532"/>
          </a:xfrm>
          <a:prstGeom prst="rect">
            <a:avLst/>
          </a:prstGeom>
        </p:spPr>
      </p:pic>
      <p:pic>
        <p:nvPicPr>
          <p:cNvPr id="84" name="그림 83">
            <a:extLst>
              <a:ext uri="{FF2B5EF4-FFF2-40B4-BE49-F238E27FC236}">
                <a16:creationId xmlns:a16="http://schemas.microsoft.com/office/drawing/2014/main" id="{8CB03222-4A3B-8643-8275-329DC1556E38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60847" y="1524000"/>
            <a:ext cx="2516077" cy="1898532"/>
          </a:xfrm>
          <a:prstGeom prst="rect">
            <a:avLst/>
          </a:prstGeom>
        </p:spPr>
      </p:pic>
      <p:pic>
        <p:nvPicPr>
          <p:cNvPr id="86" name="그림 85">
            <a:extLst>
              <a:ext uri="{FF2B5EF4-FFF2-40B4-BE49-F238E27FC236}">
                <a16:creationId xmlns:a16="http://schemas.microsoft.com/office/drawing/2014/main" id="{A66A381B-B9A9-C2EC-0533-B47E7C04420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38933" y="3363083"/>
            <a:ext cx="2476784" cy="1897200"/>
          </a:xfrm>
          <a:prstGeom prst="rect">
            <a:avLst/>
          </a:prstGeom>
        </p:spPr>
      </p:pic>
      <p:pic>
        <p:nvPicPr>
          <p:cNvPr id="88" name="그림 87">
            <a:extLst>
              <a:ext uri="{FF2B5EF4-FFF2-40B4-BE49-F238E27FC236}">
                <a16:creationId xmlns:a16="http://schemas.microsoft.com/office/drawing/2014/main" id="{88526778-B8B4-25D9-0F6A-6FBAE9BD3A8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62613" y="3312589"/>
            <a:ext cx="2514311" cy="189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7804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87F8B-4109-AD55-F4E4-F6D91C1C8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A7CD149F-BA9B-7304-99B6-A0CBC688F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EA67FA00-424E-74E9-5A2F-ACEEF31209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001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21E5BA0-AA7F-253E-1C94-430A450780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066800"/>
            <a:ext cx="5715000" cy="4227211"/>
          </a:xfrm>
          <a:prstGeom prst="rect">
            <a:avLst/>
          </a:prstGeom>
        </p:spPr>
      </p:pic>
      <p:pic>
        <p:nvPicPr>
          <p:cNvPr id="15" name="Image 13" descr="preencoded.png">
            <a:extLst>
              <a:ext uri="{FF2B5EF4-FFF2-40B4-BE49-F238E27FC236}">
                <a16:creationId xmlns:a16="http://schemas.microsoft.com/office/drawing/2014/main" id="{FF2B5A99-FBEA-00E8-43D9-DF5F5A0D24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77575" y="6553200"/>
            <a:ext cx="104775" cy="133350"/>
          </a:xfrm>
          <a:prstGeom prst="rect">
            <a:avLst/>
          </a:prstGeom>
        </p:spPr>
      </p:pic>
      <p:sp>
        <p:nvSpPr>
          <p:cNvPr id="16" name="Text 0">
            <a:extLst>
              <a:ext uri="{FF2B5EF4-FFF2-40B4-BE49-F238E27FC236}">
                <a16:creationId xmlns:a16="http://schemas.microsoft.com/office/drawing/2014/main" id="{8298D105-F093-164C-84E4-4D71A7B4142D}"/>
              </a:ext>
            </a:extLst>
          </p:cNvPr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ko-KR" alt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앙상블 </a:t>
            </a:r>
            <a:r>
              <a:rPr lang="en-US" altLang="ko-KR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: </a:t>
            </a:r>
            <a:r>
              <a:rPr lang="ko-KR" alt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설계</a:t>
            </a:r>
            <a:endParaRPr lang="en-US" sz="225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5D3A8D94-FAB3-267C-3137-F0470C2FA466}"/>
              </a:ext>
            </a:extLst>
          </p:cNvPr>
          <p:cNvSpPr/>
          <p:nvPr/>
        </p:nvSpPr>
        <p:spPr>
          <a:xfrm>
            <a:off x="876300" y="1257300"/>
            <a:ext cx="63397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앙상블 디자인</a:t>
            </a:r>
            <a:r>
              <a:rPr lang="en-US" altLang="ko-KR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 : Weight Average(</a:t>
            </a:r>
            <a:r>
              <a:rPr lang="ko-KR" alt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가중평균</a:t>
            </a:r>
            <a:r>
              <a:rPr lang="en-US" altLang="ko-KR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) </a:t>
            </a:r>
            <a:r>
              <a:rPr lang="ko-KR" alt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기법</a:t>
            </a:r>
            <a:endParaRPr lang="en-US" sz="1500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33BEC91F-B7D4-B5B8-E1BA-AC85EA4CFF62}"/>
              </a:ext>
            </a:extLst>
          </p:cNvPr>
          <p:cNvSpPr/>
          <p:nvPr/>
        </p:nvSpPr>
        <p:spPr>
          <a:xfrm>
            <a:off x="11220450" y="6515100"/>
            <a:ext cx="10629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Page 15/20</a:t>
            </a:r>
            <a:endParaRPr lang="en-US" sz="1050" dirty="0"/>
          </a:p>
        </p:txBody>
      </p:sp>
      <p:pic>
        <p:nvPicPr>
          <p:cNvPr id="90" name="Image 13" descr="preencoded.png">
            <a:extLst>
              <a:ext uri="{FF2B5EF4-FFF2-40B4-BE49-F238E27FC236}">
                <a16:creationId xmlns:a16="http://schemas.microsoft.com/office/drawing/2014/main" id="{73B4987B-150D-8802-A57D-CAF6228842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V="1">
            <a:off x="254121" y="5408312"/>
            <a:ext cx="11430000" cy="1031995"/>
          </a:xfrm>
          <a:prstGeom prst="rect">
            <a:avLst/>
          </a:prstGeom>
        </p:spPr>
      </p:pic>
      <p:sp>
        <p:nvSpPr>
          <p:cNvPr id="92" name="Text 2">
            <a:extLst>
              <a:ext uri="{FF2B5EF4-FFF2-40B4-BE49-F238E27FC236}">
                <a16:creationId xmlns:a16="http://schemas.microsoft.com/office/drawing/2014/main" id="{3991E6D1-2A68-7F52-6930-C3ED99EEE5BC}"/>
              </a:ext>
            </a:extLst>
          </p:cNvPr>
          <p:cNvSpPr/>
          <p:nvPr/>
        </p:nvSpPr>
        <p:spPr>
          <a:xfrm>
            <a:off x="706559" y="5509914"/>
            <a:ext cx="1943100" cy="2494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전략적 의미</a:t>
            </a:r>
            <a:endParaRPr lang="en-US" sz="12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6E93178-CD6B-75B6-48E7-F3BC7E14ADA5}"/>
              </a:ext>
            </a:extLst>
          </p:cNvPr>
          <p:cNvSpPr txBox="1"/>
          <p:nvPr/>
        </p:nvSpPr>
        <p:spPr>
          <a:xfrm>
            <a:off x="477959" y="5758751"/>
            <a:ext cx="11277600" cy="533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본 프로젝트에서는 </a:t>
            </a:r>
            <a:r>
              <a:rPr lang="ko-KR" alt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모델별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 성능 편차가 명확하고 각 모델이 서로 다른 피처 조합에 강점을 보였기 때문에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단순 평균이 아닌 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Weighted Average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앙상블을 적용하여 검증 성능이 우수한 모델의 기여도를 전략적으로 확대하고 최종 예측의 신뢰성과 일반화 성능을 동시에 확보하고자 하였다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.</a:t>
            </a:r>
          </a:p>
        </p:txBody>
      </p:sp>
      <p:pic>
        <p:nvPicPr>
          <p:cNvPr id="94" name="Image 7" descr="preencoded.png">
            <a:extLst>
              <a:ext uri="{FF2B5EF4-FFF2-40B4-BE49-F238E27FC236}">
                <a16:creationId xmlns:a16="http://schemas.microsoft.com/office/drawing/2014/main" id="{9704BDA3-12AA-276A-172C-EDBE596DF2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981" y="5550608"/>
            <a:ext cx="142875" cy="190500"/>
          </a:xfrm>
          <a:prstGeom prst="rect">
            <a:avLst/>
          </a:prstGeom>
        </p:spPr>
      </p:pic>
      <p:pic>
        <p:nvPicPr>
          <p:cNvPr id="111" name="Image 2" descr="preencoded.png">
            <a:extLst>
              <a:ext uri="{FF2B5EF4-FFF2-40B4-BE49-F238E27FC236}">
                <a16:creationId xmlns:a16="http://schemas.microsoft.com/office/drawing/2014/main" id="{7A9AD408-88E1-D6A8-D717-C61BDC2592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9371" y="1104901"/>
            <a:ext cx="5362574" cy="2856986"/>
          </a:xfrm>
          <a:prstGeom prst="rect">
            <a:avLst/>
          </a:prstGeom>
        </p:spPr>
      </p:pic>
      <p:pic>
        <p:nvPicPr>
          <p:cNvPr id="5" name="Image 2" descr="preencoded.png">
            <a:extLst>
              <a:ext uri="{FF2B5EF4-FFF2-40B4-BE49-F238E27FC236}">
                <a16:creationId xmlns:a16="http://schemas.microsoft.com/office/drawing/2014/main" id="{9347E0E7-2834-0E9B-29A9-CAF115F2A19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7213" y="1279310"/>
            <a:ext cx="257175" cy="228600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B05EBCCB-9790-8101-3A91-D101CFDF9AD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17551" y="1854200"/>
            <a:ext cx="304800" cy="381000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19369A6D-F920-A3F1-C45F-E9F69B45A8A9}"/>
              </a:ext>
            </a:extLst>
          </p:cNvPr>
          <p:cNvSpPr/>
          <p:nvPr/>
        </p:nvSpPr>
        <p:spPr>
          <a:xfrm>
            <a:off x="793755" y="2362200"/>
            <a:ext cx="17525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RandomForest</a:t>
            </a:r>
            <a:endParaRPr lang="en-US" sz="1350" dirty="0"/>
          </a:p>
        </p:txBody>
      </p:sp>
      <p:pic>
        <p:nvPicPr>
          <p:cNvPr id="13" name="Image 6" descr="preencoded.png">
            <a:extLst>
              <a:ext uri="{FF2B5EF4-FFF2-40B4-BE49-F238E27FC236}">
                <a16:creationId xmlns:a16="http://schemas.microsoft.com/office/drawing/2014/main" id="{C9EA8F57-5480-4C4A-0A81-744936CD236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36822" y="3973497"/>
            <a:ext cx="342900" cy="381000"/>
          </a:xfrm>
          <a:prstGeom prst="rect">
            <a:avLst/>
          </a:prstGeom>
        </p:spPr>
      </p:pic>
      <p:sp>
        <p:nvSpPr>
          <p:cNvPr id="14" name="Text 4">
            <a:extLst>
              <a:ext uri="{FF2B5EF4-FFF2-40B4-BE49-F238E27FC236}">
                <a16:creationId xmlns:a16="http://schemas.microsoft.com/office/drawing/2014/main" id="{B950A021-7B08-B105-6231-43B61DFD3E6B}"/>
              </a:ext>
            </a:extLst>
          </p:cNvPr>
          <p:cNvSpPr/>
          <p:nvPr/>
        </p:nvSpPr>
        <p:spPr>
          <a:xfrm>
            <a:off x="832076" y="4481497"/>
            <a:ext cx="17525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XGBRegressor</a:t>
            </a:r>
            <a:endParaRPr lang="en-US" sz="1350" dirty="0"/>
          </a:p>
        </p:txBody>
      </p:sp>
      <p:pic>
        <p:nvPicPr>
          <p:cNvPr id="19" name="Image 8" descr="preencoded.png">
            <a:extLst>
              <a:ext uri="{FF2B5EF4-FFF2-40B4-BE49-F238E27FC236}">
                <a16:creationId xmlns:a16="http://schemas.microsoft.com/office/drawing/2014/main" id="{0EFF6643-27BC-E44A-5681-F7F9668564C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69203" y="2961747"/>
            <a:ext cx="257175" cy="381000"/>
          </a:xfrm>
          <a:prstGeom prst="rect">
            <a:avLst/>
          </a:prstGeom>
        </p:spPr>
      </p:pic>
      <p:sp>
        <p:nvSpPr>
          <p:cNvPr id="20" name="Text 6">
            <a:extLst>
              <a:ext uri="{FF2B5EF4-FFF2-40B4-BE49-F238E27FC236}">
                <a16:creationId xmlns:a16="http://schemas.microsoft.com/office/drawing/2014/main" id="{F811E152-0D2F-86D8-6F84-F0B5A6F0BF75}"/>
              </a:ext>
            </a:extLst>
          </p:cNvPr>
          <p:cNvSpPr/>
          <p:nvPr/>
        </p:nvSpPr>
        <p:spPr>
          <a:xfrm>
            <a:off x="821595" y="3457047"/>
            <a:ext cx="17525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B91C1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LGBMRegressor</a:t>
            </a:r>
            <a:endParaRPr lang="en-US" sz="1350" dirty="0"/>
          </a:p>
        </p:txBody>
      </p:sp>
      <p:pic>
        <p:nvPicPr>
          <p:cNvPr id="30" name="Image 2" descr="preencoded.png">
            <a:extLst>
              <a:ext uri="{FF2B5EF4-FFF2-40B4-BE49-F238E27FC236}">
                <a16:creationId xmlns:a16="http://schemas.microsoft.com/office/drawing/2014/main" id="{4565B15B-152C-761B-8532-FCB39A71FE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1145" y="4043451"/>
            <a:ext cx="5362574" cy="1296508"/>
          </a:xfrm>
          <a:prstGeom prst="rect">
            <a:avLst/>
          </a:prstGeom>
        </p:spPr>
      </p:pic>
      <p:pic>
        <p:nvPicPr>
          <p:cNvPr id="32" name="Image 14" descr="preencoded.png">
            <a:extLst>
              <a:ext uri="{FF2B5EF4-FFF2-40B4-BE49-F238E27FC236}">
                <a16:creationId xmlns:a16="http://schemas.microsoft.com/office/drawing/2014/main" id="{59F84461-74C1-9445-FFCD-EC0FB7566A3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72250" y="1254125"/>
            <a:ext cx="285750" cy="228600"/>
          </a:xfrm>
          <a:prstGeom prst="rect">
            <a:avLst/>
          </a:prstGeom>
        </p:spPr>
      </p:pic>
      <p:sp>
        <p:nvSpPr>
          <p:cNvPr id="35" name="Text 1">
            <a:extLst>
              <a:ext uri="{FF2B5EF4-FFF2-40B4-BE49-F238E27FC236}">
                <a16:creationId xmlns:a16="http://schemas.microsoft.com/office/drawing/2014/main" id="{50CB357E-6DA3-0997-F995-585E96C1BBB8}"/>
              </a:ext>
            </a:extLst>
          </p:cNvPr>
          <p:cNvSpPr/>
          <p:nvPr/>
        </p:nvSpPr>
        <p:spPr>
          <a:xfrm>
            <a:off x="7040879" y="1234202"/>
            <a:ext cx="63397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altLang="ko-KR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Weight Average(</a:t>
            </a:r>
            <a:r>
              <a:rPr lang="ko-KR" alt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가중평균</a:t>
            </a:r>
            <a:r>
              <a:rPr lang="en-US" altLang="ko-KR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) </a:t>
            </a:r>
            <a:r>
              <a:rPr lang="ko-KR" alt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기법이란</a:t>
            </a:r>
            <a:r>
              <a:rPr lang="en-US" altLang="ko-KR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?</a:t>
            </a:r>
            <a:endParaRPr lang="en-US" sz="1500" dirty="0"/>
          </a:p>
        </p:txBody>
      </p:sp>
      <p:pic>
        <p:nvPicPr>
          <p:cNvPr id="65" name="Image 25" descr="preencoded.png">
            <a:extLst>
              <a:ext uri="{FF2B5EF4-FFF2-40B4-BE49-F238E27FC236}">
                <a16:creationId xmlns:a16="http://schemas.microsoft.com/office/drawing/2014/main" id="{752881CC-95A3-C1E6-CCFB-2F55E2E89E5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12286" y="4186677"/>
            <a:ext cx="219075" cy="190500"/>
          </a:xfrm>
          <a:prstGeom prst="rect">
            <a:avLst/>
          </a:prstGeom>
        </p:spPr>
      </p:pic>
      <p:sp>
        <p:nvSpPr>
          <p:cNvPr id="66" name="Text 1">
            <a:extLst>
              <a:ext uri="{FF2B5EF4-FFF2-40B4-BE49-F238E27FC236}">
                <a16:creationId xmlns:a16="http://schemas.microsoft.com/office/drawing/2014/main" id="{F4F0B0E7-D59E-BA24-E3E1-3FA8E3B83B5F}"/>
              </a:ext>
            </a:extLst>
          </p:cNvPr>
          <p:cNvSpPr/>
          <p:nvPr/>
        </p:nvSpPr>
        <p:spPr>
          <a:xfrm>
            <a:off x="7082502" y="4185205"/>
            <a:ext cx="63397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평가지표</a:t>
            </a:r>
            <a:endParaRPr lang="en-US" sz="1500" dirty="0"/>
          </a:p>
        </p:txBody>
      </p:sp>
      <p:pic>
        <p:nvPicPr>
          <p:cNvPr id="67" name="Image 26" descr="preencoded.png">
            <a:extLst>
              <a:ext uri="{FF2B5EF4-FFF2-40B4-BE49-F238E27FC236}">
                <a16:creationId xmlns:a16="http://schemas.microsoft.com/office/drawing/2014/main" id="{3E373EB4-53EF-EE7E-1B4B-65C2D8C7C5E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98713" y="4513103"/>
            <a:ext cx="1246882" cy="647700"/>
          </a:xfrm>
          <a:prstGeom prst="rect">
            <a:avLst/>
          </a:prstGeom>
        </p:spPr>
      </p:pic>
      <p:sp>
        <p:nvSpPr>
          <p:cNvPr id="68" name="Text 21">
            <a:extLst>
              <a:ext uri="{FF2B5EF4-FFF2-40B4-BE49-F238E27FC236}">
                <a16:creationId xmlns:a16="http://schemas.microsoft.com/office/drawing/2014/main" id="{C70B0A2A-17D4-1E8C-C6F2-1834CE14B81F}"/>
              </a:ext>
            </a:extLst>
          </p:cNvPr>
          <p:cNvSpPr/>
          <p:nvPr/>
        </p:nvSpPr>
        <p:spPr>
          <a:xfrm>
            <a:off x="6813013" y="4627403"/>
            <a:ext cx="101828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RMSE</a:t>
            </a:r>
            <a:endParaRPr lang="en-US" sz="1200" dirty="0"/>
          </a:p>
        </p:txBody>
      </p:sp>
      <p:sp>
        <p:nvSpPr>
          <p:cNvPr id="69" name="Text 22">
            <a:extLst>
              <a:ext uri="{FF2B5EF4-FFF2-40B4-BE49-F238E27FC236}">
                <a16:creationId xmlns:a16="http://schemas.microsoft.com/office/drawing/2014/main" id="{57F39AB9-8963-BE0F-A9A7-AD8FA6223489}"/>
              </a:ext>
            </a:extLst>
          </p:cNvPr>
          <p:cNvSpPr/>
          <p:nvPr/>
        </p:nvSpPr>
        <p:spPr>
          <a:xfrm>
            <a:off x="6711184" y="4856003"/>
            <a:ext cx="122193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평균 제곱근 오차</a:t>
            </a:r>
            <a:endParaRPr lang="en-US" sz="1050" dirty="0"/>
          </a:p>
        </p:txBody>
      </p:sp>
      <p:pic>
        <p:nvPicPr>
          <p:cNvPr id="75" name="Image 28" descr="preencoded.png">
            <a:extLst>
              <a:ext uri="{FF2B5EF4-FFF2-40B4-BE49-F238E27FC236}">
                <a16:creationId xmlns:a16="http://schemas.microsoft.com/office/drawing/2014/main" id="{B6DFF060-D088-BFB6-3E3F-236A27C7C25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11617" y="4513103"/>
            <a:ext cx="804416" cy="647700"/>
          </a:xfrm>
          <a:prstGeom prst="rect">
            <a:avLst/>
          </a:prstGeom>
        </p:spPr>
      </p:pic>
      <p:sp>
        <p:nvSpPr>
          <p:cNvPr id="77" name="Text 25">
            <a:extLst>
              <a:ext uri="{FF2B5EF4-FFF2-40B4-BE49-F238E27FC236}">
                <a16:creationId xmlns:a16="http://schemas.microsoft.com/office/drawing/2014/main" id="{56AC1092-0DD4-224D-3CB0-32D5E8F698DD}"/>
              </a:ext>
            </a:extLst>
          </p:cNvPr>
          <p:cNvSpPr/>
          <p:nvPr/>
        </p:nvSpPr>
        <p:spPr>
          <a:xfrm>
            <a:off x="8525917" y="4627403"/>
            <a:ext cx="57581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B91C1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R²</a:t>
            </a:r>
            <a:endParaRPr lang="en-US" sz="1200" dirty="0"/>
          </a:p>
        </p:txBody>
      </p:sp>
      <p:sp>
        <p:nvSpPr>
          <p:cNvPr id="79" name="Text 26">
            <a:extLst>
              <a:ext uri="{FF2B5EF4-FFF2-40B4-BE49-F238E27FC236}">
                <a16:creationId xmlns:a16="http://schemas.microsoft.com/office/drawing/2014/main" id="{2313E057-3B59-20D9-FA62-780B827B46F7}"/>
              </a:ext>
            </a:extLst>
          </p:cNvPr>
          <p:cNvSpPr/>
          <p:nvPr/>
        </p:nvSpPr>
        <p:spPr>
          <a:xfrm>
            <a:off x="8468335" y="4856003"/>
            <a:ext cx="69097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결정 계수</a:t>
            </a:r>
            <a:endParaRPr lang="en-US" sz="1050" dirty="0"/>
          </a:p>
        </p:txBody>
      </p:sp>
      <p:sp>
        <p:nvSpPr>
          <p:cNvPr id="8" name="순서도: 대체 처리 7">
            <a:extLst>
              <a:ext uri="{FF2B5EF4-FFF2-40B4-BE49-F238E27FC236}">
                <a16:creationId xmlns:a16="http://schemas.microsoft.com/office/drawing/2014/main" id="{3CCE2676-2A0C-EE9F-F274-36C792E2CC62}"/>
              </a:ext>
            </a:extLst>
          </p:cNvPr>
          <p:cNvSpPr/>
          <p:nvPr/>
        </p:nvSpPr>
        <p:spPr>
          <a:xfrm>
            <a:off x="3839907" y="2949706"/>
            <a:ext cx="1371600" cy="716175"/>
          </a:xfrm>
          <a:prstGeom prst="flowChartAlternateProcess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100"/>
              </a:lnSpc>
            </a:pPr>
            <a:endParaRPr lang="en-US" altLang="ko-KR" sz="1350" b="1" dirty="0">
              <a:solidFill>
                <a:srgbClr val="7030A0"/>
              </a:solidFill>
              <a:latin typeface="ui-sans-serif" pitchFamily="34" charset="0"/>
              <a:ea typeface="ui-sans-serif" pitchFamily="34" charset="-122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676754FC-C296-58C8-DB73-96CD00C4F76A}"/>
              </a:ext>
            </a:extLst>
          </p:cNvPr>
          <p:cNvSpPr/>
          <p:nvPr/>
        </p:nvSpPr>
        <p:spPr>
          <a:xfrm>
            <a:off x="3649437" y="3031222"/>
            <a:ext cx="17525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7030A0"/>
                </a:solidFill>
                <a:latin typeface="ui-sans-serif" pitchFamily="34" charset="0"/>
                <a:ea typeface="ui-sans-serif" pitchFamily="34" charset="-122"/>
              </a:rPr>
              <a:t>Ensemble</a:t>
            </a:r>
            <a:br>
              <a:rPr lang="en-US" sz="1350" b="1" dirty="0">
                <a:solidFill>
                  <a:srgbClr val="7030A0"/>
                </a:solidFill>
                <a:latin typeface="ui-sans-serif" pitchFamily="34" charset="0"/>
                <a:ea typeface="ui-sans-serif" pitchFamily="34" charset="-122"/>
              </a:rPr>
            </a:br>
            <a:r>
              <a:rPr lang="en-US" sz="1350" b="1" dirty="0">
                <a:solidFill>
                  <a:srgbClr val="7030A0"/>
                </a:solidFill>
                <a:latin typeface="ui-sans-serif" pitchFamily="34" charset="0"/>
                <a:ea typeface="ui-sans-serif" pitchFamily="34" charset="-122"/>
              </a:rPr>
              <a:t>Prediction</a:t>
            </a:r>
            <a:endParaRPr lang="en-US" sz="1350" dirty="0">
              <a:solidFill>
                <a:srgbClr val="7030A0"/>
              </a:solidFill>
            </a:endParaRPr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584F6753-63DB-9C5F-2923-BEAED174D017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2839666" y="2235200"/>
            <a:ext cx="1686041" cy="71450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8553ABDE-1DC8-C201-4EBF-3F6B12DDCCCF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2785753" y="3299220"/>
            <a:ext cx="1054154" cy="857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39825882-D935-FE4D-07A1-EF7071E1B453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2785753" y="3665881"/>
            <a:ext cx="1739954" cy="709531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" name="Image 6" descr="preencoded.png">
            <a:extLst>
              <a:ext uri="{FF2B5EF4-FFF2-40B4-BE49-F238E27FC236}">
                <a16:creationId xmlns:a16="http://schemas.microsoft.com/office/drawing/2014/main" id="{A0B96817-A036-56DA-4ACE-B98096CF48C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64210" y="3370590"/>
            <a:ext cx="548580" cy="266700"/>
          </a:xfrm>
          <a:prstGeom prst="rect">
            <a:avLst/>
          </a:prstGeom>
        </p:spPr>
      </p:pic>
      <p:pic>
        <p:nvPicPr>
          <p:cNvPr id="74" name="Image 8" descr="preencoded.png">
            <a:extLst>
              <a:ext uri="{FF2B5EF4-FFF2-40B4-BE49-F238E27FC236}">
                <a16:creationId xmlns:a16="http://schemas.microsoft.com/office/drawing/2014/main" id="{1490EE95-5B2D-2855-BC9E-EEE0B06E3F2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987724" y="2282366"/>
            <a:ext cx="525066" cy="266700"/>
          </a:xfrm>
          <a:prstGeom prst="rect">
            <a:avLst/>
          </a:prstGeom>
        </p:spPr>
      </p:pic>
      <p:pic>
        <p:nvPicPr>
          <p:cNvPr id="76" name="Image 10" descr="preencoded.png">
            <a:extLst>
              <a:ext uri="{FF2B5EF4-FFF2-40B4-BE49-F238E27FC236}">
                <a16:creationId xmlns:a16="http://schemas.microsoft.com/office/drawing/2014/main" id="{4DF9ED26-ABD1-511B-6D18-2B6171BA78D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975967" y="4466799"/>
            <a:ext cx="525066" cy="266700"/>
          </a:xfrm>
          <a:prstGeom prst="rect">
            <a:avLst/>
          </a:prstGeom>
        </p:spPr>
      </p:pic>
      <p:sp>
        <p:nvSpPr>
          <p:cNvPr id="87" name="Text 2">
            <a:extLst>
              <a:ext uri="{FF2B5EF4-FFF2-40B4-BE49-F238E27FC236}">
                <a16:creationId xmlns:a16="http://schemas.microsoft.com/office/drawing/2014/main" id="{ECD5B404-885A-8813-7831-2C8104F53EAD}"/>
              </a:ext>
            </a:extLst>
          </p:cNvPr>
          <p:cNvSpPr/>
          <p:nvPr/>
        </p:nvSpPr>
        <p:spPr>
          <a:xfrm>
            <a:off x="2396726" y="2270754"/>
            <a:ext cx="17525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25%</a:t>
            </a:r>
            <a:endParaRPr lang="en-US" sz="1350" dirty="0"/>
          </a:p>
        </p:txBody>
      </p:sp>
      <p:sp>
        <p:nvSpPr>
          <p:cNvPr id="88" name="Text 2">
            <a:extLst>
              <a:ext uri="{FF2B5EF4-FFF2-40B4-BE49-F238E27FC236}">
                <a16:creationId xmlns:a16="http://schemas.microsoft.com/office/drawing/2014/main" id="{AA14853B-21A9-6559-0E24-2B9560E8D595}"/>
              </a:ext>
            </a:extLst>
          </p:cNvPr>
          <p:cNvSpPr/>
          <p:nvPr/>
        </p:nvSpPr>
        <p:spPr>
          <a:xfrm>
            <a:off x="2373987" y="3349840"/>
            <a:ext cx="17525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40%</a:t>
            </a:r>
            <a:endParaRPr lang="en-US" sz="1350" dirty="0"/>
          </a:p>
        </p:txBody>
      </p:sp>
      <p:sp>
        <p:nvSpPr>
          <p:cNvPr id="91" name="Text 2">
            <a:extLst>
              <a:ext uri="{FF2B5EF4-FFF2-40B4-BE49-F238E27FC236}">
                <a16:creationId xmlns:a16="http://schemas.microsoft.com/office/drawing/2014/main" id="{CBD72069-1D50-4114-657A-786E1F5B4054}"/>
              </a:ext>
            </a:extLst>
          </p:cNvPr>
          <p:cNvSpPr/>
          <p:nvPr/>
        </p:nvSpPr>
        <p:spPr>
          <a:xfrm>
            <a:off x="2371326" y="4454444"/>
            <a:ext cx="17525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35%</a:t>
            </a:r>
            <a:endParaRPr lang="en-US" sz="135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8D60001-B2C3-320B-BF67-D15C81D11632}"/>
              </a:ext>
            </a:extLst>
          </p:cNvPr>
          <p:cNvSpPr txBox="1"/>
          <p:nvPr/>
        </p:nvSpPr>
        <p:spPr>
          <a:xfrm>
            <a:off x="6773228" y="1653301"/>
            <a:ext cx="11277600" cy="1918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SzPct val="100000"/>
            </a:pP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Weight Average(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가중평균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)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 앙상블은 여러 개의 모델이 예측 한 값을</a:t>
            </a:r>
            <a:b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동일하게 취급하지 않고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각 모델의 신뢰도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(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성능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)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에 따라 </a:t>
            </a:r>
            <a:b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서로 다른 가중치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(Weight)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를 부여하고 평균을 내는 앙상블 기법이다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.</a:t>
            </a:r>
            <a:b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</a:br>
            <a:b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단일 평균이 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		      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라면</a:t>
            </a:r>
            <a:endParaRPr lang="en-US" altLang="ko-KR" sz="12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</a:endParaRPr>
          </a:p>
          <a:p>
            <a:pPr>
              <a:lnSpc>
                <a:spcPts val="1800"/>
              </a:lnSpc>
              <a:buSzPct val="100000"/>
            </a:pPr>
            <a:endParaRPr lang="en-US" altLang="ko-KR" sz="12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</a:endParaRPr>
          </a:p>
          <a:p>
            <a:pPr>
              <a:lnSpc>
                <a:spcPts val="1800"/>
              </a:lnSpc>
              <a:buSzPct val="100000"/>
            </a:pPr>
            <a:endParaRPr lang="en-US" altLang="ko-KR" sz="12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</a:endParaRPr>
          </a:p>
          <a:p>
            <a:pPr>
              <a:lnSpc>
                <a:spcPts val="1800"/>
              </a:lnSpc>
              <a:buSzPct val="100000"/>
            </a:pP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가중 평균은 </a:t>
            </a:r>
            <a:endParaRPr lang="en-US" altLang="ko-KR" sz="120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</a:endParaRPr>
          </a:p>
        </p:txBody>
      </p:sp>
      <p:pic>
        <p:nvPicPr>
          <p:cNvPr id="98" name="그림 97" descr="스크린샷, 폰트, 도표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22EA3F2-2FAB-7999-0361-641C4C0F378F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l="51713" b="5545"/>
          <a:stretch>
            <a:fillRect/>
          </a:stretch>
        </p:blipFill>
        <p:spPr>
          <a:xfrm>
            <a:off x="7614297" y="2482291"/>
            <a:ext cx="1246587" cy="602869"/>
          </a:xfrm>
          <a:prstGeom prst="rect">
            <a:avLst/>
          </a:prstGeom>
        </p:spPr>
      </p:pic>
      <p:pic>
        <p:nvPicPr>
          <p:cNvPr id="100" name="그림 99" descr="폰트, 도표, 화이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ACD9636-8B33-452D-A0C4-00784592B75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14297" y="3008975"/>
            <a:ext cx="2505425" cy="762106"/>
          </a:xfrm>
          <a:prstGeom prst="rect">
            <a:avLst/>
          </a:prstGeom>
        </p:spPr>
      </p:pic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5099968D-0944-2C3A-2D30-194676A71B80}"/>
              </a:ext>
            </a:extLst>
          </p:cNvPr>
          <p:cNvSpPr/>
          <p:nvPr/>
        </p:nvSpPr>
        <p:spPr>
          <a:xfrm>
            <a:off x="2785753" y="2070100"/>
            <a:ext cx="863684" cy="2785903"/>
          </a:xfrm>
          <a:prstGeom prst="round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Text 2">
            <a:extLst>
              <a:ext uri="{FF2B5EF4-FFF2-40B4-BE49-F238E27FC236}">
                <a16:creationId xmlns:a16="http://schemas.microsoft.com/office/drawing/2014/main" id="{939328E8-C58B-CE9E-F27D-03848D4F3737}"/>
              </a:ext>
            </a:extLst>
          </p:cNvPr>
          <p:cNvSpPr/>
          <p:nvPr/>
        </p:nvSpPr>
        <p:spPr>
          <a:xfrm>
            <a:off x="2304303" y="4887754"/>
            <a:ext cx="17525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C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</a:t>
            </a:r>
          </a:p>
        </p:txBody>
      </p:sp>
    </p:spTree>
    <p:extLst>
      <p:ext uri="{BB962C8B-B14F-4D97-AF65-F5344CB8AC3E}">
        <p14:creationId xmlns:p14="http://schemas.microsoft.com/office/powerpoint/2010/main" val="16294847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120F5-AD04-5BDF-91D6-B8831A246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0B1E3FAB-635A-6685-20DC-E484B7A8B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364AEDFB-EB70-D137-DD54-F7C3D6064B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001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6B1E0149-651D-F976-7FDC-751F66560C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999" y="1066800"/>
            <a:ext cx="5715001" cy="4150674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2A14AA74-EE8A-5C22-4985-D4248FA710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95400"/>
            <a:ext cx="190500" cy="190500"/>
          </a:xfrm>
          <a:prstGeom prst="rect">
            <a:avLst/>
          </a:prstGeom>
        </p:spPr>
      </p:pic>
      <p:pic>
        <p:nvPicPr>
          <p:cNvPr id="15" name="Image 13" descr="preencoded.png">
            <a:extLst>
              <a:ext uri="{FF2B5EF4-FFF2-40B4-BE49-F238E27FC236}">
                <a16:creationId xmlns:a16="http://schemas.microsoft.com/office/drawing/2014/main" id="{6A17B379-E829-3260-9EF6-3DCB2F5CFD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77575" y="6553200"/>
            <a:ext cx="104775" cy="133350"/>
          </a:xfrm>
          <a:prstGeom prst="rect">
            <a:avLst/>
          </a:prstGeom>
        </p:spPr>
      </p:pic>
      <p:sp>
        <p:nvSpPr>
          <p:cNvPr id="16" name="Text 0">
            <a:extLst>
              <a:ext uri="{FF2B5EF4-FFF2-40B4-BE49-F238E27FC236}">
                <a16:creationId xmlns:a16="http://schemas.microsoft.com/office/drawing/2014/main" id="{186989C7-FDFA-F01D-D236-5168B216256A}"/>
              </a:ext>
            </a:extLst>
          </p:cNvPr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ko-KR" alt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앙상블 </a:t>
            </a:r>
            <a:r>
              <a:rPr lang="en-US" altLang="ko-KR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: </a:t>
            </a:r>
            <a:r>
              <a:rPr lang="ko-KR" alt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학습 및 평가</a:t>
            </a:r>
            <a:endParaRPr lang="en-US" altLang="ko-KR" sz="2250" b="1" dirty="0">
              <a:solidFill>
                <a:srgbClr val="1F2937"/>
              </a:solidFill>
              <a:latin typeface="Noto Serif KR" pitchFamily="34" charset="0"/>
              <a:ea typeface="Noto Serif KR" pitchFamily="34" charset="-122"/>
              <a:cs typeface="Noto Serif KR" pitchFamily="34" charset="-120"/>
            </a:endParaRP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1459D9D5-98FD-C551-7DCE-0A21F02C0E68}"/>
              </a:ext>
            </a:extLst>
          </p:cNvPr>
          <p:cNvSpPr/>
          <p:nvPr/>
        </p:nvSpPr>
        <p:spPr>
          <a:xfrm>
            <a:off x="876300" y="1257300"/>
            <a:ext cx="63397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</a:t>
            </a:r>
            <a:r>
              <a:rPr lang="en-US" sz="1500" b="1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</a:t>
            </a: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vs </a:t>
            </a:r>
            <a:r>
              <a:rPr lang="ko-KR" alt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앙상블</a:t>
            </a: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 </a:t>
            </a:r>
            <a:r>
              <a:rPr lang="en-US" sz="1500" b="1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</a:t>
            </a: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(Seoul)</a:t>
            </a:r>
          </a:p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500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EFF07342-5174-3F6C-A2E4-6FB24A1AF0E0}"/>
              </a:ext>
            </a:extLst>
          </p:cNvPr>
          <p:cNvSpPr/>
          <p:nvPr/>
        </p:nvSpPr>
        <p:spPr>
          <a:xfrm>
            <a:off x="11220450" y="6515100"/>
            <a:ext cx="10629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Page 15/20</a:t>
            </a:r>
            <a:endParaRPr lang="en-US" sz="1050" dirty="0"/>
          </a:p>
        </p:txBody>
      </p:sp>
      <p:pic>
        <p:nvPicPr>
          <p:cNvPr id="48" name="Image 6" descr="preencoded.png">
            <a:extLst>
              <a:ext uri="{FF2B5EF4-FFF2-40B4-BE49-F238E27FC236}">
                <a16:creationId xmlns:a16="http://schemas.microsoft.com/office/drawing/2014/main" id="{A1ECC551-FF18-D4C0-936F-35FAD3152A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4425" y="1066800"/>
            <a:ext cx="5616575" cy="4127500"/>
          </a:xfrm>
          <a:prstGeom prst="rect">
            <a:avLst/>
          </a:prstGeom>
        </p:spPr>
      </p:pic>
      <p:pic>
        <p:nvPicPr>
          <p:cNvPr id="49" name="Image 7" descr="preencoded.png">
            <a:extLst>
              <a:ext uri="{FF2B5EF4-FFF2-40B4-BE49-F238E27FC236}">
                <a16:creationId xmlns:a16="http://schemas.microsoft.com/office/drawing/2014/main" id="{1C244E8F-C8A6-EDB1-4431-796D950F28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4126" y="1295400"/>
            <a:ext cx="142875" cy="190500"/>
          </a:xfrm>
          <a:prstGeom prst="rect">
            <a:avLst/>
          </a:prstGeom>
        </p:spPr>
      </p:pic>
      <p:sp>
        <p:nvSpPr>
          <p:cNvPr id="55" name="Text 3">
            <a:extLst>
              <a:ext uri="{FF2B5EF4-FFF2-40B4-BE49-F238E27FC236}">
                <a16:creationId xmlns:a16="http://schemas.microsoft.com/office/drawing/2014/main" id="{352B6C89-A21D-2830-981C-BB02B5710543}"/>
              </a:ext>
            </a:extLst>
          </p:cNvPr>
          <p:cNvSpPr/>
          <p:nvPr/>
        </p:nvSpPr>
        <p:spPr>
          <a:xfrm>
            <a:off x="6591301" y="1257300"/>
            <a:ext cx="40996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시각화</a:t>
            </a:r>
            <a:endParaRPr lang="en-US" sz="1500" dirty="0"/>
          </a:p>
        </p:txBody>
      </p:sp>
      <p:pic>
        <p:nvPicPr>
          <p:cNvPr id="80" name="Image 3" descr="preencoded.png">
            <a:extLst>
              <a:ext uri="{FF2B5EF4-FFF2-40B4-BE49-F238E27FC236}">
                <a16:creationId xmlns:a16="http://schemas.microsoft.com/office/drawing/2014/main" id="{377BFAC2-0B6B-BC3F-E804-6EF08DDA7D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348429"/>
            <a:ext cx="190500" cy="190500"/>
          </a:xfrm>
          <a:prstGeom prst="rect">
            <a:avLst/>
          </a:prstGeom>
        </p:spPr>
      </p:pic>
      <p:sp>
        <p:nvSpPr>
          <p:cNvPr id="81" name="Text 1">
            <a:extLst>
              <a:ext uri="{FF2B5EF4-FFF2-40B4-BE49-F238E27FC236}">
                <a16:creationId xmlns:a16="http://schemas.microsoft.com/office/drawing/2014/main" id="{3E670E64-678F-EECA-C86C-E92C3983E03B}"/>
              </a:ext>
            </a:extLst>
          </p:cNvPr>
          <p:cNvSpPr/>
          <p:nvPr/>
        </p:nvSpPr>
        <p:spPr>
          <a:xfrm>
            <a:off x="876300" y="3310329"/>
            <a:ext cx="63397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모델 </a:t>
            </a:r>
            <a:r>
              <a:rPr lang="en-US" altLang="ko-KR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vs </a:t>
            </a:r>
            <a:r>
              <a:rPr lang="ko-KR" alt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앙상블 성능 비교</a:t>
            </a: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(WDC)</a:t>
            </a:r>
          </a:p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500" dirty="0"/>
          </a:p>
        </p:txBody>
      </p:sp>
      <p:pic>
        <p:nvPicPr>
          <p:cNvPr id="12" name="그림 1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AF5D6F2-2745-4C6B-6DEF-C1113D3B954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3925" y="1752600"/>
            <a:ext cx="5049626" cy="1370153"/>
          </a:xfrm>
          <a:prstGeom prst="rect">
            <a:avLst/>
          </a:prstGeom>
        </p:spPr>
      </p:pic>
      <p:pic>
        <p:nvPicPr>
          <p:cNvPr id="18" name="그림 17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5FE7457-C978-0472-6935-C2A84E8CF68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8649" y="3717659"/>
            <a:ext cx="5172075" cy="1377419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397513FD-37DC-6EE7-9D90-AB3B9497571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80930" y="1524000"/>
            <a:ext cx="1981344" cy="160411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C352AE05-9CB8-0894-02F0-37F021C1605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03042" y="1541606"/>
            <a:ext cx="1998972" cy="1604113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CAC03D15-4B4B-70F0-FB94-66F493382E4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80930" y="3347532"/>
            <a:ext cx="1952565" cy="1603641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47B21E20-B107-C93A-5DE4-00CFEFD2ED8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02712" y="3373589"/>
            <a:ext cx="1998383" cy="1603641"/>
          </a:xfrm>
          <a:prstGeom prst="rect">
            <a:avLst/>
          </a:prstGeom>
        </p:spPr>
      </p:pic>
      <p:pic>
        <p:nvPicPr>
          <p:cNvPr id="23" name="Image 13" descr="preencoded.png">
            <a:extLst>
              <a:ext uri="{FF2B5EF4-FFF2-40B4-BE49-F238E27FC236}">
                <a16:creationId xmlns:a16="http://schemas.microsoft.com/office/drawing/2014/main" id="{7D2A374C-6F91-F403-D182-C509F3B6783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flipV="1">
            <a:off x="254121" y="5408312"/>
            <a:ext cx="11430000" cy="1031995"/>
          </a:xfrm>
          <a:prstGeom prst="rect">
            <a:avLst/>
          </a:prstGeom>
        </p:spPr>
      </p:pic>
      <p:sp>
        <p:nvSpPr>
          <p:cNvPr id="24" name="Text 2">
            <a:extLst>
              <a:ext uri="{FF2B5EF4-FFF2-40B4-BE49-F238E27FC236}">
                <a16:creationId xmlns:a16="http://schemas.microsoft.com/office/drawing/2014/main" id="{C9D16294-6AC4-2910-6859-2DDD61C44E32}"/>
              </a:ext>
            </a:extLst>
          </p:cNvPr>
          <p:cNvSpPr/>
          <p:nvPr/>
        </p:nvSpPr>
        <p:spPr>
          <a:xfrm>
            <a:off x="706559" y="5509914"/>
            <a:ext cx="1943100" cy="2494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학습 결론</a:t>
            </a:r>
            <a:endParaRPr lang="en-US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66EA8C-5413-5DC0-6905-C88E19E4B6E9}"/>
              </a:ext>
            </a:extLst>
          </p:cNvPr>
          <p:cNvSpPr txBox="1"/>
          <p:nvPr/>
        </p:nvSpPr>
        <p:spPr>
          <a:xfrm>
            <a:off x="477959" y="5758751"/>
            <a:ext cx="11277600" cy="533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단일 모델 대비 앙상블 모델은 일부 경우 성능 안전성을 확보 되었으나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항상 단일 최적 모델을 초과하는 성능 개선으로 이어지지는 않음</a:t>
            </a:r>
          </a:p>
          <a:p>
            <a:pPr>
              <a:lnSpc>
                <a:spcPts val="1800"/>
              </a:lnSpc>
              <a:buSzPct val="100000"/>
            </a:pP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         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이는 개별 모델간 예측 패턴의 유사성과 데이터 특성에 따라 앙상블 효과가 제한적으로 나타낼 수 있음을 시사함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.</a:t>
            </a:r>
          </a:p>
        </p:txBody>
      </p:sp>
      <p:pic>
        <p:nvPicPr>
          <p:cNvPr id="26" name="Image 7" descr="preencoded.png">
            <a:extLst>
              <a:ext uri="{FF2B5EF4-FFF2-40B4-BE49-F238E27FC236}">
                <a16:creationId xmlns:a16="http://schemas.microsoft.com/office/drawing/2014/main" id="{1B0B740F-75F6-D124-A3BE-E2E0E6F8C33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981" y="5550608"/>
            <a:ext cx="142875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0874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B4813-454E-9E3A-BADE-37A6529E7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4EB31BC4-3EE7-7242-E772-393169197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65CA42E9-2D5B-663A-8A82-3B99AD9F19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001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505A6F25-ECD5-914C-E013-DD33EF214F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999" y="1066800"/>
            <a:ext cx="6857941" cy="4286914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60234FD7-44CB-ACF2-F566-10BAD32984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95400"/>
            <a:ext cx="190500" cy="190500"/>
          </a:xfrm>
          <a:prstGeom prst="rect">
            <a:avLst/>
          </a:prstGeom>
        </p:spPr>
      </p:pic>
      <p:pic>
        <p:nvPicPr>
          <p:cNvPr id="15" name="Image 13" descr="preencoded.png">
            <a:extLst>
              <a:ext uri="{FF2B5EF4-FFF2-40B4-BE49-F238E27FC236}">
                <a16:creationId xmlns:a16="http://schemas.microsoft.com/office/drawing/2014/main" id="{A7FEE89F-10A2-D5E3-654A-A0ACF1C7EE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77575" y="6553200"/>
            <a:ext cx="104775" cy="133350"/>
          </a:xfrm>
          <a:prstGeom prst="rect">
            <a:avLst/>
          </a:prstGeom>
        </p:spPr>
      </p:pic>
      <p:sp>
        <p:nvSpPr>
          <p:cNvPr id="16" name="Text 0">
            <a:extLst>
              <a:ext uri="{FF2B5EF4-FFF2-40B4-BE49-F238E27FC236}">
                <a16:creationId xmlns:a16="http://schemas.microsoft.com/office/drawing/2014/main" id="{A1269C5A-B7C7-ECE8-A96A-C2AF6D4DF413}"/>
              </a:ext>
            </a:extLst>
          </p:cNvPr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ko-KR" alt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앙상블 </a:t>
            </a:r>
            <a:r>
              <a:rPr lang="en-US" altLang="ko-KR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: </a:t>
            </a:r>
            <a:r>
              <a:rPr lang="ko-KR" alt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예측</a:t>
            </a:r>
            <a:endParaRPr lang="en-US" altLang="ko-KR" sz="2250" b="1" dirty="0">
              <a:solidFill>
                <a:srgbClr val="1F2937"/>
              </a:solidFill>
              <a:latin typeface="Noto Serif KR" pitchFamily="34" charset="0"/>
              <a:ea typeface="Noto Serif KR" pitchFamily="34" charset="-122"/>
              <a:cs typeface="Noto Serif KR" pitchFamily="34" charset="-120"/>
            </a:endParaRP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2B59D4D4-132D-03DE-9711-F1DD04526AF1}"/>
              </a:ext>
            </a:extLst>
          </p:cNvPr>
          <p:cNvSpPr/>
          <p:nvPr/>
        </p:nvSpPr>
        <p:spPr>
          <a:xfrm>
            <a:off x="876300" y="1257300"/>
            <a:ext cx="63397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앙상블</a:t>
            </a: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</a:t>
            </a:r>
            <a:r>
              <a:rPr lang="en-US" altLang="ko-KR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Seoul)</a:t>
            </a:r>
          </a:p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500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6D4BA209-163E-B516-05C1-22919BAF63D9}"/>
              </a:ext>
            </a:extLst>
          </p:cNvPr>
          <p:cNvSpPr/>
          <p:nvPr/>
        </p:nvSpPr>
        <p:spPr>
          <a:xfrm>
            <a:off x="11220450" y="6515100"/>
            <a:ext cx="10629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Page 15/20</a:t>
            </a:r>
            <a:endParaRPr lang="en-US" sz="1050" dirty="0"/>
          </a:p>
        </p:txBody>
      </p:sp>
      <p:pic>
        <p:nvPicPr>
          <p:cNvPr id="64" name="Image 6" descr="preencoded.png">
            <a:extLst>
              <a:ext uri="{FF2B5EF4-FFF2-40B4-BE49-F238E27FC236}">
                <a16:creationId xmlns:a16="http://schemas.microsoft.com/office/drawing/2014/main" id="{715900CF-1AFC-3A10-2D98-3916E7C691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0380" y="1066801"/>
            <a:ext cx="4480620" cy="4286913"/>
          </a:xfrm>
          <a:prstGeom prst="rect">
            <a:avLst/>
          </a:prstGeom>
        </p:spPr>
      </p:pic>
      <p:pic>
        <p:nvPicPr>
          <p:cNvPr id="80" name="Image 3" descr="preencoded.png">
            <a:extLst>
              <a:ext uri="{FF2B5EF4-FFF2-40B4-BE49-F238E27FC236}">
                <a16:creationId xmlns:a16="http://schemas.microsoft.com/office/drawing/2014/main" id="{E58274BE-31AB-EBEE-8389-2096FCBF09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032" y="3218033"/>
            <a:ext cx="190500" cy="190500"/>
          </a:xfrm>
          <a:prstGeom prst="rect">
            <a:avLst/>
          </a:prstGeom>
        </p:spPr>
      </p:pic>
      <p:sp>
        <p:nvSpPr>
          <p:cNvPr id="81" name="Text 1">
            <a:extLst>
              <a:ext uri="{FF2B5EF4-FFF2-40B4-BE49-F238E27FC236}">
                <a16:creationId xmlns:a16="http://schemas.microsoft.com/office/drawing/2014/main" id="{B62350BF-51D8-3276-4F7E-95A9E22F3184}"/>
              </a:ext>
            </a:extLst>
          </p:cNvPr>
          <p:cNvSpPr/>
          <p:nvPr/>
        </p:nvSpPr>
        <p:spPr>
          <a:xfrm>
            <a:off x="893832" y="3179933"/>
            <a:ext cx="63397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앙상블 예측 </a:t>
            </a: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(WDC)</a:t>
            </a:r>
          </a:p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500" dirty="0"/>
          </a:p>
        </p:txBody>
      </p:sp>
      <p:pic>
        <p:nvPicPr>
          <p:cNvPr id="9" name="그림 8" descr="스크린샷, 그래프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EF2169-E146-6A39-C682-3F0FC96DCB9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125" y="3474382"/>
            <a:ext cx="6338620" cy="1675647"/>
          </a:xfrm>
          <a:prstGeom prst="rect">
            <a:avLst/>
          </a:prstGeom>
        </p:spPr>
      </p:pic>
      <p:pic>
        <p:nvPicPr>
          <p:cNvPr id="13" name="그림 12" descr="스크린샷, 그래프, 텍스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FF84940-1B14-016E-7445-5AEA8174500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125" y="1504286"/>
            <a:ext cx="6338620" cy="1675647"/>
          </a:xfrm>
          <a:prstGeom prst="rect">
            <a:avLst/>
          </a:prstGeom>
        </p:spPr>
      </p:pic>
      <p:sp>
        <p:nvSpPr>
          <p:cNvPr id="55" name="Text 3">
            <a:extLst>
              <a:ext uri="{FF2B5EF4-FFF2-40B4-BE49-F238E27FC236}">
                <a16:creationId xmlns:a16="http://schemas.microsoft.com/office/drawing/2014/main" id="{574EA292-63D1-8511-8172-B2906BEE0E66}"/>
              </a:ext>
            </a:extLst>
          </p:cNvPr>
          <p:cNvSpPr/>
          <p:nvPr/>
        </p:nvSpPr>
        <p:spPr>
          <a:xfrm>
            <a:off x="7778055" y="1257300"/>
            <a:ext cx="40996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앙상블 예측 결과 분석 및 평가</a:t>
            </a:r>
            <a:endParaRPr lang="en-US" sz="1500" dirty="0"/>
          </a:p>
        </p:txBody>
      </p:sp>
      <p:pic>
        <p:nvPicPr>
          <p:cNvPr id="50" name="Image 8" descr="preencoded.png">
            <a:extLst>
              <a:ext uri="{FF2B5EF4-FFF2-40B4-BE49-F238E27FC236}">
                <a16:creationId xmlns:a16="http://schemas.microsoft.com/office/drawing/2014/main" id="{1E0C91F3-DD5C-C180-48EF-21683F6619C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0880" y="1747606"/>
            <a:ext cx="4099620" cy="1175312"/>
          </a:xfrm>
          <a:prstGeom prst="rect">
            <a:avLst/>
          </a:prstGeom>
        </p:spPr>
      </p:pic>
      <p:pic>
        <p:nvPicPr>
          <p:cNvPr id="49" name="Image 7" descr="preencoded.png">
            <a:extLst>
              <a:ext uri="{FF2B5EF4-FFF2-40B4-BE49-F238E27FC236}">
                <a16:creationId xmlns:a16="http://schemas.microsoft.com/office/drawing/2014/main" id="{C0B29D1F-4103-F242-2771-B7F58793AE7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20880" y="1295400"/>
            <a:ext cx="142875" cy="190500"/>
          </a:xfrm>
          <a:prstGeom prst="rect">
            <a:avLst/>
          </a:prstGeom>
        </p:spPr>
      </p:pic>
      <p:sp>
        <p:nvSpPr>
          <p:cNvPr id="56" name="Text 4">
            <a:extLst>
              <a:ext uri="{FF2B5EF4-FFF2-40B4-BE49-F238E27FC236}">
                <a16:creationId xmlns:a16="http://schemas.microsoft.com/office/drawing/2014/main" id="{24EEA509-F486-BFEE-06AC-B346B4BF4764}"/>
              </a:ext>
            </a:extLst>
          </p:cNvPr>
          <p:cNvSpPr/>
          <p:nvPr/>
        </p:nvSpPr>
        <p:spPr>
          <a:xfrm>
            <a:off x="7939980" y="1778000"/>
            <a:ext cx="38710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서울</a:t>
            </a:r>
            <a:endParaRPr lang="en-US" sz="1350" dirty="0"/>
          </a:p>
        </p:txBody>
      </p:sp>
      <p:sp>
        <p:nvSpPr>
          <p:cNvPr id="57" name="Text 5">
            <a:extLst>
              <a:ext uri="{FF2B5EF4-FFF2-40B4-BE49-F238E27FC236}">
                <a16:creationId xmlns:a16="http://schemas.microsoft.com/office/drawing/2014/main" id="{6E8DCC01-6263-427C-32AD-6279AEE9EABC}"/>
              </a:ext>
            </a:extLst>
          </p:cNvPr>
          <p:cNvSpPr/>
          <p:nvPr/>
        </p:nvSpPr>
        <p:spPr>
          <a:xfrm>
            <a:off x="7635180" y="2095499"/>
            <a:ext cx="4645223" cy="81566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Seoul </a:t>
            </a: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데이터 에서는 앙상블 모델이 전체적인 수요 추세와 </a:t>
            </a:r>
            <a:b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계절성을 안정적으로 반영하였으나</a:t>
            </a:r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높은 변동성과 극단적 수요</a:t>
            </a:r>
            <a:b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가 빈번한 환경에서는 피크 대응 능력에 한계가 관찰 되었다</a:t>
            </a:r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.</a:t>
            </a:r>
            <a:endParaRPr lang="en-US" sz="1200" dirty="0">
              <a:solidFill>
                <a:srgbClr val="374151"/>
              </a:solidFill>
              <a:latin typeface="Noto Sans KR" pitchFamily="34" charset="0"/>
              <a:ea typeface="Noto Sans KR" pitchFamily="34" charset="-122"/>
            </a:endParaRPr>
          </a:p>
        </p:txBody>
      </p:sp>
      <p:pic>
        <p:nvPicPr>
          <p:cNvPr id="19" name="그래픽 18" descr="도시 단색으로 채워진">
            <a:extLst>
              <a:ext uri="{FF2B5EF4-FFF2-40B4-BE49-F238E27FC236}">
                <a16:creationId xmlns:a16="http://schemas.microsoft.com/office/drawing/2014/main" id="{BA62797D-5EAE-0445-2805-C9892447A34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605203" y="1760740"/>
            <a:ext cx="293514" cy="293514"/>
          </a:xfrm>
          <a:prstGeom prst="rect">
            <a:avLst/>
          </a:prstGeom>
        </p:spPr>
      </p:pic>
      <p:pic>
        <p:nvPicPr>
          <p:cNvPr id="25" name="Image 8" descr="preencoded.png">
            <a:extLst>
              <a:ext uri="{FF2B5EF4-FFF2-40B4-BE49-F238E27FC236}">
                <a16:creationId xmlns:a16="http://schemas.microsoft.com/office/drawing/2014/main" id="{F6C6912A-0F3E-C786-F25F-3824A72C350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0880" y="3559363"/>
            <a:ext cx="4099620" cy="1450154"/>
          </a:xfrm>
          <a:prstGeom prst="rect">
            <a:avLst/>
          </a:prstGeom>
        </p:spPr>
      </p:pic>
      <p:sp>
        <p:nvSpPr>
          <p:cNvPr id="26" name="Text 4">
            <a:extLst>
              <a:ext uri="{FF2B5EF4-FFF2-40B4-BE49-F238E27FC236}">
                <a16:creationId xmlns:a16="http://schemas.microsoft.com/office/drawing/2014/main" id="{C3067FF7-AFEE-57D9-7602-DBA083594553}"/>
              </a:ext>
            </a:extLst>
          </p:cNvPr>
          <p:cNvSpPr/>
          <p:nvPr/>
        </p:nvSpPr>
        <p:spPr>
          <a:xfrm>
            <a:off x="7939980" y="3602457"/>
            <a:ext cx="38710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WDC</a:t>
            </a:r>
            <a:endParaRPr lang="en-US" sz="1350" dirty="0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11149C58-011A-F3C8-9039-94FF27ED3E2F}"/>
              </a:ext>
            </a:extLst>
          </p:cNvPr>
          <p:cNvSpPr/>
          <p:nvPr/>
        </p:nvSpPr>
        <p:spPr>
          <a:xfrm>
            <a:off x="7635180" y="3907256"/>
            <a:ext cx="4645223" cy="81566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Washington DC </a:t>
            </a: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데이터에서는 </a:t>
            </a:r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No-IQR </a:t>
            </a: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앙상블 모델이 </a:t>
            </a:r>
            <a:endParaRPr lang="en-US" altLang="ko-KR" sz="1200" dirty="0">
              <a:solidFill>
                <a:srgbClr val="374151"/>
              </a:solidFill>
              <a:latin typeface="Noto Sans KR" pitchFamily="34" charset="0"/>
              <a:ea typeface="Noto Sans KR" pitchFamily="34" charset="-122"/>
            </a:endParaRPr>
          </a:p>
          <a:p>
            <a:pPr>
              <a:lnSpc>
                <a:spcPts val="1800"/>
              </a:lnSpc>
            </a:pP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데이터의 다양성을 충분히 유지한 상태에서 전반적인 수요 </a:t>
            </a:r>
            <a:endParaRPr lang="en-US" altLang="ko-KR" sz="1200" dirty="0">
              <a:solidFill>
                <a:srgbClr val="374151"/>
              </a:solidFill>
              <a:latin typeface="Noto Sans KR" pitchFamily="34" charset="0"/>
              <a:ea typeface="Noto Sans KR" pitchFamily="34" charset="-122"/>
            </a:endParaRPr>
          </a:p>
          <a:p>
            <a:pPr>
              <a:lnSpc>
                <a:spcPts val="1800"/>
              </a:lnSpc>
            </a:pP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패턴을 안정적으로 학습하였으며</a:t>
            </a:r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장기 예측 관점에서 신뢰도 </a:t>
            </a:r>
            <a:endParaRPr lang="en-US" altLang="ko-KR" sz="1200" dirty="0">
              <a:solidFill>
                <a:srgbClr val="374151"/>
              </a:solidFill>
              <a:latin typeface="Noto Sans KR" pitchFamily="34" charset="0"/>
              <a:ea typeface="Noto Sans KR" pitchFamily="34" charset="-122"/>
            </a:endParaRPr>
          </a:p>
          <a:p>
            <a:pPr>
              <a:lnSpc>
                <a:spcPts val="1800"/>
              </a:lnSpc>
            </a:pP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높은 결과를 도출하였다</a:t>
            </a:r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.</a:t>
            </a:r>
            <a:endParaRPr lang="en-US" sz="1200" dirty="0">
              <a:solidFill>
                <a:srgbClr val="374151"/>
              </a:solidFill>
              <a:latin typeface="Noto Sans KR" pitchFamily="34" charset="0"/>
              <a:ea typeface="Noto Sans KR" pitchFamily="34" charset="-122"/>
            </a:endParaRPr>
          </a:p>
        </p:txBody>
      </p:sp>
      <p:pic>
        <p:nvPicPr>
          <p:cNvPr id="29" name="그래픽 28" descr="도시 단색으로 채워진">
            <a:extLst>
              <a:ext uri="{FF2B5EF4-FFF2-40B4-BE49-F238E27FC236}">
                <a16:creationId xmlns:a16="http://schemas.microsoft.com/office/drawing/2014/main" id="{35847F4A-E8BA-9F0B-EFDD-0F6DD6B2F01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605203" y="3585197"/>
            <a:ext cx="293514" cy="293514"/>
          </a:xfrm>
          <a:prstGeom prst="rect">
            <a:avLst/>
          </a:prstGeom>
        </p:spPr>
      </p:pic>
      <p:pic>
        <p:nvPicPr>
          <p:cNvPr id="32" name="Image 13" descr="preencoded.png">
            <a:extLst>
              <a:ext uri="{FF2B5EF4-FFF2-40B4-BE49-F238E27FC236}">
                <a16:creationId xmlns:a16="http://schemas.microsoft.com/office/drawing/2014/main" id="{4982E7A7-A750-855B-ABDA-1E720F23A0F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flipV="1">
            <a:off x="254121" y="5408311"/>
            <a:ext cx="11430000" cy="1106788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858CAB82-DD46-D01B-16C8-D10F1191BAE1}"/>
              </a:ext>
            </a:extLst>
          </p:cNvPr>
          <p:cNvSpPr txBox="1"/>
          <p:nvPr/>
        </p:nvSpPr>
        <p:spPr>
          <a:xfrm>
            <a:off x="477959" y="5758751"/>
            <a:ext cx="11277600" cy="763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앙상블 예측 결과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, Washington DC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데이터에서는 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No-IQR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전략이 데이터 다양성을 유지하며 장기 추세 예측에 효과적으로 작용한 반면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, Seoul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데이터에서는 높은 변동성과 극단적 수요로 인해 앙상블 모델이 평균적인 수요 패턴에 수렴하는 경향이 나타났다</a:t>
            </a:r>
            <a:r>
              <a:rPr lang="en-US" altLang="ko-KR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. 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이는 데이터셋 특성에 따라 앙상블 전략과 </a:t>
            </a:r>
            <a:r>
              <a:rPr lang="ko-KR" altLang="en-US" sz="12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전처리</a:t>
            </a:r>
            <a:r>
              <a:rPr lang="ko-KR" alt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 방식의 선택이 성능에 결정적인 영향을 미침을 시사한다</a:t>
            </a:r>
          </a:p>
        </p:txBody>
      </p:sp>
      <p:pic>
        <p:nvPicPr>
          <p:cNvPr id="34" name="Image 7" descr="preencoded.png">
            <a:extLst>
              <a:ext uri="{FF2B5EF4-FFF2-40B4-BE49-F238E27FC236}">
                <a16:creationId xmlns:a16="http://schemas.microsoft.com/office/drawing/2014/main" id="{5FFBE682-16C5-8025-4098-89CA2E8EBF5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5981" y="5550608"/>
            <a:ext cx="142875" cy="190500"/>
          </a:xfrm>
          <a:prstGeom prst="rect">
            <a:avLst/>
          </a:prstGeom>
        </p:spPr>
      </p:pic>
      <p:sp>
        <p:nvSpPr>
          <p:cNvPr id="35" name="Text 2">
            <a:extLst>
              <a:ext uri="{FF2B5EF4-FFF2-40B4-BE49-F238E27FC236}">
                <a16:creationId xmlns:a16="http://schemas.microsoft.com/office/drawing/2014/main" id="{DE0A3DB8-6B2F-613C-6BEE-D18617682B93}"/>
              </a:ext>
            </a:extLst>
          </p:cNvPr>
          <p:cNvSpPr/>
          <p:nvPr/>
        </p:nvSpPr>
        <p:spPr>
          <a:xfrm>
            <a:off x="706559" y="5509914"/>
            <a:ext cx="1943100" cy="2494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종합 결론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352439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7B85B-BC4A-88CF-1A85-AC1ABBDB1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2FA305DD-A75F-145B-8084-0DE118C10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3914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E35A5FA8-1A50-84EA-99BE-6D69763CE5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001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644FF2-C7E4-0959-7BD7-0FFD30C833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066800"/>
            <a:ext cx="11430000" cy="5943600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4F38D8CB-37DA-829B-8110-25B162FF79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266825"/>
            <a:ext cx="190500" cy="190500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46A2B4F3-ABA6-644C-6895-B0413B778C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1266825"/>
            <a:ext cx="142875" cy="190500"/>
          </a:xfrm>
          <a:prstGeom prst="rect">
            <a:avLst/>
          </a:prstGeom>
        </p:spPr>
      </p:pic>
      <p:pic>
        <p:nvPicPr>
          <p:cNvPr id="7" name="Image 5" descr="preencoded.png">
            <a:extLst>
              <a:ext uri="{FF2B5EF4-FFF2-40B4-BE49-F238E27FC236}">
                <a16:creationId xmlns:a16="http://schemas.microsoft.com/office/drawing/2014/main" id="{0D1A483F-4318-81FD-46FA-B10D5802A3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4660900"/>
            <a:ext cx="11125200" cy="1739900"/>
          </a:xfrm>
          <a:prstGeom prst="rect">
            <a:avLst/>
          </a:prstGeom>
        </p:spPr>
      </p:pic>
      <p:pic>
        <p:nvPicPr>
          <p:cNvPr id="8" name="Image 6" descr="preencoded.png">
            <a:extLst>
              <a:ext uri="{FF2B5EF4-FFF2-40B4-BE49-F238E27FC236}">
                <a16:creationId xmlns:a16="http://schemas.microsoft.com/office/drawing/2014/main" id="{48FCF807-E94B-0E4D-51E3-E7766AA523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4660900"/>
            <a:ext cx="342900" cy="419100"/>
          </a:xfrm>
          <a:prstGeom prst="rect">
            <a:avLst/>
          </a:prstGeom>
        </p:spPr>
      </p:pic>
      <p:pic>
        <p:nvPicPr>
          <p:cNvPr id="9" name="Image 7" descr="preencoded.png">
            <a:extLst>
              <a:ext uri="{FF2B5EF4-FFF2-40B4-BE49-F238E27FC236}">
                <a16:creationId xmlns:a16="http://schemas.microsoft.com/office/drawing/2014/main" id="{407805E1-764E-63A0-9002-3F98BB872BA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4737100"/>
            <a:ext cx="190500" cy="266700"/>
          </a:xfrm>
          <a:prstGeom prst="rect">
            <a:avLst/>
          </a:prstGeom>
        </p:spPr>
      </p:pic>
      <p:pic>
        <p:nvPicPr>
          <p:cNvPr id="10" name="Image 8" descr="preencoded.png">
            <a:extLst>
              <a:ext uri="{FF2B5EF4-FFF2-40B4-BE49-F238E27FC236}">
                <a16:creationId xmlns:a16="http://schemas.microsoft.com/office/drawing/2014/main" id="{55FDB235-6780-5F89-F36E-EA874A09436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5105400"/>
            <a:ext cx="10820400" cy="952500"/>
          </a:xfrm>
          <a:prstGeom prst="rect">
            <a:avLst/>
          </a:prstGeom>
        </p:spPr>
      </p:pic>
      <p:pic>
        <p:nvPicPr>
          <p:cNvPr id="13" name="Image 11" descr="preencoded.png">
            <a:extLst>
              <a:ext uri="{FF2B5EF4-FFF2-40B4-BE49-F238E27FC236}">
                <a16:creationId xmlns:a16="http://schemas.microsoft.com/office/drawing/2014/main" id="{04798239-32E5-E8E4-28B2-FC773A677B9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77575" y="7086600"/>
            <a:ext cx="104775" cy="133350"/>
          </a:xfrm>
          <a:prstGeom prst="rect">
            <a:avLst/>
          </a:prstGeom>
        </p:spPr>
      </p:pic>
      <p:sp>
        <p:nvSpPr>
          <p:cNvPr id="14" name="Text 0">
            <a:extLst>
              <a:ext uri="{FF2B5EF4-FFF2-40B4-BE49-F238E27FC236}">
                <a16:creationId xmlns:a16="http://schemas.microsoft.com/office/drawing/2014/main" id="{3FB324E0-A92E-384A-BA44-EF3A37A681B5}"/>
              </a:ext>
            </a:extLst>
          </p:cNvPr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ko-KR" altLang="en-US" sz="2250" b="1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모델 및 앙상블</a:t>
            </a:r>
            <a:r>
              <a:rPr lang="en-US" sz="2250" b="1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  <a:r>
              <a:rPr lang="ko-KR" altLang="en-US" sz="2250" b="1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분석 </a:t>
            </a:r>
            <a:r>
              <a:rPr lang="en-US" altLang="ko-KR" sz="2250" b="1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: </a:t>
            </a:r>
            <a:r>
              <a:rPr lang="en-US" sz="2250" b="1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종합 결론</a:t>
            </a:r>
            <a:endParaRPr lang="en-US" sz="2250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06A39CB9-503C-9C35-8C14-D4C39C7A4D6B}"/>
              </a:ext>
            </a:extLst>
          </p:cNvPr>
          <p:cNvSpPr/>
          <p:nvPr/>
        </p:nvSpPr>
        <p:spPr>
          <a:xfrm>
            <a:off x="800100" y="1219200"/>
            <a:ext cx="5410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질문의 답</a:t>
            </a:r>
            <a:endParaRPr lang="en-US" sz="15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FC01E07C-9958-F31D-09BA-5FA13C0ADAB2}"/>
              </a:ext>
            </a:extLst>
          </p:cNvPr>
          <p:cNvSpPr/>
          <p:nvPr/>
        </p:nvSpPr>
        <p:spPr>
          <a:xfrm>
            <a:off x="838200" y="1638300"/>
            <a:ext cx="6126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모델이 가장 안정적인 성능을 보였는가</a:t>
            </a:r>
            <a:r>
              <a:rPr lang="en-US" altLang="ko-KR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?</a:t>
            </a:r>
            <a:endParaRPr lang="en-US" sz="12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0BDA512C-5B9E-C691-6E00-68252B1BF724}"/>
              </a:ext>
            </a:extLst>
          </p:cNvPr>
          <p:cNvSpPr/>
          <p:nvPr/>
        </p:nvSpPr>
        <p:spPr>
          <a:xfrm>
            <a:off x="838200" y="1866900"/>
            <a:ext cx="5273040" cy="812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171450" indent="-171450" algn="l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도시 모두에서 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LGBM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단일 모델이 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RMSE, R^2 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가장 안정적이고 </a:t>
            </a:r>
            <a:b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일관된 성능을 기록하였다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</a:p>
          <a:p>
            <a:pPr marL="171450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특히 시간 날씨 공간 피처간 비선형 상호작용을 효과적으로 학습하며 </a:t>
            </a:r>
            <a:b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기준 모델로서 가장 적합</a:t>
            </a:r>
            <a:endParaRPr lang="en-US" sz="105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173744DF-DCBA-7CEC-52F3-8475023985DA}"/>
              </a:ext>
            </a:extLst>
          </p:cNvPr>
          <p:cNvSpPr/>
          <p:nvPr/>
        </p:nvSpPr>
        <p:spPr>
          <a:xfrm>
            <a:off x="838200" y="2794000"/>
            <a:ext cx="5105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앙상블은 단일 모델 보다 항상 우수한가</a:t>
            </a:r>
            <a:r>
              <a:rPr lang="en-US" altLang="ko-KR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?</a:t>
            </a:r>
            <a:endParaRPr lang="en-US" sz="120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9EAF62E3-F74E-A73B-AACB-95555E77F47F}"/>
              </a:ext>
            </a:extLst>
          </p:cNvPr>
          <p:cNvSpPr/>
          <p:nvPr/>
        </p:nvSpPr>
        <p:spPr>
          <a:xfrm>
            <a:off x="838200" y="3022600"/>
            <a:ext cx="61264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171450" indent="-171450" algn="l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앙상블은 항상 단일 최적 모델을 초과하지는 않았다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</a:p>
          <a:p>
            <a:pPr marL="171450" indent="-171450" algn="l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모델 간 예측 패턴이 유사한 경우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,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단순 결합은 성능 개선보다는 예측의 </a:t>
            </a:r>
            <a:b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ko-KR" alt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평활화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(smoothing) 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효과로 작용하였다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.</a:t>
            </a:r>
          </a:p>
          <a:p>
            <a:pPr marL="171450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즉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앙상블의 효과는 데이터 분포와 모델 다양성에 의존적이다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.</a:t>
            </a:r>
          </a:p>
          <a:p>
            <a:pPr marL="171450" indent="-171450" algn="l">
              <a:lnSpc>
                <a:spcPts val="1500"/>
              </a:lnSpc>
              <a:buFont typeface="Arial" panose="020B0604020202020204" pitchFamily="34" charset="0"/>
              <a:buChar char="•"/>
            </a:pPr>
            <a:endParaRPr lang="en-US" sz="105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02358B5C-6CD3-0FC9-CACA-0E84FE0DEFCB}"/>
              </a:ext>
            </a:extLst>
          </p:cNvPr>
          <p:cNvSpPr/>
          <p:nvPr/>
        </p:nvSpPr>
        <p:spPr>
          <a:xfrm>
            <a:off x="838200" y="3886200"/>
            <a:ext cx="5105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12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전처리</a:t>
            </a:r>
            <a:r>
              <a:rPr lang="en-US" altLang="ko-KR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(IQR/No-IQR)</a:t>
            </a: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는 앙상블 성능에 어떤 영향을 미쳤는가</a:t>
            </a:r>
            <a:r>
              <a:rPr lang="en-US" altLang="ko-KR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?</a:t>
            </a:r>
            <a:endParaRPr lang="en-US" sz="120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C3E4FDD5-75C6-D36E-7B65-2449F1A862C6}"/>
              </a:ext>
            </a:extLst>
          </p:cNvPr>
          <p:cNvSpPr/>
          <p:nvPr/>
        </p:nvSpPr>
        <p:spPr>
          <a:xfrm>
            <a:off x="838200" y="4114800"/>
            <a:ext cx="612648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171450" indent="-171450" algn="l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IOR 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적용효과는 도시별로 상이하게 나타난다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</a:p>
          <a:p>
            <a:pPr marL="171450" indent="-171450" algn="l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전처리는 단일 모델 뿐 아니라 앙상블 성능 구조 자체를 변화시키는 핵심 요인이다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BA21C92A-75BD-9612-FF08-24EA59E2B9AC}"/>
              </a:ext>
            </a:extLst>
          </p:cNvPr>
          <p:cNvSpPr/>
          <p:nvPr/>
        </p:nvSpPr>
        <p:spPr>
          <a:xfrm>
            <a:off x="6467475" y="1219200"/>
            <a:ext cx="5410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모델링 및 앙상블 결과 종합 해석</a:t>
            </a:r>
            <a:endParaRPr lang="en-US" sz="15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E5F72F50-7703-77ED-C569-8A9B0D91527C}"/>
              </a:ext>
            </a:extLst>
          </p:cNvPr>
          <p:cNvSpPr/>
          <p:nvPr/>
        </p:nvSpPr>
        <p:spPr>
          <a:xfrm>
            <a:off x="6553200" y="1638300"/>
            <a:ext cx="5105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성능의 핵심 결정 요인</a:t>
            </a:r>
            <a:endParaRPr lang="en-US" sz="120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C47FE5D3-6528-073F-5FE6-AE314CEDF36B}"/>
              </a:ext>
            </a:extLst>
          </p:cNvPr>
          <p:cNvSpPr/>
          <p:nvPr/>
        </p:nvSpPr>
        <p:spPr>
          <a:xfrm>
            <a:off x="6553200" y="1866900"/>
            <a:ext cx="5105400" cy="647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171450" indent="-171450" algn="l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모델 성능은 </a:t>
            </a:r>
            <a:r>
              <a:rPr lang="ko-KR" alt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알로기즘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 선택 자체보다 데이터 분포 특성과 피처 상호작용 구조에 더 크게 의존</a:t>
            </a:r>
            <a:endParaRPr lang="en-US" altLang="ko-KR" sz="105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</a:endParaRPr>
          </a:p>
          <a:p>
            <a:pPr marL="171450" indent="-171450" algn="l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동일한 모델이라도 데이터의 </a:t>
            </a:r>
            <a:r>
              <a:rPr lang="ko-KR" alt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특서엥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 따라 성능 편차가 발생한다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.</a:t>
            </a:r>
          </a:p>
          <a:p>
            <a:pPr algn="l">
              <a:lnSpc>
                <a:spcPts val="1500"/>
              </a:lnSpc>
            </a:pPr>
            <a:endParaRPr lang="en-US" altLang="ko-KR" sz="105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</a:endParaRPr>
          </a:p>
          <a:p>
            <a:pPr marL="171450" indent="-171450" algn="l">
              <a:lnSpc>
                <a:spcPts val="1500"/>
              </a:lnSpc>
              <a:buFont typeface="Arial" panose="020B0604020202020204" pitchFamily="34" charset="0"/>
              <a:buChar char="•"/>
            </a:pPr>
            <a:endParaRPr lang="en-US" sz="1050" dirty="0"/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39E880DC-8491-7015-E677-846DBBE9BE5E}"/>
              </a:ext>
            </a:extLst>
          </p:cNvPr>
          <p:cNvSpPr/>
          <p:nvPr/>
        </p:nvSpPr>
        <p:spPr>
          <a:xfrm>
            <a:off x="6553200" y="3635375"/>
            <a:ext cx="5105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앙상블 기법의 역할과 한계</a:t>
            </a:r>
            <a:endParaRPr lang="en-US" sz="1200" dirty="0"/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6969C807-1495-C7A0-91C8-EC4092F8413F}"/>
              </a:ext>
            </a:extLst>
          </p:cNvPr>
          <p:cNvSpPr/>
          <p:nvPr/>
        </p:nvSpPr>
        <p:spPr>
          <a:xfrm>
            <a:off x="6553200" y="3863974"/>
            <a:ext cx="5105400" cy="733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171450" indent="-171450" algn="l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앙상블 기법은 모든 상황에서 성능을 향상시키는 보편적 </a:t>
            </a:r>
            <a:r>
              <a:rPr lang="ko-KR" alt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해법이라기보다는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예측의 변동성을 완화하고 장기 추세를 </a:t>
            </a:r>
            <a:r>
              <a:rPr lang="ko-KR" alt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안정화하는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보조적 전략으로 작동하였다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</a:p>
          <a:p>
            <a:pPr marL="171450" indent="-171450" algn="l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특히 모델 간 예측 패턴의 다양성이 제한적인 경우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앙상블은 성능 개선보다는 예측 </a:t>
            </a:r>
            <a:r>
              <a:rPr lang="ko-KR" alt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평활화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(smoothing) 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효과를 제공하는 경향이 확인</a:t>
            </a:r>
            <a:b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endParaRPr lang="en-US" sz="1050" dirty="0"/>
          </a:p>
        </p:txBody>
      </p:sp>
      <p:sp>
        <p:nvSpPr>
          <p:cNvPr id="33" name="Text 19">
            <a:extLst>
              <a:ext uri="{FF2B5EF4-FFF2-40B4-BE49-F238E27FC236}">
                <a16:creationId xmlns:a16="http://schemas.microsoft.com/office/drawing/2014/main" id="{7C849304-651A-29FC-552A-699D1F002770}"/>
              </a:ext>
            </a:extLst>
          </p:cNvPr>
          <p:cNvSpPr/>
          <p:nvPr/>
        </p:nvSpPr>
        <p:spPr>
          <a:xfrm>
            <a:off x="1143000" y="4737100"/>
            <a:ext cx="36830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자전거 수요 예측 프로젝트 관점의 </a:t>
            </a:r>
            <a:r>
              <a:rPr lang="en-US" sz="15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종합</a:t>
            </a: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결론</a:t>
            </a:r>
            <a:endParaRPr lang="en-US" sz="1500" dirty="0"/>
          </a:p>
        </p:txBody>
      </p:sp>
      <p:sp>
        <p:nvSpPr>
          <p:cNvPr id="34" name="Text 20">
            <a:extLst>
              <a:ext uri="{FF2B5EF4-FFF2-40B4-BE49-F238E27FC236}">
                <a16:creationId xmlns:a16="http://schemas.microsoft.com/office/drawing/2014/main" id="{1B1AA0A7-0A59-26CF-5AA9-BC3D80C23860}"/>
              </a:ext>
            </a:extLst>
          </p:cNvPr>
          <p:cNvSpPr/>
          <p:nvPr/>
        </p:nvSpPr>
        <p:spPr>
          <a:xfrm>
            <a:off x="685800" y="5194299"/>
            <a:ext cx="10820400" cy="688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500"/>
              </a:lnSpc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자전거 수요 예측의 성능은 모델의 복잡도가 아니라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,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도시의 이동 맥락을 시간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·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날씨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·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공간 조건으로 얼마나 정밀하게 </a:t>
            </a:r>
            <a:r>
              <a:rPr lang="ko-KR" alt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구조화했는가에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 의해 결정된다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.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따라서 본 프로젝트의 핵심 성과는 ‘가장 좋은 </a:t>
            </a:r>
            <a:r>
              <a:rPr lang="ko-KR" alt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모델’을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 찾는 것이 아니라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,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도시별 수요를 설명하는 조건부 구조를 실증적으로 규명한 데 있고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돌발적인 이벤트나 비정형 피크 수요를 정확히 예측하는 데에는 한계가 있으나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반복적으로 발생하는 시간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·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기상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·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공간 조건 하의 수요 범위를 안정적으로 제시함으로써 운영 정책 수립에 필요한 ‘기본 수요 수준과 리스크 </a:t>
            </a:r>
            <a:r>
              <a:rPr lang="ko-KR" alt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하한선’을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 제공한다는 점에서 실질적인 의사결정 도구로서의 가치를 가진다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.</a:t>
            </a:r>
            <a:endParaRPr lang="en-US" sz="105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43" name="Text 29">
            <a:extLst>
              <a:ext uri="{FF2B5EF4-FFF2-40B4-BE49-F238E27FC236}">
                <a16:creationId xmlns:a16="http://schemas.microsoft.com/office/drawing/2014/main" id="{9CFA2817-5F46-DE9B-1CBB-A4BDF22F5D96}"/>
              </a:ext>
            </a:extLst>
          </p:cNvPr>
          <p:cNvSpPr/>
          <p:nvPr/>
        </p:nvSpPr>
        <p:spPr>
          <a:xfrm>
            <a:off x="11220450" y="7048500"/>
            <a:ext cx="10629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Page 13/20</a:t>
            </a:r>
            <a:endParaRPr lang="en-US" sz="1050" dirty="0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BD76A88F-B9F7-175D-3D9A-DF56A21C6EB1}"/>
              </a:ext>
            </a:extLst>
          </p:cNvPr>
          <p:cNvSpPr/>
          <p:nvPr/>
        </p:nvSpPr>
        <p:spPr>
          <a:xfrm>
            <a:off x="6553200" y="2527300"/>
            <a:ext cx="5105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모델 분석 결과</a:t>
            </a:r>
            <a:endParaRPr lang="en-US" sz="1200" dirty="0"/>
          </a:p>
        </p:txBody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07293B9A-659A-3239-0A08-8782578634D2}"/>
              </a:ext>
            </a:extLst>
          </p:cNvPr>
          <p:cNvSpPr/>
          <p:nvPr/>
        </p:nvSpPr>
        <p:spPr>
          <a:xfrm>
            <a:off x="6553200" y="2755900"/>
            <a:ext cx="5105400" cy="8032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171450" indent="-171450" algn="l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altLang="ko-KR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LightGBM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단일 모델은 시간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·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기상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·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공간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(POI) 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피처 간 비선형 결합을 가장 안정적으로 학습하였다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.</a:t>
            </a:r>
          </a:p>
          <a:p>
            <a:pPr marL="171450" indent="-171450" algn="l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두 도시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(Seoul / Washington DC) 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모두에서 가장 일관된 기준 성능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(Baseline)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을 형성하며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,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최적 단일 모델로 선정되었다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..</a:t>
            </a:r>
          </a:p>
          <a:p>
            <a:pPr algn="l">
              <a:lnSpc>
                <a:spcPts val="1500"/>
              </a:lnSpc>
            </a:pPr>
            <a:endParaRPr lang="en-US" altLang="ko-KR" sz="105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94256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08FC1-06BC-E8D5-1CED-411D742F7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51D0C9D-5D56-6E8A-41F0-5B232AE02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0D0870EC-1E49-EBA6-5086-CBC70A00F7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001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E4503719-3FB6-CB5D-BE7D-52CCF2BB06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999" y="1066800"/>
            <a:ext cx="6857941" cy="4286914"/>
          </a:xfrm>
          <a:prstGeom prst="rect">
            <a:avLst/>
          </a:prstGeom>
        </p:spPr>
      </p:pic>
      <p:pic>
        <p:nvPicPr>
          <p:cNvPr id="15" name="Image 13" descr="preencoded.png">
            <a:extLst>
              <a:ext uri="{FF2B5EF4-FFF2-40B4-BE49-F238E27FC236}">
                <a16:creationId xmlns:a16="http://schemas.microsoft.com/office/drawing/2014/main" id="{C3756E7D-590C-5215-5D5D-BE6B3B69D7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77575" y="6553200"/>
            <a:ext cx="104775" cy="133350"/>
          </a:xfrm>
          <a:prstGeom prst="rect">
            <a:avLst/>
          </a:prstGeom>
        </p:spPr>
      </p:pic>
      <p:sp>
        <p:nvSpPr>
          <p:cNvPr id="16" name="Text 0">
            <a:extLst>
              <a:ext uri="{FF2B5EF4-FFF2-40B4-BE49-F238E27FC236}">
                <a16:creationId xmlns:a16="http://schemas.microsoft.com/office/drawing/2014/main" id="{C1F4B335-0F45-D4FE-3B8F-C6DE83C0A437}"/>
              </a:ext>
            </a:extLst>
          </p:cNvPr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altLang="ko-KR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SHAP </a:t>
            </a:r>
            <a:r>
              <a:rPr lang="ko-KR" alt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분석</a:t>
            </a:r>
            <a:endParaRPr lang="en-US" altLang="ko-KR" sz="2250" b="1" dirty="0">
              <a:solidFill>
                <a:srgbClr val="1F2937"/>
              </a:solidFill>
              <a:latin typeface="Noto Serif KR" pitchFamily="34" charset="0"/>
              <a:ea typeface="Noto Serif KR" pitchFamily="34" charset="-122"/>
              <a:cs typeface="Noto Serif KR" pitchFamily="34" charset="-120"/>
            </a:endParaRP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1A7A413D-7E94-EDF3-FD6F-B56346514C09}"/>
              </a:ext>
            </a:extLst>
          </p:cNvPr>
          <p:cNvSpPr/>
          <p:nvPr/>
        </p:nvSpPr>
        <p:spPr>
          <a:xfrm>
            <a:off x="876300" y="1257300"/>
            <a:ext cx="63397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altLang="ko-KR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SHAP Summary (Seoul)</a:t>
            </a:r>
            <a:endParaRPr lang="en-US" sz="1500" b="1" dirty="0">
              <a:solidFill>
                <a:srgbClr val="000000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500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5EE0DD8E-3A4A-D901-EC99-B767F8EF939E}"/>
              </a:ext>
            </a:extLst>
          </p:cNvPr>
          <p:cNvSpPr/>
          <p:nvPr/>
        </p:nvSpPr>
        <p:spPr>
          <a:xfrm>
            <a:off x="11220450" y="6515100"/>
            <a:ext cx="10629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Page 15/20</a:t>
            </a:r>
            <a:endParaRPr lang="en-US" sz="1050" dirty="0"/>
          </a:p>
        </p:txBody>
      </p:sp>
      <p:pic>
        <p:nvPicPr>
          <p:cNvPr id="64" name="Image 6" descr="preencoded.png">
            <a:extLst>
              <a:ext uri="{FF2B5EF4-FFF2-40B4-BE49-F238E27FC236}">
                <a16:creationId xmlns:a16="http://schemas.microsoft.com/office/drawing/2014/main" id="{2AC58903-4321-914E-80FD-CDE929FF22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0380" y="1104900"/>
            <a:ext cx="4480620" cy="4248814"/>
          </a:xfrm>
          <a:prstGeom prst="rect">
            <a:avLst/>
          </a:prstGeom>
        </p:spPr>
      </p:pic>
      <p:sp>
        <p:nvSpPr>
          <p:cNvPr id="55" name="Text 3">
            <a:extLst>
              <a:ext uri="{FF2B5EF4-FFF2-40B4-BE49-F238E27FC236}">
                <a16:creationId xmlns:a16="http://schemas.microsoft.com/office/drawing/2014/main" id="{7134A9E8-7560-EE3F-722D-4862460217ED}"/>
              </a:ext>
            </a:extLst>
          </p:cNvPr>
          <p:cNvSpPr/>
          <p:nvPr/>
        </p:nvSpPr>
        <p:spPr>
          <a:xfrm>
            <a:off x="7778055" y="1257300"/>
            <a:ext cx="40996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SHAP</a:t>
            </a:r>
            <a:r>
              <a:rPr lang="ko-KR" alt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 분석 결론 해석</a:t>
            </a:r>
            <a:endParaRPr lang="en-US" sz="1500" dirty="0"/>
          </a:p>
        </p:txBody>
      </p:sp>
      <p:pic>
        <p:nvPicPr>
          <p:cNvPr id="50" name="Image 8" descr="preencoded.png">
            <a:extLst>
              <a:ext uri="{FF2B5EF4-FFF2-40B4-BE49-F238E27FC236}">
                <a16:creationId xmlns:a16="http://schemas.microsoft.com/office/drawing/2014/main" id="{5880A39D-FF42-BD51-3AFB-A143A795E4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0880" y="1747606"/>
            <a:ext cx="4099620" cy="1691770"/>
          </a:xfrm>
          <a:prstGeom prst="rect">
            <a:avLst/>
          </a:prstGeom>
        </p:spPr>
      </p:pic>
      <p:pic>
        <p:nvPicPr>
          <p:cNvPr id="49" name="Image 7" descr="preencoded.png">
            <a:extLst>
              <a:ext uri="{FF2B5EF4-FFF2-40B4-BE49-F238E27FC236}">
                <a16:creationId xmlns:a16="http://schemas.microsoft.com/office/drawing/2014/main" id="{3E5E26BE-31A1-D525-A3AB-4697677E15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0880" y="1295400"/>
            <a:ext cx="142875" cy="190500"/>
          </a:xfrm>
          <a:prstGeom prst="rect">
            <a:avLst/>
          </a:prstGeom>
        </p:spPr>
      </p:pic>
      <p:sp>
        <p:nvSpPr>
          <p:cNvPr id="56" name="Text 4">
            <a:extLst>
              <a:ext uri="{FF2B5EF4-FFF2-40B4-BE49-F238E27FC236}">
                <a16:creationId xmlns:a16="http://schemas.microsoft.com/office/drawing/2014/main" id="{CB14C15F-8A61-25CA-838D-81AEA9F22009}"/>
              </a:ext>
            </a:extLst>
          </p:cNvPr>
          <p:cNvSpPr/>
          <p:nvPr/>
        </p:nvSpPr>
        <p:spPr>
          <a:xfrm>
            <a:off x="7939980" y="1828799"/>
            <a:ext cx="38710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3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상위 영향 변수 </a:t>
            </a:r>
            <a:endParaRPr lang="en-US" sz="1350" b="1" dirty="0"/>
          </a:p>
        </p:txBody>
      </p:sp>
      <p:sp>
        <p:nvSpPr>
          <p:cNvPr id="57" name="Text 5">
            <a:extLst>
              <a:ext uri="{FF2B5EF4-FFF2-40B4-BE49-F238E27FC236}">
                <a16:creationId xmlns:a16="http://schemas.microsoft.com/office/drawing/2014/main" id="{8CDC395A-915F-CBBE-C736-E6229DCAF4CF}"/>
              </a:ext>
            </a:extLst>
          </p:cNvPr>
          <p:cNvSpPr/>
          <p:nvPr/>
        </p:nvSpPr>
        <p:spPr>
          <a:xfrm>
            <a:off x="7635180" y="2095499"/>
            <a:ext cx="4645223" cy="120968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altLang="ko-KR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Quarter_flag</a:t>
            </a:r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(1</a:t>
            </a: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위</a:t>
            </a:r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압도적</a:t>
            </a:r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)</a:t>
            </a:r>
            <a:b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temperature (2</a:t>
            </a: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위</a:t>
            </a:r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)</a:t>
            </a:r>
            <a:b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en-US" altLang="ko-KR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n_station_dis</a:t>
            </a:r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(m)(3</a:t>
            </a: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위</a:t>
            </a:r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)</a:t>
            </a:r>
            <a:b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en-US" altLang="ko-KR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Holding_quantity</a:t>
            </a:r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 (4</a:t>
            </a: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위</a:t>
            </a:r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)</a:t>
            </a:r>
            <a:b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N_ofschool_within_2000m(5</a:t>
            </a: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위</a:t>
            </a:r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)</a:t>
            </a:r>
            <a:b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</a:br>
            <a:endParaRPr lang="en-US" sz="1200" dirty="0">
              <a:solidFill>
                <a:srgbClr val="374151"/>
              </a:solidFill>
              <a:latin typeface="Noto Sans KR" pitchFamily="34" charset="0"/>
              <a:ea typeface="Noto Sans KR" pitchFamily="34" charset="-122"/>
            </a:endParaRPr>
          </a:p>
        </p:txBody>
      </p:sp>
      <p:pic>
        <p:nvPicPr>
          <p:cNvPr id="25" name="Image 8" descr="preencoded.png">
            <a:extLst>
              <a:ext uri="{FF2B5EF4-FFF2-40B4-BE49-F238E27FC236}">
                <a16:creationId xmlns:a16="http://schemas.microsoft.com/office/drawing/2014/main" id="{983C2186-4F0E-CB16-4DDA-E89C2FC85D4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0880" y="3559362"/>
            <a:ext cx="4099620" cy="1603907"/>
          </a:xfrm>
          <a:prstGeom prst="rect">
            <a:avLst/>
          </a:prstGeom>
        </p:spPr>
      </p:pic>
      <p:sp>
        <p:nvSpPr>
          <p:cNvPr id="26" name="Text 4">
            <a:extLst>
              <a:ext uri="{FF2B5EF4-FFF2-40B4-BE49-F238E27FC236}">
                <a16:creationId xmlns:a16="http://schemas.microsoft.com/office/drawing/2014/main" id="{2DD36292-168E-D650-34EC-F980790F7979}"/>
              </a:ext>
            </a:extLst>
          </p:cNvPr>
          <p:cNvSpPr/>
          <p:nvPr/>
        </p:nvSpPr>
        <p:spPr>
          <a:xfrm>
            <a:off x="7939980" y="3602457"/>
            <a:ext cx="38710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인사이트</a:t>
            </a:r>
            <a:endParaRPr lang="en-US" sz="1350" dirty="0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C3977C46-FC6B-D2A1-021B-007570F7D3C5}"/>
              </a:ext>
            </a:extLst>
          </p:cNvPr>
          <p:cNvSpPr/>
          <p:nvPr/>
        </p:nvSpPr>
        <p:spPr>
          <a:xfrm>
            <a:off x="7635181" y="3921468"/>
            <a:ext cx="3871020" cy="81566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ko-KR" alt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전거 수요는 출퇴근 시간대와 기온에 의해 활성화되며</a:t>
            </a:r>
            <a:r>
              <a:rPr lang="en-US" altLang="ko-KR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역 접근성과 인프라 밀도</a:t>
            </a:r>
            <a:r>
              <a:rPr lang="en-US" altLang="ko-KR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보유 대수와 같은 공간</a:t>
            </a:r>
            <a:r>
              <a:rPr lang="en-US" altLang="ko-KR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·</a:t>
            </a:r>
            <a:r>
              <a:rPr lang="ko-KR" alt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공급 조건이 수요의 실현 가능 범위를 제한한다</a:t>
            </a:r>
            <a:r>
              <a:rPr lang="en-US" altLang="ko-KR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.</a:t>
            </a:r>
            <a:endParaRPr lang="en-US" sz="1000" dirty="0">
              <a:solidFill>
                <a:srgbClr val="374151"/>
              </a:solidFill>
              <a:latin typeface="Noto Sans KR" pitchFamily="34" charset="0"/>
              <a:ea typeface="Noto Sans KR" pitchFamily="34" charset="-122"/>
            </a:endParaRPr>
          </a:p>
        </p:txBody>
      </p:sp>
      <p:pic>
        <p:nvPicPr>
          <p:cNvPr id="32" name="Image 13" descr="preencoded.png">
            <a:extLst>
              <a:ext uri="{FF2B5EF4-FFF2-40B4-BE49-F238E27FC236}">
                <a16:creationId xmlns:a16="http://schemas.microsoft.com/office/drawing/2014/main" id="{3C6E4391-906D-E307-B11E-F659EFA81D0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V="1">
            <a:off x="254121" y="5408311"/>
            <a:ext cx="11430000" cy="1106788"/>
          </a:xfrm>
          <a:prstGeom prst="rect">
            <a:avLst/>
          </a:prstGeom>
        </p:spPr>
      </p:pic>
      <p:pic>
        <p:nvPicPr>
          <p:cNvPr id="34" name="Image 7" descr="preencoded.png">
            <a:extLst>
              <a:ext uri="{FF2B5EF4-FFF2-40B4-BE49-F238E27FC236}">
                <a16:creationId xmlns:a16="http://schemas.microsoft.com/office/drawing/2014/main" id="{53654B7F-29A7-2B50-DA65-68AAB22B4B9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981" y="5550608"/>
            <a:ext cx="142875" cy="190500"/>
          </a:xfrm>
          <a:prstGeom prst="rect">
            <a:avLst/>
          </a:prstGeom>
        </p:spPr>
      </p:pic>
      <p:sp>
        <p:nvSpPr>
          <p:cNvPr id="35" name="Text 2">
            <a:extLst>
              <a:ext uri="{FF2B5EF4-FFF2-40B4-BE49-F238E27FC236}">
                <a16:creationId xmlns:a16="http://schemas.microsoft.com/office/drawing/2014/main" id="{B5D71EE4-D52B-A586-05E2-C2AEA2F663C6}"/>
              </a:ext>
            </a:extLst>
          </p:cNvPr>
          <p:cNvSpPr/>
          <p:nvPr/>
        </p:nvSpPr>
        <p:spPr>
          <a:xfrm>
            <a:off x="706559" y="5509914"/>
            <a:ext cx="1943100" cy="2494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종합 결론</a:t>
            </a:r>
            <a:endParaRPr lang="en-US" sz="1200" dirty="0"/>
          </a:p>
        </p:txBody>
      </p:sp>
      <p:pic>
        <p:nvPicPr>
          <p:cNvPr id="6" name="Image 25" descr="preencoded.png">
            <a:extLst>
              <a:ext uri="{FF2B5EF4-FFF2-40B4-BE49-F238E27FC236}">
                <a16:creationId xmlns:a16="http://schemas.microsoft.com/office/drawing/2014/main" id="{261E3EB7-17BA-61B0-66B5-329A3C560C8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6263" y="1295400"/>
            <a:ext cx="219075" cy="190500"/>
          </a:xfrm>
          <a:prstGeom prst="rect">
            <a:avLst/>
          </a:prstGeom>
        </p:spPr>
      </p:pic>
      <p:pic>
        <p:nvPicPr>
          <p:cNvPr id="11" name="그림 10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B25B0E1-DF91-1D26-B9B0-3C107818EB2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6582" y="1540497"/>
            <a:ext cx="3199431" cy="3811743"/>
          </a:xfrm>
          <a:prstGeom prst="rect">
            <a:avLst/>
          </a:prstGeom>
        </p:spPr>
      </p:pic>
      <p:pic>
        <p:nvPicPr>
          <p:cNvPr id="20" name="그림 19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A3C076-26E6-9CD3-CCEE-6E4BAE995D3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47399" y="1512736"/>
            <a:ext cx="3199431" cy="3840952"/>
          </a:xfrm>
          <a:prstGeom prst="rect">
            <a:avLst/>
          </a:prstGeom>
        </p:spPr>
      </p:pic>
      <p:pic>
        <p:nvPicPr>
          <p:cNvPr id="22" name="그래픽 21" descr="불꽃 단색으로 채워진">
            <a:extLst>
              <a:ext uri="{FF2B5EF4-FFF2-40B4-BE49-F238E27FC236}">
                <a16:creationId xmlns:a16="http://schemas.microsoft.com/office/drawing/2014/main" id="{60B9AA57-4DE2-AE35-DE2B-EB19AEE5E2C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605203" y="1781174"/>
            <a:ext cx="314325" cy="314325"/>
          </a:xfrm>
          <a:prstGeom prst="rect">
            <a:avLst/>
          </a:prstGeom>
        </p:spPr>
      </p:pic>
      <p:pic>
        <p:nvPicPr>
          <p:cNvPr id="24" name="그래픽 23" descr="돋보기 단색으로 채워진">
            <a:extLst>
              <a:ext uri="{FF2B5EF4-FFF2-40B4-BE49-F238E27FC236}">
                <a16:creationId xmlns:a16="http://schemas.microsoft.com/office/drawing/2014/main" id="{0AEB61A2-942C-A31C-B595-516CD02E29E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635180" y="3591776"/>
            <a:ext cx="358590" cy="35859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8BC108B0-5505-3BC4-38A6-510527B68DFC}"/>
              </a:ext>
            </a:extLst>
          </p:cNvPr>
          <p:cNvSpPr txBox="1"/>
          <p:nvPr/>
        </p:nvSpPr>
        <p:spPr>
          <a:xfrm>
            <a:off x="576262" y="5742115"/>
            <a:ext cx="11044237" cy="757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자전거 수요는 출퇴근을 포함한 시간대 구조와 기온에 의해 </a:t>
            </a:r>
            <a:r>
              <a:rPr lang="en-US" altLang="ko-KR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1</a:t>
            </a:r>
            <a:r>
              <a:rPr lang="ko-KR" alt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차적으로 결정되며</a:t>
            </a:r>
            <a:r>
              <a:rPr lang="en-US" altLang="ko-KR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역 접근성</a:t>
            </a:r>
            <a:r>
              <a:rPr lang="en-US" altLang="ko-KR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·</a:t>
            </a:r>
            <a:r>
              <a:rPr lang="ko-KR" alt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주변 인프라 밀도</a:t>
            </a:r>
            <a:r>
              <a:rPr lang="en-US" altLang="ko-KR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·</a:t>
            </a:r>
            <a:r>
              <a:rPr lang="ko-KR" alt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보유 대수와 같은 공간</a:t>
            </a:r>
            <a:r>
              <a:rPr lang="en-US" altLang="ko-KR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·</a:t>
            </a:r>
            <a:r>
              <a:rPr lang="ko-KR" alt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공급 요인이 수요의 실현 가능 범위와 상한을 규정하는 조건으로 작동함이 확인되었다</a:t>
            </a:r>
            <a:r>
              <a:rPr lang="en-US" altLang="ko-KR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. </a:t>
            </a:r>
            <a:r>
              <a:rPr lang="ko-KR" alt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반면 이벤트나 돌발 피크 수요는 이러한 구조적 변수로 설명되지 않는 외생 요인에 해당하여 예측에는 한계가 있으나</a:t>
            </a:r>
            <a:r>
              <a:rPr lang="en-US" altLang="ko-KR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본 모델은 반복적으로 발생하는 기본 수요 패턴을 안정적으로 설명함으로써 운영 기준선 설정과 리스크 관리에 실질적인 가치를 제공한다</a:t>
            </a:r>
            <a:r>
              <a:rPr lang="en-US" altLang="ko-KR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.</a:t>
            </a:r>
            <a:endParaRPr lang="ko-KR" altLang="en-US" sz="1000" dirty="0">
              <a:solidFill>
                <a:srgbClr val="374151"/>
              </a:solidFill>
              <a:latin typeface="Noto Sans KR" pitchFamily="34" charset="0"/>
              <a:ea typeface="Noto Sans KR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9788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1EA7E-3E8F-F03C-F580-51C8F0247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14E05060-7605-1CCD-3823-63A9C1EBC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2FD34340-BAE0-1D9A-52ED-220A58144E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001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9D50A7FB-C207-EA4B-B611-4A0032F313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999" y="1066800"/>
            <a:ext cx="6857941" cy="4286914"/>
          </a:xfrm>
          <a:prstGeom prst="rect">
            <a:avLst/>
          </a:prstGeom>
        </p:spPr>
      </p:pic>
      <p:pic>
        <p:nvPicPr>
          <p:cNvPr id="15" name="Image 13" descr="preencoded.png">
            <a:extLst>
              <a:ext uri="{FF2B5EF4-FFF2-40B4-BE49-F238E27FC236}">
                <a16:creationId xmlns:a16="http://schemas.microsoft.com/office/drawing/2014/main" id="{EA1E8365-D6ED-999E-32CF-466EF7EB09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77575" y="6553200"/>
            <a:ext cx="104775" cy="133350"/>
          </a:xfrm>
          <a:prstGeom prst="rect">
            <a:avLst/>
          </a:prstGeom>
        </p:spPr>
      </p:pic>
      <p:sp>
        <p:nvSpPr>
          <p:cNvPr id="16" name="Text 0">
            <a:extLst>
              <a:ext uri="{FF2B5EF4-FFF2-40B4-BE49-F238E27FC236}">
                <a16:creationId xmlns:a16="http://schemas.microsoft.com/office/drawing/2014/main" id="{10D3070F-CB2C-A4D8-B85F-957D0AE3D080}"/>
              </a:ext>
            </a:extLst>
          </p:cNvPr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altLang="ko-KR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SHAP </a:t>
            </a:r>
            <a:r>
              <a:rPr lang="ko-KR" alt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분석</a:t>
            </a:r>
            <a:endParaRPr lang="en-US" altLang="ko-KR" sz="2250" b="1" dirty="0">
              <a:solidFill>
                <a:srgbClr val="1F2937"/>
              </a:solidFill>
              <a:latin typeface="Noto Serif KR" pitchFamily="34" charset="0"/>
              <a:ea typeface="Noto Serif KR" pitchFamily="34" charset="-122"/>
              <a:cs typeface="Noto Serif KR" pitchFamily="34" charset="-120"/>
            </a:endParaRP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B19EA9AE-89DD-660E-6814-C94646973485}"/>
              </a:ext>
            </a:extLst>
          </p:cNvPr>
          <p:cNvSpPr/>
          <p:nvPr/>
        </p:nvSpPr>
        <p:spPr>
          <a:xfrm>
            <a:off x="876300" y="1257300"/>
            <a:ext cx="63397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altLang="ko-KR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SHAP Summary (WDC)</a:t>
            </a:r>
            <a:endParaRPr lang="en-US" sz="1500" b="1" dirty="0">
              <a:solidFill>
                <a:srgbClr val="000000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500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10B0643E-170F-9E01-B99E-FD13C6A50C34}"/>
              </a:ext>
            </a:extLst>
          </p:cNvPr>
          <p:cNvSpPr/>
          <p:nvPr/>
        </p:nvSpPr>
        <p:spPr>
          <a:xfrm>
            <a:off x="11220450" y="6515100"/>
            <a:ext cx="10629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Page 15/20</a:t>
            </a:r>
            <a:endParaRPr lang="en-US" sz="1050" dirty="0"/>
          </a:p>
        </p:txBody>
      </p:sp>
      <p:pic>
        <p:nvPicPr>
          <p:cNvPr id="64" name="Image 6" descr="preencoded.png">
            <a:extLst>
              <a:ext uri="{FF2B5EF4-FFF2-40B4-BE49-F238E27FC236}">
                <a16:creationId xmlns:a16="http://schemas.microsoft.com/office/drawing/2014/main" id="{3D58CB87-A7D5-9322-F346-090E3565FF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0380" y="1104900"/>
            <a:ext cx="4480620" cy="4248814"/>
          </a:xfrm>
          <a:prstGeom prst="rect">
            <a:avLst/>
          </a:prstGeom>
        </p:spPr>
      </p:pic>
      <p:sp>
        <p:nvSpPr>
          <p:cNvPr id="55" name="Text 3">
            <a:extLst>
              <a:ext uri="{FF2B5EF4-FFF2-40B4-BE49-F238E27FC236}">
                <a16:creationId xmlns:a16="http://schemas.microsoft.com/office/drawing/2014/main" id="{F46F800F-0587-3668-984A-7B1F0C1D4F0B}"/>
              </a:ext>
            </a:extLst>
          </p:cNvPr>
          <p:cNvSpPr/>
          <p:nvPr/>
        </p:nvSpPr>
        <p:spPr>
          <a:xfrm>
            <a:off x="7778055" y="1257300"/>
            <a:ext cx="40996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SHAP</a:t>
            </a:r>
            <a:r>
              <a:rPr lang="ko-KR" alt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 분석 결론 해석</a:t>
            </a:r>
            <a:endParaRPr lang="en-US" sz="1500" dirty="0"/>
          </a:p>
        </p:txBody>
      </p:sp>
      <p:pic>
        <p:nvPicPr>
          <p:cNvPr id="50" name="Image 8" descr="preencoded.png">
            <a:extLst>
              <a:ext uri="{FF2B5EF4-FFF2-40B4-BE49-F238E27FC236}">
                <a16:creationId xmlns:a16="http://schemas.microsoft.com/office/drawing/2014/main" id="{72F8AABC-A510-0E01-8112-1DF8FD6394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0880" y="1747606"/>
            <a:ext cx="4099620" cy="1691770"/>
          </a:xfrm>
          <a:prstGeom prst="rect">
            <a:avLst/>
          </a:prstGeom>
        </p:spPr>
      </p:pic>
      <p:pic>
        <p:nvPicPr>
          <p:cNvPr id="49" name="Image 7" descr="preencoded.png">
            <a:extLst>
              <a:ext uri="{FF2B5EF4-FFF2-40B4-BE49-F238E27FC236}">
                <a16:creationId xmlns:a16="http://schemas.microsoft.com/office/drawing/2014/main" id="{28C761C8-1BF0-A344-7A3C-1870F36F776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0880" y="1295400"/>
            <a:ext cx="142875" cy="190500"/>
          </a:xfrm>
          <a:prstGeom prst="rect">
            <a:avLst/>
          </a:prstGeom>
        </p:spPr>
      </p:pic>
      <p:sp>
        <p:nvSpPr>
          <p:cNvPr id="56" name="Text 4">
            <a:extLst>
              <a:ext uri="{FF2B5EF4-FFF2-40B4-BE49-F238E27FC236}">
                <a16:creationId xmlns:a16="http://schemas.microsoft.com/office/drawing/2014/main" id="{91766B02-AEF8-A680-7331-08579690461E}"/>
              </a:ext>
            </a:extLst>
          </p:cNvPr>
          <p:cNvSpPr/>
          <p:nvPr/>
        </p:nvSpPr>
        <p:spPr>
          <a:xfrm>
            <a:off x="7939980" y="1828799"/>
            <a:ext cx="38710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3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상위 영향 변수 </a:t>
            </a:r>
            <a:endParaRPr lang="en-US" sz="1350" b="1" dirty="0"/>
          </a:p>
        </p:txBody>
      </p:sp>
      <p:sp>
        <p:nvSpPr>
          <p:cNvPr id="57" name="Text 5">
            <a:extLst>
              <a:ext uri="{FF2B5EF4-FFF2-40B4-BE49-F238E27FC236}">
                <a16:creationId xmlns:a16="http://schemas.microsoft.com/office/drawing/2014/main" id="{B4EC6D8C-D34C-C913-96A6-808EEDEF097C}"/>
              </a:ext>
            </a:extLst>
          </p:cNvPr>
          <p:cNvSpPr/>
          <p:nvPr/>
        </p:nvSpPr>
        <p:spPr>
          <a:xfrm>
            <a:off x="7635180" y="2095499"/>
            <a:ext cx="4645223" cy="120968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altLang="ko-KR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shortwave_radiation</a:t>
            </a:r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 (1</a:t>
            </a: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위</a:t>
            </a:r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압도적</a:t>
            </a:r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)</a:t>
            </a:r>
            <a:b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N_of_bus_within_1500m (2</a:t>
            </a: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위</a:t>
            </a:r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)</a:t>
            </a:r>
            <a:b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en-US" altLang="ko-KR" sz="12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quarter_flag</a:t>
            </a:r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 (3</a:t>
            </a: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위</a:t>
            </a:r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)</a:t>
            </a:r>
            <a:b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temperature (4</a:t>
            </a: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위</a:t>
            </a:r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)</a:t>
            </a:r>
            <a:b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N_of_bus_within_500m (5</a:t>
            </a:r>
            <a:r>
              <a:rPr lang="ko-KR" alt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위</a:t>
            </a:r>
            <a: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)</a:t>
            </a:r>
            <a:br>
              <a:rPr lang="en-US" altLang="ko-KR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</a:br>
            <a:endParaRPr lang="en-US" sz="1200" dirty="0">
              <a:solidFill>
                <a:srgbClr val="374151"/>
              </a:solidFill>
              <a:latin typeface="Noto Sans KR" pitchFamily="34" charset="0"/>
              <a:ea typeface="Noto Sans KR" pitchFamily="34" charset="-122"/>
            </a:endParaRPr>
          </a:p>
        </p:txBody>
      </p:sp>
      <p:pic>
        <p:nvPicPr>
          <p:cNvPr id="25" name="Image 8" descr="preencoded.png">
            <a:extLst>
              <a:ext uri="{FF2B5EF4-FFF2-40B4-BE49-F238E27FC236}">
                <a16:creationId xmlns:a16="http://schemas.microsoft.com/office/drawing/2014/main" id="{AE42076E-8E7E-0A21-C67F-D3879D7063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0880" y="3559362"/>
            <a:ext cx="4099620" cy="1603907"/>
          </a:xfrm>
          <a:prstGeom prst="rect">
            <a:avLst/>
          </a:prstGeom>
        </p:spPr>
      </p:pic>
      <p:sp>
        <p:nvSpPr>
          <p:cNvPr id="26" name="Text 4">
            <a:extLst>
              <a:ext uri="{FF2B5EF4-FFF2-40B4-BE49-F238E27FC236}">
                <a16:creationId xmlns:a16="http://schemas.microsoft.com/office/drawing/2014/main" id="{3C47A675-6978-B28C-32A2-38AFA1ABAF9B}"/>
              </a:ext>
            </a:extLst>
          </p:cNvPr>
          <p:cNvSpPr/>
          <p:nvPr/>
        </p:nvSpPr>
        <p:spPr>
          <a:xfrm>
            <a:off x="7939980" y="3602457"/>
            <a:ext cx="38710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인사이트</a:t>
            </a:r>
            <a:endParaRPr lang="en-US" sz="1350" dirty="0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3D1FF22F-1CB8-FBE9-FDF2-FDC612241540}"/>
              </a:ext>
            </a:extLst>
          </p:cNvPr>
          <p:cNvSpPr/>
          <p:nvPr/>
        </p:nvSpPr>
        <p:spPr>
          <a:xfrm>
            <a:off x="7635181" y="3921468"/>
            <a:ext cx="3871020" cy="81566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ko-KR" alt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자전거 수요는 강수 여부보다 일사량과 같은 쾌적도 요인과 버스 정류장 밀도 기반의 입지 조건에 가장 크게 영향을 받으며</a:t>
            </a:r>
            <a:r>
              <a:rPr lang="en-US" altLang="ko-KR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시간대와 계절 변수는 수요가 발생하는 시점을 구조적으로 결정한다</a:t>
            </a:r>
            <a:r>
              <a:rPr lang="en-US" altLang="ko-KR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. </a:t>
            </a:r>
            <a:r>
              <a:rPr lang="ko-KR" alt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반면 일부 근거리 </a:t>
            </a:r>
            <a:r>
              <a:rPr lang="en-US" altLang="ko-KR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POI </a:t>
            </a:r>
            <a:r>
              <a:rPr lang="ko-KR" alt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변수는 공선성과 도시 과밀도의 영향으로 단순한 증가 요인이 아니라 예측을 보정하는 역할을 수행한다</a:t>
            </a:r>
            <a:r>
              <a:rPr lang="en-US" altLang="ko-KR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.</a:t>
            </a:r>
            <a:endParaRPr lang="en-US" sz="1000" dirty="0">
              <a:solidFill>
                <a:srgbClr val="374151"/>
              </a:solidFill>
              <a:latin typeface="Noto Sans KR" pitchFamily="34" charset="0"/>
              <a:ea typeface="Noto Sans KR" pitchFamily="34" charset="-122"/>
            </a:endParaRPr>
          </a:p>
        </p:txBody>
      </p:sp>
      <p:pic>
        <p:nvPicPr>
          <p:cNvPr id="32" name="Image 13" descr="preencoded.png">
            <a:extLst>
              <a:ext uri="{FF2B5EF4-FFF2-40B4-BE49-F238E27FC236}">
                <a16:creationId xmlns:a16="http://schemas.microsoft.com/office/drawing/2014/main" id="{0A0E7967-1614-CE8F-9F66-5D10B8DA4FA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V="1">
            <a:off x="254121" y="5408311"/>
            <a:ext cx="11430000" cy="1106788"/>
          </a:xfrm>
          <a:prstGeom prst="rect">
            <a:avLst/>
          </a:prstGeom>
        </p:spPr>
      </p:pic>
      <p:pic>
        <p:nvPicPr>
          <p:cNvPr id="34" name="Image 7" descr="preencoded.png">
            <a:extLst>
              <a:ext uri="{FF2B5EF4-FFF2-40B4-BE49-F238E27FC236}">
                <a16:creationId xmlns:a16="http://schemas.microsoft.com/office/drawing/2014/main" id="{E6890D13-E0D8-1D91-8584-8058BD1246B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981" y="5550608"/>
            <a:ext cx="142875" cy="190500"/>
          </a:xfrm>
          <a:prstGeom prst="rect">
            <a:avLst/>
          </a:prstGeom>
        </p:spPr>
      </p:pic>
      <p:sp>
        <p:nvSpPr>
          <p:cNvPr id="35" name="Text 2">
            <a:extLst>
              <a:ext uri="{FF2B5EF4-FFF2-40B4-BE49-F238E27FC236}">
                <a16:creationId xmlns:a16="http://schemas.microsoft.com/office/drawing/2014/main" id="{5780F3E1-2BA2-E10D-D8D3-02F3472191C0}"/>
              </a:ext>
            </a:extLst>
          </p:cNvPr>
          <p:cNvSpPr/>
          <p:nvPr/>
        </p:nvSpPr>
        <p:spPr>
          <a:xfrm>
            <a:off x="706559" y="5509914"/>
            <a:ext cx="1943100" cy="2494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</a:rPr>
              <a:t>종합 결론</a:t>
            </a:r>
            <a:endParaRPr lang="en-US" sz="1200" dirty="0"/>
          </a:p>
        </p:txBody>
      </p:sp>
      <p:pic>
        <p:nvPicPr>
          <p:cNvPr id="6" name="Image 25" descr="preencoded.png">
            <a:extLst>
              <a:ext uri="{FF2B5EF4-FFF2-40B4-BE49-F238E27FC236}">
                <a16:creationId xmlns:a16="http://schemas.microsoft.com/office/drawing/2014/main" id="{435C4C5F-453E-1E2C-EF17-AE873405E09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6263" y="1295400"/>
            <a:ext cx="219075" cy="190500"/>
          </a:xfrm>
          <a:prstGeom prst="rect">
            <a:avLst/>
          </a:prstGeom>
        </p:spPr>
      </p:pic>
      <p:pic>
        <p:nvPicPr>
          <p:cNvPr id="22" name="그래픽 21" descr="불꽃 단색으로 채워진">
            <a:extLst>
              <a:ext uri="{FF2B5EF4-FFF2-40B4-BE49-F238E27FC236}">
                <a16:creationId xmlns:a16="http://schemas.microsoft.com/office/drawing/2014/main" id="{6B0F28CC-F4CB-0F35-49A6-F6C6D710C2A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605203" y="1781174"/>
            <a:ext cx="314325" cy="314325"/>
          </a:xfrm>
          <a:prstGeom prst="rect">
            <a:avLst/>
          </a:prstGeom>
        </p:spPr>
      </p:pic>
      <p:pic>
        <p:nvPicPr>
          <p:cNvPr id="24" name="그래픽 23" descr="돋보기 단색으로 채워진">
            <a:extLst>
              <a:ext uri="{FF2B5EF4-FFF2-40B4-BE49-F238E27FC236}">
                <a16:creationId xmlns:a16="http://schemas.microsoft.com/office/drawing/2014/main" id="{348BFBF0-6F69-7984-BEC1-49076C370F8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635180" y="3591776"/>
            <a:ext cx="358590" cy="358590"/>
          </a:xfrm>
          <a:prstGeom prst="rect">
            <a:avLst/>
          </a:prstGeom>
        </p:spPr>
      </p:pic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92F123A-22C8-7D18-73ED-D0082CDB268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5338" y="1509539"/>
            <a:ext cx="3191028" cy="3801732"/>
          </a:xfrm>
          <a:prstGeom prst="rect">
            <a:avLst/>
          </a:prstGeom>
        </p:spPr>
      </p:pic>
      <p:pic>
        <p:nvPicPr>
          <p:cNvPr id="9" name="그림 8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2EDF5E3-A047-4A2A-ED5D-DBF3F00759C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92212" y="1435100"/>
            <a:ext cx="3214343" cy="38637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4248B5-F404-1668-B98C-C8A23B3952F2}"/>
              </a:ext>
            </a:extLst>
          </p:cNvPr>
          <p:cNvSpPr txBox="1"/>
          <p:nvPr/>
        </p:nvSpPr>
        <p:spPr>
          <a:xfrm>
            <a:off x="685799" y="5741108"/>
            <a:ext cx="108893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SHAP </a:t>
            </a:r>
            <a:r>
              <a:rPr lang="ko-KR" alt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분석 결과</a:t>
            </a:r>
            <a:r>
              <a:rPr lang="en-US" altLang="ko-KR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자전거 수요는 시간대 구조와 기온에 의해 </a:t>
            </a:r>
            <a:r>
              <a:rPr lang="en-US" altLang="ko-KR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1</a:t>
            </a:r>
            <a:r>
              <a:rPr lang="ko-KR" alt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차적으로 결정되며</a:t>
            </a:r>
            <a:r>
              <a:rPr lang="en-US" altLang="ko-KR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공간</a:t>
            </a:r>
            <a:r>
              <a:rPr lang="en-US" altLang="ko-KR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(POI)</a:t>
            </a:r>
            <a:r>
              <a:rPr lang="ko-KR" alt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은 수요의 상한과 접근성을 제한하는 조건으로 작동한다</a:t>
            </a:r>
            <a:r>
              <a:rPr lang="en-US" altLang="ko-KR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. </a:t>
            </a:r>
            <a:r>
              <a:rPr lang="ko-KR" alt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반면 이벤트</a:t>
            </a:r>
            <a:r>
              <a:rPr lang="en-US" altLang="ko-KR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·</a:t>
            </a:r>
            <a:r>
              <a:rPr lang="ko-KR" alt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돌발 피크는 이러한 구조적 변수로 설명되지 않는 외생 요인에 해당하여 예측 한계를 가지지만</a:t>
            </a:r>
            <a:r>
              <a:rPr lang="en-US" altLang="ko-KR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본 모델은 반복적으로 발생하는 조건부 수요 구조를 안정적으로 설명함으로써 운영 기준선 설정에는 충분한 설명력을 제공한다</a:t>
            </a:r>
            <a:r>
              <a:rPr lang="en-US" altLang="ko-KR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</a:rPr>
              <a:t>.</a:t>
            </a:r>
            <a:endParaRPr lang="ko-KR" altLang="en-US" sz="1000" dirty="0">
              <a:solidFill>
                <a:srgbClr val="374151"/>
              </a:solidFill>
              <a:latin typeface="Noto Sans KR" pitchFamily="34" charset="0"/>
              <a:ea typeface="Noto Sans KR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413921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20E67-8612-C2B3-5DBC-FD1EB3598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9B21A7E-B978-6362-5BE5-6A6ABDEDC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3914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1EA6E2FE-DCEF-A5C8-58AE-77E64EB1AE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001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65634F46-6816-44D3-BF6E-7EEA8D0EB2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066800"/>
            <a:ext cx="11430000" cy="5943600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D4E5664B-A05D-B697-E176-A0E7966426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266825"/>
            <a:ext cx="190500" cy="190500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BB4A6497-129E-5391-56B2-67DBA94728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1266825"/>
            <a:ext cx="142875" cy="190500"/>
          </a:xfrm>
          <a:prstGeom prst="rect">
            <a:avLst/>
          </a:prstGeom>
        </p:spPr>
      </p:pic>
      <p:pic>
        <p:nvPicPr>
          <p:cNvPr id="7" name="Image 5" descr="preencoded.png">
            <a:extLst>
              <a:ext uri="{FF2B5EF4-FFF2-40B4-BE49-F238E27FC236}">
                <a16:creationId xmlns:a16="http://schemas.microsoft.com/office/drawing/2014/main" id="{42C8AC35-222C-2FA0-5BAB-9655392A07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5457824"/>
            <a:ext cx="11125200" cy="1463676"/>
          </a:xfrm>
          <a:prstGeom prst="rect">
            <a:avLst/>
          </a:prstGeom>
        </p:spPr>
      </p:pic>
      <p:pic>
        <p:nvPicPr>
          <p:cNvPr id="8" name="Image 6" descr="preencoded.png">
            <a:extLst>
              <a:ext uri="{FF2B5EF4-FFF2-40B4-BE49-F238E27FC236}">
                <a16:creationId xmlns:a16="http://schemas.microsoft.com/office/drawing/2014/main" id="{3A60743A-C034-3E45-8C78-6F00AA9CAA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5457824"/>
            <a:ext cx="342900" cy="419100"/>
          </a:xfrm>
          <a:prstGeom prst="rect">
            <a:avLst/>
          </a:prstGeom>
        </p:spPr>
      </p:pic>
      <p:pic>
        <p:nvPicPr>
          <p:cNvPr id="9" name="Image 7" descr="preencoded.png">
            <a:extLst>
              <a:ext uri="{FF2B5EF4-FFF2-40B4-BE49-F238E27FC236}">
                <a16:creationId xmlns:a16="http://schemas.microsoft.com/office/drawing/2014/main" id="{D57EBC8D-A8A9-EB94-EE46-410F72C4E73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5534024"/>
            <a:ext cx="190500" cy="266700"/>
          </a:xfrm>
          <a:prstGeom prst="rect">
            <a:avLst/>
          </a:prstGeom>
        </p:spPr>
      </p:pic>
      <p:pic>
        <p:nvPicPr>
          <p:cNvPr id="10" name="Image 8" descr="preencoded.png">
            <a:extLst>
              <a:ext uri="{FF2B5EF4-FFF2-40B4-BE49-F238E27FC236}">
                <a16:creationId xmlns:a16="http://schemas.microsoft.com/office/drawing/2014/main" id="{33923A25-3ED8-92CD-3959-95912F07B81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5902324"/>
            <a:ext cx="10820400" cy="688975"/>
          </a:xfrm>
          <a:prstGeom prst="rect">
            <a:avLst/>
          </a:prstGeom>
        </p:spPr>
      </p:pic>
      <p:pic>
        <p:nvPicPr>
          <p:cNvPr id="13" name="Image 11" descr="preencoded.png">
            <a:extLst>
              <a:ext uri="{FF2B5EF4-FFF2-40B4-BE49-F238E27FC236}">
                <a16:creationId xmlns:a16="http://schemas.microsoft.com/office/drawing/2014/main" id="{72EB2824-9C55-ACD1-ED8F-0797AF1DC6F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77575" y="7086600"/>
            <a:ext cx="104775" cy="133350"/>
          </a:xfrm>
          <a:prstGeom prst="rect">
            <a:avLst/>
          </a:prstGeom>
        </p:spPr>
      </p:pic>
      <p:sp>
        <p:nvSpPr>
          <p:cNvPr id="14" name="Text 0">
            <a:extLst>
              <a:ext uri="{FF2B5EF4-FFF2-40B4-BE49-F238E27FC236}">
                <a16:creationId xmlns:a16="http://schemas.microsoft.com/office/drawing/2014/main" id="{A6404FB9-541B-E9D2-BE31-01F4B2047D6F}"/>
              </a:ext>
            </a:extLst>
          </p:cNvPr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ko-KR" alt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</a:rPr>
              <a:t>프로젝트 결론 및 시사점</a:t>
            </a:r>
            <a:endParaRPr lang="en-US" sz="2250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8EE0B92E-B79C-4E5E-52C7-225760118BEC}"/>
              </a:ext>
            </a:extLst>
          </p:cNvPr>
          <p:cNvSpPr/>
          <p:nvPr/>
        </p:nvSpPr>
        <p:spPr>
          <a:xfrm>
            <a:off x="800100" y="1219200"/>
            <a:ext cx="5410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종합 결론</a:t>
            </a:r>
            <a:endParaRPr lang="en-US" sz="15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6C78EC92-A272-1651-352A-7D7B3445E338}"/>
              </a:ext>
            </a:extLst>
          </p:cNvPr>
          <p:cNvSpPr/>
          <p:nvPr/>
        </p:nvSpPr>
        <p:spPr>
          <a:xfrm>
            <a:off x="838200" y="1638300"/>
            <a:ext cx="6126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모델 결론</a:t>
            </a:r>
            <a:endParaRPr lang="en-US" sz="12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ECD00B2A-D020-955C-B136-C06B05D83593}"/>
              </a:ext>
            </a:extLst>
          </p:cNvPr>
          <p:cNvSpPr/>
          <p:nvPr/>
        </p:nvSpPr>
        <p:spPr>
          <a:xfrm>
            <a:off x="838200" y="1866900"/>
            <a:ext cx="527304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171450" indent="-171450" algn="l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비교 결과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Seoul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WDC 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모두에서 </a:t>
            </a:r>
            <a:r>
              <a:rPr lang="en-US" altLang="ko-KR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LightGBM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모델이 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RMSE·R² 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가장 안정적이고 일관된 성능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베이스라인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형성했다는 결론을 명시한다</a:t>
            </a:r>
            <a:endParaRPr lang="en-US" sz="105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3E4A6173-453D-6359-10C1-FBBC856614A8}"/>
              </a:ext>
            </a:extLst>
          </p:cNvPr>
          <p:cNvSpPr/>
          <p:nvPr/>
        </p:nvSpPr>
        <p:spPr>
          <a:xfrm>
            <a:off x="838200" y="2296680"/>
            <a:ext cx="5105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앙상블 결론</a:t>
            </a:r>
            <a:endParaRPr lang="en-US" sz="120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13876CE8-4806-CAF7-400F-08687E7CC50E}"/>
              </a:ext>
            </a:extLst>
          </p:cNvPr>
          <p:cNvSpPr/>
          <p:nvPr/>
        </p:nvSpPr>
        <p:spPr>
          <a:xfrm>
            <a:off x="838200" y="2534516"/>
            <a:ext cx="6126480" cy="647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171450" indent="-171450" algn="l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결과 해석에서도 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Seoul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 변동성과 </a:t>
            </a:r>
            <a:r>
              <a:rPr lang="ko-KR" alt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극단값이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많아 피크 대응 한계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b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반면 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WDC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는 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No-IQR 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앙상블이 데이터 다양성을 유지하며 장기 추세 학습에 신뢰도가 높다고 </a:t>
            </a:r>
            <a:b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명확히 결론 낸다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05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D930719C-D2EB-C4B6-5157-C3F4D4E1B274}"/>
              </a:ext>
            </a:extLst>
          </p:cNvPr>
          <p:cNvSpPr/>
          <p:nvPr/>
        </p:nvSpPr>
        <p:spPr>
          <a:xfrm>
            <a:off x="762000" y="3189432"/>
            <a:ext cx="5105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12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전처리</a:t>
            </a:r>
            <a:r>
              <a:rPr lang="en-US" altLang="ko-KR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(IQR/No-IQR)</a:t>
            </a: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결론</a:t>
            </a:r>
            <a:endParaRPr lang="en-US" sz="120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3EA3F8A9-1774-65B9-62E3-3BFE029C3D09}"/>
              </a:ext>
            </a:extLst>
          </p:cNvPr>
          <p:cNvSpPr/>
          <p:nvPr/>
        </p:nvSpPr>
        <p:spPr>
          <a:xfrm>
            <a:off x="838200" y="3432174"/>
            <a:ext cx="612648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171450" indent="-171450" algn="l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ko-KR" alt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전처리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효과는 도시별로 다르고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전처리는 단일 모델뿐 아니라 앙상블 성능 </a:t>
            </a:r>
            <a:b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 자체를 바꾸는 핵심 요인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CDD10CC2-8DC7-F9BA-E5C7-7BF75202FA9B}"/>
              </a:ext>
            </a:extLst>
          </p:cNvPr>
          <p:cNvSpPr/>
          <p:nvPr/>
        </p:nvSpPr>
        <p:spPr>
          <a:xfrm>
            <a:off x="6467475" y="1219200"/>
            <a:ext cx="5410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시사점</a:t>
            </a:r>
            <a:endParaRPr lang="en-US" sz="15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2E41766B-76A8-9145-89BA-302735438D4D}"/>
              </a:ext>
            </a:extLst>
          </p:cNvPr>
          <p:cNvSpPr/>
          <p:nvPr/>
        </p:nvSpPr>
        <p:spPr>
          <a:xfrm>
            <a:off x="6553200" y="1638300"/>
            <a:ext cx="5105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</a:t>
            </a:r>
            <a:r>
              <a:rPr lang="en-US" altLang="ko-KR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 관점 시사점</a:t>
            </a:r>
            <a:endParaRPr lang="en-US" sz="120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17C1FEE2-A789-822C-8C72-9EA995C5AE88}"/>
              </a:ext>
            </a:extLst>
          </p:cNvPr>
          <p:cNvSpPr/>
          <p:nvPr/>
        </p:nvSpPr>
        <p:spPr>
          <a:xfrm>
            <a:off x="6553200" y="1866900"/>
            <a:ext cx="5105400" cy="647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171450" indent="-171450" algn="l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이 결과는 “피크를 정확히 맞히는 </a:t>
            </a:r>
            <a:r>
              <a:rPr lang="ko-KR" alt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정책”보다는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 기본 수요 기준선과 안전 하한선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(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리스크 하한선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) 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중심의 정책 설계가 가능하다는 의미다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. 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즉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이벤트성 급증을 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100% 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맞추기보다 반복 패턴 기반의 표준 운영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(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재배치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·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공급 기준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)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을 </a:t>
            </a:r>
            <a:r>
              <a:rPr lang="ko-KR" alt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안정화하는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 데 강점이 있다</a:t>
            </a:r>
            <a:endParaRPr lang="en-US" altLang="ko-KR" sz="105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</a:endParaRPr>
          </a:p>
          <a:p>
            <a:pPr marL="171450" indent="-171450" algn="l">
              <a:lnSpc>
                <a:spcPts val="1500"/>
              </a:lnSpc>
              <a:buFont typeface="Arial" panose="020B0604020202020204" pitchFamily="34" charset="0"/>
              <a:buChar char="•"/>
            </a:pPr>
            <a:endParaRPr lang="en-US" sz="1050" dirty="0"/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0FB3D571-C980-0EAB-214D-EA2B9678968A}"/>
              </a:ext>
            </a:extLst>
          </p:cNvPr>
          <p:cNvSpPr/>
          <p:nvPr/>
        </p:nvSpPr>
        <p:spPr>
          <a:xfrm>
            <a:off x="6553200" y="3635375"/>
            <a:ext cx="5105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앙상블의 ‘</a:t>
            </a:r>
            <a:r>
              <a:rPr lang="ko-KR" altLang="en-US" sz="12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정확도’보다</a:t>
            </a: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‘안정성’ 역할 재정의</a:t>
            </a:r>
            <a:endParaRPr lang="en-US" sz="1200" dirty="0"/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F95450C2-B09F-EF85-3F82-181EB9FE06E9}"/>
              </a:ext>
            </a:extLst>
          </p:cNvPr>
          <p:cNvSpPr/>
          <p:nvPr/>
        </p:nvSpPr>
        <p:spPr>
          <a:xfrm>
            <a:off x="6553200" y="3863974"/>
            <a:ext cx="5105400" cy="733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171450" indent="-171450" algn="l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앙상블은 항상 성능을 올리는 도구가 아니라 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smoothing/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안정화로 작동할 수 있다고 명시했고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예측 결과 해석에서도 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Seoul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 피크 한계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WDC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는 장기 추세 안정에 장점으로 정리했다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</a:t>
            </a:r>
            <a:endParaRPr lang="en-US" sz="1050" dirty="0"/>
          </a:p>
        </p:txBody>
      </p:sp>
      <p:sp>
        <p:nvSpPr>
          <p:cNvPr id="33" name="Text 19">
            <a:extLst>
              <a:ext uri="{FF2B5EF4-FFF2-40B4-BE49-F238E27FC236}">
                <a16:creationId xmlns:a16="http://schemas.microsoft.com/office/drawing/2014/main" id="{650D5636-6191-F0D2-ACAF-9B6177EE7184}"/>
              </a:ext>
            </a:extLst>
          </p:cNvPr>
          <p:cNvSpPr/>
          <p:nvPr/>
        </p:nvSpPr>
        <p:spPr>
          <a:xfrm>
            <a:off x="1143000" y="5534024"/>
            <a:ext cx="36830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자전거 수요 예측 프로젝트 관점의 </a:t>
            </a:r>
            <a:r>
              <a:rPr lang="en-US" sz="1500" b="1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종합</a:t>
            </a: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결론</a:t>
            </a:r>
            <a:endParaRPr lang="en-US" sz="1500" dirty="0"/>
          </a:p>
        </p:txBody>
      </p:sp>
      <p:sp>
        <p:nvSpPr>
          <p:cNvPr id="34" name="Text 20">
            <a:extLst>
              <a:ext uri="{FF2B5EF4-FFF2-40B4-BE49-F238E27FC236}">
                <a16:creationId xmlns:a16="http://schemas.microsoft.com/office/drawing/2014/main" id="{CCA4CECB-35B9-AD0F-1C51-B2882B3EBD29}"/>
              </a:ext>
            </a:extLst>
          </p:cNvPr>
          <p:cNvSpPr/>
          <p:nvPr/>
        </p:nvSpPr>
        <p:spPr>
          <a:xfrm>
            <a:off x="685800" y="5991223"/>
            <a:ext cx="10820400" cy="688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500"/>
              </a:lnSpc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본 프로젝트의 최종 결론은 “가장 좋은 모델을 찾는 </a:t>
            </a:r>
            <a:r>
              <a:rPr lang="ko-KR" alt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것”이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 아니라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도시별 수요를 설명하는 ‘조건부 </a:t>
            </a:r>
            <a:r>
              <a:rPr lang="ko-KR" alt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구조’를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 실증적으로 규명했다는 점이다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. 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또한 돌발 이벤트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/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비정형 피크 수요는 예측 한계가 있으나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반복적으로 나타나는 시간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·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기상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·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공간 조건 하의 수요 범위를 안정적으로 제시해 운영 정책의 기준선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(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기본 수요 수준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·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리스크 하한선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) 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을 제공한다는 메시지로 귀결된다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.</a:t>
            </a:r>
            <a:endParaRPr lang="en-US" sz="105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43" name="Text 29">
            <a:extLst>
              <a:ext uri="{FF2B5EF4-FFF2-40B4-BE49-F238E27FC236}">
                <a16:creationId xmlns:a16="http://schemas.microsoft.com/office/drawing/2014/main" id="{2F4FC0C4-C763-5BB2-B6F4-6BB35D72B202}"/>
              </a:ext>
            </a:extLst>
          </p:cNvPr>
          <p:cNvSpPr/>
          <p:nvPr/>
        </p:nvSpPr>
        <p:spPr>
          <a:xfrm>
            <a:off x="11220450" y="7048500"/>
            <a:ext cx="10629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Page 13/20</a:t>
            </a:r>
            <a:endParaRPr lang="en-US" sz="1050" dirty="0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472F7FD1-AF8F-AB54-4A0D-058B13E14003}"/>
              </a:ext>
            </a:extLst>
          </p:cNvPr>
          <p:cNvSpPr/>
          <p:nvPr/>
        </p:nvSpPr>
        <p:spPr>
          <a:xfrm>
            <a:off x="6553200" y="2527300"/>
            <a:ext cx="5105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도시 맞춤형 모델링 필요</a:t>
            </a:r>
            <a:endParaRPr lang="en-US" sz="1200" dirty="0"/>
          </a:p>
        </p:txBody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71B4C014-987A-EA0D-50E4-F6278758CFF3}"/>
              </a:ext>
            </a:extLst>
          </p:cNvPr>
          <p:cNvSpPr/>
          <p:nvPr/>
        </p:nvSpPr>
        <p:spPr>
          <a:xfrm>
            <a:off x="6553200" y="2755900"/>
            <a:ext cx="5105400" cy="8032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171450" indent="-171450" algn="l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Seoul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과 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WDC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는 </a:t>
            </a:r>
            <a:r>
              <a:rPr lang="ko-KR" alt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전처리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 최적 선택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(IQR vs No-IQR), 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그리고 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SHAP 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상위 요인이 다르게 나타났기 때문에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(Seoul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은 시간대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/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기온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/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역 접근성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/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보유대수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, WDC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는 일사량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/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버스정류장 밀도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/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시간대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/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기온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), 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도시별로 데이터 분포와 이동 목적을 반영한 맞춤 전략이 필수라는 시사점이 도출된다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</a:rPr>
              <a:t>.</a:t>
            </a:r>
          </a:p>
          <a:p>
            <a:pPr algn="l">
              <a:lnSpc>
                <a:spcPts val="1500"/>
              </a:lnSpc>
            </a:pPr>
            <a:endParaRPr lang="en-US" altLang="ko-KR" sz="1050" dirty="0">
              <a:solidFill>
                <a:srgbClr val="4B5563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44AE2118-AEDA-F780-82AA-BD7769996928}"/>
              </a:ext>
            </a:extLst>
          </p:cNvPr>
          <p:cNvSpPr/>
          <p:nvPr/>
        </p:nvSpPr>
        <p:spPr>
          <a:xfrm>
            <a:off x="762000" y="3892549"/>
            <a:ext cx="5105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altLang="ko-KR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SHAP</a:t>
            </a: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뒷받침 하는 원인 설명 결론</a:t>
            </a:r>
            <a:endParaRPr lang="en-US" sz="1200" dirty="0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0B32D228-B878-3B42-9DCE-C255CEA71F5F}"/>
              </a:ext>
            </a:extLst>
          </p:cNvPr>
          <p:cNvSpPr/>
          <p:nvPr/>
        </p:nvSpPr>
        <p:spPr>
          <a:xfrm>
            <a:off x="800100" y="4162423"/>
            <a:ext cx="6126480" cy="84945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171450" indent="-171450" algn="l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Seoul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 시간대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기온이 수요를 활성화 하고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접근성 인프라 공급이 실현 범위를 제한한다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</a:p>
          <a:p>
            <a:pPr marL="171450" indent="-171450" algn="l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WDC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는 강수 여부 보다 쾌적도 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버스정류장 밀도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입지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더 크게 작동한다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</a:t>
            </a:r>
          </a:p>
          <a:p>
            <a:pPr marL="171450" indent="-171450" algn="l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공간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공급의 상한 규정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이벤트 돌발 피크는 외생요인이라 모델 </a:t>
            </a:r>
            <a:r>
              <a:rPr lang="ko-KR" alt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에측의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한계가 있고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 </a:t>
            </a:r>
            <a:b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패턴 설명으로 운영 기준선의 가치가 있다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AE8C6774-7C3D-A6E5-D202-80D361CBA056}"/>
              </a:ext>
            </a:extLst>
          </p:cNvPr>
          <p:cNvSpPr/>
          <p:nvPr/>
        </p:nvSpPr>
        <p:spPr>
          <a:xfrm>
            <a:off x="6553200" y="4492768"/>
            <a:ext cx="5105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수행 관점 시사점</a:t>
            </a:r>
            <a:r>
              <a:rPr lang="en-US" altLang="ko-KR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재현성</a:t>
            </a:r>
            <a:r>
              <a:rPr lang="en-US" altLang="ko-KR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r>
              <a:rPr lang="ko-KR" alt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</a:t>
            </a:r>
            <a:r>
              <a:rPr lang="en-US" altLang="ko-KR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200" dirty="0"/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90B93E44-BC0A-0E12-0BEB-0538562B26B1}"/>
              </a:ext>
            </a:extLst>
          </p:cNvPr>
          <p:cNvSpPr/>
          <p:nvPr/>
        </p:nvSpPr>
        <p:spPr>
          <a:xfrm>
            <a:off x="6553200" y="4721367"/>
            <a:ext cx="5105400" cy="733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171450" indent="-171450" algn="l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일정은 데이터 </a:t>
            </a:r>
            <a:r>
              <a:rPr lang="ko-KR" alt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수집→전처리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/EDA→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개별 </a:t>
            </a:r>
            <a:r>
              <a:rPr lang="ko-KR" alt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모델링→앙상블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/SHAP/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보고서로 </a:t>
            </a:r>
            <a:r>
              <a:rPr lang="ko-KR" altLang="en-US" sz="105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단계화되어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있고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GitHub/Drive/MS365 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기반 협업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ko-KR" alt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 관리로 재현성을 확보하는 흐름이 제시되어 있다</a:t>
            </a:r>
            <a:r>
              <a:rPr lang="en-US" altLang="ko-KR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374553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458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7375" y="1438275"/>
            <a:ext cx="857250" cy="685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0" y="4048125"/>
            <a:ext cx="152400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2600" y="3743325"/>
            <a:ext cx="152400" cy="762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91200" y="3895725"/>
            <a:ext cx="152400" cy="609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19800" y="3590925"/>
            <a:ext cx="152400" cy="914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0" y="3971925"/>
            <a:ext cx="152400" cy="533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3743325"/>
            <a:ext cx="152400" cy="762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05600" y="4048125"/>
            <a:ext cx="152400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14283" y="5486930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13199" y="5469996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567048" y="5469996"/>
            <a:ext cx="257175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401526" y="5469996"/>
            <a:ext cx="28575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6553200"/>
            <a:ext cx="12192000" cy="3048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2553414" y="2371725"/>
            <a:ext cx="708517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감사합니다</a:t>
            </a:r>
            <a:r>
              <a:rPr lang="en-US" altLang="ko-KR" sz="36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.</a:t>
            </a:r>
            <a:endParaRPr lang="en-US" sz="3600" dirty="0"/>
          </a:p>
        </p:txBody>
      </p:sp>
      <p:sp>
        <p:nvSpPr>
          <p:cNvPr id="18" name="Text 1"/>
          <p:cNvSpPr/>
          <p:nvPr/>
        </p:nvSpPr>
        <p:spPr>
          <a:xfrm>
            <a:off x="2553414" y="2981325"/>
            <a:ext cx="708517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UCI Bike Sharing Dataset을 활용한 머신러닝 모델 개발</a:t>
            </a:r>
            <a:endParaRPr lang="en-US" sz="1800" dirty="0"/>
          </a:p>
        </p:txBody>
      </p:sp>
      <p:sp>
        <p:nvSpPr>
          <p:cNvPr id="19" name="Text 2"/>
          <p:cNvSpPr/>
          <p:nvPr/>
        </p:nvSpPr>
        <p:spPr>
          <a:xfrm>
            <a:off x="8962823" y="5867930"/>
            <a:ext cx="731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선형회귀</a:t>
            </a:r>
            <a:endParaRPr lang="en-US" sz="1200" dirty="0"/>
          </a:p>
        </p:txBody>
      </p:sp>
      <p:sp>
        <p:nvSpPr>
          <p:cNvPr id="20" name="Text 3"/>
          <p:cNvSpPr/>
          <p:nvPr/>
        </p:nvSpPr>
        <p:spPr>
          <a:xfrm>
            <a:off x="9635843" y="5850996"/>
            <a:ext cx="78331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XGBoost</a:t>
            </a:r>
            <a:endParaRPr lang="en-US" sz="1200" dirty="0"/>
          </a:p>
        </p:txBody>
      </p:sp>
      <p:sp>
        <p:nvSpPr>
          <p:cNvPr id="21" name="Text 4"/>
          <p:cNvSpPr/>
          <p:nvPr/>
        </p:nvSpPr>
        <p:spPr>
          <a:xfrm>
            <a:off x="10255030" y="5850996"/>
            <a:ext cx="881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LightGBM</a:t>
            </a:r>
            <a:endParaRPr lang="en-US" sz="1200" dirty="0"/>
          </a:p>
        </p:txBody>
      </p:sp>
      <p:sp>
        <p:nvSpPr>
          <p:cNvPr id="22" name="Text 5"/>
          <p:cNvSpPr/>
          <p:nvPr/>
        </p:nvSpPr>
        <p:spPr>
          <a:xfrm>
            <a:off x="10966650" y="5850996"/>
            <a:ext cx="115550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서울시 따릉이</a:t>
            </a:r>
            <a:endParaRPr lang="en-US" sz="1200" dirty="0"/>
          </a:p>
        </p:txBody>
      </p:sp>
      <p:sp>
        <p:nvSpPr>
          <p:cNvPr id="23" name="Text 6"/>
          <p:cNvSpPr/>
          <p:nvPr/>
        </p:nvSpPr>
        <p:spPr>
          <a:xfrm>
            <a:off x="9831437" y="6324600"/>
            <a:ext cx="228403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Report Date: 2025-11-12</a:t>
            </a:r>
            <a:endParaRPr lang="en-US" sz="1200" dirty="0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C075FA99-1020-4236-B77C-A4214182138D}"/>
              </a:ext>
            </a:extLst>
          </p:cNvPr>
          <p:cNvSpPr/>
          <p:nvPr/>
        </p:nvSpPr>
        <p:spPr>
          <a:xfrm>
            <a:off x="9831436" y="6134100"/>
            <a:ext cx="228403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Team</a:t>
            </a:r>
            <a:r>
              <a:rPr lang="ko-KR" alt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 </a:t>
            </a:r>
            <a:r>
              <a:rPr lang="en-US" altLang="ko-KR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Open Mind</a:t>
            </a:r>
            <a:endParaRPr lang="en-US" sz="1200" dirty="0"/>
          </a:p>
        </p:txBody>
      </p:sp>
      <p:pic>
        <p:nvPicPr>
          <p:cNvPr id="26" name="Image 34" descr="preencoded.png">
            <a:hlinkClick r:id="rId18"/>
            <a:extLst>
              <a:ext uri="{FF2B5EF4-FFF2-40B4-BE49-F238E27FC236}">
                <a16:creationId xmlns:a16="http://schemas.microsoft.com/office/drawing/2014/main" id="{2C393CB7-4E59-C49E-0AAB-C3B8EC47EE7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36519" y="5620183"/>
            <a:ext cx="2184564" cy="737645"/>
          </a:xfrm>
          <a:prstGeom prst="rect">
            <a:avLst/>
          </a:prstGeom>
        </p:spPr>
      </p:pic>
      <p:sp>
        <p:nvSpPr>
          <p:cNvPr id="27" name="Text 34">
            <a:extLst>
              <a:ext uri="{FF2B5EF4-FFF2-40B4-BE49-F238E27FC236}">
                <a16:creationId xmlns:a16="http://schemas.microsoft.com/office/drawing/2014/main" id="{6E0CF381-934C-BBD3-07F1-BC65220E5326}"/>
              </a:ext>
            </a:extLst>
          </p:cNvPr>
          <p:cNvSpPr/>
          <p:nvPr/>
        </p:nvSpPr>
        <p:spPr>
          <a:xfrm>
            <a:off x="1042507" y="5765034"/>
            <a:ext cx="1510907" cy="3516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</a:t>
            </a:r>
            <a:endParaRPr lang="en-US" sz="1500" dirty="0"/>
          </a:p>
        </p:txBody>
      </p:sp>
      <p:sp>
        <p:nvSpPr>
          <p:cNvPr id="28" name="Text 35">
            <a:extLst>
              <a:ext uri="{FF2B5EF4-FFF2-40B4-BE49-F238E27FC236}">
                <a16:creationId xmlns:a16="http://schemas.microsoft.com/office/drawing/2014/main" id="{5FDB5192-1DF5-82D5-273C-D365738FA977}"/>
              </a:ext>
            </a:extLst>
          </p:cNvPr>
          <p:cNvSpPr/>
          <p:nvPr/>
        </p:nvSpPr>
        <p:spPr>
          <a:xfrm>
            <a:off x="1055610" y="6056348"/>
            <a:ext cx="1813089" cy="28135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ko-KR" alt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</a:t>
            </a:r>
            <a:r>
              <a:rPr lang="en-US" sz="13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공유</a:t>
            </a: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링크</a:t>
            </a:r>
            <a:endParaRPr lang="en-US" sz="1300" dirty="0"/>
          </a:p>
        </p:txBody>
      </p:sp>
      <p:pic>
        <p:nvPicPr>
          <p:cNvPr id="25" name="Image 35" descr="preencoded.png">
            <a:extLst>
              <a:ext uri="{FF2B5EF4-FFF2-40B4-BE49-F238E27FC236}">
                <a16:creationId xmlns:a16="http://schemas.microsoft.com/office/drawing/2014/main" id="{5410CCBF-B65E-38BB-9BCF-4C567B674F9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79932" y="5658674"/>
            <a:ext cx="692727" cy="729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544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3566</TotalTime>
  <Words>6891</Words>
  <Application>Microsoft Office PowerPoint</Application>
  <PresentationFormat>와이드스크린</PresentationFormat>
  <Paragraphs>838</Paragraphs>
  <Slides>25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1" baseType="lpstr">
      <vt:lpstr>Noto Sans KR</vt:lpstr>
      <vt:lpstr>Noto Serif KR</vt:lpstr>
      <vt:lpstr>ui-monospace</vt:lpstr>
      <vt:lpstr>ui-sans-serif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양호 전</cp:lastModifiedBy>
  <cp:revision>179</cp:revision>
  <dcterms:created xsi:type="dcterms:W3CDTF">2025-11-12T13:07:29Z</dcterms:created>
  <dcterms:modified xsi:type="dcterms:W3CDTF">2025-12-19T07:38:20Z</dcterms:modified>
</cp:coreProperties>
</file>