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59" r:id="rId5"/>
    <p:sldId id="277" r:id="rId6"/>
    <p:sldId id="260" r:id="rId7"/>
    <p:sldId id="274" r:id="rId8"/>
    <p:sldId id="263" r:id="rId9"/>
    <p:sldId id="279" r:id="rId10"/>
    <p:sldId id="281" r:id="rId11"/>
    <p:sldId id="282" r:id="rId12"/>
    <p:sldId id="273" r:id="rId13"/>
    <p:sldId id="276" r:id="rId14"/>
    <p:sldId id="264" r:id="rId15"/>
    <p:sldId id="287" r:id="rId16"/>
    <p:sldId id="288" r:id="rId17"/>
    <p:sldId id="283" r:id="rId18"/>
    <p:sldId id="289" r:id="rId19"/>
    <p:sldId id="290" r:id="rId20"/>
    <p:sldId id="275" r:id="rId21"/>
    <p:sldId id="286" r:id="rId22"/>
    <p:sldId id="266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515" autoAdjust="0"/>
  </p:normalViewPr>
  <p:slideViewPr>
    <p:cSldViewPr snapToGrid="0" snapToObjects="1">
      <p:cViewPr varScale="1">
        <p:scale>
          <a:sx n="90" d="100"/>
          <a:sy n="90" d="100"/>
        </p:scale>
        <p:origin x="6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7719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오픈 마인드 팀의 발표자 </a:t>
            </a:r>
            <a:r>
              <a:rPr lang="ko-KR" altLang="en-US" dirty="0" err="1"/>
              <a:t>전양호</a:t>
            </a:r>
            <a:r>
              <a:rPr lang="ko-KR" altLang="en-US" dirty="0"/>
              <a:t> 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이전에 말씀 드렸던 내용은 간단히 말씀드리고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어떠한 점이 원래의 계획과 변경이 되었는지 말씀드리면서</a:t>
            </a:r>
            <a:r>
              <a:rPr lang="en-US" altLang="ko-KR" dirty="0"/>
              <a:t> </a:t>
            </a:r>
            <a:r>
              <a:rPr lang="ko-KR" altLang="en-US" dirty="0"/>
              <a:t>프로젝트의 결과를 </a:t>
            </a:r>
            <a:r>
              <a:rPr lang="en-US" altLang="ko-KR" dirty="0"/>
              <a:t>PPT</a:t>
            </a:r>
            <a:r>
              <a:rPr lang="ko-KR" altLang="en-US" dirty="0"/>
              <a:t>와 노트북 및 마크다운 파일과 함께 보고 드리겠습니다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팀은 박사과정의 이해선</a:t>
            </a:r>
            <a:r>
              <a:rPr lang="en-US" altLang="ko-KR" dirty="0"/>
              <a:t>, </a:t>
            </a:r>
            <a:r>
              <a:rPr lang="ko-KR" altLang="en-US" dirty="0"/>
              <a:t>박정수님</a:t>
            </a:r>
            <a:endParaRPr lang="en-US" altLang="ko-KR" dirty="0"/>
          </a:p>
          <a:p>
            <a:r>
              <a:rPr lang="ko-KR" altLang="en-US" dirty="0"/>
              <a:t>석사과정의 이원표님</a:t>
            </a:r>
            <a:r>
              <a:rPr lang="en-US" altLang="ko-KR" dirty="0"/>
              <a:t>, </a:t>
            </a:r>
            <a:r>
              <a:rPr lang="ko-KR" altLang="en-US" dirty="0"/>
              <a:t>발표자인 </a:t>
            </a:r>
            <a:r>
              <a:rPr lang="ko-KR" altLang="en-US" dirty="0" err="1"/>
              <a:t>전양호</a:t>
            </a:r>
            <a:r>
              <a:rPr lang="ko-KR" altLang="en-US" dirty="0"/>
              <a:t> 로 구성되어 있습니다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최근 도시형 공유 </a:t>
            </a:r>
            <a:r>
              <a:rPr lang="ko-KR" altLang="en-US" dirty="0" err="1"/>
              <a:t>모빌리티</a:t>
            </a:r>
            <a:r>
              <a:rPr lang="ko-KR" altLang="en-US" dirty="0"/>
              <a:t> 시스템의 수요가 증가하면서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자전거 공유 플랫폼의 효율적인 운영과 예측 기반 의사결정의 필요성이 커지고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자전거 </a:t>
            </a:r>
            <a:r>
              <a:rPr lang="ko-KR" altLang="en-US" dirty="0" err="1"/>
              <a:t>대여량은</a:t>
            </a:r>
            <a:r>
              <a:rPr lang="ko-KR" altLang="en-US" dirty="0"/>
              <a:t> 시간대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계절</a:t>
            </a:r>
            <a:r>
              <a:rPr lang="en-US" altLang="ko-KR" dirty="0"/>
              <a:t>, </a:t>
            </a:r>
            <a:r>
              <a:rPr lang="ko-KR" altLang="en-US" dirty="0"/>
              <a:t>휴일</a:t>
            </a:r>
            <a:r>
              <a:rPr lang="en-US" altLang="ko-KR" dirty="0"/>
              <a:t>, </a:t>
            </a:r>
            <a:r>
              <a:rPr lang="ko-KR" altLang="en-US" dirty="0"/>
              <a:t>생활 패턴 등 다양한 외부 요인들의 영향을 복합적으로 받기 때문에</a:t>
            </a:r>
            <a:br>
              <a:rPr lang="ko-KR" altLang="en-US" dirty="0"/>
            </a:br>
            <a:r>
              <a:rPr lang="ko-KR" altLang="en-US" dirty="0"/>
              <a:t>단순 통계만으로는 정확한 수요 예측이 어렵다는 문제를 해결하기 위해 </a:t>
            </a:r>
            <a:br>
              <a:rPr lang="en-US" altLang="ko-KR" dirty="0"/>
            </a:br>
            <a:r>
              <a:rPr lang="ko-KR" altLang="en-US" dirty="0"/>
              <a:t>자전거 대여 수요를 정확하게 예측할 수 있는 </a:t>
            </a:r>
            <a:r>
              <a:rPr lang="ko-KR" altLang="en-US" dirty="0" err="1"/>
              <a:t>머신러닝</a:t>
            </a:r>
            <a:r>
              <a:rPr lang="ko-KR" altLang="en-US" dirty="0"/>
              <a:t> 모델을 개발 하는 것입니다</a:t>
            </a:r>
            <a:r>
              <a:rPr lang="en-US" altLang="ko-KR" dirty="0"/>
              <a:t>.</a:t>
            </a:r>
          </a:p>
          <a:p>
            <a:r>
              <a:rPr lang="ko-KR" altLang="en-US" baseline="0" dirty="0"/>
              <a:t> </a:t>
            </a:r>
            <a:endParaRPr lang="en-US" altLang="ko-KR" baseline="0" dirty="0"/>
          </a:p>
          <a:p>
            <a:r>
              <a:rPr lang="en-US" altLang="ko-KR" baseline="0" dirty="0"/>
              <a:t>Raw </a:t>
            </a:r>
            <a:r>
              <a:rPr lang="ko-KR" altLang="en-US" baseline="0" dirty="0"/>
              <a:t>데이터 셋으로는 </a:t>
            </a:r>
            <a:r>
              <a:rPr lang="en-US" altLang="ko-KR" baseline="0" dirty="0"/>
              <a:t>UCI Bike Sharing Dataset, </a:t>
            </a:r>
            <a:r>
              <a:rPr lang="ko-KR" altLang="en-US" baseline="0" dirty="0"/>
              <a:t>서울시 </a:t>
            </a:r>
            <a:r>
              <a:rPr lang="ko-KR" altLang="en-US" baseline="0" dirty="0" err="1"/>
              <a:t>따릉이</a:t>
            </a:r>
            <a:r>
              <a:rPr lang="ko-KR" altLang="en-US" baseline="0" dirty="0"/>
              <a:t> 대여 이력</a:t>
            </a:r>
            <a:r>
              <a:rPr lang="en-US" altLang="ko-KR" baseline="0" dirty="0"/>
              <a:t> </a:t>
            </a:r>
            <a:r>
              <a:rPr lang="ko-KR" altLang="en-US" baseline="0" dirty="0"/>
              <a:t>와</a:t>
            </a:r>
            <a:endParaRPr lang="en-US" altLang="ko-KR" baseline="0" dirty="0"/>
          </a:p>
          <a:p>
            <a:r>
              <a:rPr lang="ko-KR" altLang="en-US" baseline="0" dirty="0"/>
              <a:t>서울시의 기상청 기후 데이터</a:t>
            </a:r>
            <a:r>
              <a:rPr lang="en-US" altLang="ko-KR" baseline="0" dirty="0"/>
              <a:t>, </a:t>
            </a:r>
            <a:r>
              <a:rPr lang="ko-KR" altLang="en-US" baseline="0" dirty="0"/>
              <a:t>그리고 </a:t>
            </a:r>
            <a:r>
              <a:rPr lang="en-US" altLang="ko-KR" baseline="0" dirty="0" err="1"/>
              <a:t>OpenMeteo</a:t>
            </a:r>
            <a:r>
              <a:rPr lang="en-US" altLang="ko-KR" baseline="0" dirty="0"/>
              <a:t> API</a:t>
            </a:r>
            <a:r>
              <a:rPr lang="ko-KR" altLang="en-US" baseline="0" dirty="0"/>
              <a:t>를 활용한 </a:t>
            </a:r>
            <a:r>
              <a:rPr lang="en-US" altLang="ko-KR" baseline="0" dirty="0"/>
              <a:t>WDC</a:t>
            </a:r>
            <a:r>
              <a:rPr lang="ko-KR" altLang="en-US" baseline="0" dirty="0"/>
              <a:t>의 기상 데이터를 날씨 환경 데이터로 활용 했습니다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또한 공간적 요소의 영향도 확인하기 위해서 </a:t>
            </a:r>
            <a:r>
              <a:rPr lang="en-US" altLang="ko-KR" baseline="0" dirty="0"/>
              <a:t>WDC</a:t>
            </a:r>
            <a:r>
              <a:rPr lang="ko-KR" altLang="en-US" baseline="0" dirty="0"/>
              <a:t>와 서울 대여소 별 </a:t>
            </a:r>
            <a:r>
              <a:rPr lang="en-US" altLang="ko-KR" baseline="0" dirty="0"/>
              <a:t>POI </a:t>
            </a:r>
            <a:r>
              <a:rPr lang="ko-KR" altLang="en-US" baseline="0" dirty="0"/>
              <a:t>정보를 수집하여 사용 했습니다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ko-KR" altLang="en-US" dirty="0"/>
              <a:t>처음 계획서를 제출 </a:t>
            </a:r>
            <a:r>
              <a:rPr lang="ko-KR" altLang="en-US" dirty="0" err="1"/>
              <a:t>하였을때</a:t>
            </a:r>
            <a:r>
              <a:rPr lang="en-US" altLang="ko-KR" dirty="0"/>
              <a:t>, </a:t>
            </a:r>
            <a:r>
              <a:rPr lang="ko-KR" altLang="en-US" dirty="0"/>
              <a:t>저희 팀의 프로젝트의 목적은  </a:t>
            </a:r>
            <a:r>
              <a:rPr lang="en-US" altLang="ko-KR" dirty="0"/>
              <a:t>WDC </a:t>
            </a:r>
            <a:r>
              <a:rPr lang="ko-KR" altLang="en-US" dirty="0"/>
              <a:t>의 공유 자전거 대여이력 정보를 학습한 모델을 서울 </a:t>
            </a:r>
            <a:r>
              <a:rPr lang="ko-KR" altLang="en-US" dirty="0" err="1"/>
              <a:t>따릉이</a:t>
            </a:r>
            <a:r>
              <a:rPr lang="ko-KR" altLang="en-US" dirty="0"/>
              <a:t> 데이터로 트랜스퍼 러닝 또는 </a:t>
            </a:r>
            <a:r>
              <a:rPr lang="ko-KR" altLang="en-US" dirty="0" err="1"/>
              <a:t>파인튜닝을</a:t>
            </a:r>
            <a:r>
              <a:rPr lang="ko-KR" altLang="en-US" dirty="0"/>
              <a:t> 통해 </a:t>
            </a:r>
            <a:endParaRPr lang="en-US" altLang="ko-KR" dirty="0"/>
          </a:p>
          <a:p>
            <a:r>
              <a:rPr lang="ko-KR" altLang="en-US" dirty="0"/>
              <a:t>도메인이 다른 곳에 현지화를 해보겠다는 </a:t>
            </a:r>
            <a:r>
              <a:rPr lang="ko-KR" altLang="en-US" dirty="0" err="1"/>
              <a:t>취지였었는데요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여러가지의 제약사항으로 목표를 조금 덜어냈습니다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WDC </a:t>
            </a:r>
            <a:r>
              <a:rPr lang="ko-KR" altLang="en-US" dirty="0"/>
              <a:t>데이터를 학습 시킨 세가지 모델의 앙상블 결과와</a:t>
            </a:r>
            <a:r>
              <a:rPr lang="en-US" altLang="ko-KR" dirty="0"/>
              <a:t>, Seoul </a:t>
            </a:r>
            <a:r>
              <a:rPr lang="ko-KR" altLang="en-US" dirty="0"/>
              <a:t>데이터를 학습 시킨 세가지 모델의 앙상블 결과를 </a:t>
            </a:r>
            <a:r>
              <a:rPr lang="en-US" altLang="ko-KR" dirty="0"/>
              <a:t>SHAP </a:t>
            </a:r>
            <a:r>
              <a:rPr lang="ko-KR" altLang="en-US" dirty="0"/>
              <a:t>분석 및 비교해 보면서 어떤 </a:t>
            </a:r>
            <a:r>
              <a:rPr lang="en-US" altLang="ko-KR" dirty="0"/>
              <a:t>Feature </a:t>
            </a:r>
            <a:r>
              <a:rPr lang="ko-KR" altLang="en-US" dirty="0"/>
              <a:t>들이 </a:t>
            </a:r>
            <a:r>
              <a:rPr lang="en-US" altLang="ko-KR" dirty="0"/>
              <a:t>Prediction</a:t>
            </a:r>
            <a:r>
              <a:rPr lang="ko-KR" altLang="en-US" dirty="0"/>
              <a:t>에 영향을 주는지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서울과  </a:t>
            </a:r>
            <a:r>
              <a:rPr lang="en-US" altLang="ko-KR" dirty="0"/>
              <a:t>WDC</a:t>
            </a:r>
            <a:r>
              <a:rPr lang="ko-KR" altLang="en-US" dirty="0"/>
              <a:t>의 도메인의 차이엔 어떤 것 들이 있는지 비교 분석하고 </a:t>
            </a:r>
            <a:br>
              <a:rPr lang="en-US" altLang="ko-KR" dirty="0"/>
            </a:br>
            <a:r>
              <a:rPr lang="ko-KR" altLang="en-US" dirty="0" err="1"/>
              <a:t>따릉이의</a:t>
            </a:r>
            <a:r>
              <a:rPr lang="ko-KR" altLang="en-US" dirty="0"/>
              <a:t> 효율적인 운용방안을 제시하는 것이 오픈마인드 팀의 프로젝트 목적 입니다</a:t>
            </a:r>
            <a:r>
              <a:rPr lang="en-US" altLang="ko-KR" dirty="0"/>
              <a:t>.</a:t>
            </a:r>
          </a:p>
          <a:p>
            <a:endParaRPr lang="en-US" altLang="ko-K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프로젝트가 </a:t>
            </a:r>
            <a:r>
              <a:rPr lang="en-US" altLang="ko-KR" dirty="0"/>
              <a:t>4</a:t>
            </a:r>
            <a:r>
              <a:rPr lang="ko-KR" altLang="en-US" dirty="0"/>
              <a:t>주간 진행 되면서 </a:t>
            </a:r>
            <a:r>
              <a:rPr lang="ko-KR" altLang="en-US" dirty="0" err="1"/>
              <a:t>깃허브</a:t>
            </a:r>
            <a:r>
              <a:rPr lang="en-US" altLang="ko-KR" dirty="0"/>
              <a:t>,</a:t>
            </a:r>
            <a:r>
              <a:rPr lang="ko-KR" altLang="en-US" dirty="0"/>
              <a:t> 구글 드라이브</a:t>
            </a:r>
            <a:r>
              <a:rPr lang="en-US" altLang="ko-KR" dirty="0"/>
              <a:t>, MS365</a:t>
            </a:r>
            <a:r>
              <a:rPr lang="ko-KR" altLang="en-US" dirty="0"/>
              <a:t>와 같은 도구를 </a:t>
            </a:r>
            <a:r>
              <a:rPr lang="ko-KR" altLang="en-US" dirty="0" err="1"/>
              <a:t>사용했구요</a:t>
            </a:r>
            <a:r>
              <a:rPr lang="en-US" altLang="ko-KR" dirty="0"/>
              <a:t>,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첫 주에는 대여 이력과 날씨 환경 데이터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POI </a:t>
            </a:r>
            <a:r>
              <a:rPr lang="ko-KR" altLang="en-US" dirty="0"/>
              <a:t>데이터를 수집 하고 병합 </a:t>
            </a:r>
            <a:r>
              <a:rPr lang="en-US" altLang="ko-KR" dirty="0"/>
              <a:t>, </a:t>
            </a:r>
            <a:r>
              <a:rPr lang="ko-KR" altLang="en-US" dirty="0" err="1"/>
              <a:t>결측치</a:t>
            </a:r>
            <a:r>
              <a:rPr lang="ko-KR" altLang="en-US" dirty="0"/>
              <a:t> 처리와 데이터 형식을 통일 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이후로 전처리와 </a:t>
            </a:r>
            <a:r>
              <a:rPr lang="en-US" altLang="ko-KR" dirty="0"/>
              <a:t>EDA</a:t>
            </a:r>
            <a:r>
              <a:rPr lang="ko-KR" altLang="en-US" dirty="0"/>
              <a:t>를 통해 데이터 품질과 주요 패턴을 파악하고</a:t>
            </a:r>
            <a:r>
              <a:rPr lang="en-US" altLang="ko-KR" dirty="0"/>
              <a:t>, </a:t>
            </a:r>
            <a:r>
              <a:rPr lang="ko-KR" altLang="en-US" dirty="0"/>
              <a:t>각자의 팀원들이 각자 </a:t>
            </a:r>
            <a:r>
              <a:rPr lang="en-US" altLang="ko-KR" dirty="0" err="1"/>
              <a:t>LightGBM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RF </a:t>
            </a:r>
            <a:r>
              <a:rPr lang="ko-KR" altLang="en-US" dirty="0"/>
              <a:t>선형 회귀 모델을 적용하여 성능을 비교하고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훈련된 모델들을 </a:t>
            </a:r>
            <a:r>
              <a:rPr lang="en-US" altLang="ko-KR" dirty="0"/>
              <a:t>Weighted Average </a:t>
            </a:r>
            <a:r>
              <a:rPr lang="ko-KR" altLang="en-US" dirty="0"/>
              <a:t>방식의 앙상블로 결합하여 예측에 대한 평가와 </a:t>
            </a:r>
            <a:r>
              <a:rPr lang="en-US" altLang="ko-KR" dirty="0"/>
              <a:t>SHAP </a:t>
            </a:r>
            <a:r>
              <a:rPr lang="ko-KR" altLang="en-US" dirty="0"/>
              <a:t>해석을 진행 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CE456-4BB2-4A6C-D6EA-9FE31763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D1CDF-2736-04AD-521E-4E29C90F7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2A845-976C-75FF-32B9-ECAAF33C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따라서 각 단계의 산출물은 다음과 같습니다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데이터 수집 및 정리 단계에서 로우 데이터 들의 </a:t>
            </a:r>
            <a:r>
              <a:rPr lang="ko-KR" altLang="en-US" dirty="0" err="1"/>
              <a:t>오버뷰와</a:t>
            </a:r>
            <a:r>
              <a:rPr lang="ko-KR" altLang="en-US" dirty="0"/>
              <a:t> 스키마</a:t>
            </a:r>
            <a:r>
              <a:rPr lang="en-US" altLang="ko-KR" dirty="0"/>
              <a:t>, </a:t>
            </a:r>
            <a:r>
              <a:rPr lang="ko-KR" altLang="en-US" dirty="0"/>
              <a:t>이상치 또는 </a:t>
            </a:r>
            <a:r>
              <a:rPr lang="ko-KR" altLang="en-US" dirty="0" err="1"/>
              <a:t>결측치를</a:t>
            </a:r>
            <a:r>
              <a:rPr lang="ko-KR" altLang="en-US" dirty="0"/>
              <a:t> 검사한 데이터 품질 보고서</a:t>
            </a:r>
            <a:r>
              <a:rPr lang="en-US" altLang="ko-KR" dirty="0"/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전처리</a:t>
            </a:r>
            <a:r>
              <a:rPr lang="ko-KR" altLang="en-US" dirty="0"/>
              <a:t> 및 </a:t>
            </a:r>
            <a:r>
              <a:rPr lang="en-US" altLang="ko-KR" dirty="0"/>
              <a:t>EDA </a:t>
            </a:r>
            <a:r>
              <a:rPr lang="ko-KR" altLang="en-US" dirty="0"/>
              <a:t>단계에서 데이터 </a:t>
            </a:r>
            <a:r>
              <a:rPr lang="ko-KR" altLang="en-US" dirty="0" err="1"/>
              <a:t>전처리</a:t>
            </a:r>
            <a:r>
              <a:rPr lang="ko-KR" altLang="en-US" dirty="0"/>
              <a:t> 명세서</a:t>
            </a:r>
            <a:r>
              <a:rPr lang="en-US" altLang="ko-KR" dirty="0"/>
              <a:t>, EDA </a:t>
            </a:r>
            <a:r>
              <a:rPr lang="ko-KR" altLang="en-US" dirty="0"/>
              <a:t>분석 보고서와 </a:t>
            </a:r>
            <a:r>
              <a:rPr lang="en-US" altLang="ko-KR" dirty="0"/>
              <a:t>EDA</a:t>
            </a:r>
            <a:r>
              <a:rPr lang="ko-KR" altLang="en-US" dirty="0"/>
              <a:t>분석을 기반한 인사이트 종합 보고서</a:t>
            </a:r>
            <a:r>
              <a:rPr lang="en-US" altLang="ko-KR" dirty="0"/>
              <a:t>, </a:t>
            </a:r>
            <a:r>
              <a:rPr lang="ko-KR" altLang="en-US" dirty="0"/>
              <a:t>그리고 최종적으로 학습에 </a:t>
            </a:r>
            <a:r>
              <a:rPr lang="ko-KR" altLang="en-US" dirty="0" err="1"/>
              <a:t>사용하게될</a:t>
            </a:r>
            <a:r>
              <a:rPr lang="ko-KR" altLang="en-US" dirty="0"/>
              <a:t> 데이터의 스키마 요약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개별 모델링 단계에서는 모델 파이프 라인 정의 및 사용 모델에 대한 설명 모델 </a:t>
            </a:r>
            <a:r>
              <a:rPr lang="en-US" altLang="ko-KR" dirty="0"/>
              <a:t>, </a:t>
            </a:r>
            <a:r>
              <a:rPr lang="ko-KR" altLang="en-US" dirty="0"/>
              <a:t> </a:t>
            </a:r>
            <a:r>
              <a:rPr lang="en-US" altLang="ko-KR" dirty="0"/>
              <a:t>IQR </a:t>
            </a:r>
            <a:r>
              <a:rPr lang="ko-KR" altLang="en-US" dirty="0"/>
              <a:t>이상치 처리 전</a:t>
            </a:r>
            <a:r>
              <a:rPr lang="en-US" altLang="ko-KR" dirty="0"/>
              <a:t>/</a:t>
            </a:r>
            <a:r>
              <a:rPr lang="ko-KR" altLang="en-US" dirty="0"/>
              <a:t>후  데이터 모델 학습에 대한 비교</a:t>
            </a:r>
            <a:r>
              <a:rPr lang="en-US" altLang="ko-KR" dirty="0"/>
              <a:t>, </a:t>
            </a:r>
            <a:r>
              <a:rPr lang="ko-KR" altLang="en-US" dirty="0"/>
              <a:t>모델 평가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마지막으로는  학습한 모델들의 앙상블 평가와</a:t>
            </a:r>
            <a:r>
              <a:rPr lang="en-US" altLang="ko-KR" dirty="0"/>
              <a:t> </a:t>
            </a:r>
            <a:r>
              <a:rPr lang="ko-KR" altLang="en-US" dirty="0" err="1"/>
              <a:t>모델별</a:t>
            </a:r>
            <a:r>
              <a:rPr lang="ko-KR" altLang="en-US" dirty="0"/>
              <a:t> </a:t>
            </a:r>
            <a:r>
              <a:rPr lang="en-US" altLang="ko-KR" dirty="0"/>
              <a:t>SHAP </a:t>
            </a:r>
            <a:r>
              <a:rPr lang="ko-KR" altLang="en-US" dirty="0"/>
              <a:t>분석을 통한 앙상블 </a:t>
            </a:r>
            <a:r>
              <a:rPr lang="en-US" altLang="ko-KR" dirty="0"/>
              <a:t>SHAP </a:t>
            </a:r>
            <a:r>
              <a:rPr lang="ko-KR" altLang="en-US" dirty="0"/>
              <a:t>분석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오늘 발표는 이 순서대로 말씀을 드리겠습니다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다만 모든 문서를 다 </a:t>
            </a:r>
            <a:r>
              <a:rPr lang="en-US" altLang="ko-KR" dirty="0"/>
              <a:t>PPT</a:t>
            </a:r>
            <a:r>
              <a:rPr lang="ko-KR" altLang="en-US" dirty="0"/>
              <a:t>에 담기는 어렵기 </a:t>
            </a:r>
            <a:r>
              <a:rPr lang="ko-KR" altLang="en-US" dirty="0" err="1"/>
              <a:t>떄문에</a:t>
            </a:r>
            <a:r>
              <a:rPr lang="en-US" altLang="ko-KR" dirty="0"/>
              <a:t>,</a:t>
            </a:r>
            <a:r>
              <a:rPr lang="ko-KR" altLang="en-US" dirty="0"/>
              <a:t> 각 단계별로 요약한 내용을 </a:t>
            </a:r>
            <a:r>
              <a:rPr lang="en-US" altLang="ko-KR" dirty="0"/>
              <a:t>PPT</a:t>
            </a:r>
            <a:r>
              <a:rPr lang="ko-KR" altLang="en-US" dirty="0"/>
              <a:t>와 마크다운문서</a:t>
            </a:r>
            <a:r>
              <a:rPr lang="en-US" altLang="ko-KR" dirty="0"/>
              <a:t>, </a:t>
            </a:r>
            <a:r>
              <a:rPr lang="ko-KR" altLang="en-US" dirty="0"/>
              <a:t>주피터노트북 파일을 이용해 내용 전달 드리겠습니다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해당 내용들은 모두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에 올라가 </a:t>
            </a:r>
            <a:r>
              <a:rPr lang="ko-KR" altLang="en-US" dirty="0" err="1"/>
              <a:t>있구요</a:t>
            </a:r>
            <a:r>
              <a:rPr lang="en-US" altLang="ko-KR" dirty="0"/>
              <a:t>. </a:t>
            </a:r>
            <a:r>
              <a:rPr lang="ko-KR" altLang="en-US" dirty="0"/>
              <a:t>발표가 끝난 다음에 </a:t>
            </a:r>
            <a:r>
              <a:rPr lang="ko-KR" altLang="en-US" dirty="0" err="1"/>
              <a:t>깃허브</a:t>
            </a:r>
            <a:r>
              <a:rPr lang="ko-KR" altLang="en-US" dirty="0"/>
              <a:t> 주소를 공유 드리겠습니다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A8BA2-2921-B5B7-C23C-B86DCA384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50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UCI </a:t>
            </a:r>
            <a:r>
              <a:rPr lang="en-US" altLang="ko-KR" dirty="0" err="1"/>
              <a:t>BikeSharing</a:t>
            </a:r>
            <a:r>
              <a:rPr lang="en-US" altLang="ko-KR" dirty="0"/>
              <a:t> Dataset</a:t>
            </a:r>
            <a:r>
              <a:rPr lang="ko-KR" altLang="en-US" dirty="0"/>
              <a:t>은 워싱턴 </a:t>
            </a:r>
            <a:r>
              <a:rPr lang="en-US" altLang="ko-KR" dirty="0"/>
              <a:t>D.C.</a:t>
            </a:r>
            <a:r>
              <a:rPr lang="ko-KR" altLang="en-US" dirty="0"/>
              <a:t>의 자전거 대여 시스템 데이터를 기반으로</a:t>
            </a:r>
            <a:r>
              <a:rPr lang="en-US" altLang="ko-KR" dirty="0"/>
              <a:t>, </a:t>
            </a:r>
            <a:r>
              <a:rPr lang="en-US" altLang="ko-KR" b="1" dirty="0"/>
              <a:t>2011</a:t>
            </a:r>
            <a:r>
              <a:rPr lang="ko-KR" altLang="en-US" b="1" dirty="0"/>
              <a:t>년 </a:t>
            </a:r>
            <a:r>
              <a:rPr lang="en-US" altLang="ko-KR" b="1" dirty="0"/>
              <a:t>1</a:t>
            </a:r>
            <a:r>
              <a:rPr lang="ko-KR" altLang="en-US" b="1" dirty="0"/>
              <a:t>월 </a:t>
            </a:r>
            <a:r>
              <a:rPr lang="en-US" altLang="ko-KR" b="1" dirty="0"/>
              <a:t>1</a:t>
            </a:r>
            <a:r>
              <a:rPr lang="ko-KR" altLang="en-US" b="1" dirty="0"/>
              <a:t>일부터 </a:t>
            </a:r>
            <a:r>
              <a:rPr lang="en-US" altLang="ko-KR" b="1" dirty="0"/>
              <a:t>2012</a:t>
            </a:r>
            <a:r>
              <a:rPr lang="ko-KR" altLang="en-US" b="1" dirty="0"/>
              <a:t>년 </a:t>
            </a:r>
            <a:r>
              <a:rPr lang="en-US" altLang="ko-KR" b="1" dirty="0"/>
              <a:t>12</a:t>
            </a:r>
            <a:r>
              <a:rPr lang="ko-KR" altLang="en-US" b="1" dirty="0"/>
              <a:t>월 </a:t>
            </a:r>
            <a:r>
              <a:rPr lang="en-US" altLang="ko-KR" b="1" dirty="0"/>
              <a:t>31</a:t>
            </a:r>
            <a:r>
              <a:rPr lang="ko-KR" altLang="en-US" b="1" dirty="0"/>
              <a:t>일까지</a:t>
            </a:r>
            <a:r>
              <a:rPr lang="ko-KR" altLang="en-US" dirty="0"/>
              <a:t> 기록된 </a:t>
            </a:r>
            <a:r>
              <a:rPr lang="ko-KR" altLang="en-US" b="1" dirty="0"/>
              <a:t>자전거 </a:t>
            </a:r>
            <a:r>
              <a:rPr lang="ko-KR" altLang="en-US" b="1" dirty="0" err="1"/>
              <a:t>대여량</a:t>
            </a:r>
            <a:r>
              <a:rPr lang="en-US" altLang="ko-KR" b="1" dirty="0"/>
              <a:t>(</a:t>
            </a:r>
            <a:r>
              <a:rPr lang="ko-KR" altLang="en-US" b="1" dirty="0"/>
              <a:t>일별</a:t>
            </a:r>
            <a:r>
              <a:rPr lang="en-US" altLang="ko-KR" b="1" dirty="0"/>
              <a:t>·</a:t>
            </a:r>
            <a:r>
              <a:rPr lang="ko-KR" altLang="en-US" b="1" dirty="0"/>
              <a:t>시간별</a:t>
            </a:r>
            <a:r>
              <a:rPr lang="en-US" altLang="ko-KR" b="1" dirty="0"/>
              <a:t>)</a:t>
            </a:r>
            <a:r>
              <a:rPr lang="ko-KR" altLang="en-US" dirty="0"/>
              <a:t> 데이터가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Bikeshare (Washington D.C.)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오픈 되어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앞서 </a:t>
            </a:r>
            <a:r>
              <a:rPr lang="ko-KR" altLang="en-US" dirty="0" err="1"/>
              <a:t>말씀드린바와</a:t>
            </a:r>
            <a:r>
              <a:rPr lang="ko-KR" altLang="en-US" dirty="0"/>
              <a:t> 같이 날씨환경 요소인 </a:t>
            </a:r>
            <a:r>
              <a:rPr lang="ko-KR" altLang="en-US" dirty="0" err="1"/>
              <a:t>오픈메테오</a:t>
            </a:r>
            <a:r>
              <a:rPr lang="ko-KR" altLang="en-US" dirty="0"/>
              <a:t> </a:t>
            </a:r>
            <a:r>
              <a:rPr lang="en-US" altLang="ko-KR" dirty="0"/>
              <a:t>API</a:t>
            </a:r>
            <a:r>
              <a:rPr lang="ko-KR" altLang="en-US" dirty="0"/>
              <a:t>의 기상 데이터 피처들과 공간환경요소인 </a:t>
            </a:r>
            <a:r>
              <a:rPr lang="en-US" altLang="ko-KR" dirty="0"/>
              <a:t>POI </a:t>
            </a:r>
            <a:r>
              <a:rPr lang="ko-KR" altLang="en-US" dirty="0"/>
              <a:t>피처들 까지 모두 합해서 </a:t>
            </a:r>
            <a:r>
              <a:rPr lang="en-US" altLang="ko-KR" dirty="0"/>
              <a:t>80</a:t>
            </a:r>
            <a:r>
              <a:rPr lang="ko-KR" altLang="en-US" dirty="0"/>
              <a:t>개의 인풋 피처와 </a:t>
            </a:r>
            <a:r>
              <a:rPr lang="en-US" altLang="ko-KR" dirty="0"/>
              <a:t>1</a:t>
            </a:r>
            <a:r>
              <a:rPr lang="ko-KR" altLang="en-US" dirty="0"/>
              <a:t>개의 </a:t>
            </a:r>
            <a:r>
              <a:rPr lang="ko-KR" altLang="en-US" dirty="0" err="1"/>
              <a:t>타겟변수로</a:t>
            </a:r>
            <a:r>
              <a:rPr lang="ko-KR" altLang="en-US" dirty="0"/>
              <a:t> 구성되어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35503-2D7B-F65B-D9FE-9756EA300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E4991-C838-5745-6B24-C75566865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A65C5-21B3-F6A0-259A-B43823DB8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서울시 </a:t>
            </a:r>
            <a:r>
              <a:rPr lang="ko-KR" altLang="en-US" b="1" dirty="0" err="1"/>
              <a:t>따릉이</a:t>
            </a:r>
            <a:r>
              <a:rPr lang="ko-KR" altLang="en-US" b="1" dirty="0"/>
              <a:t> 데이터셋은 </a:t>
            </a:r>
            <a:r>
              <a:rPr lang="en-US" altLang="ko-KR" b="1" dirty="0"/>
              <a:t>2020</a:t>
            </a:r>
            <a:r>
              <a:rPr lang="ko-KR" altLang="en-US" b="1" dirty="0"/>
              <a:t>년 부터 </a:t>
            </a:r>
            <a:r>
              <a:rPr lang="en-US" altLang="ko-KR" b="1" dirty="0"/>
              <a:t>2025</a:t>
            </a:r>
            <a:r>
              <a:rPr lang="ko-KR" altLang="en-US" b="1" dirty="0"/>
              <a:t>년 </a:t>
            </a:r>
            <a:r>
              <a:rPr lang="en-US" altLang="ko-KR" b="1" dirty="0"/>
              <a:t>6</a:t>
            </a:r>
            <a:r>
              <a:rPr lang="ko-KR" altLang="en-US" b="1" dirty="0"/>
              <a:t>월 까지의 </a:t>
            </a:r>
            <a:r>
              <a:rPr lang="ko-KR" altLang="en-US" b="1" dirty="0" err="1"/>
              <a:t>대여량</a:t>
            </a:r>
            <a:r>
              <a:rPr lang="ko-KR" altLang="en-US" b="1" dirty="0"/>
              <a:t> 정보가 서울시 열린 데이터 광장에 오픈이 되어 </a:t>
            </a:r>
            <a:r>
              <a:rPr lang="ko-KR" altLang="en-US" b="1" dirty="0" err="1"/>
              <a:t>있구요</a:t>
            </a:r>
            <a:r>
              <a:rPr lang="en-US" altLang="ko-KR" b="1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보너스 데이터로서는 </a:t>
            </a:r>
            <a:r>
              <a:rPr lang="en-US" altLang="ko-KR" b="1" dirty="0"/>
              <a:t>POI </a:t>
            </a:r>
            <a:r>
              <a:rPr lang="ko-KR" altLang="en-US" b="1" dirty="0"/>
              <a:t>정보와 </a:t>
            </a:r>
            <a:r>
              <a:rPr lang="ko-KR" altLang="en-US" b="1" dirty="0" err="1"/>
              <a:t>기상자료개방포털에서</a:t>
            </a:r>
            <a:r>
              <a:rPr lang="ko-KR" altLang="en-US" b="1" dirty="0"/>
              <a:t> 오픈해 놓은 시간별 기상데이터를 활용 했습니다</a:t>
            </a:r>
            <a:r>
              <a:rPr lang="en-US" altLang="ko-KR" b="1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서울시 </a:t>
            </a:r>
            <a:r>
              <a:rPr lang="ko-KR" altLang="en-US" b="1" dirty="0" err="1"/>
              <a:t>따릉이</a:t>
            </a:r>
            <a:r>
              <a:rPr lang="ko-KR" altLang="en-US" b="1" dirty="0"/>
              <a:t> 데이터 셋은  하나의 타겟 변수와</a:t>
            </a:r>
            <a:r>
              <a:rPr lang="en-US" altLang="ko-KR" b="1" dirty="0"/>
              <a:t> 39</a:t>
            </a:r>
            <a:r>
              <a:rPr lang="ko-KR" altLang="en-US" b="1" dirty="0"/>
              <a:t>개의 인풋 피처로 구성 되어 있습니다</a:t>
            </a:r>
            <a:r>
              <a:rPr lang="en-US" altLang="ko-KR" b="1" dirty="0"/>
              <a:t>.</a:t>
            </a:r>
            <a:br>
              <a:rPr lang="en-US" altLang="ko-KR" b="1" dirty="0"/>
            </a:b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그래서 실제 데이터 스키마는 다음과 같이 구성되어 있습니다</a:t>
            </a:r>
            <a:r>
              <a:rPr lang="en-US" altLang="ko-KR" b="1" dirty="0"/>
              <a:t>. (</a:t>
            </a:r>
            <a:r>
              <a:rPr lang="ko-KR" altLang="en-US" b="1" dirty="0"/>
              <a:t>마크다운 문서 표시</a:t>
            </a:r>
            <a:r>
              <a:rPr lang="en-US" altLang="ko-KR" b="1" dirty="0"/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두 데이터의 데이터 라이선스는 다음과 같습니다</a:t>
            </a:r>
            <a:r>
              <a:rPr lang="en-US" altLang="ko-KR" b="1" dirty="0"/>
              <a:t>. (</a:t>
            </a:r>
            <a:r>
              <a:rPr lang="ko-KR" altLang="en-US" b="1" dirty="0"/>
              <a:t>마크다운 문서표시</a:t>
            </a:r>
            <a:r>
              <a:rPr lang="en-US" altLang="ko-KR" b="1"/>
              <a:t>)</a:t>
            </a:r>
            <a:endParaRPr lang="en-US" altLang="ko-KR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2D1BF-9B23-B36F-1ACA-04EF4758A4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395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앞서 말씀 드린 데이터들을 최종 학습에 사용하게 될 데이터로 전 처리 하는 과정을 말씀 드리자면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크게 세가지 그룹의 피처들 시간요인</a:t>
            </a:r>
            <a:r>
              <a:rPr lang="en-US" altLang="ko-KR" dirty="0"/>
              <a:t>, </a:t>
            </a:r>
            <a:r>
              <a:rPr lang="ko-KR" altLang="en-US" dirty="0"/>
              <a:t>날씨요인</a:t>
            </a:r>
            <a:r>
              <a:rPr lang="en-US" altLang="ko-KR" dirty="0"/>
              <a:t>, </a:t>
            </a:r>
            <a:r>
              <a:rPr lang="ko-KR" altLang="en-US" dirty="0"/>
              <a:t>공간요인과 시간요인이 묶인 타겟 피처의 </a:t>
            </a:r>
            <a:r>
              <a:rPr lang="ko-KR" altLang="en-US" dirty="0" err="1"/>
              <a:t>대여량</a:t>
            </a:r>
            <a:r>
              <a:rPr lang="ko-KR" altLang="en-US" dirty="0"/>
              <a:t> 에 대한 원천 데이터를 수집하고</a:t>
            </a:r>
            <a:endParaRPr lang="en-US" altLang="ko-KR" dirty="0"/>
          </a:p>
          <a:p>
            <a:r>
              <a:rPr lang="en-US" altLang="ko-KR" dirty="0"/>
              <a:t>Date</a:t>
            </a:r>
            <a:r>
              <a:rPr lang="ko-KR" altLang="en-US" dirty="0"/>
              <a:t> 타입 피처에 대한 시간 파생 변수를 생성하고</a:t>
            </a:r>
            <a:r>
              <a:rPr lang="en-US" altLang="ko-KR" dirty="0"/>
              <a:t> </a:t>
            </a:r>
            <a:r>
              <a:rPr lang="ko-KR" altLang="en-US" dirty="0"/>
              <a:t>시간별로 </a:t>
            </a:r>
            <a:r>
              <a:rPr lang="ko-KR" altLang="en-US" dirty="0" err="1"/>
              <a:t>대여량을</a:t>
            </a:r>
            <a:r>
              <a:rPr lang="ko-KR" altLang="en-US" dirty="0"/>
              <a:t> 모두 처리하기엔 데이터 양이 너무 많기 </a:t>
            </a:r>
            <a:r>
              <a:rPr lang="ko-KR" altLang="en-US" dirty="0" err="1"/>
              <a:t>떄문에</a:t>
            </a:r>
            <a:r>
              <a:rPr lang="ko-KR" altLang="en-US" dirty="0"/>
              <a:t> </a:t>
            </a:r>
            <a:r>
              <a:rPr lang="en-US" altLang="ko-KR" dirty="0"/>
              <a:t>, </a:t>
            </a:r>
            <a:r>
              <a:rPr lang="ko-KR" altLang="en-US" dirty="0"/>
              <a:t>시간 구간 기반 플래그</a:t>
            </a:r>
            <a:r>
              <a:rPr lang="en-US" altLang="ko-KR" dirty="0"/>
              <a:t>(24</a:t>
            </a:r>
            <a:r>
              <a:rPr lang="ko-KR" altLang="en-US" dirty="0"/>
              <a:t>시간을 </a:t>
            </a:r>
            <a:r>
              <a:rPr lang="en-US" altLang="ko-KR" dirty="0"/>
              <a:t>4</a:t>
            </a:r>
            <a:r>
              <a:rPr lang="ko-KR" altLang="en-US" dirty="0"/>
              <a:t>분할</a:t>
            </a:r>
            <a:r>
              <a:rPr lang="en-US" altLang="ko-KR" dirty="0"/>
              <a:t>)</a:t>
            </a:r>
            <a:r>
              <a:rPr lang="ko-KR" altLang="en-US" dirty="0"/>
              <a:t> 생성해서 데이터 </a:t>
            </a:r>
            <a:r>
              <a:rPr lang="en-US" altLang="ko-KR" dirty="0"/>
              <a:t>row</a:t>
            </a:r>
            <a:r>
              <a:rPr lang="ko-KR" altLang="en-US" dirty="0"/>
              <a:t>수를 축약했습니다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 다음은 데이터 피처들에 대한 </a:t>
            </a:r>
            <a:r>
              <a:rPr lang="ko-KR" altLang="en-US" dirty="0" err="1"/>
              <a:t>결측치는</a:t>
            </a:r>
            <a:r>
              <a:rPr lang="ko-KR" altLang="en-US" dirty="0"/>
              <a:t> 시간대별 </a:t>
            </a:r>
            <a:r>
              <a:rPr lang="en-US" altLang="ko-KR" dirty="0"/>
              <a:t>Average </a:t>
            </a:r>
            <a:r>
              <a:rPr lang="ko-KR" altLang="en-US" dirty="0"/>
              <a:t>값을 채워주는 형태로 </a:t>
            </a:r>
            <a:r>
              <a:rPr lang="ko-KR" altLang="en-US" dirty="0" err="1"/>
              <a:t>결측값을</a:t>
            </a:r>
            <a:r>
              <a:rPr lang="ko-KR" altLang="en-US" dirty="0"/>
              <a:t> 방어적으로 처리했습니다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논리적 이상치</a:t>
            </a:r>
            <a:r>
              <a:rPr lang="en-US" altLang="ko-KR" dirty="0"/>
              <a:t>, </a:t>
            </a:r>
            <a:r>
              <a:rPr lang="ko-KR" altLang="en-US" dirty="0"/>
              <a:t>예를 들어</a:t>
            </a:r>
            <a:r>
              <a:rPr lang="en-US" altLang="ko-KR" dirty="0"/>
              <a:t> </a:t>
            </a:r>
            <a:r>
              <a:rPr lang="ko-KR" altLang="en-US" dirty="0"/>
              <a:t>이동거리가 </a:t>
            </a:r>
            <a:r>
              <a:rPr lang="en-US" altLang="ko-KR" dirty="0"/>
              <a:t>0m</a:t>
            </a:r>
            <a:r>
              <a:rPr lang="ko-KR" altLang="en-US" dirty="0"/>
              <a:t>인데 대여이력이 있다거나 하는 경우에는</a:t>
            </a:r>
            <a:r>
              <a:rPr lang="en-US" altLang="ko-KR" dirty="0"/>
              <a:t> </a:t>
            </a:r>
            <a:r>
              <a:rPr lang="ko-KR" altLang="en-US" dirty="0"/>
              <a:t>의 경우 해당 </a:t>
            </a:r>
            <a:r>
              <a:rPr lang="en-US" altLang="ko-KR" dirty="0"/>
              <a:t>Row</a:t>
            </a:r>
            <a:r>
              <a:rPr lang="ko-KR" altLang="en-US" dirty="0"/>
              <a:t>를 삭제 하는 선택을 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</a:t>
            </a:r>
          </a:p>
          <a:p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컬럼에 대해서 필요한 변수들</a:t>
            </a:r>
            <a:r>
              <a:rPr lang="en-US" altLang="ko-KR" dirty="0"/>
              <a:t>, </a:t>
            </a:r>
            <a:r>
              <a:rPr lang="ko-KR" altLang="en-US" dirty="0"/>
              <a:t>영향을 끼치는 요인들만 선택하고 정리하는 작업을 진행을 </a:t>
            </a:r>
            <a:r>
              <a:rPr lang="ko-KR" altLang="en-US" dirty="0" err="1"/>
              <a:t>했구요</a:t>
            </a:r>
            <a:r>
              <a:rPr lang="en-US" altLang="ko-KR" dirty="0"/>
              <a:t>. </a:t>
            </a:r>
            <a:r>
              <a:rPr lang="ko-KR" altLang="en-US" dirty="0"/>
              <a:t>한글 데이터의 경우 영문화 작업을 진행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 날씨에 대한 피처들이 굉장히 많은데</a:t>
            </a:r>
            <a:r>
              <a:rPr lang="en-US" altLang="ko-KR" dirty="0"/>
              <a:t>, </a:t>
            </a:r>
            <a:r>
              <a:rPr lang="ko-KR" altLang="en-US" dirty="0"/>
              <a:t>이 경우 피처들이 값 사이에 크기나 순서 관계가 존재하지 않는 명목형 변수이기 </a:t>
            </a:r>
            <a:r>
              <a:rPr lang="ko-KR" altLang="en-US" dirty="0" err="1"/>
              <a:t>떄문에</a:t>
            </a:r>
            <a:r>
              <a:rPr lang="ko-KR" altLang="en-US" dirty="0"/>
              <a:t> 날씨의 상태를 카테고리화 </a:t>
            </a:r>
            <a:r>
              <a:rPr lang="en-US" altLang="ko-KR" dirty="0"/>
              <a:t>Weather Flag </a:t>
            </a:r>
            <a:r>
              <a:rPr lang="ko-KR" altLang="en-US" dirty="0"/>
              <a:t>를 생성했습니다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같은 </a:t>
            </a:r>
            <a:r>
              <a:rPr lang="ko-KR" altLang="en-US" dirty="0" err="1"/>
              <a:t>전처리</a:t>
            </a:r>
            <a:r>
              <a:rPr lang="ko-KR" altLang="en-US" dirty="0"/>
              <a:t> 방식이 끝나고 나면</a:t>
            </a:r>
            <a:r>
              <a:rPr lang="en-US" altLang="ko-KR" dirty="0"/>
              <a:t>, </a:t>
            </a:r>
            <a:r>
              <a:rPr lang="ko-KR" altLang="en-US" dirty="0"/>
              <a:t>해당 데이터들의 </a:t>
            </a:r>
            <a:r>
              <a:rPr lang="en-US" altLang="ko-KR" dirty="0"/>
              <a:t>Date</a:t>
            </a:r>
            <a:r>
              <a:rPr lang="ko-KR" altLang="en-US" dirty="0"/>
              <a:t>와 </a:t>
            </a:r>
            <a:r>
              <a:rPr lang="ko-KR" altLang="en-US" dirty="0" err="1"/>
              <a:t>시간구반기반플래그</a:t>
            </a:r>
            <a:r>
              <a:rPr lang="en-US" altLang="ko-KR" dirty="0"/>
              <a:t>(</a:t>
            </a:r>
            <a:r>
              <a:rPr lang="ko-KR" altLang="en-US" dirty="0" err="1"/>
              <a:t>쿼터플래그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ko-KR" altLang="en-US" dirty="0" err="1"/>
              <a:t>키값으로</a:t>
            </a:r>
            <a:r>
              <a:rPr lang="ko-KR" altLang="en-US" dirty="0"/>
              <a:t> 데이터를 조인 해서 학습에 쓰일 최종 데이터를 생성 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C727-E578-AE3A-5002-B8B81918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C4D85-6841-394B-5455-165DA5760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D435E2-28EF-708E-9B8C-A446F0F72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(4)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시간대별 수요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quarter_flag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단락에서는 하루를 네 구간으로 나눈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quarter_flag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 대여 수요를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0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심야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~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이른 새벽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오전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오후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저녁 시간대로 해석할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박스플롯을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보면 각 시간대의 분포 차이를 한눈에 비교할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그룹별 평균을 계산해 보면 새벽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10.4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12.5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18.3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저녁 시간대에 수요가 가장 높고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오전 시간대 수요가 가장 낮은 패턴을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결과는 출퇴근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여가 시간대에 따라 자전거 활용 패턴이 명확히 달라진다는 점을 보여줍니다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5-1.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요일별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 + 11)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요일별로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분포를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x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축에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weekday_name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두고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박스플롯을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그려서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평일과 주말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요일 간의 수요 차이를 시각적으로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통해 예를 들어 금요일 저녁이나 토요일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일요일의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평일과 어떻게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요일에 피크가 있는지를 직관적으로 파악할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요일 패턴은 특히 정기적인 통근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통학 수요 즉 와 주말 여가 수요를 구분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필수 이동성 비중을 확인 하는 데 도움이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서울 도시는 주말에도 대여 수요가 유지 되었고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평일 대비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2%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높은 수요로 서울 도시가 비 필수 이동성 비중이 약간 더 높은 것으로 파악 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5-3.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월별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 + 15)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 월별 평균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 그래프로 확인합니다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month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축에 두고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rental_count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평균을 그리면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계절에 따른 수요의 변화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겨울 비수기와 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가을 성수기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어떻게 나타나는지 볼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결과는 시즌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ality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반영한 피처 설계나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계절별 예측 모델을 만드는 데 중요한 기초 정보입니다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A8BED-0535-4A87-A548-722326ACED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6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6903-44F9-FBCC-4C04-6E4FB4123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EE38C6-688B-E6C8-65C7-09A727779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D9C25-B353-2825-EBB2-78E247A5D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🔹 </a:t>
            </a:r>
            <a:r>
              <a:rPr lang="en-US" altLang="ko-KR" b="1" dirty="0"/>
              <a:t>(1) “</a:t>
            </a:r>
            <a:r>
              <a:rPr lang="ko-KR" altLang="en-US" b="1" dirty="0"/>
              <a:t>상관이 낮다 </a:t>
            </a:r>
            <a:r>
              <a:rPr lang="en-US" altLang="ko-KR" b="1" dirty="0"/>
              <a:t>= </a:t>
            </a:r>
            <a:r>
              <a:rPr lang="ko-KR" altLang="en-US" b="1" dirty="0"/>
              <a:t>중요하지 </a:t>
            </a:r>
            <a:r>
              <a:rPr lang="ko-KR" altLang="en-US" b="1" dirty="0" err="1"/>
              <a:t>않다”는</a:t>
            </a:r>
            <a:r>
              <a:rPr lang="ko-KR" altLang="en-US" b="1" dirty="0"/>
              <a:t> 아님</a:t>
            </a:r>
          </a:p>
          <a:p>
            <a:r>
              <a:rPr lang="en-US" altLang="ko-K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temperature</a:t>
            </a:r>
            <a:r>
              <a:rPr lang="en-US" altLang="ko-KR" dirty="0"/>
              <a:t>, </a:t>
            </a:r>
            <a:r>
              <a:rPr lang="en-US" altLang="ko-K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sunshine</a:t>
            </a:r>
            <a:r>
              <a:rPr lang="ko-KR" altLang="en-US" dirty="0"/>
              <a:t>의 </a:t>
            </a:r>
            <a:r>
              <a:rPr lang="en-US" altLang="ko-KR" dirty="0" err="1"/>
              <a:t>rental_count</a:t>
            </a:r>
            <a:r>
              <a:rPr lang="en-US" altLang="ko-KR" dirty="0"/>
              <a:t> </a:t>
            </a:r>
            <a:r>
              <a:rPr lang="ko-KR" altLang="en-US" dirty="0"/>
              <a:t>상관이 낮은 이유</a:t>
            </a:r>
            <a:r>
              <a:rPr lang="en-US" altLang="ko-KR" dirty="0"/>
              <a:t> </a:t>
            </a:r>
            <a:r>
              <a:rPr lang="ko-KR" altLang="en-US" b="1" dirty="0" err="1"/>
              <a:t>임계값</a:t>
            </a:r>
            <a:r>
              <a:rPr lang="en-US" altLang="ko-KR" b="1" dirty="0"/>
              <a:t>(threshold)</a:t>
            </a:r>
            <a:r>
              <a:rPr lang="ko-KR" altLang="en-US" dirty="0"/>
              <a:t> 존재하여 너무 덥거나 추우면 수요 감소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대여 수요와 개별 기상 변수 간의 선형 상관관계는 전반적으로 낮게 나타났으나</a:t>
            </a:r>
            <a:r>
              <a:rPr lang="en-US" altLang="ko-KR" dirty="0"/>
              <a:t>, </a:t>
            </a:r>
            <a:r>
              <a:rPr lang="ko-KR" altLang="en-US" dirty="0"/>
              <a:t>이는 날씨 요인이 수요에 미치는 영향이 </a:t>
            </a:r>
            <a:r>
              <a:rPr lang="ko-KR" altLang="en-US" dirty="0" err="1"/>
              <a:t>비선형적이며</a:t>
            </a:r>
            <a:r>
              <a:rPr lang="ko-KR" altLang="en-US" dirty="0"/>
              <a:t> </a:t>
            </a:r>
            <a:r>
              <a:rPr lang="ko-KR" altLang="en-US" dirty="0" err="1"/>
              <a:t>다변수</a:t>
            </a:r>
            <a:r>
              <a:rPr lang="ko-KR" altLang="en-US" dirty="0"/>
              <a:t> 상호작용 형태로 작용함을 시사한다</a:t>
            </a:r>
            <a:r>
              <a:rPr lang="en-US" altLang="ko-KR" dirty="0"/>
              <a:t>. </a:t>
            </a:r>
            <a:r>
              <a:rPr lang="ko-KR" altLang="en-US" dirty="0"/>
              <a:t>특히 </a:t>
            </a:r>
            <a:r>
              <a:rPr lang="en-US" altLang="ko-KR" dirty="0" err="1"/>
              <a:t>weathersit</a:t>
            </a:r>
            <a:r>
              <a:rPr lang="en-US" altLang="ko-KR" dirty="0"/>
              <a:t> </a:t>
            </a:r>
            <a:r>
              <a:rPr lang="ko-KR" altLang="en-US" dirty="0"/>
              <a:t>변수는 여러 기상 조건을 종합적으로 반영하는 지표로서</a:t>
            </a:r>
            <a:r>
              <a:rPr lang="en-US" altLang="ko-KR" dirty="0"/>
              <a:t>, </a:t>
            </a:r>
            <a:r>
              <a:rPr lang="ko-KR" altLang="en-US" dirty="0"/>
              <a:t>자전거 수요 예측에서 중요한 설명력을 가지는 변수로 판단된다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300BE-8A1F-EE62-72EF-AD44C092A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237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F8A29-C40C-AB1C-27D1-797985EFF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7FEB8-CBBF-79EE-D121-B8201309C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96925-1934-5D36-3980-70C8A474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📝 </a:t>
            </a:r>
            <a:r>
              <a:rPr lang="en-US" altLang="ko-KR" b="1" dirty="0"/>
              <a:t>5. </a:t>
            </a:r>
            <a:r>
              <a:rPr lang="ko-KR" altLang="en-US" b="1" dirty="0"/>
              <a:t>보고서용 요약 문장</a:t>
            </a:r>
          </a:p>
          <a:p>
            <a:r>
              <a:rPr lang="en-US" altLang="ko-KR" dirty="0"/>
              <a:t>POI</a:t>
            </a:r>
            <a:r>
              <a:rPr lang="ko-KR" altLang="en-US" dirty="0"/>
              <a:t>와의 거리는 자전거 대여 수요에 대해 선형적인 영향보다는 임계 거리 기반의 비선형 효과를 보이며</a:t>
            </a:r>
            <a:r>
              <a:rPr lang="en-US" altLang="ko-KR" dirty="0"/>
              <a:t>, </a:t>
            </a:r>
            <a:r>
              <a:rPr lang="ko-KR" altLang="en-US" dirty="0"/>
              <a:t>특정 </a:t>
            </a:r>
            <a:r>
              <a:rPr lang="en-US" altLang="ko-KR" dirty="0"/>
              <a:t>POI</a:t>
            </a:r>
            <a:r>
              <a:rPr lang="ko-KR" altLang="en-US" dirty="0"/>
              <a:t>에 대한 접근성이 확보된 지역에서만 고수요가 발생하는 구조적 특성이 관찰된다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이는 </a:t>
            </a:r>
            <a:r>
              <a:rPr lang="en-US" altLang="ko-KR" dirty="0"/>
              <a:t>POI </a:t>
            </a:r>
            <a:r>
              <a:rPr lang="ko-KR" altLang="en-US" dirty="0"/>
              <a:t>관련 피처가 대여 수요의 잠재적 상한을 결정하는 핵심 입지 요인임을 의미한다는</a:t>
            </a:r>
            <a:r>
              <a:rPr lang="en-US" altLang="ko-KR" dirty="0"/>
              <a:t> </a:t>
            </a:r>
            <a:r>
              <a:rPr lang="ko-KR" altLang="en-US" dirty="0"/>
              <a:t>것을 알 수 있었습니다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9EFE-383C-7293-01C6-FDFA7207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087A-5F3A-7DBB-0E15-5D0218AC3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9A660-83A9-D030-ED50-99507009C9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1F69F-B052-8677-8912-D0B2032C6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AD565-7414-0581-59C6-A4DA992C71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7906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EBE6-54AB-D0D2-2197-B31881860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50AD8-9AC8-4D21-7E3A-09EC46010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85976-4F67-B50A-3F87-2BC512131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본 연구는 시간</a:t>
            </a:r>
            <a:r>
              <a:rPr lang="en-US" altLang="ko-KR" dirty="0"/>
              <a:t>·</a:t>
            </a:r>
            <a:r>
              <a:rPr lang="ko-KR" altLang="en-US" dirty="0"/>
              <a:t>기상</a:t>
            </a:r>
            <a:r>
              <a:rPr lang="en-US" altLang="ko-KR" dirty="0"/>
              <a:t>·POI </a:t>
            </a:r>
            <a:r>
              <a:rPr lang="ko-KR" altLang="en-US" dirty="0"/>
              <a:t>피처를 결합한 트리 기반 회귀 모델</a:t>
            </a:r>
            <a:r>
              <a:rPr lang="en-US" altLang="ko-KR" dirty="0"/>
              <a:t>(</a:t>
            </a:r>
            <a:r>
              <a:rPr lang="en-US" altLang="ko-KR" dirty="0" err="1"/>
              <a:t>RandomForest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</a:t>
            </a:r>
            <a:r>
              <a:rPr lang="en-US" altLang="ko-KR" dirty="0" err="1"/>
              <a:t>LightGBM</a:t>
            </a:r>
            <a:r>
              <a:rPr lang="en-US" altLang="ko-KR" dirty="0"/>
              <a:t>)</a:t>
            </a:r>
            <a:r>
              <a:rPr lang="ko-KR" altLang="en-US" dirty="0"/>
              <a:t>을 도시별로 독립 학습하고</a:t>
            </a:r>
            <a:r>
              <a:rPr lang="en-US" altLang="ko-KR" dirty="0"/>
              <a:t>, </a:t>
            </a:r>
            <a:r>
              <a:rPr lang="ko-KR" altLang="en-US" dirty="0"/>
              <a:t>시계열 홀드아웃</a:t>
            </a:r>
            <a:r>
              <a:rPr lang="en-US" altLang="ko-KR" dirty="0"/>
              <a:t>(train/</a:t>
            </a:r>
            <a:r>
              <a:rPr lang="en-US" altLang="ko-KR" dirty="0" err="1"/>
              <a:t>val</a:t>
            </a:r>
            <a:r>
              <a:rPr lang="en-US" altLang="ko-KR" dirty="0"/>
              <a:t>/test) </a:t>
            </a:r>
            <a:r>
              <a:rPr lang="ko-KR" altLang="en-US" dirty="0"/>
              <a:t>검증을 통해 미래 구간 예측 성능을 평가하였다</a:t>
            </a:r>
            <a:r>
              <a:rPr lang="en-US" altLang="ko-KR" dirty="0"/>
              <a:t>. </a:t>
            </a:r>
            <a:r>
              <a:rPr lang="ko-KR" altLang="en-US" dirty="0"/>
              <a:t>또한 </a:t>
            </a:r>
            <a:r>
              <a:rPr lang="en-US" altLang="ko-KR" dirty="0"/>
              <a:t>IQR </a:t>
            </a:r>
            <a:r>
              <a:rPr lang="ko-KR" altLang="en-US" dirty="0"/>
              <a:t>기반 이상치 제거 적용 여부를 별도 실험으로 분리하여</a:t>
            </a:r>
            <a:r>
              <a:rPr lang="en-US" altLang="ko-KR" dirty="0"/>
              <a:t>, </a:t>
            </a:r>
            <a:r>
              <a:rPr lang="ko-KR" altLang="en-US" dirty="0"/>
              <a:t>극단 수요를 포함한 실제 분포 학습과 일반 구간 성능 안정화 간의 트레이드오프를 비교 가능하도록 설계하였다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또한 실험 단위</a:t>
            </a:r>
            <a:r>
              <a:rPr lang="en-US" altLang="ko-KR" dirty="0"/>
              <a:t>(</a:t>
            </a:r>
            <a:r>
              <a:rPr lang="ko-KR" altLang="en-US" dirty="0"/>
              <a:t>도시</a:t>
            </a:r>
            <a:r>
              <a:rPr lang="en-US" altLang="ko-KR" dirty="0"/>
              <a:t>/</a:t>
            </a:r>
            <a:r>
              <a:rPr lang="ko-KR" altLang="en-US" dirty="0"/>
              <a:t>피처모드</a:t>
            </a:r>
            <a:r>
              <a:rPr lang="en-US" altLang="ko-KR" dirty="0"/>
              <a:t>/</a:t>
            </a:r>
            <a:r>
              <a:rPr lang="ko-KR" altLang="en-US" dirty="0"/>
              <a:t>모델</a:t>
            </a:r>
            <a:r>
              <a:rPr lang="en-US" altLang="ko-KR" dirty="0"/>
              <a:t>)”</a:t>
            </a:r>
            <a:r>
              <a:rPr lang="ko-KR" altLang="en-US" dirty="0"/>
              <a:t>가 파일명으로 관리되어 재현</a:t>
            </a:r>
            <a:r>
              <a:rPr lang="en-US" altLang="ko-KR" dirty="0"/>
              <a:t>·</a:t>
            </a:r>
            <a:r>
              <a:rPr lang="ko-KR" altLang="en-US" dirty="0"/>
              <a:t>비교가 쉽게 설계하였습니다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Note)</a:t>
            </a:r>
            <a:br>
              <a:rPr lang="en-US" altLang="ko-KR" dirty="0"/>
            </a:br>
            <a:r>
              <a:rPr lang="ko-KR" altLang="en-US" b="1" dirty="0"/>
              <a:t>“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로 자동 </a:t>
            </a:r>
            <a:r>
              <a:rPr lang="ko-KR" altLang="en-US" b="1" dirty="0" err="1"/>
              <a:t>튜닝한다”는</a:t>
            </a:r>
            <a:r>
              <a:rPr lang="ko-KR" altLang="en-US" b="1" dirty="0"/>
              <a:t> 게 무슨 의미인가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맞다</a:t>
            </a:r>
            <a:r>
              <a:rPr lang="en-US" altLang="ko-KR" b="1" dirty="0"/>
              <a:t>. </a:t>
            </a:r>
            <a:r>
              <a:rPr lang="ko-KR" altLang="en-US" b="1" dirty="0"/>
              <a:t>현재 코드는 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를 사용해서 </a:t>
            </a:r>
            <a:r>
              <a:rPr lang="ko-KR" altLang="en-US" b="1" dirty="0" err="1"/>
              <a:t>하이퍼파라미터를</a:t>
            </a:r>
            <a:r>
              <a:rPr lang="ko-KR" altLang="en-US" b="1" dirty="0"/>
              <a:t> 자동 탐색한다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의미를 풀면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우리가 미리 정의한 </a:t>
            </a:r>
            <a:r>
              <a:rPr lang="ko-KR" altLang="en-US" b="1" dirty="0" err="1"/>
              <a:t>하이퍼파라미터</a:t>
            </a:r>
            <a:r>
              <a:rPr lang="ko-KR" altLang="en-US" b="1" dirty="0"/>
              <a:t> 후보 공간</a:t>
            </a:r>
            <a:r>
              <a:rPr lang="en-US" altLang="ko-KR" b="1" dirty="0"/>
              <a:t>(</a:t>
            </a:r>
            <a:r>
              <a:rPr lang="en-US" altLang="ko-KR" b="1" dirty="0" err="1"/>
              <a:t>param_distributions</a:t>
            </a:r>
            <a:r>
              <a:rPr lang="en-US" altLang="ko-KR" b="1" dirty="0"/>
              <a:t>)</a:t>
            </a:r>
            <a:r>
              <a:rPr lang="ko-KR" altLang="en-US" dirty="0"/>
              <a:t> 에서</a:t>
            </a:r>
          </a:p>
          <a:p>
            <a:r>
              <a:rPr lang="ko-KR" altLang="en-US" b="1" dirty="0"/>
              <a:t>무작위</a:t>
            </a:r>
            <a:r>
              <a:rPr lang="en-US" altLang="ko-KR" b="1" dirty="0"/>
              <a:t>(Random)</a:t>
            </a:r>
            <a:r>
              <a:rPr lang="ko-KR" altLang="en-US" b="1" dirty="0"/>
              <a:t>로 조합을 뽑아</a:t>
            </a:r>
            <a:endParaRPr lang="ko-KR" altLang="en-US" dirty="0"/>
          </a:p>
          <a:p>
            <a:r>
              <a:rPr lang="ko-KR" altLang="en-US" dirty="0"/>
              <a:t>각 조합에 대해 </a:t>
            </a:r>
            <a:r>
              <a:rPr lang="ko-KR" altLang="en-US" b="1" dirty="0"/>
              <a:t>교차검증</a:t>
            </a:r>
            <a:r>
              <a:rPr lang="en-US" altLang="ko-KR" b="1" dirty="0"/>
              <a:t>(cv)</a:t>
            </a:r>
            <a:r>
              <a:rPr lang="ko-KR" altLang="en-US" dirty="0"/>
              <a:t> 으로 성능을 평가하고</a:t>
            </a:r>
          </a:p>
          <a:p>
            <a:r>
              <a:rPr lang="ko-KR" altLang="en-US" b="1" dirty="0"/>
              <a:t>가장 성능이 좋은 파라미터 조합을 자동으로 선택</a:t>
            </a:r>
            <a:r>
              <a:rPr lang="ko-KR" altLang="en-US" dirty="0"/>
              <a:t>한다는 뜻이다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사람이 하나하나 파라미터를 손으로 바꾸는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코드가 정해진 횟수만큼 자동 실험 → 최적 조합 선택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 err="1"/>
              <a:t>하이퍼</a:t>
            </a:r>
            <a:r>
              <a:rPr lang="ko-KR" altLang="en-US" dirty="0"/>
              <a:t> 파라미터 최적화를 위한 </a:t>
            </a:r>
            <a:r>
              <a:rPr lang="ko-KR" altLang="en-US" dirty="0" err="1"/>
              <a:t>모델별</a:t>
            </a:r>
            <a:r>
              <a:rPr lang="ko-KR" altLang="en-US" dirty="0"/>
              <a:t> 실제 반복 횟수</a:t>
            </a:r>
            <a:r>
              <a:rPr lang="en-US" altLang="ko-KR" dirty="0"/>
              <a:t>) </a:t>
            </a:r>
            <a:r>
              <a:rPr lang="ko-KR" altLang="en-US" dirty="0"/>
              <a:t>공통 구간 </a:t>
            </a:r>
            <a:r>
              <a:rPr lang="en-US" altLang="ko-KR" dirty="0"/>
              <a:t>3 (</a:t>
            </a:r>
            <a:r>
              <a:rPr lang="ko-KR" altLang="en-US" dirty="0"/>
              <a:t>교차검증 영역</a:t>
            </a:r>
            <a:r>
              <a:rPr lang="en-US" altLang="ko-KR" dirty="0"/>
              <a:t>) RF = 5, XGB = 8 LGBM = 8</a:t>
            </a:r>
            <a:endParaRPr lang="ko-KR" altLang="en-US" dirty="0"/>
          </a:p>
          <a:p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F6468-0A9F-0DEA-673C-FC96D9C4E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52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7980C-E0C9-A11D-C8E5-C8B5218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9329C-DC5F-4629-BF52-9489F4916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2AB6E-ABD7-E1E2-A863-BE345AC7D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39508-9604-5544-1302-8202A9462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7061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6EC80-169E-E36C-2677-A4505A027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0FB3-0B3B-D9A4-D24D-A2EE3221F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58C08-9987-4B67-2F7E-705065635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본 연구는 시간</a:t>
            </a:r>
            <a:r>
              <a:rPr lang="en-US" altLang="ko-KR" dirty="0"/>
              <a:t>·</a:t>
            </a:r>
            <a:r>
              <a:rPr lang="ko-KR" altLang="en-US" dirty="0"/>
              <a:t>기상</a:t>
            </a:r>
            <a:r>
              <a:rPr lang="en-US" altLang="ko-KR" dirty="0"/>
              <a:t>·POI </a:t>
            </a:r>
            <a:r>
              <a:rPr lang="ko-KR" altLang="en-US" dirty="0"/>
              <a:t>피처를 결합한 트리 기반 회귀 모델</a:t>
            </a:r>
            <a:r>
              <a:rPr lang="en-US" altLang="ko-KR" dirty="0"/>
              <a:t>(</a:t>
            </a:r>
            <a:r>
              <a:rPr lang="en-US" altLang="ko-KR" dirty="0" err="1"/>
              <a:t>RandomForest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</a:t>
            </a:r>
            <a:r>
              <a:rPr lang="en-US" altLang="ko-KR" dirty="0" err="1"/>
              <a:t>LightGBM</a:t>
            </a:r>
            <a:r>
              <a:rPr lang="en-US" altLang="ko-KR" dirty="0"/>
              <a:t>)</a:t>
            </a:r>
            <a:r>
              <a:rPr lang="ko-KR" altLang="en-US" dirty="0"/>
              <a:t>을 도시별로 독립 학습하고</a:t>
            </a:r>
            <a:r>
              <a:rPr lang="en-US" altLang="ko-KR" dirty="0"/>
              <a:t>, </a:t>
            </a:r>
            <a:r>
              <a:rPr lang="ko-KR" altLang="en-US" dirty="0"/>
              <a:t>시계열 홀드아웃</a:t>
            </a:r>
            <a:r>
              <a:rPr lang="en-US" altLang="ko-KR" dirty="0"/>
              <a:t>(train/</a:t>
            </a:r>
            <a:r>
              <a:rPr lang="en-US" altLang="ko-KR" dirty="0" err="1"/>
              <a:t>val</a:t>
            </a:r>
            <a:r>
              <a:rPr lang="en-US" altLang="ko-KR" dirty="0"/>
              <a:t>/test) </a:t>
            </a:r>
            <a:r>
              <a:rPr lang="ko-KR" altLang="en-US" dirty="0"/>
              <a:t>검증을 통해 미래 구간 예측 성능을 평가하였다</a:t>
            </a:r>
            <a:r>
              <a:rPr lang="en-US" altLang="ko-KR" dirty="0"/>
              <a:t>. </a:t>
            </a:r>
            <a:r>
              <a:rPr lang="ko-KR" altLang="en-US" dirty="0"/>
              <a:t>또한 </a:t>
            </a:r>
            <a:r>
              <a:rPr lang="en-US" altLang="ko-KR" dirty="0"/>
              <a:t>IQR </a:t>
            </a:r>
            <a:r>
              <a:rPr lang="ko-KR" altLang="en-US" dirty="0"/>
              <a:t>기반 이상치 제거 적용 여부를 별도 실험으로 분리하여</a:t>
            </a:r>
            <a:r>
              <a:rPr lang="en-US" altLang="ko-KR" dirty="0"/>
              <a:t>, </a:t>
            </a:r>
            <a:r>
              <a:rPr lang="ko-KR" altLang="en-US" dirty="0"/>
              <a:t>극단 수요를 포함한 실제 분포 학습과 일반 구간 성능 안정화 간의 트레이드오프를 비교 가능하도록 설계하였다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또한 실험 단위</a:t>
            </a:r>
            <a:r>
              <a:rPr lang="en-US" altLang="ko-KR" dirty="0"/>
              <a:t>(</a:t>
            </a:r>
            <a:r>
              <a:rPr lang="ko-KR" altLang="en-US" dirty="0"/>
              <a:t>도시</a:t>
            </a:r>
            <a:r>
              <a:rPr lang="en-US" altLang="ko-KR" dirty="0"/>
              <a:t>/</a:t>
            </a:r>
            <a:r>
              <a:rPr lang="ko-KR" altLang="en-US" dirty="0"/>
              <a:t>피처모드</a:t>
            </a:r>
            <a:r>
              <a:rPr lang="en-US" altLang="ko-KR" dirty="0"/>
              <a:t>/</a:t>
            </a:r>
            <a:r>
              <a:rPr lang="ko-KR" altLang="en-US" dirty="0"/>
              <a:t>모델</a:t>
            </a:r>
            <a:r>
              <a:rPr lang="en-US" altLang="ko-KR" dirty="0"/>
              <a:t>)”</a:t>
            </a:r>
            <a:r>
              <a:rPr lang="ko-KR" altLang="en-US" dirty="0"/>
              <a:t>가 파일명으로 관리되어 재현</a:t>
            </a:r>
            <a:r>
              <a:rPr lang="en-US" altLang="ko-KR" dirty="0"/>
              <a:t>·</a:t>
            </a:r>
            <a:r>
              <a:rPr lang="ko-KR" altLang="en-US" dirty="0"/>
              <a:t>비교가 쉽게 설계하였습니다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Note)</a:t>
            </a:r>
            <a:br>
              <a:rPr lang="en-US" altLang="ko-KR" dirty="0"/>
            </a:br>
            <a:r>
              <a:rPr lang="ko-KR" altLang="en-US" b="1" dirty="0"/>
              <a:t>“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로 자동 </a:t>
            </a:r>
            <a:r>
              <a:rPr lang="ko-KR" altLang="en-US" b="1" dirty="0" err="1"/>
              <a:t>튜닝한다”는</a:t>
            </a:r>
            <a:r>
              <a:rPr lang="ko-KR" altLang="en-US" b="1" dirty="0"/>
              <a:t> 게 무슨 의미인가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맞다</a:t>
            </a:r>
            <a:r>
              <a:rPr lang="en-US" altLang="ko-KR" b="1" dirty="0"/>
              <a:t>. </a:t>
            </a:r>
            <a:r>
              <a:rPr lang="ko-KR" altLang="en-US" b="1" dirty="0"/>
              <a:t>현재 코드는 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를 사용해서 </a:t>
            </a:r>
            <a:r>
              <a:rPr lang="ko-KR" altLang="en-US" b="1" dirty="0" err="1"/>
              <a:t>하이퍼파라미터를</a:t>
            </a:r>
            <a:r>
              <a:rPr lang="ko-KR" altLang="en-US" b="1" dirty="0"/>
              <a:t> 자동 탐색한다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의미를 풀면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우리가 미리 정의한 </a:t>
            </a:r>
            <a:r>
              <a:rPr lang="ko-KR" altLang="en-US" b="1" dirty="0" err="1"/>
              <a:t>하이퍼파라미터</a:t>
            </a:r>
            <a:r>
              <a:rPr lang="ko-KR" altLang="en-US" b="1" dirty="0"/>
              <a:t> 후보 공간</a:t>
            </a:r>
            <a:r>
              <a:rPr lang="en-US" altLang="ko-KR" b="1" dirty="0"/>
              <a:t>(</a:t>
            </a:r>
            <a:r>
              <a:rPr lang="en-US" altLang="ko-KR" b="1" dirty="0" err="1"/>
              <a:t>param_distributions</a:t>
            </a:r>
            <a:r>
              <a:rPr lang="en-US" altLang="ko-KR" b="1" dirty="0"/>
              <a:t>)</a:t>
            </a:r>
            <a:r>
              <a:rPr lang="ko-KR" altLang="en-US" dirty="0"/>
              <a:t> 에서</a:t>
            </a:r>
          </a:p>
          <a:p>
            <a:r>
              <a:rPr lang="ko-KR" altLang="en-US" b="1" dirty="0"/>
              <a:t>무작위</a:t>
            </a:r>
            <a:r>
              <a:rPr lang="en-US" altLang="ko-KR" b="1" dirty="0"/>
              <a:t>(Random)</a:t>
            </a:r>
            <a:r>
              <a:rPr lang="ko-KR" altLang="en-US" b="1" dirty="0"/>
              <a:t>로 조합을 뽑아</a:t>
            </a:r>
            <a:endParaRPr lang="ko-KR" altLang="en-US" dirty="0"/>
          </a:p>
          <a:p>
            <a:r>
              <a:rPr lang="ko-KR" altLang="en-US" dirty="0"/>
              <a:t>각 조합에 대해 </a:t>
            </a:r>
            <a:r>
              <a:rPr lang="ko-KR" altLang="en-US" b="1" dirty="0"/>
              <a:t>교차검증</a:t>
            </a:r>
            <a:r>
              <a:rPr lang="en-US" altLang="ko-KR" b="1" dirty="0"/>
              <a:t>(cv)</a:t>
            </a:r>
            <a:r>
              <a:rPr lang="ko-KR" altLang="en-US" dirty="0"/>
              <a:t> 으로 성능을 평가하고</a:t>
            </a:r>
          </a:p>
          <a:p>
            <a:r>
              <a:rPr lang="ko-KR" altLang="en-US" b="1" dirty="0"/>
              <a:t>가장 성능이 좋은 파라미터 조합을 자동으로 선택</a:t>
            </a:r>
            <a:r>
              <a:rPr lang="ko-KR" altLang="en-US" dirty="0"/>
              <a:t>한다는 뜻이다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사람이 하나하나 파라미터를 손으로 바꾸는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코드가 정해진 횟수만큼 자동 실험 → 최적 조합 선택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 err="1"/>
              <a:t>하이퍼</a:t>
            </a:r>
            <a:r>
              <a:rPr lang="ko-KR" altLang="en-US" dirty="0"/>
              <a:t> 파라미터 최적화를 위한 </a:t>
            </a:r>
            <a:r>
              <a:rPr lang="ko-KR" altLang="en-US" dirty="0" err="1"/>
              <a:t>모델별</a:t>
            </a:r>
            <a:r>
              <a:rPr lang="ko-KR" altLang="en-US" dirty="0"/>
              <a:t> 실제 반복 횟수</a:t>
            </a:r>
            <a:r>
              <a:rPr lang="en-US" altLang="ko-KR" dirty="0"/>
              <a:t>) </a:t>
            </a:r>
            <a:r>
              <a:rPr lang="ko-KR" altLang="en-US" dirty="0"/>
              <a:t>공통 구간 </a:t>
            </a:r>
            <a:r>
              <a:rPr lang="en-US" altLang="ko-KR" dirty="0"/>
              <a:t>3 (</a:t>
            </a:r>
            <a:r>
              <a:rPr lang="ko-KR" altLang="en-US" dirty="0"/>
              <a:t>교차검증 영역</a:t>
            </a:r>
            <a:r>
              <a:rPr lang="en-US" altLang="ko-KR" dirty="0"/>
              <a:t>) RF = 5, XGB = 8 LGBM = 8</a:t>
            </a:r>
            <a:endParaRPr lang="ko-KR" altLang="en-US" dirty="0"/>
          </a:p>
          <a:p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0FAE5-A0C5-E111-55B4-DDF27DEA6B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646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89430-2589-680D-7CF1-AC9B5A63E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54B16C-3A0A-58BF-62A7-653ECB3A32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058CA-6EEC-28AD-2971-D2C9F7215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본 연구는 시간</a:t>
            </a:r>
            <a:r>
              <a:rPr lang="en-US" altLang="ko-KR" dirty="0"/>
              <a:t>·</a:t>
            </a:r>
            <a:r>
              <a:rPr lang="ko-KR" altLang="en-US" dirty="0"/>
              <a:t>기상</a:t>
            </a:r>
            <a:r>
              <a:rPr lang="en-US" altLang="ko-KR" dirty="0"/>
              <a:t>·POI </a:t>
            </a:r>
            <a:r>
              <a:rPr lang="ko-KR" altLang="en-US" dirty="0"/>
              <a:t>피처를 결합한 트리 기반 회귀 모델</a:t>
            </a:r>
            <a:r>
              <a:rPr lang="en-US" altLang="ko-KR" dirty="0"/>
              <a:t>(</a:t>
            </a:r>
            <a:r>
              <a:rPr lang="en-US" altLang="ko-KR" dirty="0" err="1"/>
              <a:t>RandomForest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</a:t>
            </a:r>
            <a:r>
              <a:rPr lang="en-US" altLang="ko-KR" dirty="0" err="1"/>
              <a:t>LightGBM</a:t>
            </a:r>
            <a:r>
              <a:rPr lang="en-US" altLang="ko-KR" dirty="0"/>
              <a:t>)</a:t>
            </a:r>
            <a:r>
              <a:rPr lang="ko-KR" altLang="en-US" dirty="0"/>
              <a:t>을 도시별로 독립 학습하고</a:t>
            </a:r>
            <a:r>
              <a:rPr lang="en-US" altLang="ko-KR" dirty="0"/>
              <a:t>, </a:t>
            </a:r>
            <a:r>
              <a:rPr lang="ko-KR" altLang="en-US" dirty="0"/>
              <a:t>시계열 홀드아웃</a:t>
            </a:r>
            <a:r>
              <a:rPr lang="en-US" altLang="ko-KR" dirty="0"/>
              <a:t>(train/</a:t>
            </a:r>
            <a:r>
              <a:rPr lang="en-US" altLang="ko-KR" dirty="0" err="1"/>
              <a:t>val</a:t>
            </a:r>
            <a:r>
              <a:rPr lang="en-US" altLang="ko-KR" dirty="0"/>
              <a:t>/test) </a:t>
            </a:r>
            <a:r>
              <a:rPr lang="ko-KR" altLang="en-US" dirty="0"/>
              <a:t>검증을 통해 미래 구간 예측 성능을 평가하였다</a:t>
            </a:r>
            <a:r>
              <a:rPr lang="en-US" altLang="ko-KR" dirty="0"/>
              <a:t>. </a:t>
            </a:r>
            <a:r>
              <a:rPr lang="ko-KR" altLang="en-US" dirty="0"/>
              <a:t>또한 </a:t>
            </a:r>
            <a:r>
              <a:rPr lang="en-US" altLang="ko-KR" dirty="0"/>
              <a:t>IQR </a:t>
            </a:r>
            <a:r>
              <a:rPr lang="ko-KR" altLang="en-US" dirty="0"/>
              <a:t>기반 이상치 제거 적용 여부를 별도 실험으로 분리하여</a:t>
            </a:r>
            <a:r>
              <a:rPr lang="en-US" altLang="ko-KR" dirty="0"/>
              <a:t>, </a:t>
            </a:r>
            <a:r>
              <a:rPr lang="ko-KR" altLang="en-US" dirty="0"/>
              <a:t>극단 수요를 포함한 실제 분포 학습과 일반 구간 성능 안정화 간의 트레이드오프를 비교 가능하도록 설계하였다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또한 실험 단위</a:t>
            </a:r>
            <a:r>
              <a:rPr lang="en-US" altLang="ko-KR" dirty="0"/>
              <a:t>(</a:t>
            </a:r>
            <a:r>
              <a:rPr lang="ko-KR" altLang="en-US" dirty="0"/>
              <a:t>도시</a:t>
            </a:r>
            <a:r>
              <a:rPr lang="en-US" altLang="ko-KR" dirty="0"/>
              <a:t>/</a:t>
            </a:r>
            <a:r>
              <a:rPr lang="ko-KR" altLang="en-US" dirty="0"/>
              <a:t>피처모드</a:t>
            </a:r>
            <a:r>
              <a:rPr lang="en-US" altLang="ko-KR" dirty="0"/>
              <a:t>/</a:t>
            </a:r>
            <a:r>
              <a:rPr lang="ko-KR" altLang="en-US" dirty="0"/>
              <a:t>모델</a:t>
            </a:r>
            <a:r>
              <a:rPr lang="en-US" altLang="ko-KR" dirty="0"/>
              <a:t>)”</a:t>
            </a:r>
            <a:r>
              <a:rPr lang="ko-KR" altLang="en-US" dirty="0"/>
              <a:t>가 파일명으로 관리되어 재현</a:t>
            </a:r>
            <a:r>
              <a:rPr lang="en-US" altLang="ko-KR" dirty="0"/>
              <a:t>·</a:t>
            </a:r>
            <a:r>
              <a:rPr lang="ko-KR" altLang="en-US" dirty="0"/>
              <a:t>비교가 쉽게 설계하였습니다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Note)</a:t>
            </a:r>
            <a:br>
              <a:rPr lang="en-US" altLang="ko-KR" dirty="0"/>
            </a:br>
            <a:r>
              <a:rPr lang="ko-KR" altLang="en-US" b="1" dirty="0"/>
              <a:t>“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로 자동 </a:t>
            </a:r>
            <a:r>
              <a:rPr lang="ko-KR" altLang="en-US" b="1" dirty="0" err="1"/>
              <a:t>튜닝한다”는</a:t>
            </a:r>
            <a:r>
              <a:rPr lang="ko-KR" altLang="en-US" b="1" dirty="0"/>
              <a:t> 게 무슨 의미인가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맞다</a:t>
            </a:r>
            <a:r>
              <a:rPr lang="en-US" altLang="ko-KR" b="1" dirty="0"/>
              <a:t>. </a:t>
            </a:r>
            <a:r>
              <a:rPr lang="ko-KR" altLang="en-US" b="1" dirty="0"/>
              <a:t>현재 코드는 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를 사용해서 </a:t>
            </a:r>
            <a:r>
              <a:rPr lang="ko-KR" altLang="en-US" b="1" dirty="0" err="1"/>
              <a:t>하이퍼파라미터를</a:t>
            </a:r>
            <a:r>
              <a:rPr lang="ko-KR" altLang="en-US" b="1" dirty="0"/>
              <a:t> 자동 탐색한다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의미를 풀면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우리가 미리 정의한 </a:t>
            </a:r>
            <a:r>
              <a:rPr lang="ko-KR" altLang="en-US" b="1" dirty="0" err="1"/>
              <a:t>하이퍼파라미터</a:t>
            </a:r>
            <a:r>
              <a:rPr lang="ko-KR" altLang="en-US" b="1" dirty="0"/>
              <a:t> 후보 공간</a:t>
            </a:r>
            <a:r>
              <a:rPr lang="en-US" altLang="ko-KR" b="1" dirty="0"/>
              <a:t>(</a:t>
            </a:r>
            <a:r>
              <a:rPr lang="en-US" altLang="ko-KR" b="1" dirty="0" err="1"/>
              <a:t>param_distributions</a:t>
            </a:r>
            <a:r>
              <a:rPr lang="en-US" altLang="ko-KR" b="1" dirty="0"/>
              <a:t>)</a:t>
            </a:r>
            <a:r>
              <a:rPr lang="ko-KR" altLang="en-US" dirty="0"/>
              <a:t> 에서</a:t>
            </a:r>
          </a:p>
          <a:p>
            <a:r>
              <a:rPr lang="ko-KR" altLang="en-US" b="1" dirty="0"/>
              <a:t>무작위</a:t>
            </a:r>
            <a:r>
              <a:rPr lang="en-US" altLang="ko-KR" b="1" dirty="0"/>
              <a:t>(Random)</a:t>
            </a:r>
            <a:r>
              <a:rPr lang="ko-KR" altLang="en-US" b="1" dirty="0"/>
              <a:t>로 조합을 뽑아</a:t>
            </a:r>
            <a:endParaRPr lang="ko-KR" altLang="en-US" dirty="0"/>
          </a:p>
          <a:p>
            <a:r>
              <a:rPr lang="ko-KR" altLang="en-US" dirty="0"/>
              <a:t>각 조합에 대해 </a:t>
            </a:r>
            <a:r>
              <a:rPr lang="ko-KR" altLang="en-US" b="1" dirty="0"/>
              <a:t>교차검증</a:t>
            </a:r>
            <a:r>
              <a:rPr lang="en-US" altLang="ko-KR" b="1" dirty="0"/>
              <a:t>(cv)</a:t>
            </a:r>
            <a:r>
              <a:rPr lang="ko-KR" altLang="en-US" dirty="0"/>
              <a:t> 으로 성능을 평가하고</a:t>
            </a:r>
          </a:p>
          <a:p>
            <a:r>
              <a:rPr lang="ko-KR" altLang="en-US" b="1" dirty="0"/>
              <a:t>가장 성능이 좋은 파라미터 조합을 자동으로 선택</a:t>
            </a:r>
            <a:r>
              <a:rPr lang="ko-KR" altLang="en-US" dirty="0"/>
              <a:t>한다는 뜻이다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사람이 하나하나 파라미터를 손으로 바꾸는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코드가 정해진 횟수만큼 자동 실험 → 최적 조합 선택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 err="1"/>
              <a:t>하이퍼</a:t>
            </a:r>
            <a:r>
              <a:rPr lang="ko-KR" altLang="en-US" dirty="0"/>
              <a:t> 파라미터 최적화를 위한 </a:t>
            </a:r>
            <a:r>
              <a:rPr lang="ko-KR" altLang="en-US" dirty="0" err="1"/>
              <a:t>모델별</a:t>
            </a:r>
            <a:r>
              <a:rPr lang="ko-KR" altLang="en-US" dirty="0"/>
              <a:t> 실제 반복 횟수</a:t>
            </a:r>
            <a:r>
              <a:rPr lang="en-US" altLang="ko-KR" dirty="0"/>
              <a:t>) </a:t>
            </a:r>
            <a:r>
              <a:rPr lang="ko-KR" altLang="en-US" dirty="0"/>
              <a:t>공통 구간 </a:t>
            </a:r>
            <a:r>
              <a:rPr lang="en-US" altLang="ko-KR" dirty="0"/>
              <a:t>3 (</a:t>
            </a:r>
            <a:r>
              <a:rPr lang="ko-KR" altLang="en-US" dirty="0"/>
              <a:t>교차검증 영역</a:t>
            </a:r>
            <a:r>
              <a:rPr lang="en-US" altLang="ko-KR" dirty="0"/>
              <a:t>) RF = 5, XGB = 8 LGBM = 8</a:t>
            </a:r>
            <a:endParaRPr lang="ko-KR" altLang="en-US" dirty="0"/>
          </a:p>
          <a:p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534DE-43C8-0B07-EBE2-3D50F4274A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660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8C9EE-37C4-6B1C-F0CF-2DFD97ABE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29D85-16D2-8558-DEF6-C2678BDA4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45E3C-FF93-C133-C8E5-80BB09B8A6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A49B1-3EB5-D635-8E3B-5D28C782C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509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52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21" Type="http://schemas.openxmlformats.org/officeDocument/2006/relationships/image" Target="../media/image34.jp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jp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6.pn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4.png"/><Relationship Id="rId5" Type="http://schemas.openxmlformats.org/officeDocument/2006/relationships/image" Target="../media/image39.png"/><Relationship Id="rId15" Type="http://schemas.openxmlformats.org/officeDocument/2006/relationships/image" Target="../media/image48.png"/><Relationship Id="rId10" Type="http://schemas.openxmlformats.org/officeDocument/2006/relationships/image" Target="../media/image33.png"/><Relationship Id="rId4" Type="http://schemas.openxmlformats.org/officeDocument/2006/relationships/image" Target="../media/image17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0.png"/><Relationship Id="rId3" Type="http://schemas.openxmlformats.org/officeDocument/2006/relationships/image" Target="../media/image17.png"/><Relationship Id="rId21" Type="http://schemas.openxmlformats.org/officeDocument/2006/relationships/image" Target="../media/image66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69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8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33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7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61.png"/><Relationship Id="rId5" Type="http://schemas.openxmlformats.org/officeDocument/2006/relationships/image" Target="../media/image72.png"/><Relationship Id="rId10" Type="http://schemas.openxmlformats.org/officeDocument/2006/relationships/image" Target="../media/image60.png"/><Relationship Id="rId4" Type="http://schemas.openxmlformats.org/officeDocument/2006/relationships/image" Target="../media/image71.png"/><Relationship Id="rId9" Type="http://schemas.openxmlformats.org/officeDocument/2006/relationships/image" Target="../media/image5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26" Type="http://schemas.openxmlformats.org/officeDocument/2006/relationships/image" Target="../media/image109.png"/><Relationship Id="rId39" Type="http://schemas.openxmlformats.org/officeDocument/2006/relationships/image" Target="../media/image122.png"/><Relationship Id="rId21" Type="http://schemas.openxmlformats.org/officeDocument/2006/relationships/image" Target="../media/image104.png"/><Relationship Id="rId34" Type="http://schemas.openxmlformats.org/officeDocument/2006/relationships/image" Target="../media/image117.png"/><Relationship Id="rId42" Type="http://schemas.openxmlformats.org/officeDocument/2006/relationships/image" Target="../media/image125.png"/><Relationship Id="rId47" Type="http://schemas.openxmlformats.org/officeDocument/2006/relationships/image" Target="../media/image130.png"/><Relationship Id="rId50" Type="http://schemas.openxmlformats.org/officeDocument/2006/relationships/image" Target="../media/image133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9.png"/><Relationship Id="rId29" Type="http://schemas.openxmlformats.org/officeDocument/2006/relationships/image" Target="../media/image112.png"/><Relationship Id="rId11" Type="http://schemas.openxmlformats.org/officeDocument/2006/relationships/image" Target="../media/image94.png"/><Relationship Id="rId24" Type="http://schemas.openxmlformats.org/officeDocument/2006/relationships/image" Target="../media/image107.png"/><Relationship Id="rId32" Type="http://schemas.openxmlformats.org/officeDocument/2006/relationships/image" Target="../media/image115.png"/><Relationship Id="rId37" Type="http://schemas.openxmlformats.org/officeDocument/2006/relationships/image" Target="../media/image120.png"/><Relationship Id="rId40" Type="http://schemas.openxmlformats.org/officeDocument/2006/relationships/image" Target="../media/image123.png"/><Relationship Id="rId45" Type="http://schemas.openxmlformats.org/officeDocument/2006/relationships/image" Target="../media/image128.png"/><Relationship Id="rId53" Type="http://schemas.openxmlformats.org/officeDocument/2006/relationships/image" Target="../media/image48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31" Type="http://schemas.openxmlformats.org/officeDocument/2006/relationships/image" Target="../media/image114.png"/><Relationship Id="rId44" Type="http://schemas.openxmlformats.org/officeDocument/2006/relationships/image" Target="../media/image127.png"/><Relationship Id="rId52" Type="http://schemas.openxmlformats.org/officeDocument/2006/relationships/image" Target="../media/image33.png"/><Relationship Id="rId4" Type="http://schemas.openxmlformats.org/officeDocument/2006/relationships/image" Target="../media/image17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Relationship Id="rId22" Type="http://schemas.openxmlformats.org/officeDocument/2006/relationships/image" Target="../media/image105.png"/><Relationship Id="rId27" Type="http://schemas.openxmlformats.org/officeDocument/2006/relationships/image" Target="../media/image110.png"/><Relationship Id="rId30" Type="http://schemas.openxmlformats.org/officeDocument/2006/relationships/image" Target="../media/image113.png"/><Relationship Id="rId35" Type="http://schemas.openxmlformats.org/officeDocument/2006/relationships/image" Target="../media/image118.png"/><Relationship Id="rId43" Type="http://schemas.openxmlformats.org/officeDocument/2006/relationships/image" Target="../media/image126.png"/><Relationship Id="rId48" Type="http://schemas.openxmlformats.org/officeDocument/2006/relationships/image" Target="../media/image131.png"/><Relationship Id="rId8" Type="http://schemas.openxmlformats.org/officeDocument/2006/relationships/image" Target="../media/image91.png"/><Relationship Id="rId51" Type="http://schemas.openxmlformats.org/officeDocument/2006/relationships/image" Target="../media/image134.png"/><Relationship Id="rId3" Type="http://schemas.openxmlformats.org/officeDocument/2006/relationships/image" Target="../media/image87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5" Type="http://schemas.openxmlformats.org/officeDocument/2006/relationships/image" Target="../media/image108.png"/><Relationship Id="rId33" Type="http://schemas.openxmlformats.org/officeDocument/2006/relationships/image" Target="../media/image116.png"/><Relationship Id="rId38" Type="http://schemas.openxmlformats.org/officeDocument/2006/relationships/image" Target="../media/image121.png"/><Relationship Id="rId46" Type="http://schemas.openxmlformats.org/officeDocument/2006/relationships/image" Target="../media/image129.png"/><Relationship Id="rId20" Type="http://schemas.openxmlformats.org/officeDocument/2006/relationships/image" Target="../media/image103.png"/><Relationship Id="rId41" Type="http://schemas.openxmlformats.org/officeDocument/2006/relationships/image" Target="../media/image124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5" Type="http://schemas.openxmlformats.org/officeDocument/2006/relationships/image" Target="../media/image98.png"/><Relationship Id="rId23" Type="http://schemas.openxmlformats.org/officeDocument/2006/relationships/image" Target="../media/image106.png"/><Relationship Id="rId28" Type="http://schemas.openxmlformats.org/officeDocument/2006/relationships/image" Target="../media/image111.png"/><Relationship Id="rId36" Type="http://schemas.openxmlformats.org/officeDocument/2006/relationships/image" Target="../media/image119.png"/><Relationship Id="rId49" Type="http://schemas.openxmlformats.org/officeDocument/2006/relationships/image" Target="../media/image1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13" Type="http://schemas.openxmlformats.org/officeDocument/2006/relationships/image" Target="../media/image144.png"/><Relationship Id="rId18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38.png"/><Relationship Id="rId12" Type="http://schemas.openxmlformats.org/officeDocument/2006/relationships/image" Target="../media/image143.png"/><Relationship Id="rId17" Type="http://schemas.openxmlformats.org/officeDocument/2006/relationships/image" Target="../media/image14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11" Type="http://schemas.openxmlformats.org/officeDocument/2006/relationships/image" Target="../media/image142.png"/><Relationship Id="rId5" Type="http://schemas.openxmlformats.org/officeDocument/2006/relationships/image" Target="../media/image136.png"/><Relationship Id="rId15" Type="http://schemas.openxmlformats.org/officeDocument/2006/relationships/image" Target="../media/image146.svg"/><Relationship Id="rId10" Type="http://schemas.openxmlformats.org/officeDocument/2006/relationships/image" Target="../media/image141.png"/><Relationship Id="rId19" Type="http://schemas.openxmlformats.org/officeDocument/2006/relationships/image" Target="../media/image149.png"/><Relationship Id="rId4" Type="http://schemas.openxmlformats.org/officeDocument/2006/relationships/image" Target="../media/image17.png"/><Relationship Id="rId9" Type="http://schemas.openxmlformats.org/officeDocument/2006/relationships/image" Target="../media/image140.png"/><Relationship Id="rId14" Type="http://schemas.openxmlformats.org/officeDocument/2006/relationships/image" Target="../media/image1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13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52.png"/><Relationship Id="rId12" Type="http://schemas.openxmlformats.org/officeDocument/2006/relationships/image" Target="../media/image15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1.png"/><Relationship Id="rId11" Type="http://schemas.openxmlformats.org/officeDocument/2006/relationships/image" Target="../media/image155.png"/><Relationship Id="rId5" Type="http://schemas.openxmlformats.org/officeDocument/2006/relationships/image" Target="../media/image150.png"/><Relationship Id="rId10" Type="http://schemas.openxmlformats.org/officeDocument/2006/relationships/image" Target="../media/image154.png"/><Relationship Id="rId4" Type="http://schemas.openxmlformats.org/officeDocument/2006/relationships/image" Target="../media/image17.png"/><Relationship Id="rId9" Type="http://schemas.openxmlformats.org/officeDocument/2006/relationships/image" Target="../media/image139.png"/><Relationship Id="rId14" Type="http://schemas.openxmlformats.org/officeDocument/2006/relationships/image" Target="../media/image1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35.png"/><Relationship Id="rId7" Type="http://schemas.openxmlformats.org/officeDocument/2006/relationships/image" Target="../media/image48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9.png"/><Relationship Id="rId11" Type="http://schemas.openxmlformats.org/officeDocument/2006/relationships/image" Target="../media/image74.png"/><Relationship Id="rId5" Type="http://schemas.openxmlformats.org/officeDocument/2006/relationships/image" Target="../media/image150.png"/><Relationship Id="rId10" Type="http://schemas.openxmlformats.org/officeDocument/2006/relationships/image" Target="../media/image158.png"/><Relationship Id="rId4" Type="http://schemas.openxmlformats.org/officeDocument/2006/relationships/image" Target="../media/image17.png"/><Relationship Id="rId9" Type="http://schemas.openxmlformats.org/officeDocument/2006/relationships/image" Target="../media/image15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33.png"/><Relationship Id="rId3" Type="http://schemas.openxmlformats.org/officeDocument/2006/relationships/image" Target="../media/image159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61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4" Type="http://schemas.openxmlformats.org/officeDocument/2006/relationships/image" Target="../media/image160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13" Type="http://schemas.openxmlformats.org/officeDocument/2006/relationships/image" Target="../media/image33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18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13" Type="http://schemas.openxmlformats.org/officeDocument/2006/relationships/image" Target="../media/image190.png"/><Relationship Id="rId18" Type="http://schemas.openxmlformats.org/officeDocument/2006/relationships/image" Target="../media/image74.png"/><Relationship Id="rId3" Type="http://schemas.openxmlformats.org/officeDocument/2006/relationships/image" Target="../media/image38.png"/><Relationship Id="rId21" Type="http://schemas.openxmlformats.org/officeDocument/2006/relationships/image" Target="../media/image197.png"/><Relationship Id="rId7" Type="http://schemas.openxmlformats.org/officeDocument/2006/relationships/image" Target="../media/image184.png"/><Relationship Id="rId12" Type="http://schemas.openxmlformats.org/officeDocument/2006/relationships/image" Target="../media/image189.png"/><Relationship Id="rId17" Type="http://schemas.openxmlformats.org/officeDocument/2006/relationships/image" Target="../media/image19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93.png"/><Relationship Id="rId20" Type="http://schemas.openxmlformats.org/officeDocument/2006/relationships/image" Target="../media/image1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188.png"/><Relationship Id="rId5" Type="http://schemas.openxmlformats.org/officeDocument/2006/relationships/image" Target="../media/image183.png"/><Relationship Id="rId15" Type="http://schemas.openxmlformats.org/officeDocument/2006/relationships/image" Target="../media/image192.png"/><Relationship Id="rId10" Type="http://schemas.openxmlformats.org/officeDocument/2006/relationships/image" Target="../media/image187.png"/><Relationship Id="rId19" Type="http://schemas.openxmlformats.org/officeDocument/2006/relationships/image" Target="../media/image195.png"/><Relationship Id="rId4" Type="http://schemas.openxmlformats.org/officeDocument/2006/relationships/image" Target="../media/image17.png"/><Relationship Id="rId9" Type="http://schemas.openxmlformats.org/officeDocument/2006/relationships/image" Target="../media/image186.png"/><Relationship Id="rId14" Type="http://schemas.openxmlformats.org/officeDocument/2006/relationships/image" Target="../media/image191.png"/><Relationship Id="rId22" Type="http://schemas.openxmlformats.org/officeDocument/2006/relationships/image" Target="../media/image19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03.png"/><Relationship Id="rId18" Type="http://schemas.openxmlformats.org/officeDocument/2006/relationships/image" Target="../media/image197.png"/><Relationship Id="rId3" Type="http://schemas.openxmlformats.org/officeDocument/2006/relationships/image" Target="../media/image38.png"/><Relationship Id="rId7" Type="http://schemas.openxmlformats.org/officeDocument/2006/relationships/image" Target="../media/image74.png"/><Relationship Id="rId12" Type="http://schemas.openxmlformats.org/officeDocument/2006/relationships/image" Target="../media/image202.png"/><Relationship Id="rId17" Type="http://schemas.openxmlformats.org/officeDocument/2006/relationships/image" Target="../media/image196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01.png"/><Relationship Id="rId5" Type="http://schemas.openxmlformats.org/officeDocument/2006/relationships/image" Target="../media/image183.png"/><Relationship Id="rId15" Type="http://schemas.openxmlformats.org/officeDocument/2006/relationships/image" Target="../media/image205.png"/><Relationship Id="rId10" Type="http://schemas.openxmlformats.org/officeDocument/2006/relationships/image" Target="../media/image200.png"/><Relationship Id="rId19" Type="http://schemas.openxmlformats.org/officeDocument/2006/relationships/image" Target="../media/image207.png"/><Relationship Id="rId4" Type="http://schemas.openxmlformats.org/officeDocument/2006/relationships/image" Target="../media/image17.png"/><Relationship Id="rId9" Type="http://schemas.openxmlformats.org/officeDocument/2006/relationships/image" Target="../media/image199.png"/><Relationship Id="rId14" Type="http://schemas.openxmlformats.org/officeDocument/2006/relationships/image" Target="../media/image20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2.png"/><Relationship Id="rId18" Type="http://schemas.openxmlformats.org/officeDocument/2006/relationships/image" Target="../media/image216.png"/><Relationship Id="rId26" Type="http://schemas.openxmlformats.org/officeDocument/2006/relationships/image" Target="../media/image224.png"/><Relationship Id="rId3" Type="http://schemas.openxmlformats.org/officeDocument/2006/relationships/image" Target="../media/image38.png"/><Relationship Id="rId21" Type="http://schemas.openxmlformats.org/officeDocument/2006/relationships/image" Target="../media/image219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215.png"/><Relationship Id="rId25" Type="http://schemas.openxmlformats.org/officeDocument/2006/relationships/image" Target="../media/image22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14.png"/><Relationship Id="rId20" Type="http://schemas.openxmlformats.org/officeDocument/2006/relationships/image" Target="../media/image2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24" Type="http://schemas.openxmlformats.org/officeDocument/2006/relationships/image" Target="../media/image222.png"/><Relationship Id="rId5" Type="http://schemas.openxmlformats.org/officeDocument/2006/relationships/image" Target="../media/image183.png"/><Relationship Id="rId15" Type="http://schemas.openxmlformats.org/officeDocument/2006/relationships/image" Target="../media/image213.png"/><Relationship Id="rId23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17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41.png"/><Relationship Id="rId22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6.png"/><Relationship Id="rId13" Type="http://schemas.openxmlformats.org/officeDocument/2006/relationships/image" Target="../media/image230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2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5.png"/><Relationship Id="rId11" Type="http://schemas.openxmlformats.org/officeDocument/2006/relationships/image" Target="../media/image195.png"/><Relationship Id="rId5" Type="http://schemas.openxmlformats.org/officeDocument/2006/relationships/image" Target="../media/image183.png"/><Relationship Id="rId10" Type="http://schemas.openxmlformats.org/officeDocument/2006/relationships/image" Target="../media/image228.png"/><Relationship Id="rId4" Type="http://schemas.openxmlformats.org/officeDocument/2006/relationships/image" Target="../media/image17.png"/><Relationship Id="rId9" Type="http://schemas.openxmlformats.org/officeDocument/2006/relationships/image" Target="../media/image227.png"/><Relationship Id="rId14" Type="http://schemas.openxmlformats.org/officeDocument/2006/relationships/image" Target="../media/image2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2.png"/><Relationship Id="rId18" Type="http://schemas.openxmlformats.org/officeDocument/2006/relationships/image" Target="../media/image216.png"/><Relationship Id="rId26" Type="http://schemas.openxmlformats.org/officeDocument/2006/relationships/image" Target="../media/image224.png"/><Relationship Id="rId3" Type="http://schemas.openxmlformats.org/officeDocument/2006/relationships/image" Target="../media/image38.png"/><Relationship Id="rId21" Type="http://schemas.openxmlformats.org/officeDocument/2006/relationships/image" Target="../media/image219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215.png"/><Relationship Id="rId25" Type="http://schemas.openxmlformats.org/officeDocument/2006/relationships/image" Target="../media/image223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214.png"/><Relationship Id="rId20" Type="http://schemas.openxmlformats.org/officeDocument/2006/relationships/image" Target="../media/image2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24" Type="http://schemas.openxmlformats.org/officeDocument/2006/relationships/image" Target="../media/image222.png"/><Relationship Id="rId5" Type="http://schemas.openxmlformats.org/officeDocument/2006/relationships/image" Target="../media/image183.png"/><Relationship Id="rId15" Type="http://schemas.openxmlformats.org/officeDocument/2006/relationships/image" Target="../media/image213.png"/><Relationship Id="rId23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17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41.png"/><Relationship Id="rId22" Type="http://schemas.openxmlformats.org/officeDocument/2006/relationships/image" Target="../media/image22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2.png"/><Relationship Id="rId18" Type="http://schemas.openxmlformats.org/officeDocument/2006/relationships/image" Target="../media/image216.png"/><Relationship Id="rId26" Type="http://schemas.openxmlformats.org/officeDocument/2006/relationships/image" Target="../media/image224.png"/><Relationship Id="rId3" Type="http://schemas.openxmlformats.org/officeDocument/2006/relationships/image" Target="../media/image38.png"/><Relationship Id="rId21" Type="http://schemas.openxmlformats.org/officeDocument/2006/relationships/image" Target="../media/image219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215.png"/><Relationship Id="rId25" Type="http://schemas.openxmlformats.org/officeDocument/2006/relationships/image" Target="../media/image223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214.png"/><Relationship Id="rId20" Type="http://schemas.openxmlformats.org/officeDocument/2006/relationships/image" Target="../media/image2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24" Type="http://schemas.openxmlformats.org/officeDocument/2006/relationships/image" Target="../media/image222.png"/><Relationship Id="rId5" Type="http://schemas.openxmlformats.org/officeDocument/2006/relationships/image" Target="../media/image183.png"/><Relationship Id="rId15" Type="http://schemas.openxmlformats.org/officeDocument/2006/relationships/image" Target="../media/image213.png"/><Relationship Id="rId23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17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41.png"/><Relationship Id="rId22" Type="http://schemas.openxmlformats.org/officeDocument/2006/relationships/image" Target="../media/image22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239.png"/><Relationship Id="rId18" Type="http://schemas.openxmlformats.org/officeDocument/2006/relationships/image" Target="../media/image244.png"/><Relationship Id="rId3" Type="http://schemas.openxmlformats.org/officeDocument/2006/relationships/image" Target="../media/image38.png"/><Relationship Id="rId21" Type="http://schemas.openxmlformats.org/officeDocument/2006/relationships/image" Target="../media/image33.png"/><Relationship Id="rId7" Type="http://schemas.openxmlformats.org/officeDocument/2006/relationships/image" Target="../media/image234.png"/><Relationship Id="rId12" Type="http://schemas.openxmlformats.org/officeDocument/2006/relationships/image" Target="../media/image238.png"/><Relationship Id="rId17" Type="http://schemas.openxmlformats.org/officeDocument/2006/relationships/image" Target="../media/image243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42.png"/><Relationship Id="rId20" Type="http://schemas.openxmlformats.org/officeDocument/2006/relationships/image" Target="../media/image2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3.png"/><Relationship Id="rId11" Type="http://schemas.openxmlformats.org/officeDocument/2006/relationships/image" Target="../media/image237.png"/><Relationship Id="rId5" Type="http://schemas.openxmlformats.org/officeDocument/2006/relationships/image" Target="../media/image232.png"/><Relationship Id="rId15" Type="http://schemas.openxmlformats.org/officeDocument/2006/relationships/image" Target="../media/image241.png"/><Relationship Id="rId10" Type="http://schemas.openxmlformats.org/officeDocument/2006/relationships/image" Target="../media/image236.png"/><Relationship Id="rId19" Type="http://schemas.openxmlformats.org/officeDocument/2006/relationships/image" Target="../media/image245.png"/><Relationship Id="rId4" Type="http://schemas.openxmlformats.org/officeDocument/2006/relationships/image" Target="../media/image17.png"/><Relationship Id="rId9" Type="http://schemas.openxmlformats.org/officeDocument/2006/relationships/image" Target="../media/image235.png"/><Relationship Id="rId14" Type="http://schemas.openxmlformats.org/officeDocument/2006/relationships/image" Target="../media/image2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13" Type="http://schemas.openxmlformats.org/officeDocument/2006/relationships/image" Target="../media/image33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18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353" y="48101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5333" y="4810125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9385" y="48101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08664" y="4810125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자전거 대여 수요 예측 분석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4097893" y="5191125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5007977" y="5191125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5957367" y="5191125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6973788" y="5191125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2025-12-17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20029C5-06A1-4D3D-AAB2-228578A29061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723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93" y="1876425"/>
            <a:ext cx="5600700" cy="1562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590800"/>
            <a:ext cx="133350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819400"/>
            <a:ext cx="133350" cy="1333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3048000"/>
            <a:ext cx="133350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828800"/>
            <a:ext cx="5600700" cy="1562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590800"/>
            <a:ext cx="133350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8194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30480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" y="3619500"/>
            <a:ext cx="5600700" cy="1562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381500"/>
            <a:ext cx="133350" cy="1333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61010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838700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619500"/>
            <a:ext cx="5600700" cy="15621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381500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61010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838700"/>
            <a:ext cx="133350" cy="13335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" y="5505450"/>
            <a:ext cx="11430000" cy="1104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5724525"/>
            <a:ext cx="133350" cy="1714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6057900"/>
            <a:ext cx="1209675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3900" y="6172200"/>
            <a:ext cx="133350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33575" y="6057900"/>
            <a:ext cx="1247775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85975" y="6172200"/>
            <a:ext cx="171450" cy="13335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33750" y="6057900"/>
            <a:ext cx="1743075" cy="3429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86150" y="6172200"/>
            <a:ext cx="133350" cy="13335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29225" y="6057900"/>
            <a:ext cx="1209675" cy="3429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1625" y="6172200"/>
            <a:ext cx="133350" cy="13335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OpenMind 팀 소개</a:t>
            </a:r>
            <a:endParaRPr lang="en-US" sz="2250" dirty="0"/>
          </a:p>
        </p:txBody>
      </p:sp>
      <p:sp>
        <p:nvSpPr>
          <p:cNvPr id="40" name="Text 1"/>
          <p:cNvSpPr/>
          <p:nvPr/>
        </p:nvSpPr>
        <p:spPr>
          <a:xfrm>
            <a:off x="381000" y="1066800"/>
            <a:ext cx="11430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저희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OpenMind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명과 석사과정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팀원으로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구성되었습니다. 각 팀원의 전문 분야를 바탕으로 자전거 대여 수요 예측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진행 하겠습니다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2"/>
          <p:cNvSpPr/>
          <p:nvPr/>
        </p:nvSpPr>
        <p:spPr>
          <a:xfrm>
            <a:off x="11525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이해선 </a:t>
            </a:r>
            <a:endParaRPr lang="en-US" sz="1350" dirty="0"/>
          </a:p>
        </p:txBody>
      </p:sp>
      <p:sp>
        <p:nvSpPr>
          <p:cNvPr id="42" name="Text 3"/>
          <p:cNvSpPr/>
          <p:nvPr/>
        </p:nvSpPr>
        <p:spPr>
          <a:xfrm>
            <a:off x="11525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2025154003</a:t>
            </a:r>
            <a:endParaRPr lang="en-US" sz="1050" dirty="0"/>
          </a:p>
        </p:txBody>
      </p:sp>
      <p:sp>
        <p:nvSpPr>
          <p:cNvPr id="43" name="Text 4"/>
          <p:cNvSpPr/>
          <p:nvPr/>
        </p:nvSpPr>
        <p:spPr>
          <a:xfrm>
            <a:off x="13620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심텍</a:t>
            </a:r>
            <a:endParaRPr lang="en-US" sz="1050" dirty="0"/>
          </a:p>
        </p:txBody>
      </p:sp>
      <p:sp>
        <p:nvSpPr>
          <p:cNvPr id="44" name="Text 5"/>
          <p:cNvSpPr/>
          <p:nvPr/>
        </p:nvSpPr>
        <p:spPr>
          <a:xfrm>
            <a:off x="1362075" y="2781300"/>
            <a:ext cx="2137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프로세스 개발 및 설비 개발 투자</a:t>
            </a:r>
            <a:endParaRPr lang="en-US" sz="1050" dirty="0"/>
          </a:p>
        </p:txBody>
      </p:sp>
      <p:sp>
        <p:nvSpPr>
          <p:cNvPr id="45" name="Text 6"/>
          <p:cNvSpPr/>
          <p:nvPr/>
        </p:nvSpPr>
        <p:spPr>
          <a:xfrm>
            <a:off x="1362075" y="3009900"/>
            <a:ext cx="29328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 회로 기판 개발 제품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수율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공정능력 개선 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69818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박정수</a:t>
            </a:r>
            <a:endParaRPr lang="en-US" sz="1350" dirty="0"/>
          </a:p>
        </p:txBody>
      </p:sp>
      <p:sp>
        <p:nvSpPr>
          <p:cNvPr id="47" name="Text 8"/>
          <p:cNvSpPr/>
          <p:nvPr/>
        </p:nvSpPr>
        <p:spPr>
          <a:xfrm>
            <a:off x="69818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2025154004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71913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에니아소프트</a:t>
            </a:r>
            <a:endParaRPr lang="en-US" sz="1050" dirty="0"/>
          </a:p>
        </p:txBody>
      </p:sp>
      <p:sp>
        <p:nvSpPr>
          <p:cNvPr id="49" name="Text 10"/>
          <p:cNvSpPr/>
          <p:nvPr/>
        </p:nvSpPr>
        <p:spPr>
          <a:xfrm>
            <a:off x="7191375" y="27813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현황 관리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7191374" y="3009900"/>
            <a:ext cx="2009775" cy="133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아이템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관리</a:t>
            </a:r>
            <a:endParaRPr lang="en-US" sz="1050" dirty="0"/>
          </a:p>
        </p:txBody>
      </p:sp>
      <p:sp>
        <p:nvSpPr>
          <p:cNvPr id="51" name="Text 12"/>
          <p:cNvSpPr/>
          <p:nvPr/>
        </p:nvSpPr>
        <p:spPr>
          <a:xfrm>
            <a:off x="1152525" y="3810000"/>
            <a:ext cx="19716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이원표</a:t>
            </a:r>
            <a:endParaRPr lang="en-US" sz="1350" dirty="0"/>
          </a:p>
        </p:txBody>
      </p:sp>
      <p:sp>
        <p:nvSpPr>
          <p:cNvPr id="52" name="Text 13"/>
          <p:cNvSpPr/>
          <p:nvPr/>
        </p:nvSpPr>
        <p:spPr>
          <a:xfrm>
            <a:off x="1152525" y="4076700"/>
            <a:ext cx="23660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2025254021</a:t>
            </a:r>
            <a:endParaRPr lang="en-US" sz="1050" dirty="0"/>
          </a:p>
        </p:txBody>
      </p:sp>
      <p:sp>
        <p:nvSpPr>
          <p:cNvPr id="53" name="Text 14"/>
          <p:cNvSpPr/>
          <p:nvPr/>
        </p:nvSpPr>
        <p:spPr>
          <a:xfrm>
            <a:off x="1362075" y="4343400"/>
            <a:ext cx="20459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세노텍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1362075" y="45720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엔지니어링 개발 총괄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1362075" y="4800600"/>
            <a:ext cx="16573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개발 및 기술 전략</a:t>
            </a:r>
            <a:endParaRPr lang="en-US" sz="1050" dirty="0"/>
          </a:p>
        </p:txBody>
      </p:sp>
      <p:sp>
        <p:nvSpPr>
          <p:cNvPr id="56" name="Text 17"/>
          <p:cNvSpPr/>
          <p:nvPr/>
        </p:nvSpPr>
        <p:spPr>
          <a:xfrm>
            <a:off x="6981825" y="3810000"/>
            <a:ext cx="22193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전양호</a:t>
            </a:r>
            <a:endParaRPr lang="en-US" sz="1350" dirty="0"/>
          </a:p>
        </p:txBody>
      </p:sp>
      <p:sp>
        <p:nvSpPr>
          <p:cNvPr id="57" name="Text 18"/>
          <p:cNvSpPr/>
          <p:nvPr/>
        </p:nvSpPr>
        <p:spPr>
          <a:xfrm>
            <a:off x="7037070" y="4076700"/>
            <a:ext cx="26631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2025254002</a:t>
            </a:r>
            <a:endParaRPr lang="en-US" sz="1050" dirty="0"/>
          </a:p>
        </p:txBody>
      </p:sp>
      <p:sp>
        <p:nvSpPr>
          <p:cNvPr id="58" name="Text 19"/>
          <p:cNvSpPr/>
          <p:nvPr/>
        </p:nvSpPr>
        <p:spPr>
          <a:xfrm>
            <a:off x="7191375" y="4343400"/>
            <a:ext cx="2194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에이브이지니어스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7191375" y="4572000"/>
            <a:ext cx="24117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 및 무인 이동체 제어 인터페이스 개발</a:t>
            </a:r>
            <a:endParaRPr lang="en-US" sz="1050" dirty="0"/>
          </a:p>
        </p:txBody>
      </p:sp>
      <p:sp>
        <p:nvSpPr>
          <p:cNvPr id="60" name="Text 21"/>
          <p:cNvSpPr/>
          <p:nvPr/>
        </p:nvSpPr>
        <p:spPr>
          <a:xfrm>
            <a:off x="7191375" y="4800600"/>
            <a:ext cx="23088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원격 제어 및 데이터 통신 최적화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781050" y="56769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핵심 가치</a:t>
            </a:r>
            <a:endParaRPr lang="en-US" sz="1350" dirty="0"/>
          </a:p>
        </p:txBody>
      </p:sp>
      <p:sp>
        <p:nvSpPr>
          <p:cNvPr id="62" name="Text 23"/>
          <p:cNvSpPr/>
          <p:nvPr/>
        </p:nvSpPr>
        <p:spPr>
          <a:xfrm>
            <a:off x="933450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혁신적 사고</a:t>
            </a:r>
            <a:endParaRPr lang="en-US" sz="1050" dirty="0"/>
          </a:p>
        </p:txBody>
      </p:sp>
      <p:sp>
        <p:nvSpPr>
          <p:cNvPr id="63" name="Text 24"/>
          <p:cNvSpPr/>
          <p:nvPr/>
        </p:nvSpPr>
        <p:spPr>
          <a:xfrm>
            <a:off x="2333625" y="6057900"/>
            <a:ext cx="12477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협업과 소통</a:t>
            </a:r>
            <a:endParaRPr lang="en-US" sz="1050" dirty="0"/>
          </a:p>
        </p:txBody>
      </p:sp>
      <p:sp>
        <p:nvSpPr>
          <p:cNvPr id="64" name="Text 25"/>
          <p:cNvSpPr/>
          <p:nvPr/>
        </p:nvSpPr>
        <p:spPr>
          <a:xfrm>
            <a:off x="3695700" y="6057900"/>
            <a:ext cx="209169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 기반 의사결정</a:t>
            </a:r>
            <a:endParaRPr lang="en-US" sz="1050" dirty="0"/>
          </a:p>
        </p:txBody>
      </p:sp>
      <p:sp>
        <p:nvSpPr>
          <p:cNvPr id="65" name="Text 26"/>
          <p:cNvSpPr/>
          <p:nvPr/>
        </p:nvSpPr>
        <p:spPr>
          <a:xfrm>
            <a:off x="5591175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지속적 성장</a:t>
            </a:r>
            <a:endParaRPr lang="en-US" sz="1050" dirty="0"/>
          </a:p>
        </p:txBody>
      </p:sp>
      <p:sp>
        <p:nvSpPr>
          <p:cNvPr id="66" name="Text 27"/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1/5</a:t>
            </a:r>
            <a:endParaRPr lang="en-US" sz="1050" dirty="0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08602201-5596-4126-A1F9-3972FD1C5170}"/>
              </a:ext>
            </a:extLst>
          </p:cNvPr>
          <p:cNvSpPr/>
          <p:nvPr/>
        </p:nvSpPr>
        <p:spPr>
          <a:xfrm>
            <a:off x="609600" y="2015490"/>
            <a:ext cx="428625" cy="571500"/>
          </a:xfrm>
          <a:prstGeom prst="ellipse">
            <a:avLst/>
          </a:prstGeom>
          <a:blipFill>
            <a:blip r:embed="rId21"/>
            <a:stretch>
              <a:fillRect/>
            </a:stretch>
          </a:blip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281030B-40A7-4304-B389-F7EFA8CCE4B5}"/>
              </a:ext>
            </a:extLst>
          </p:cNvPr>
          <p:cNvSpPr/>
          <p:nvPr/>
        </p:nvSpPr>
        <p:spPr>
          <a:xfrm>
            <a:off x="6414136" y="2015490"/>
            <a:ext cx="428625" cy="571500"/>
          </a:xfrm>
          <a:prstGeom prst="ellipse">
            <a:avLst/>
          </a:prstGeom>
          <a:blipFill>
            <a:blip r:embed="rId22"/>
            <a:stretch>
              <a:fillRect/>
            </a:stretch>
          </a:blip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AFABCEF-49AE-4BE1-9804-A8EC0C12A966}"/>
              </a:ext>
            </a:extLst>
          </p:cNvPr>
          <p:cNvSpPr/>
          <p:nvPr/>
        </p:nvSpPr>
        <p:spPr>
          <a:xfrm>
            <a:off x="604838" y="3810000"/>
            <a:ext cx="428625" cy="571500"/>
          </a:xfrm>
          <a:prstGeom prst="ellipse">
            <a:avLst/>
          </a:prstGeom>
          <a:blipFill>
            <a:blip r:embed="rId2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7F8B4E0-A88F-47EE-BAC3-B163AB87376F}"/>
              </a:ext>
            </a:extLst>
          </p:cNvPr>
          <p:cNvSpPr/>
          <p:nvPr/>
        </p:nvSpPr>
        <p:spPr>
          <a:xfrm>
            <a:off x="6488430" y="3813810"/>
            <a:ext cx="428625" cy="571500"/>
          </a:xfrm>
          <a:prstGeom prst="ellipse">
            <a:avLst/>
          </a:prstGeom>
          <a:blipFill>
            <a:blip r:embed="rId24"/>
            <a:stretch>
              <a:fillRect/>
            </a:stretch>
          </a:blip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5600700" cy="3327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09700"/>
            <a:ext cx="238125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8288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2098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19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143000"/>
            <a:ext cx="5600700" cy="5334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1409700"/>
            <a:ext cx="17145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2514600"/>
            <a:ext cx="133350" cy="13335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개요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와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목적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962025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목적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838200" y="1790700"/>
            <a:ext cx="5600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공유 시스템의 운영 효율성을 극대화하기 위해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</a:t>
            </a:r>
            <a:endParaRPr lang="en-US" sz="1200" dirty="0"/>
          </a:p>
        </p:txBody>
      </p:sp>
      <p:sp>
        <p:nvSpPr>
          <p:cNvPr id="22" name="Text 3"/>
          <p:cNvSpPr/>
          <p:nvPr/>
        </p:nvSpPr>
        <p:spPr>
          <a:xfrm>
            <a:off x="838200" y="21717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날씨, 시간, 요일, 계절 등 다양한 환경 요인이 자전거 대여 수요에 미치는 영향 분석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838200" y="27813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Dataset과 서울시 따릉이 데이터를 활용한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기반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724650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소개</a:t>
            </a:r>
            <a:endParaRPr lang="en-US" sz="1500" dirty="0"/>
          </a:p>
        </p:txBody>
      </p:sp>
      <p:sp>
        <p:nvSpPr>
          <p:cNvPr id="26" name="Text 7"/>
          <p:cNvSpPr/>
          <p:nvPr/>
        </p:nvSpPr>
        <p:spPr>
          <a:xfrm>
            <a:off x="6858000" y="17907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200" b="1" dirty="0"/>
          </a:p>
        </p:txBody>
      </p:sp>
      <p:sp>
        <p:nvSpPr>
          <p:cNvPr id="27" name="Text 8"/>
          <p:cNvSpPr/>
          <p:nvPr/>
        </p:nvSpPr>
        <p:spPr>
          <a:xfrm>
            <a:off x="6858000" y="20574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시간별(hour.csv)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대여량 정보</a:t>
            </a:r>
            <a:endParaRPr lang="en-US" sz="1050" dirty="0"/>
          </a:p>
        </p:txBody>
      </p:sp>
      <p:sp>
        <p:nvSpPr>
          <p:cNvPr id="28" name="Text 9"/>
          <p:cNvSpPr/>
          <p:nvPr/>
        </p:nvSpPr>
        <p:spPr>
          <a:xfrm>
            <a:off x="7029450" y="24765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기온, 습도, 풍속, 날씨, 계절, 휴일, 근무일, 시간 등</a:t>
            </a:r>
            <a:endParaRPr lang="en-US" sz="1050" dirty="0"/>
          </a:p>
        </p:txBody>
      </p:sp>
      <p:sp>
        <p:nvSpPr>
          <p:cNvPr id="29" name="Text 10"/>
          <p:cNvSpPr/>
          <p:nvPr/>
        </p:nvSpPr>
        <p:spPr>
          <a:xfrm>
            <a:off x="6819900" y="28575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OpenMeteo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WDC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b="1" dirty="0"/>
          </a:p>
        </p:txBody>
      </p:sp>
      <p:sp>
        <p:nvSpPr>
          <p:cNvPr id="30" name="Text 11"/>
          <p:cNvSpPr/>
          <p:nvPr/>
        </p:nvSpPr>
        <p:spPr>
          <a:xfrm>
            <a:off x="6819900" y="31242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33" name="Image 36" descr="preencoded.png">
            <a:extLst>
              <a:ext uri="{FF2B5EF4-FFF2-40B4-BE49-F238E27FC236}">
                <a16:creationId xmlns:a16="http://schemas.microsoft.com/office/drawing/2014/main" id="{28588AFC-3BD1-45E3-BE7B-C0F1394B14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4" name="Text 27">
            <a:extLst>
              <a:ext uri="{FF2B5EF4-FFF2-40B4-BE49-F238E27FC236}">
                <a16:creationId xmlns:a16="http://schemas.microsoft.com/office/drawing/2014/main" id="{55087C57-0F6E-43E8-8F40-DE7ED2E0E0AE}"/>
              </a:ext>
            </a:extLst>
          </p:cNvPr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2/5</a:t>
            </a:r>
            <a:endParaRPr lang="en-US" sz="1050" dirty="0"/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C58AE23C-05FF-8F07-82D8-932D5C032A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4635500"/>
            <a:ext cx="133350" cy="133350"/>
          </a:xfrm>
          <a:prstGeom prst="rect">
            <a:avLst/>
          </a:prstGeom>
        </p:spPr>
      </p:pic>
      <p:sp>
        <p:nvSpPr>
          <p:cNvPr id="53" name="Text 7">
            <a:extLst>
              <a:ext uri="{FF2B5EF4-FFF2-40B4-BE49-F238E27FC236}">
                <a16:creationId xmlns:a16="http://schemas.microsoft.com/office/drawing/2014/main" id="{36B05FB4-5D88-FF1D-8FEC-BD486133DF19}"/>
              </a:ext>
            </a:extLst>
          </p:cNvPr>
          <p:cNvSpPr/>
          <p:nvPr/>
        </p:nvSpPr>
        <p:spPr>
          <a:xfrm>
            <a:off x="6858000" y="39116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 열린 데이터 광장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대여 이력 데이터셋</a:t>
            </a:r>
            <a:endParaRPr lang="en-US" sz="1200" b="1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6A24335A-0BAE-8FBF-B679-A84E366EE56E}"/>
              </a:ext>
            </a:extLst>
          </p:cNvPr>
          <p:cNvSpPr/>
          <p:nvPr/>
        </p:nvSpPr>
        <p:spPr>
          <a:xfrm>
            <a:off x="6858000" y="41783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자전거 공유 시스템에서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2020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부터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2025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년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6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월 까지 기록된 </a:t>
            </a:r>
            <a:b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시간별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대여량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정보</a:t>
            </a:r>
            <a:endParaRPr lang="en-US" sz="105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123389D8-BC65-AC37-E0D6-90A34987454E}"/>
              </a:ext>
            </a:extLst>
          </p:cNvPr>
          <p:cNvSpPr/>
          <p:nvPr/>
        </p:nvSpPr>
        <p:spPr>
          <a:xfrm>
            <a:off x="7029450" y="45974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데이터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활동량 데이터 등</a:t>
            </a:r>
            <a:endParaRPr lang="en-US" sz="105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097C202E-AD05-7710-280B-E07EFC43BD11}"/>
              </a:ext>
            </a:extLst>
          </p:cNvPr>
          <p:cNvSpPr/>
          <p:nvPr/>
        </p:nvSpPr>
        <p:spPr>
          <a:xfrm>
            <a:off x="6819900" y="49784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자료 개방 포털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 ASOS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200" b="1" dirty="0"/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EB58358F-335F-E2F2-A39F-8E5CB381E67E}"/>
              </a:ext>
            </a:extLst>
          </p:cNvPr>
          <p:cNvSpPr/>
          <p:nvPr/>
        </p:nvSpPr>
        <p:spPr>
          <a:xfrm>
            <a:off x="6819900" y="52451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61" name="Image 10" descr="preencoded.png">
            <a:extLst>
              <a:ext uri="{FF2B5EF4-FFF2-40B4-BE49-F238E27FC236}">
                <a16:creationId xmlns:a16="http://schemas.microsoft.com/office/drawing/2014/main" id="{C99BE213-5FAD-65B9-1B1E-A5AE5431E03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1790700"/>
            <a:ext cx="304800" cy="381000"/>
          </a:xfrm>
          <a:prstGeom prst="rect">
            <a:avLst/>
          </a:prstGeom>
        </p:spPr>
      </p:pic>
      <p:pic>
        <p:nvPicPr>
          <p:cNvPr id="62" name="Image 11" descr="preencoded.png">
            <a:extLst>
              <a:ext uri="{FF2B5EF4-FFF2-40B4-BE49-F238E27FC236}">
                <a16:creationId xmlns:a16="http://schemas.microsoft.com/office/drawing/2014/main" id="{8F50814B-193F-8C50-411A-9BBBAC98BE5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1914525"/>
            <a:ext cx="152400" cy="152400"/>
          </a:xfrm>
          <a:prstGeom prst="rect">
            <a:avLst/>
          </a:prstGeom>
        </p:spPr>
      </p:pic>
      <p:pic>
        <p:nvPicPr>
          <p:cNvPr id="63" name="Image 13" descr="preencoded.png">
            <a:extLst>
              <a:ext uri="{FF2B5EF4-FFF2-40B4-BE49-F238E27FC236}">
                <a16:creationId xmlns:a16="http://schemas.microsoft.com/office/drawing/2014/main" id="{E6BF9886-0A62-8769-7125-F5F7F16FE1E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2857500"/>
            <a:ext cx="266700" cy="381000"/>
          </a:xfrm>
          <a:prstGeom prst="rect">
            <a:avLst/>
          </a:prstGeom>
        </p:spPr>
      </p:pic>
      <p:pic>
        <p:nvPicPr>
          <p:cNvPr id="1024" name="Image 14" descr="preencoded.png">
            <a:extLst>
              <a:ext uri="{FF2B5EF4-FFF2-40B4-BE49-F238E27FC236}">
                <a16:creationId xmlns:a16="http://schemas.microsoft.com/office/drawing/2014/main" id="{D2D93064-AE46-A859-1B05-2F63B562C4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2981325"/>
            <a:ext cx="114300" cy="152400"/>
          </a:xfrm>
          <a:prstGeom prst="rect">
            <a:avLst/>
          </a:prstGeom>
        </p:spPr>
      </p:pic>
      <p:pic>
        <p:nvPicPr>
          <p:cNvPr id="1025" name="Image 10" descr="preencoded.png">
            <a:extLst>
              <a:ext uri="{FF2B5EF4-FFF2-40B4-BE49-F238E27FC236}">
                <a16:creationId xmlns:a16="http://schemas.microsoft.com/office/drawing/2014/main" id="{90F6B3BD-23E5-DEA3-993D-16E211B272E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3848101"/>
            <a:ext cx="304800" cy="381000"/>
          </a:xfrm>
          <a:prstGeom prst="rect">
            <a:avLst/>
          </a:prstGeom>
        </p:spPr>
      </p:pic>
      <p:pic>
        <p:nvPicPr>
          <p:cNvPr id="1027" name="Image 11" descr="preencoded.png">
            <a:extLst>
              <a:ext uri="{FF2B5EF4-FFF2-40B4-BE49-F238E27FC236}">
                <a16:creationId xmlns:a16="http://schemas.microsoft.com/office/drawing/2014/main" id="{F5B85687-4676-2D4A-FFF3-3F31DDE7D26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3971926"/>
            <a:ext cx="152400" cy="152400"/>
          </a:xfrm>
          <a:prstGeom prst="rect">
            <a:avLst/>
          </a:prstGeom>
        </p:spPr>
      </p:pic>
      <p:pic>
        <p:nvPicPr>
          <p:cNvPr id="1029" name="Image 13" descr="preencoded.png">
            <a:extLst>
              <a:ext uri="{FF2B5EF4-FFF2-40B4-BE49-F238E27FC236}">
                <a16:creationId xmlns:a16="http://schemas.microsoft.com/office/drawing/2014/main" id="{C826A84E-E121-84DE-AAF3-67D6711ADCF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4914901"/>
            <a:ext cx="266700" cy="381000"/>
          </a:xfrm>
          <a:prstGeom prst="rect">
            <a:avLst/>
          </a:prstGeom>
        </p:spPr>
      </p:pic>
      <p:pic>
        <p:nvPicPr>
          <p:cNvPr id="1031" name="Image 14" descr="preencoded.png">
            <a:extLst>
              <a:ext uri="{FF2B5EF4-FFF2-40B4-BE49-F238E27FC236}">
                <a16:creationId xmlns:a16="http://schemas.microsoft.com/office/drawing/2014/main" id="{F8C1A0B1-D985-375F-1AC5-436731CAA0B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5038726"/>
            <a:ext cx="114300" cy="152400"/>
          </a:xfrm>
          <a:prstGeom prst="rect">
            <a:avLst/>
          </a:prstGeom>
        </p:spPr>
      </p:pic>
      <p:pic>
        <p:nvPicPr>
          <p:cNvPr id="1041" name="Image 7" descr="preencoded.png">
            <a:extLst>
              <a:ext uri="{FF2B5EF4-FFF2-40B4-BE49-F238E27FC236}">
                <a16:creationId xmlns:a16="http://schemas.microsoft.com/office/drawing/2014/main" id="{D8265BD1-BB9D-B9A7-DDD2-4218A974F2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60750"/>
            <a:ext cx="152400" cy="152400"/>
          </a:xfrm>
          <a:prstGeom prst="rect">
            <a:avLst/>
          </a:prstGeom>
        </p:spPr>
      </p:pic>
      <p:sp>
        <p:nvSpPr>
          <p:cNvPr id="1042" name="Text 5">
            <a:extLst>
              <a:ext uri="{FF2B5EF4-FFF2-40B4-BE49-F238E27FC236}">
                <a16:creationId xmlns:a16="http://schemas.microsoft.com/office/drawing/2014/main" id="{5482A305-0F43-5493-D67C-39085B636700}"/>
              </a:ext>
            </a:extLst>
          </p:cNvPr>
          <p:cNvSpPr/>
          <p:nvPr/>
        </p:nvSpPr>
        <p:spPr>
          <a:xfrm>
            <a:off x="838200" y="3422650"/>
            <a:ext cx="5303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모델을 바탕으로 실제 운영 환경에 적용할 수 있는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방안 제시</a:t>
            </a:r>
            <a:endParaRPr lang="en-US" sz="1200" dirty="0"/>
          </a:p>
        </p:txBody>
      </p:sp>
      <p:pic>
        <p:nvPicPr>
          <p:cNvPr id="1043" name="Image 9" descr="preencoded.png">
            <a:extLst>
              <a:ext uri="{FF2B5EF4-FFF2-40B4-BE49-F238E27FC236}">
                <a16:creationId xmlns:a16="http://schemas.microsoft.com/office/drawing/2014/main" id="{9497E671-42EF-49A2-9772-7A79D96EEF3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42238" y="5943601"/>
            <a:ext cx="381000" cy="381000"/>
          </a:xfrm>
          <a:prstGeom prst="rect">
            <a:avLst/>
          </a:prstGeom>
        </p:spPr>
      </p:pic>
      <p:pic>
        <p:nvPicPr>
          <p:cNvPr id="1044" name="Image 14" descr="preencoded.png">
            <a:extLst>
              <a:ext uri="{FF2B5EF4-FFF2-40B4-BE49-F238E27FC236}">
                <a16:creationId xmlns:a16="http://schemas.microsoft.com/office/drawing/2014/main" id="{528B3F40-E6F2-B39D-BC2D-F1A495D089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91451" y="5975350"/>
            <a:ext cx="257175" cy="342900"/>
          </a:xfrm>
          <a:prstGeom prst="rect">
            <a:avLst/>
          </a:prstGeom>
        </p:spPr>
      </p:pic>
      <p:sp>
        <p:nvSpPr>
          <p:cNvPr id="1045" name="Text 10">
            <a:extLst>
              <a:ext uri="{FF2B5EF4-FFF2-40B4-BE49-F238E27FC236}">
                <a16:creationId xmlns:a16="http://schemas.microsoft.com/office/drawing/2014/main" id="{C6FDFD5A-C8B1-60DB-8B9F-6ADDB951599F}"/>
              </a:ext>
            </a:extLst>
          </p:cNvPr>
          <p:cNvSpPr/>
          <p:nvPr/>
        </p:nvSpPr>
        <p:spPr>
          <a:xfrm>
            <a:off x="8209281" y="6007099"/>
            <a:ext cx="20650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WDC/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대여소 별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b="1" dirty="0"/>
          </a:p>
        </p:txBody>
      </p:sp>
      <p:sp>
        <p:nvSpPr>
          <p:cNvPr id="1048" name="직사각형 1047">
            <a:extLst>
              <a:ext uri="{FF2B5EF4-FFF2-40B4-BE49-F238E27FC236}">
                <a16:creationId xmlns:a16="http://schemas.microsoft.com/office/drawing/2014/main" id="{69E12CE1-F893-516A-EECA-C21A795DCA39}"/>
              </a:ext>
            </a:extLst>
          </p:cNvPr>
          <p:cNvSpPr/>
          <p:nvPr/>
        </p:nvSpPr>
        <p:spPr>
          <a:xfrm>
            <a:off x="7742238" y="5765798"/>
            <a:ext cx="2532062" cy="508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876300"/>
            <a:ext cx="11582400" cy="2781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8700"/>
            <a:ext cx="112776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28700"/>
            <a:ext cx="955625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2825" y="1028700"/>
            <a:ext cx="2293739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6564" y="1028700"/>
            <a:ext cx="5734348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0912" y="1028700"/>
            <a:ext cx="2293888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371600"/>
            <a:ext cx="955625" cy="533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524000"/>
            <a:ext cx="228600" cy="228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371600"/>
            <a:ext cx="2293739" cy="533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371600"/>
            <a:ext cx="5734348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150495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371600"/>
            <a:ext cx="2293888" cy="533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905000"/>
            <a:ext cx="955625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2057400"/>
            <a:ext cx="22860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905000"/>
            <a:ext cx="2293739" cy="533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905000"/>
            <a:ext cx="5734348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03835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905000"/>
            <a:ext cx="2293888" cy="533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438400"/>
            <a:ext cx="955625" cy="533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2590800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438400"/>
            <a:ext cx="2293739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438400"/>
            <a:ext cx="5734348" cy="533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57175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438400"/>
            <a:ext cx="2293888" cy="533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971800"/>
            <a:ext cx="955625" cy="533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3124200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971800"/>
            <a:ext cx="2293739" cy="533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971800"/>
            <a:ext cx="5734348" cy="533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3105150"/>
            <a:ext cx="133350" cy="1333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971800"/>
            <a:ext cx="2293888" cy="533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800" y="3810000"/>
            <a:ext cx="11582400" cy="1371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4010025"/>
            <a:ext cx="219075" cy="17145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4305300"/>
            <a:ext cx="1466850" cy="495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3400" y="4467225"/>
            <a:ext cx="180975" cy="1905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76450" y="4305300"/>
            <a:ext cx="1371600" cy="495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57200" y="4905375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44" name="Text 0"/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일정 (2025.11.13 ~ 2025.12.17)</a:t>
            </a:r>
            <a:endParaRPr lang="en-US" sz="2250" dirty="0"/>
          </a:p>
        </p:txBody>
      </p:sp>
      <p:sp>
        <p:nvSpPr>
          <p:cNvPr id="45" name="Text 1"/>
          <p:cNvSpPr/>
          <p:nvPr/>
        </p:nvSpPr>
        <p:spPr>
          <a:xfrm>
            <a:off x="571500" y="1028700"/>
            <a:ext cx="95562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주차</a:t>
            </a:r>
            <a:endParaRPr lang="en-US" sz="1050" dirty="0"/>
          </a:p>
        </p:txBody>
      </p:sp>
      <p:sp>
        <p:nvSpPr>
          <p:cNvPr id="46" name="Text 2"/>
          <p:cNvSpPr/>
          <p:nvPr/>
        </p:nvSpPr>
        <p:spPr>
          <a:xfrm>
            <a:off x="1527125" y="1028700"/>
            <a:ext cx="229373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050" dirty="0"/>
          </a:p>
        </p:txBody>
      </p:sp>
      <p:sp>
        <p:nvSpPr>
          <p:cNvPr id="47" name="Text 3"/>
          <p:cNvSpPr/>
          <p:nvPr/>
        </p:nvSpPr>
        <p:spPr>
          <a:xfrm>
            <a:off x="3820864" y="1028700"/>
            <a:ext cx="573434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작업</a:t>
            </a:r>
            <a:endParaRPr lang="en-US" sz="1050" dirty="0"/>
          </a:p>
        </p:txBody>
      </p:sp>
      <p:sp>
        <p:nvSpPr>
          <p:cNvPr id="48" name="Text 4"/>
          <p:cNvSpPr/>
          <p:nvPr/>
        </p:nvSpPr>
        <p:spPr>
          <a:xfrm>
            <a:off x="9555212" y="1028700"/>
            <a:ext cx="229388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 / 방식</a:t>
            </a:r>
            <a:endParaRPr lang="en-US" sz="1050" dirty="0"/>
          </a:p>
        </p:txBody>
      </p:sp>
      <p:sp>
        <p:nvSpPr>
          <p:cNvPr id="49" name="Text 5"/>
          <p:cNvSpPr/>
          <p:nvPr/>
        </p:nvSpPr>
        <p:spPr>
          <a:xfrm>
            <a:off x="652463" y="15240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50" name="Text 6"/>
          <p:cNvSpPr/>
          <p:nvPr/>
        </p:nvSpPr>
        <p:spPr>
          <a:xfrm>
            <a:off x="1527125" y="13716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11.13 ~ 11.19</a:t>
            </a:r>
            <a:endParaRPr lang="en-US" sz="1050" dirty="0"/>
          </a:p>
        </p:txBody>
      </p:sp>
      <p:sp>
        <p:nvSpPr>
          <p:cNvPr id="51" name="Text 7"/>
          <p:cNvSpPr/>
          <p:nvPr/>
        </p:nvSpPr>
        <p:spPr>
          <a:xfrm>
            <a:off x="3992314" y="1466850"/>
            <a:ext cx="30003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050" dirty="0"/>
          </a:p>
        </p:txBody>
      </p:sp>
      <p:sp>
        <p:nvSpPr>
          <p:cNvPr id="52" name="Text 8"/>
          <p:cNvSpPr/>
          <p:nvPr/>
        </p:nvSpPr>
        <p:spPr>
          <a:xfrm>
            <a:off x="3992314" y="1657350"/>
            <a:ext cx="36004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Kaggle/UCI 데이터, 날씨·시간대 데이터 병합,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결측치·형식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통일</a:t>
            </a:r>
            <a:endParaRPr lang="en-US" sz="900" dirty="0"/>
          </a:p>
        </p:txBody>
      </p:sp>
      <p:sp>
        <p:nvSpPr>
          <p:cNvPr id="53" name="Text 9"/>
          <p:cNvSpPr/>
          <p:nvPr/>
        </p:nvSpPr>
        <p:spPr>
          <a:xfrm>
            <a:off x="9555212" y="1447800"/>
            <a:ext cx="8343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전체 협업</a:t>
            </a:r>
            <a:endParaRPr lang="en-US" sz="1050" dirty="0"/>
          </a:p>
        </p:txBody>
      </p:sp>
      <p:sp>
        <p:nvSpPr>
          <p:cNvPr id="54" name="Text 10"/>
          <p:cNvSpPr/>
          <p:nvPr/>
        </p:nvSpPr>
        <p:spPr>
          <a:xfrm>
            <a:off x="10250537" y="14478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55" name="Text 11"/>
          <p:cNvSpPr/>
          <p:nvPr/>
        </p:nvSpPr>
        <p:spPr>
          <a:xfrm>
            <a:off x="9555212" y="1657350"/>
            <a:ext cx="112014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Drive / Git</a:t>
            </a:r>
            <a:endParaRPr lang="en-US" sz="900" dirty="0"/>
          </a:p>
        </p:txBody>
      </p:sp>
      <p:sp>
        <p:nvSpPr>
          <p:cNvPr id="56" name="Text 12"/>
          <p:cNvSpPr/>
          <p:nvPr/>
        </p:nvSpPr>
        <p:spPr>
          <a:xfrm>
            <a:off x="652463" y="20574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13"/>
          <p:cNvSpPr/>
          <p:nvPr/>
        </p:nvSpPr>
        <p:spPr>
          <a:xfrm>
            <a:off x="1527125" y="19050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11.20 ~ 11.26</a:t>
            </a:r>
            <a:endParaRPr lang="en-US" sz="1050" dirty="0"/>
          </a:p>
        </p:txBody>
      </p:sp>
      <p:sp>
        <p:nvSpPr>
          <p:cNvPr id="58" name="Text 14"/>
          <p:cNvSpPr/>
          <p:nvPr/>
        </p:nvSpPr>
        <p:spPr>
          <a:xfrm>
            <a:off x="3992314" y="2000250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및 EDA 공동 진행</a:t>
            </a:r>
            <a:endParaRPr lang="en-US" sz="1050" dirty="0"/>
          </a:p>
        </p:txBody>
      </p:sp>
      <p:sp>
        <p:nvSpPr>
          <p:cNvPr id="59" name="Text 15"/>
          <p:cNvSpPr/>
          <p:nvPr/>
        </p:nvSpPr>
        <p:spPr>
          <a:xfrm>
            <a:off x="3992314" y="2190750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IQR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처리, 범주형 인코딩, EDA Notebook 작성, 베이스라인 모델 공유</a:t>
            </a:r>
            <a:endParaRPr lang="en-US" sz="900" dirty="0"/>
          </a:p>
        </p:txBody>
      </p:sp>
      <p:sp>
        <p:nvSpPr>
          <p:cNvPr id="60" name="Text 16"/>
          <p:cNvSpPr/>
          <p:nvPr/>
        </p:nvSpPr>
        <p:spPr>
          <a:xfrm>
            <a:off x="9555212" y="1981200"/>
            <a:ext cx="9829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전원 동일 환경</a:t>
            </a:r>
            <a:endParaRPr lang="en-US" sz="1050" dirty="0"/>
          </a:p>
        </p:txBody>
      </p:sp>
      <p:sp>
        <p:nvSpPr>
          <p:cNvPr id="61" name="Text 17"/>
          <p:cNvSpPr/>
          <p:nvPr/>
        </p:nvSpPr>
        <p:spPr>
          <a:xfrm>
            <a:off x="10374362" y="19812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2" name="Text 18"/>
          <p:cNvSpPr/>
          <p:nvPr/>
        </p:nvSpPr>
        <p:spPr>
          <a:xfrm>
            <a:off x="9555212" y="2190750"/>
            <a:ext cx="98298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/ VSCode</a:t>
            </a:r>
            <a:endParaRPr lang="en-US" sz="900" dirty="0"/>
          </a:p>
        </p:txBody>
      </p:sp>
      <p:sp>
        <p:nvSpPr>
          <p:cNvPr id="63" name="Text 19"/>
          <p:cNvSpPr/>
          <p:nvPr/>
        </p:nvSpPr>
        <p:spPr>
          <a:xfrm>
            <a:off x="652463" y="25908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64" name="Text 20"/>
          <p:cNvSpPr/>
          <p:nvPr/>
        </p:nvSpPr>
        <p:spPr>
          <a:xfrm>
            <a:off x="1527125" y="24384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11.27 ~ 12.03</a:t>
            </a:r>
            <a:endParaRPr lang="en-US" sz="1050" dirty="0"/>
          </a:p>
        </p:txBody>
      </p:sp>
      <p:sp>
        <p:nvSpPr>
          <p:cNvPr id="65" name="Text 21"/>
          <p:cNvSpPr/>
          <p:nvPr/>
        </p:nvSpPr>
        <p:spPr>
          <a:xfrm>
            <a:off x="3992314" y="2533650"/>
            <a:ext cx="50387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모델링</a:t>
            </a:r>
            <a:endParaRPr lang="en-US" sz="1050" dirty="0"/>
          </a:p>
        </p:txBody>
      </p:sp>
      <p:sp>
        <p:nvSpPr>
          <p:cNvPr id="66" name="Text 22"/>
          <p:cNvSpPr/>
          <p:nvPr/>
        </p:nvSpPr>
        <p:spPr>
          <a:xfrm>
            <a:off x="3992314" y="2724150"/>
            <a:ext cx="60464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LightGBM, XGBoost, RF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적용, 동일 train/valid split, MAE/RMSE 비교</a:t>
            </a:r>
            <a:endParaRPr lang="en-US" sz="900" dirty="0"/>
          </a:p>
        </p:txBody>
      </p:sp>
      <p:sp>
        <p:nvSpPr>
          <p:cNvPr id="67" name="Text 23"/>
          <p:cNvSpPr/>
          <p:nvPr/>
        </p:nvSpPr>
        <p:spPr>
          <a:xfrm>
            <a:off x="9555212" y="2514600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개인별 분담</a:t>
            </a:r>
            <a:endParaRPr lang="en-US" sz="1050" dirty="0"/>
          </a:p>
        </p:txBody>
      </p:sp>
      <p:sp>
        <p:nvSpPr>
          <p:cNvPr id="68" name="Text 24"/>
          <p:cNvSpPr/>
          <p:nvPr/>
        </p:nvSpPr>
        <p:spPr>
          <a:xfrm>
            <a:off x="10212437" y="25146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9" name="Text 25"/>
          <p:cNvSpPr/>
          <p:nvPr/>
        </p:nvSpPr>
        <p:spPr>
          <a:xfrm>
            <a:off x="9555212" y="2724150"/>
            <a:ext cx="110871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각자 담당 모델 개발</a:t>
            </a:r>
            <a:endParaRPr lang="en-US" sz="900" dirty="0"/>
          </a:p>
        </p:txBody>
      </p:sp>
      <p:sp>
        <p:nvSpPr>
          <p:cNvPr id="70" name="Text 26"/>
          <p:cNvSpPr/>
          <p:nvPr/>
        </p:nvSpPr>
        <p:spPr>
          <a:xfrm>
            <a:off x="652463" y="31242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27"/>
          <p:cNvSpPr/>
          <p:nvPr/>
        </p:nvSpPr>
        <p:spPr>
          <a:xfrm>
            <a:off x="1527125" y="29718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12.04 ~ 12.17</a:t>
            </a:r>
            <a:endParaRPr lang="en-US" sz="1050" dirty="0"/>
          </a:p>
        </p:txBody>
      </p:sp>
      <p:sp>
        <p:nvSpPr>
          <p:cNvPr id="72" name="Text 28"/>
          <p:cNvSpPr/>
          <p:nvPr/>
        </p:nvSpPr>
        <p:spPr>
          <a:xfrm>
            <a:off x="3992314" y="3067050"/>
            <a:ext cx="3924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050" dirty="0"/>
          </a:p>
        </p:txBody>
      </p:sp>
      <p:sp>
        <p:nvSpPr>
          <p:cNvPr id="73" name="Text 29"/>
          <p:cNvSpPr/>
          <p:nvPr/>
        </p:nvSpPr>
        <p:spPr>
          <a:xfrm>
            <a:off x="3992314" y="3257550"/>
            <a:ext cx="47091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Weighted Average 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</a:t>
            </a:r>
            <a:r>
              <a:rPr lang="en-US" altLang="ko-KR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해석, 결과 보고서 작성</a:t>
            </a:r>
            <a:endParaRPr lang="en-US" sz="900" dirty="0"/>
          </a:p>
        </p:txBody>
      </p:sp>
      <p:sp>
        <p:nvSpPr>
          <p:cNvPr id="74" name="Text 30"/>
          <p:cNvSpPr/>
          <p:nvPr/>
        </p:nvSpPr>
        <p:spPr>
          <a:xfrm>
            <a:off x="9555212" y="3048000"/>
            <a:ext cx="4914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통합</a:t>
            </a:r>
            <a:endParaRPr lang="en-US" sz="1050" dirty="0"/>
          </a:p>
        </p:txBody>
      </p:sp>
      <p:sp>
        <p:nvSpPr>
          <p:cNvPr id="75" name="Text 31"/>
          <p:cNvSpPr/>
          <p:nvPr/>
        </p:nvSpPr>
        <p:spPr>
          <a:xfrm>
            <a:off x="9964787" y="30480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76" name="Text 32"/>
          <p:cNvSpPr/>
          <p:nvPr/>
        </p:nvSpPr>
        <p:spPr>
          <a:xfrm>
            <a:off x="9555212" y="3257550"/>
            <a:ext cx="94869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 완성</a:t>
            </a:r>
            <a:endParaRPr lang="en-US" sz="900" dirty="0"/>
          </a:p>
        </p:txBody>
      </p:sp>
      <p:sp>
        <p:nvSpPr>
          <p:cNvPr id="77" name="Text 33"/>
          <p:cNvSpPr/>
          <p:nvPr/>
        </p:nvSpPr>
        <p:spPr>
          <a:xfrm>
            <a:off x="752475" y="3962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방식</a:t>
            </a:r>
            <a:endParaRPr lang="en-US" sz="1350" dirty="0"/>
          </a:p>
        </p:txBody>
      </p:sp>
      <p:sp>
        <p:nvSpPr>
          <p:cNvPr id="78" name="Text 34"/>
          <p:cNvSpPr/>
          <p:nvPr/>
        </p:nvSpPr>
        <p:spPr>
          <a:xfrm>
            <a:off x="790575" y="4381500"/>
            <a:ext cx="10572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050" dirty="0"/>
          </a:p>
        </p:txBody>
      </p:sp>
      <p:sp>
        <p:nvSpPr>
          <p:cNvPr id="79" name="Text 35"/>
          <p:cNvSpPr/>
          <p:nvPr/>
        </p:nvSpPr>
        <p:spPr>
          <a:xfrm>
            <a:off x="790575" y="4572000"/>
            <a:ext cx="126873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및 코드 공유</a:t>
            </a:r>
            <a:endParaRPr lang="en-US" sz="900" dirty="0"/>
          </a:p>
        </p:txBody>
      </p:sp>
      <p:sp>
        <p:nvSpPr>
          <p:cNvPr id="80" name="Text 36"/>
          <p:cNvSpPr/>
          <p:nvPr/>
        </p:nvSpPr>
        <p:spPr>
          <a:xfrm>
            <a:off x="2400300" y="43815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/>
              <a:t>Google Drive</a:t>
            </a:r>
          </a:p>
        </p:txBody>
      </p:sp>
      <p:sp>
        <p:nvSpPr>
          <p:cNvPr id="81" name="Text 37"/>
          <p:cNvSpPr/>
          <p:nvPr/>
        </p:nvSpPr>
        <p:spPr>
          <a:xfrm>
            <a:off x="2400300" y="4572000"/>
            <a:ext cx="11658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데이터셋 공유</a:t>
            </a:r>
            <a:endParaRPr lang="en-US" sz="900" dirty="0"/>
          </a:p>
        </p:txBody>
      </p:sp>
      <p:sp>
        <p:nvSpPr>
          <p:cNvPr id="84" name="Text 40"/>
          <p:cNvSpPr/>
          <p:nvPr/>
        </p:nvSpPr>
        <p:spPr>
          <a:xfrm>
            <a:off x="609600" y="4876800"/>
            <a:ext cx="112776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협업 툴을 활용한 효율적인 프로젝트 관리로 팀원 간 원활한 소통과 일정 준수를 실현합니다.</a:t>
            </a:r>
            <a:endParaRPr lang="en-US" sz="900" dirty="0"/>
          </a:p>
        </p:txBody>
      </p:sp>
      <p:sp>
        <p:nvSpPr>
          <p:cNvPr id="85" name="Text 41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3/5</a:t>
            </a:r>
            <a:endParaRPr lang="en-US" sz="1050" dirty="0"/>
          </a:p>
        </p:txBody>
      </p:sp>
      <p:pic>
        <p:nvPicPr>
          <p:cNvPr id="86" name="Image 38" descr="preencoded.png">
            <a:extLst>
              <a:ext uri="{FF2B5EF4-FFF2-40B4-BE49-F238E27FC236}">
                <a16:creationId xmlns:a16="http://schemas.microsoft.com/office/drawing/2014/main" id="{696E4436-3CDF-4D04-A5D2-FC29C6C9C5D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590925" y="4314825"/>
            <a:ext cx="1504950" cy="495300"/>
          </a:xfrm>
          <a:prstGeom prst="rect">
            <a:avLst/>
          </a:prstGeom>
        </p:spPr>
      </p:pic>
      <p:sp>
        <p:nvSpPr>
          <p:cNvPr id="87" name="Text 38">
            <a:extLst>
              <a:ext uri="{FF2B5EF4-FFF2-40B4-BE49-F238E27FC236}">
                <a16:creationId xmlns:a16="http://schemas.microsoft.com/office/drawing/2014/main" id="{31E80D66-4582-4C5A-A79A-89D75D066CB5}"/>
              </a:ext>
            </a:extLst>
          </p:cNvPr>
          <p:cNvSpPr/>
          <p:nvPr/>
        </p:nvSpPr>
        <p:spPr>
          <a:xfrm>
            <a:off x="3886200" y="4391025"/>
            <a:ext cx="11334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MS365</a:t>
            </a:r>
            <a:endParaRPr lang="en-US" sz="1050" dirty="0"/>
          </a:p>
        </p:txBody>
      </p:sp>
      <p:sp>
        <p:nvSpPr>
          <p:cNvPr id="88" name="Text 39">
            <a:extLst>
              <a:ext uri="{FF2B5EF4-FFF2-40B4-BE49-F238E27FC236}">
                <a16:creationId xmlns:a16="http://schemas.microsoft.com/office/drawing/2014/main" id="{72D52CB9-0DFA-4779-A61B-89222932A119}"/>
              </a:ext>
            </a:extLst>
          </p:cNvPr>
          <p:cNvSpPr/>
          <p:nvPr/>
        </p:nvSpPr>
        <p:spPr>
          <a:xfrm>
            <a:off x="3886200" y="4581525"/>
            <a:ext cx="13601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문서화 및 프로젝트 관리</a:t>
            </a:r>
            <a:endParaRPr lang="en-US" sz="900" dirty="0"/>
          </a:p>
        </p:txBody>
      </p:sp>
      <p:pic>
        <p:nvPicPr>
          <p:cNvPr id="91" name="Picture 4">
            <a:extLst>
              <a:ext uri="{FF2B5EF4-FFF2-40B4-BE49-F238E27FC236}">
                <a16:creationId xmlns:a16="http://schemas.microsoft.com/office/drawing/2014/main" id="{5CFB5B74-5AEA-4CF3-B891-172FCAE581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53" t="3947" r="21841" b="34211"/>
          <a:stretch/>
        </p:blipFill>
        <p:spPr bwMode="auto">
          <a:xfrm>
            <a:off x="3627834" y="4441031"/>
            <a:ext cx="215741" cy="22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2DBF1987-61B6-AABA-942E-D520BB425A1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105978" y="4439602"/>
            <a:ext cx="264795" cy="2647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605C7-0A81-5D27-9FDA-0A58D55C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F955DB1-7F9C-E745-FEBC-E06351801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sp>
        <p:nvSpPr>
          <p:cNvPr id="44" name="Text 0">
            <a:extLst>
              <a:ext uri="{FF2B5EF4-FFF2-40B4-BE49-F238E27FC236}">
                <a16:creationId xmlns:a16="http://schemas.microsoft.com/office/drawing/2014/main" id="{610657B4-0024-FC46-3670-193A00EE5364}"/>
              </a:ext>
            </a:extLst>
          </p:cNvPr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단계별 산출물</a:t>
            </a:r>
            <a:endParaRPr lang="en-US" sz="2250" dirty="0"/>
          </a:p>
        </p:txBody>
      </p:sp>
      <p:sp>
        <p:nvSpPr>
          <p:cNvPr id="85" name="Text 41">
            <a:extLst>
              <a:ext uri="{FF2B5EF4-FFF2-40B4-BE49-F238E27FC236}">
                <a16:creationId xmlns:a16="http://schemas.microsoft.com/office/drawing/2014/main" id="{0AC533BE-5322-429B-5900-EBE574C7A2FC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3/5</a:t>
            </a:r>
            <a:endParaRPr lang="en-US" sz="1050" dirty="0"/>
          </a:p>
        </p:txBody>
      </p:sp>
      <p:pic>
        <p:nvPicPr>
          <p:cNvPr id="40" name="Image 4" descr="preencoded.png">
            <a:extLst>
              <a:ext uri="{FF2B5EF4-FFF2-40B4-BE49-F238E27FC236}">
                <a16:creationId xmlns:a16="http://schemas.microsoft.com/office/drawing/2014/main" id="{978446ED-D01D-A17B-0E2C-4B888CA0F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87" y="896261"/>
            <a:ext cx="3606701" cy="3390900"/>
          </a:xfrm>
          <a:prstGeom prst="rect">
            <a:avLst/>
          </a:prstGeom>
        </p:spPr>
      </p:pic>
      <p:pic>
        <p:nvPicPr>
          <p:cNvPr id="83" name="Image 7" descr="preencoded.png">
            <a:extLst>
              <a:ext uri="{FF2B5EF4-FFF2-40B4-BE49-F238E27FC236}">
                <a16:creationId xmlns:a16="http://schemas.microsoft.com/office/drawing/2014/main" id="{B69F6789-A45C-DF2B-D10B-F027B12D7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788" y="896261"/>
            <a:ext cx="3606850" cy="3390900"/>
          </a:xfrm>
          <a:prstGeom prst="rect">
            <a:avLst/>
          </a:prstGeom>
        </p:spPr>
      </p:pic>
      <p:pic>
        <p:nvPicPr>
          <p:cNvPr id="92" name="Image 10" descr="preencoded.png">
            <a:extLst>
              <a:ext uri="{FF2B5EF4-FFF2-40B4-BE49-F238E27FC236}">
                <a16:creationId xmlns:a16="http://schemas.microsoft.com/office/drawing/2014/main" id="{ABC6EF51-2988-8C50-4CFB-0BC36B89E1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037" y="896261"/>
            <a:ext cx="3606701" cy="3390900"/>
          </a:xfrm>
          <a:prstGeom prst="rect">
            <a:avLst/>
          </a:prstGeom>
        </p:spPr>
      </p:pic>
      <p:pic>
        <p:nvPicPr>
          <p:cNvPr id="95" name="Image 13" descr="preencoded.png">
            <a:extLst>
              <a:ext uri="{FF2B5EF4-FFF2-40B4-BE49-F238E27FC236}">
                <a16:creationId xmlns:a16="http://schemas.microsoft.com/office/drawing/2014/main" id="{62958F7D-2F6D-BB86-B246-7E42E55964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688" y="4366985"/>
            <a:ext cx="11125200" cy="1957615"/>
          </a:xfrm>
          <a:prstGeom prst="rect">
            <a:avLst/>
          </a:prstGeom>
        </p:spPr>
      </p:pic>
      <p:sp>
        <p:nvSpPr>
          <p:cNvPr id="98" name="Text 2">
            <a:extLst>
              <a:ext uri="{FF2B5EF4-FFF2-40B4-BE49-F238E27FC236}">
                <a16:creationId xmlns:a16="http://schemas.microsoft.com/office/drawing/2014/main" id="{4EA42F3B-ADEC-A0A2-5DFA-5E9A82347A6F}"/>
              </a:ext>
            </a:extLst>
          </p:cNvPr>
          <p:cNvSpPr/>
          <p:nvPr/>
        </p:nvSpPr>
        <p:spPr>
          <a:xfrm>
            <a:off x="723747" y="1010561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200" dirty="0"/>
          </a:p>
        </p:txBody>
      </p:sp>
      <p:sp>
        <p:nvSpPr>
          <p:cNvPr id="99" name="Text 3">
            <a:extLst>
              <a:ext uri="{FF2B5EF4-FFF2-40B4-BE49-F238E27FC236}">
                <a16:creationId xmlns:a16="http://schemas.microsoft.com/office/drawing/2014/main" id="{2F82E651-2EBF-E801-1DB6-3BA75873EA44}"/>
              </a:ext>
            </a:extLst>
          </p:cNvPr>
          <p:cNvSpPr/>
          <p:nvPr/>
        </p:nvSpPr>
        <p:spPr>
          <a:xfrm>
            <a:off x="544287" y="13153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01" name="Text 5">
            <a:extLst>
              <a:ext uri="{FF2B5EF4-FFF2-40B4-BE49-F238E27FC236}">
                <a16:creationId xmlns:a16="http://schemas.microsoft.com/office/drawing/2014/main" id="{7202725A-D36D-E920-F764-7E8E8D796BB4}"/>
              </a:ext>
            </a:extLst>
          </p:cNvPr>
          <p:cNvSpPr/>
          <p:nvPr/>
        </p:nvSpPr>
        <p:spPr>
          <a:xfrm>
            <a:off x="1952796" y="13153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02" name="Text 6">
            <a:extLst>
              <a:ext uri="{FF2B5EF4-FFF2-40B4-BE49-F238E27FC236}">
                <a16:creationId xmlns:a16="http://schemas.microsoft.com/office/drawing/2014/main" id="{DA0EBEBE-90B2-7883-9848-EB80995A5360}"/>
              </a:ext>
            </a:extLst>
          </p:cNvPr>
          <p:cNvSpPr/>
          <p:nvPr/>
        </p:nvSpPr>
        <p:spPr>
          <a:xfrm>
            <a:off x="544287" y="16582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오버 뷰</a:t>
            </a:r>
            <a:endParaRPr lang="en-US" sz="1050" dirty="0"/>
          </a:p>
        </p:txBody>
      </p:sp>
      <p:sp>
        <p:nvSpPr>
          <p:cNvPr id="104" name="Text 8">
            <a:extLst>
              <a:ext uri="{FF2B5EF4-FFF2-40B4-BE49-F238E27FC236}">
                <a16:creationId xmlns:a16="http://schemas.microsoft.com/office/drawing/2014/main" id="{7242A4FE-70EB-C16B-2134-142264A06EDB}"/>
              </a:ext>
            </a:extLst>
          </p:cNvPr>
          <p:cNvSpPr/>
          <p:nvPr/>
        </p:nvSpPr>
        <p:spPr>
          <a:xfrm>
            <a:off x="2067096" y="16582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원천 데이터의 전반적인 특성 요약</a:t>
            </a:r>
            <a:endParaRPr lang="en-US" sz="1050" dirty="0"/>
          </a:p>
        </p:txBody>
      </p:sp>
      <p:sp>
        <p:nvSpPr>
          <p:cNvPr id="105" name="Text 9">
            <a:extLst>
              <a:ext uri="{FF2B5EF4-FFF2-40B4-BE49-F238E27FC236}">
                <a16:creationId xmlns:a16="http://schemas.microsoft.com/office/drawing/2014/main" id="{284D6579-001D-21D2-4944-1F862CF5D2F5}"/>
              </a:ext>
            </a:extLst>
          </p:cNvPr>
          <p:cNvSpPr/>
          <p:nvPr/>
        </p:nvSpPr>
        <p:spPr>
          <a:xfrm>
            <a:off x="544286" y="22395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 데이터 스키마</a:t>
            </a:r>
            <a:endParaRPr lang="en-US" sz="1050" dirty="0"/>
          </a:p>
        </p:txBody>
      </p:sp>
      <p:sp>
        <p:nvSpPr>
          <p:cNvPr id="107" name="Text 11">
            <a:extLst>
              <a:ext uri="{FF2B5EF4-FFF2-40B4-BE49-F238E27FC236}">
                <a16:creationId xmlns:a16="http://schemas.microsoft.com/office/drawing/2014/main" id="{2B58CC58-2CB7-2F96-257F-B692D1CA6FF5}"/>
              </a:ext>
            </a:extLst>
          </p:cNvPr>
          <p:cNvSpPr/>
          <p:nvPr/>
        </p:nvSpPr>
        <p:spPr>
          <a:xfrm>
            <a:off x="511631" y="3483104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로우 데이터 품질 검사 가이드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</a:t>
            </a:r>
            <a:endParaRPr lang="en-US" sz="1050" dirty="0"/>
          </a:p>
        </p:txBody>
      </p:sp>
      <p:sp>
        <p:nvSpPr>
          <p:cNvPr id="109" name="Text 13">
            <a:extLst>
              <a:ext uri="{FF2B5EF4-FFF2-40B4-BE49-F238E27FC236}">
                <a16:creationId xmlns:a16="http://schemas.microsoft.com/office/drawing/2014/main" id="{4CEEBAD3-2746-EDB2-7329-965C9BD54C1E}"/>
              </a:ext>
            </a:extLst>
          </p:cNvPr>
          <p:cNvSpPr/>
          <p:nvPr/>
        </p:nvSpPr>
        <p:spPr>
          <a:xfrm>
            <a:off x="549730" y="2764977"/>
            <a:ext cx="763786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출처 및 라이센스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3" name="Text 17">
            <a:extLst>
              <a:ext uri="{FF2B5EF4-FFF2-40B4-BE49-F238E27FC236}">
                <a16:creationId xmlns:a16="http://schemas.microsoft.com/office/drawing/2014/main" id="{FBFE0298-7CB3-93AF-D86F-64F128BBAE2D}"/>
              </a:ext>
            </a:extLst>
          </p:cNvPr>
          <p:cNvSpPr/>
          <p:nvPr/>
        </p:nvSpPr>
        <p:spPr>
          <a:xfrm>
            <a:off x="4526896" y="998195"/>
            <a:ext cx="3378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및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endParaRPr lang="en-US" sz="1200" dirty="0"/>
          </a:p>
        </p:txBody>
      </p:sp>
      <p:sp>
        <p:nvSpPr>
          <p:cNvPr id="124" name="Text 28">
            <a:extLst>
              <a:ext uri="{FF2B5EF4-FFF2-40B4-BE49-F238E27FC236}">
                <a16:creationId xmlns:a16="http://schemas.microsoft.com/office/drawing/2014/main" id="{12EC64F6-315C-B7A6-06E8-53118CF7A380}"/>
              </a:ext>
            </a:extLst>
          </p:cNvPr>
          <p:cNvSpPr/>
          <p:nvPr/>
        </p:nvSpPr>
        <p:spPr>
          <a:xfrm>
            <a:off x="8176939" y="998195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개별 모델링</a:t>
            </a:r>
            <a:endParaRPr lang="en-US" sz="1200" dirty="0"/>
          </a:p>
        </p:txBody>
      </p:sp>
      <p:sp>
        <p:nvSpPr>
          <p:cNvPr id="135" name="Text 39">
            <a:extLst>
              <a:ext uri="{FF2B5EF4-FFF2-40B4-BE49-F238E27FC236}">
                <a16:creationId xmlns:a16="http://schemas.microsoft.com/office/drawing/2014/main" id="{D1E13DDE-8B7C-C0E7-7C1B-51402B90E168}"/>
              </a:ext>
            </a:extLst>
          </p:cNvPr>
          <p:cNvSpPr/>
          <p:nvPr/>
        </p:nvSpPr>
        <p:spPr>
          <a:xfrm>
            <a:off x="620488" y="4481285"/>
            <a:ext cx="10896600" cy="1545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</a:t>
            </a:r>
            <a:r>
              <a:rPr lang="ko-KR" altLang="en-US" sz="1200" b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도출</a:t>
            </a:r>
            <a:endParaRPr lang="en-US" sz="1200" dirty="0"/>
          </a:p>
        </p:txBody>
      </p:sp>
      <p:pic>
        <p:nvPicPr>
          <p:cNvPr id="140" name="Image 9" descr="preencoded.png">
            <a:extLst>
              <a:ext uri="{FF2B5EF4-FFF2-40B4-BE49-F238E27FC236}">
                <a16:creationId xmlns:a16="http://schemas.microsoft.com/office/drawing/2014/main" id="{666BE871-5A9F-8231-D515-6EA1F5FB54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331" y="1001485"/>
            <a:ext cx="228600" cy="228600"/>
          </a:xfrm>
          <a:prstGeom prst="rect">
            <a:avLst/>
          </a:prstGeom>
        </p:spPr>
      </p:pic>
      <p:pic>
        <p:nvPicPr>
          <p:cNvPr id="141" name="Image 15" descr="preencoded.png">
            <a:extLst>
              <a:ext uri="{FF2B5EF4-FFF2-40B4-BE49-F238E27FC236}">
                <a16:creationId xmlns:a16="http://schemas.microsoft.com/office/drawing/2014/main" id="{28BBB8A1-54FB-453B-81BA-16004C9EBA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0072" y="1012373"/>
            <a:ext cx="228600" cy="228600"/>
          </a:xfrm>
          <a:prstGeom prst="rect">
            <a:avLst/>
          </a:prstGeom>
        </p:spPr>
      </p:pic>
      <p:pic>
        <p:nvPicPr>
          <p:cNvPr id="142" name="Image 21" descr="preencoded.png">
            <a:extLst>
              <a:ext uri="{FF2B5EF4-FFF2-40B4-BE49-F238E27FC236}">
                <a16:creationId xmlns:a16="http://schemas.microsoft.com/office/drawing/2014/main" id="{26B8EBCE-556B-87F8-C000-D615C9579A6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1188" y="987432"/>
            <a:ext cx="228600" cy="228600"/>
          </a:xfrm>
          <a:prstGeom prst="rect">
            <a:avLst/>
          </a:prstGeom>
        </p:spPr>
      </p:pic>
      <p:sp>
        <p:nvSpPr>
          <p:cNvPr id="143" name="Text 5">
            <a:extLst>
              <a:ext uri="{FF2B5EF4-FFF2-40B4-BE49-F238E27FC236}">
                <a16:creationId xmlns:a16="http://schemas.microsoft.com/office/drawing/2014/main" id="{FDF5C43B-673D-D51A-533D-C9CD71D50684}"/>
              </a:ext>
            </a:extLst>
          </p:cNvPr>
          <p:cNvSpPr/>
          <p:nvPr/>
        </p:nvSpPr>
        <p:spPr>
          <a:xfrm>
            <a:off x="463324" y="1016454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144" name="Text 12">
            <a:extLst>
              <a:ext uri="{FF2B5EF4-FFF2-40B4-BE49-F238E27FC236}">
                <a16:creationId xmlns:a16="http://schemas.microsoft.com/office/drawing/2014/main" id="{A4D4EB5B-44B8-76C1-A965-488DB0854AEF}"/>
              </a:ext>
            </a:extLst>
          </p:cNvPr>
          <p:cNvSpPr/>
          <p:nvPr/>
        </p:nvSpPr>
        <p:spPr>
          <a:xfrm>
            <a:off x="4281035" y="104140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145" name="Text 19">
            <a:extLst>
              <a:ext uri="{FF2B5EF4-FFF2-40B4-BE49-F238E27FC236}">
                <a16:creationId xmlns:a16="http://schemas.microsoft.com/office/drawing/2014/main" id="{3CD1F8AE-D9ED-46B9-5EB8-86E3E78AAEAC}"/>
              </a:ext>
            </a:extLst>
          </p:cNvPr>
          <p:cNvSpPr/>
          <p:nvPr/>
        </p:nvSpPr>
        <p:spPr>
          <a:xfrm>
            <a:off x="7966759" y="103278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pic>
        <p:nvPicPr>
          <p:cNvPr id="146" name="Image 27" descr="preencoded.png">
            <a:extLst>
              <a:ext uri="{FF2B5EF4-FFF2-40B4-BE49-F238E27FC236}">
                <a16:creationId xmlns:a16="http://schemas.microsoft.com/office/drawing/2014/main" id="{E0BF41B1-8041-A772-8862-8C31856092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" y="4508500"/>
            <a:ext cx="228600" cy="228600"/>
          </a:xfrm>
          <a:prstGeom prst="rect">
            <a:avLst/>
          </a:prstGeom>
        </p:spPr>
      </p:pic>
      <p:sp>
        <p:nvSpPr>
          <p:cNvPr id="147" name="Text 26">
            <a:extLst>
              <a:ext uri="{FF2B5EF4-FFF2-40B4-BE49-F238E27FC236}">
                <a16:creationId xmlns:a16="http://schemas.microsoft.com/office/drawing/2014/main" id="{7122EA04-458A-7E4C-CD83-D982D6A96DCC}"/>
              </a:ext>
            </a:extLst>
          </p:cNvPr>
          <p:cNvSpPr/>
          <p:nvPr/>
        </p:nvSpPr>
        <p:spPr>
          <a:xfrm>
            <a:off x="423863" y="45085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148" name="Text 8">
            <a:extLst>
              <a:ext uri="{FF2B5EF4-FFF2-40B4-BE49-F238E27FC236}">
                <a16:creationId xmlns:a16="http://schemas.microsoft.com/office/drawing/2014/main" id="{471EA09D-DA51-D22D-C098-0F4FB6060DA8}"/>
              </a:ext>
            </a:extLst>
          </p:cNvPr>
          <p:cNvSpPr/>
          <p:nvPr/>
        </p:nvSpPr>
        <p:spPr>
          <a:xfrm>
            <a:off x="2067093" y="21907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로우 데이터의 각 피처에 대한 구조와 의미</a:t>
            </a:r>
            <a:endParaRPr lang="en-US" sz="1050" dirty="0"/>
          </a:p>
        </p:txBody>
      </p:sp>
      <p:sp>
        <p:nvSpPr>
          <p:cNvPr id="149" name="Text 8">
            <a:extLst>
              <a:ext uri="{FF2B5EF4-FFF2-40B4-BE49-F238E27FC236}">
                <a16:creationId xmlns:a16="http://schemas.microsoft.com/office/drawing/2014/main" id="{C97E54B7-B950-C019-18B7-19561496834C}"/>
              </a:ext>
            </a:extLst>
          </p:cNvPr>
          <p:cNvSpPr/>
          <p:nvPr/>
        </p:nvSpPr>
        <p:spPr>
          <a:xfrm>
            <a:off x="2067094" y="278130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프로젝트에 사용된 데이터의 출처와 라이선스 정보 기술</a:t>
            </a:r>
            <a:endParaRPr lang="en-US" sz="1050" dirty="0"/>
          </a:p>
        </p:txBody>
      </p:sp>
      <p:sp>
        <p:nvSpPr>
          <p:cNvPr id="150" name="Text 8">
            <a:extLst>
              <a:ext uri="{FF2B5EF4-FFF2-40B4-BE49-F238E27FC236}">
                <a16:creationId xmlns:a16="http://schemas.microsoft.com/office/drawing/2014/main" id="{F305403D-4A7C-6C3D-2A2A-DF3039CBC3A0}"/>
              </a:ext>
            </a:extLst>
          </p:cNvPr>
          <p:cNvSpPr/>
          <p:nvPr/>
        </p:nvSpPr>
        <p:spPr>
          <a:xfrm>
            <a:off x="2067095" y="352119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데이터의 신뢰성과 분석 적합성 검증결과</a:t>
            </a:r>
            <a:endParaRPr lang="en-US" sz="1050" dirty="0"/>
          </a:p>
        </p:txBody>
      </p:sp>
      <p:sp>
        <p:nvSpPr>
          <p:cNvPr id="171" name="Text 3">
            <a:extLst>
              <a:ext uri="{FF2B5EF4-FFF2-40B4-BE49-F238E27FC236}">
                <a16:creationId xmlns:a16="http://schemas.microsoft.com/office/drawing/2014/main" id="{E20DAF1B-A1EB-E2BE-0CDF-73470736933B}"/>
              </a:ext>
            </a:extLst>
          </p:cNvPr>
          <p:cNvSpPr/>
          <p:nvPr/>
        </p:nvSpPr>
        <p:spPr>
          <a:xfrm>
            <a:off x="620487" y="48205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72" name="Text 5">
            <a:extLst>
              <a:ext uri="{FF2B5EF4-FFF2-40B4-BE49-F238E27FC236}">
                <a16:creationId xmlns:a16="http://schemas.microsoft.com/office/drawing/2014/main" id="{3FC857EA-F2AC-83FC-61E2-DF81FBFE7AA3}"/>
              </a:ext>
            </a:extLst>
          </p:cNvPr>
          <p:cNvSpPr/>
          <p:nvPr/>
        </p:nvSpPr>
        <p:spPr>
          <a:xfrm>
            <a:off x="2028996" y="48205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73" name="Text 6">
            <a:extLst>
              <a:ext uri="{FF2B5EF4-FFF2-40B4-BE49-F238E27FC236}">
                <a16:creationId xmlns:a16="http://schemas.microsoft.com/office/drawing/2014/main" id="{021EC014-BBFF-D81B-2A6D-E920435672C0}"/>
              </a:ext>
            </a:extLst>
          </p:cNvPr>
          <p:cNvSpPr/>
          <p:nvPr/>
        </p:nvSpPr>
        <p:spPr>
          <a:xfrm>
            <a:off x="620487" y="51634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앙상블 모델 성능 평가</a:t>
            </a:r>
            <a:endParaRPr lang="en-US" sz="1050" dirty="0"/>
          </a:p>
        </p:txBody>
      </p:sp>
      <p:sp>
        <p:nvSpPr>
          <p:cNvPr id="174" name="Text 8">
            <a:extLst>
              <a:ext uri="{FF2B5EF4-FFF2-40B4-BE49-F238E27FC236}">
                <a16:creationId xmlns:a16="http://schemas.microsoft.com/office/drawing/2014/main" id="{BE89181F-A632-2893-306D-2AED20E37093}"/>
              </a:ext>
            </a:extLst>
          </p:cNvPr>
          <p:cNvSpPr/>
          <p:nvPr/>
        </p:nvSpPr>
        <p:spPr>
          <a:xfrm>
            <a:off x="2143296" y="51634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 모델의 예측 성능을 비교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평과한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결과</a:t>
            </a:r>
            <a:endParaRPr lang="en-US" sz="1050" dirty="0"/>
          </a:p>
        </p:txBody>
      </p:sp>
      <p:sp>
        <p:nvSpPr>
          <p:cNvPr id="175" name="Text 9">
            <a:extLst>
              <a:ext uri="{FF2B5EF4-FFF2-40B4-BE49-F238E27FC236}">
                <a16:creationId xmlns:a16="http://schemas.microsoft.com/office/drawing/2014/main" id="{762E123D-CE44-7664-8603-A330E5AD5DDA}"/>
              </a:ext>
            </a:extLst>
          </p:cNvPr>
          <p:cNvSpPr/>
          <p:nvPr/>
        </p:nvSpPr>
        <p:spPr>
          <a:xfrm>
            <a:off x="620486" y="57447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모델별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</a:t>
            </a:r>
            <a:endParaRPr lang="en-US" sz="1050" dirty="0"/>
          </a:p>
        </p:txBody>
      </p:sp>
      <p:sp>
        <p:nvSpPr>
          <p:cNvPr id="178" name="Text 8">
            <a:extLst>
              <a:ext uri="{FF2B5EF4-FFF2-40B4-BE49-F238E27FC236}">
                <a16:creationId xmlns:a16="http://schemas.microsoft.com/office/drawing/2014/main" id="{A428CCC9-258D-DFA2-EF29-B0FA420D11FC}"/>
              </a:ext>
            </a:extLst>
          </p:cNvPr>
          <p:cNvSpPr/>
          <p:nvPr/>
        </p:nvSpPr>
        <p:spPr>
          <a:xfrm>
            <a:off x="2143293" y="56959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SHAP(Shapley Additive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exPannations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해석 결과</a:t>
            </a:r>
            <a:endParaRPr lang="en-US" sz="1050" dirty="0"/>
          </a:p>
        </p:txBody>
      </p:sp>
      <p:sp>
        <p:nvSpPr>
          <p:cNvPr id="189" name="Text 3">
            <a:extLst>
              <a:ext uri="{FF2B5EF4-FFF2-40B4-BE49-F238E27FC236}">
                <a16:creationId xmlns:a16="http://schemas.microsoft.com/office/drawing/2014/main" id="{55110DE4-0FDD-153B-9856-D81477075BAB}"/>
              </a:ext>
            </a:extLst>
          </p:cNvPr>
          <p:cNvSpPr/>
          <p:nvPr/>
        </p:nvSpPr>
        <p:spPr>
          <a:xfrm>
            <a:off x="4221737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90" name="Text 5">
            <a:extLst>
              <a:ext uri="{FF2B5EF4-FFF2-40B4-BE49-F238E27FC236}">
                <a16:creationId xmlns:a16="http://schemas.microsoft.com/office/drawing/2014/main" id="{A40F9475-CCBF-75C1-79CD-A47074DCC64A}"/>
              </a:ext>
            </a:extLst>
          </p:cNvPr>
          <p:cNvSpPr/>
          <p:nvPr/>
        </p:nvSpPr>
        <p:spPr>
          <a:xfrm>
            <a:off x="5630246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91" name="Text 6">
            <a:extLst>
              <a:ext uri="{FF2B5EF4-FFF2-40B4-BE49-F238E27FC236}">
                <a16:creationId xmlns:a16="http://schemas.microsoft.com/office/drawing/2014/main" id="{9E5E6D68-A2A2-1805-5D63-E4DF9DC5351D}"/>
              </a:ext>
            </a:extLst>
          </p:cNvPr>
          <p:cNvSpPr/>
          <p:nvPr/>
        </p:nvSpPr>
        <p:spPr>
          <a:xfrm>
            <a:off x="4221737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 보고서</a:t>
            </a:r>
            <a:endParaRPr lang="en-US" sz="1050" dirty="0"/>
          </a:p>
        </p:txBody>
      </p:sp>
      <p:sp>
        <p:nvSpPr>
          <p:cNvPr id="192" name="Text 8">
            <a:extLst>
              <a:ext uri="{FF2B5EF4-FFF2-40B4-BE49-F238E27FC236}">
                <a16:creationId xmlns:a16="http://schemas.microsoft.com/office/drawing/2014/main" id="{5AE07011-F81F-4847-5B20-2C4EBCA00E0F}"/>
              </a:ext>
            </a:extLst>
          </p:cNvPr>
          <p:cNvSpPr/>
          <p:nvPr/>
        </p:nvSpPr>
        <p:spPr>
          <a:xfrm>
            <a:off x="5744546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탐색적 데이터 분석 전 과정 정리 보고서</a:t>
            </a:r>
            <a:endParaRPr lang="en-US" altLang="ko-KR" sz="1050" dirty="0"/>
          </a:p>
        </p:txBody>
      </p:sp>
      <p:sp>
        <p:nvSpPr>
          <p:cNvPr id="193" name="Text 9">
            <a:extLst>
              <a:ext uri="{FF2B5EF4-FFF2-40B4-BE49-F238E27FC236}">
                <a16:creationId xmlns:a16="http://schemas.microsoft.com/office/drawing/2014/main" id="{E42D7C1A-96E3-3C70-2B44-DA488EDB0F79}"/>
              </a:ext>
            </a:extLst>
          </p:cNvPr>
          <p:cNvSpPr/>
          <p:nvPr/>
        </p:nvSpPr>
        <p:spPr>
          <a:xfrm>
            <a:off x="4221736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기반 인사이트 종합 보고서</a:t>
            </a:r>
            <a:endParaRPr lang="en-US" sz="1050" dirty="0"/>
          </a:p>
        </p:txBody>
      </p:sp>
      <p:sp>
        <p:nvSpPr>
          <p:cNvPr id="195" name="Text 13">
            <a:extLst>
              <a:ext uri="{FF2B5EF4-FFF2-40B4-BE49-F238E27FC236}">
                <a16:creationId xmlns:a16="http://schemas.microsoft.com/office/drawing/2014/main" id="{675A5D56-270A-D940-9C5E-71A04C8D4BD2}"/>
              </a:ext>
            </a:extLst>
          </p:cNvPr>
          <p:cNvSpPr/>
          <p:nvPr/>
        </p:nvSpPr>
        <p:spPr>
          <a:xfrm>
            <a:off x="4227180" y="2801262"/>
            <a:ext cx="1063168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최종 데이터 스키마 요약문서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96" name="Text 8">
            <a:extLst>
              <a:ext uri="{FF2B5EF4-FFF2-40B4-BE49-F238E27FC236}">
                <a16:creationId xmlns:a16="http://schemas.microsoft.com/office/drawing/2014/main" id="{EEABBBD3-B8A0-A60D-43E5-455C87683284}"/>
              </a:ext>
            </a:extLst>
          </p:cNvPr>
          <p:cNvSpPr/>
          <p:nvPr/>
        </p:nvSpPr>
        <p:spPr>
          <a:xfrm>
            <a:off x="5744543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인사이트 종합 정리 문서</a:t>
            </a:r>
            <a:endParaRPr lang="en-US" sz="1050" dirty="0"/>
          </a:p>
        </p:txBody>
      </p:sp>
      <p:sp>
        <p:nvSpPr>
          <p:cNvPr id="197" name="Text 8">
            <a:extLst>
              <a:ext uri="{FF2B5EF4-FFF2-40B4-BE49-F238E27FC236}">
                <a16:creationId xmlns:a16="http://schemas.microsoft.com/office/drawing/2014/main" id="{E13DE25A-44DE-AC15-0A6F-C941A578C87C}"/>
              </a:ext>
            </a:extLst>
          </p:cNvPr>
          <p:cNvSpPr/>
          <p:nvPr/>
        </p:nvSpPr>
        <p:spPr>
          <a:xfrm>
            <a:off x="5744544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 모델 입력 데이터의 스키마를 요약한 문서</a:t>
            </a:r>
            <a:endParaRPr lang="en-US" sz="1050" dirty="0"/>
          </a:p>
        </p:txBody>
      </p:sp>
      <p:sp>
        <p:nvSpPr>
          <p:cNvPr id="199" name="Text 3">
            <a:extLst>
              <a:ext uri="{FF2B5EF4-FFF2-40B4-BE49-F238E27FC236}">
                <a16:creationId xmlns:a16="http://schemas.microsoft.com/office/drawing/2014/main" id="{F3752F3F-4FD7-0946-2188-0241E7269F07}"/>
              </a:ext>
            </a:extLst>
          </p:cNvPr>
          <p:cNvSpPr/>
          <p:nvPr/>
        </p:nvSpPr>
        <p:spPr>
          <a:xfrm>
            <a:off x="7942884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200" name="Text 5">
            <a:extLst>
              <a:ext uri="{FF2B5EF4-FFF2-40B4-BE49-F238E27FC236}">
                <a16:creationId xmlns:a16="http://schemas.microsoft.com/office/drawing/2014/main" id="{B7D130E5-BFFE-B933-B2C8-2E32C624072C}"/>
              </a:ext>
            </a:extLst>
          </p:cNvPr>
          <p:cNvSpPr/>
          <p:nvPr/>
        </p:nvSpPr>
        <p:spPr>
          <a:xfrm>
            <a:off x="9351393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201" name="Text 6">
            <a:extLst>
              <a:ext uri="{FF2B5EF4-FFF2-40B4-BE49-F238E27FC236}">
                <a16:creationId xmlns:a16="http://schemas.microsoft.com/office/drawing/2014/main" id="{907F78AE-7CA7-A9C3-BDD0-F843F778698E}"/>
              </a:ext>
            </a:extLst>
          </p:cNvPr>
          <p:cNvSpPr/>
          <p:nvPr/>
        </p:nvSpPr>
        <p:spPr>
          <a:xfrm>
            <a:off x="7942884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후 데이터 모델 학습 비교</a:t>
            </a:r>
            <a:endParaRPr lang="en-US" sz="1050" dirty="0"/>
          </a:p>
        </p:txBody>
      </p:sp>
      <p:sp>
        <p:nvSpPr>
          <p:cNvPr id="202" name="Text 8">
            <a:extLst>
              <a:ext uri="{FF2B5EF4-FFF2-40B4-BE49-F238E27FC236}">
                <a16:creationId xmlns:a16="http://schemas.microsoft.com/office/drawing/2014/main" id="{94C30826-3284-8A2F-DC3E-70AF1A150CB5}"/>
              </a:ext>
            </a:extLst>
          </p:cNvPr>
          <p:cNvSpPr/>
          <p:nvPr/>
        </p:nvSpPr>
        <p:spPr>
          <a:xfrm>
            <a:off x="9465693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후의 데이터 모델 성능 변화를 비교 분석</a:t>
            </a:r>
            <a:endParaRPr lang="en-US" sz="1050" dirty="0"/>
          </a:p>
        </p:txBody>
      </p:sp>
      <p:sp>
        <p:nvSpPr>
          <p:cNvPr id="203" name="Text 9">
            <a:extLst>
              <a:ext uri="{FF2B5EF4-FFF2-40B4-BE49-F238E27FC236}">
                <a16:creationId xmlns:a16="http://schemas.microsoft.com/office/drawing/2014/main" id="{3ACAB8C7-8234-D386-B1E7-7220E2B0297E}"/>
              </a:ext>
            </a:extLst>
          </p:cNvPr>
          <p:cNvSpPr/>
          <p:nvPr/>
        </p:nvSpPr>
        <p:spPr>
          <a:xfrm>
            <a:off x="7942883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검증 및 평가 보고서</a:t>
            </a:r>
            <a:endParaRPr lang="en-US" sz="1050" dirty="0"/>
          </a:p>
        </p:txBody>
      </p:sp>
      <p:sp>
        <p:nvSpPr>
          <p:cNvPr id="204" name="Text 11">
            <a:extLst>
              <a:ext uri="{FF2B5EF4-FFF2-40B4-BE49-F238E27FC236}">
                <a16:creationId xmlns:a16="http://schemas.microsoft.com/office/drawing/2014/main" id="{AB145250-45A2-8833-8990-66E09E159089}"/>
              </a:ext>
            </a:extLst>
          </p:cNvPr>
          <p:cNvSpPr/>
          <p:nvPr/>
        </p:nvSpPr>
        <p:spPr>
          <a:xfrm>
            <a:off x="7910228" y="3519389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파이프 라인 정의 </a:t>
            </a:r>
            <a:endParaRPr lang="en-US" sz="1050" dirty="0"/>
          </a:p>
        </p:txBody>
      </p:sp>
      <p:sp>
        <p:nvSpPr>
          <p:cNvPr id="205" name="Text 13">
            <a:extLst>
              <a:ext uri="{FF2B5EF4-FFF2-40B4-BE49-F238E27FC236}">
                <a16:creationId xmlns:a16="http://schemas.microsoft.com/office/drawing/2014/main" id="{06F1F1F9-DB09-73E4-BE89-671C04434931}"/>
              </a:ext>
            </a:extLst>
          </p:cNvPr>
          <p:cNvSpPr/>
          <p:nvPr/>
        </p:nvSpPr>
        <p:spPr>
          <a:xfrm>
            <a:off x="7948327" y="2801262"/>
            <a:ext cx="1068614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설명서 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06" name="Text 8">
            <a:extLst>
              <a:ext uri="{FF2B5EF4-FFF2-40B4-BE49-F238E27FC236}">
                <a16:creationId xmlns:a16="http://schemas.microsoft.com/office/drawing/2014/main" id="{42D36BAD-EF3B-7436-1549-000056ECB8DD}"/>
              </a:ext>
            </a:extLst>
          </p:cNvPr>
          <p:cNvSpPr/>
          <p:nvPr/>
        </p:nvSpPr>
        <p:spPr>
          <a:xfrm>
            <a:off x="9465690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검증 전략과 평가 방법 설명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및 평가서</a:t>
            </a:r>
            <a:endParaRPr lang="en-US" sz="1050" dirty="0"/>
          </a:p>
        </p:txBody>
      </p:sp>
      <p:sp>
        <p:nvSpPr>
          <p:cNvPr id="207" name="Text 8">
            <a:extLst>
              <a:ext uri="{FF2B5EF4-FFF2-40B4-BE49-F238E27FC236}">
                <a16:creationId xmlns:a16="http://schemas.microsoft.com/office/drawing/2014/main" id="{B90916F3-74F9-9C1F-98EC-24F73FE77581}"/>
              </a:ext>
            </a:extLst>
          </p:cNvPr>
          <p:cNvSpPr/>
          <p:nvPr/>
        </p:nvSpPr>
        <p:spPr>
          <a:xfrm>
            <a:off x="9465691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개별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머신러닝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모델의 구조 및 특성 설명</a:t>
            </a:r>
            <a:endParaRPr lang="en-US" sz="1050" dirty="0"/>
          </a:p>
        </p:txBody>
      </p:sp>
      <p:sp>
        <p:nvSpPr>
          <p:cNvPr id="208" name="Text 8">
            <a:extLst>
              <a:ext uri="{FF2B5EF4-FFF2-40B4-BE49-F238E27FC236}">
                <a16:creationId xmlns:a16="http://schemas.microsoft.com/office/drawing/2014/main" id="{360656CC-9304-998C-8A15-177CE11DD51E}"/>
              </a:ext>
            </a:extLst>
          </p:cNvPr>
          <p:cNvSpPr/>
          <p:nvPr/>
        </p:nvSpPr>
        <p:spPr>
          <a:xfrm>
            <a:off x="9465692" y="355747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모델링 파이프 라인 정의 </a:t>
            </a:r>
            <a:endParaRPr lang="en-US" sz="1050" dirty="0"/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2758A2FA-6C41-6D5E-1797-5A0D98364498}"/>
              </a:ext>
            </a:extLst>
          </p:cNvPr>
          <p:cNvSpPr/>
          <p:nvPr/>
        </p:nvSpPr>
        <p:spPr>
          <a:xfrm>
            <a:off x="4221735" y="3477323"/>
            <a:ext cx="10686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명세서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3E2B0494-E09A-A442-4889-55F91258969D}"/>
              </a:ext>
            </a:extLst>
          </p:cNvPr>
          <p:cNvSpPr/>
          <p:nvPr/>
        </p:nvSpPr>
        <p:spPr>
          <a:xfrm>
            <a:off x="5739100" y="34936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과정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명새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54293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WDC</a:t>
            </a:r>
            <a:endParaRPr lang="en-US" sz="2250" dirty="0"/>
          </a:p>
        </p:txBody>
      </p:sp>
      <p:sp>
        <p:nvSpPr>
          <p:cNvPr id="29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 및 일별 자전거 대여량 정보</a:t>
            </a:r>
            <a:endParaRPr lang="en-US" sz="1050" dirty="0"/>
          </a:p>
        </p:txBody>
      </p:sp>
      <p:sp>
        <p:nvSpPr>
          <p:cNvPr id="31" name="Text 3"/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/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instant</a:t>
            </a:r>
            <a:endParaRPr lang="en-US" sz="1050" dirty="0"/>
          </a:p>
        </p:txBody>
      </p:sp>
      <p:sp>
        <p:nvSpPr>
          <p:cNvPr id="36" name="Text 8"/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인덱스</a:t>
            </a:r>
            <a:endParaRPr lang="en-US" sz="1050" dirty="0"/>
          </a:p>
        </p:txBody>
      </p:sp>
      <p:sp>
        <p:nvSpPr>
          <p:cNvPr id="38" name="Text 10"/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/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dteday</a:t>
            </a:r>
            <a:endParaRPr lang="en-US" sz="1050" dirty="0"/>
          </a:p>
        </p:txBody>
      </p:sp>
      <p:sp>
        <p:nvSpPr>
          <p:cNvPr id="40" name="Text 12"/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50" dirty="0"/>
          </a:p>
        </p:txBody>
      </p:sp>
      <p:sp>
        <p:nvSpPr>
          <p:cNvPr id="41" name="Text 13"/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endParaRPr lang="en-US" sz="1050" dirty="0"/>
          </a:p>
        </p:txBody>
      </p:sp>
      <p:sp>
        <p:nvSpPr>
          <p:cNvPr id="42" name="Text 14"/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/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</a:t>
            </a:r>
            <a:endParaRPr lang="en-US" sz="1050" dirty="0"/>
          </a:p>
        </p:txBody>
      </p:sp>
      <p:sp>
        <p:nvSpPr>
          <p:cNvPr id="44" name="Text 16"/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5" name="Text 17"/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(1:겨울, 2:봄, 3:여름, 4:가을)</a:t>
            </a:r>
            <a:endParaRPr lang="en-US" sz="1050" dirty="0"/>
          </a:p>
        </p:txBody>
      </p:sp>
      <p:sp>
        <p:nvSpPr>
          <p:cNvPr id="46" name="Text 18"/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/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yr</a:t>
            </a:r>
            <a:endParaRPr lang="en-US" sz="1050" dirty="0"/>
          </a:p>
        </p:txBody>
      </p:sp>
      <p:sp>
        <p:nvSpPr>
          <p:cNvPr id="48" name="Text 20"/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9" name="Text 21"/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연도 (0: 2011, 1: 2012)</a:t>
            </a:r>
            <a:endParaRPr lang="en-US" sz="1050" dirty="0"/>
          </a:p>
        </p:txBody>
      </p:sp>
      <p:sp>
        <p:nvSpPr>
          <p:cNvPr id="50" name="Text 22"/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/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mnth</a:t>
            </a:r>
            <a:endParaRPr lang="en-US" sz="1050" dirty="0"/>
          </a:p>
        </p:txBody>
      </p:sp>
      <p:sp>
        <p:nvSpPr>
          <p:cNvPr id="52" name="Text 24"/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3" name="Text 25"/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(1~12)</a:t>
            </a:r>
            <a:endParaRPr lang="en-US" sz="1050" dirty="0"/>
          </a:p>
        </p:txBody>
      </p:sp>
      <p:sp>
        <p:nvSpPr>
          <p:cNvPr id="54" name="Text 26"/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/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hr</a:t>
            </a:r>
            <a:endParaRPr lang="en-US" sz="1050" dirty="0"/>
          </a:p>
        </p:txBody>
      </p:sp>
      <p:sp>
        <p:nvSpPr>
          <p:cNvPr id="56" name="Text 28"/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7" name="Text 29"/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(0~23)</a:t>
            </a:r>
            <a:endParaRPr lang="en-US" sz="1050" dirty="0"/>
          </a:p>
        </p:txBody>
      </p:sp>
      <p:sp>
        <p:nvSpPr>
          <p:cNvPr id="58" name="Text 30"/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/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holiday</a:t>
            </a:r>
            <a:endParaRPr lang="en-US" sz="1050" dirty="0"/>
          </a:p>
        </p:txBody>
      </p:sp>
      <p:sp>
        <p:nvSpPr>
          <p:cNvPr id="60" name="Text 32"/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1" name="Text 33"/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공휴일 여부 (1:공휴일, 0:아님)</a:t>
            </a:r>
            <a:endParaRPr lang="en-US" sz="1050" dirty="0"/>
          </a:p>
        </p:txBody>
      </p:sp>
      <p:sp>
        <p:nvSpPr>
          <p:cNvPr id="62" name="Text 34"/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/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weekday</a:t>
            </a:r>
            <a:endParaRPr lang="en-US" sz="1050" dirty="0"/>
          </a:p>
        </p:txBody>
      </p:sp>
      <p:sp>
        <p:nvSpPr>
          <p:cNvPr id="64" name="Text 36"/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65" name="Text 37"/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</a:t>
            </a:r>
            <a:endParaRPr lang="en-US" sz="1050" dirty="0"/>
          </a:p>
        </p:txBody>
      </p:sp>
      <p:sp>
        <p:nvSpPr>
          <p:cNvPr id="66" name="Text 38"/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/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workingday</a:t>
            </a:r>
            <a:endParaRPr lang="en-US" sz="1050" dirty="0"/>
          </a:p>
        </p:txBody>
      </p:sp>
      <p:sp>
        <p:nvSpPr>
          <p:cNvPr id="68" name="Text 40"/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9" name="Text 41"/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근무일 여부 (1:근무일, 0:아님)</a:t>
            </a:r>
            <a:endParaRPr lang="en-US" sz="1050" dirty="0"/>
          </a:p>
        </p:txBody>
      </p:sp>
      <p:sp>
        <p:nvSpPr>
          <p:cNvPr id="70" name="Text 42"/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/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weathersit</a:t>
            </a:r>
            <a:endParaRPr lang="en-US" sz="1050" dirty="0"/>
          </a:p>
        </p:txBody>
      </p:sp>
      <p:sp>
        <p:nvSpPr>
          <p:cNvPr id="72" name="Text 44"/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73" name="Text 45"/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(1:맑음, 2:흐림/안개, 3:약한 눈/비, 4:폭우/폭설)</a:t>
            </a:r>
            <a:endParaRPr lang="en-US" sz="1050" dirty="0"/>
          </a:p>
        </p:txBody>
      </p:sp>
      <p:sp>
        <p:nvSpPr>
          <p:cNvPr id="74" name="Text 46"/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/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/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4/5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DF805B61-B1C5-4E87-A6F1-10C67BBF1908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EE55E8F-6A6D-4A64-8990-BD58FFDB51E7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6D8AC0D5-A35F-420D-B8D9-1C57ACA28C6F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F89126A0-0C64-BD27-D8B8-CBB1EF894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457B06AC-C335-435D-8405-77BBFD4E2CF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DBC622A1-94B7-5D80-BD5D-9E3E476524C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026CA712-92E2-D6CB-9F6A-E452EEE7EC9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DE8CE38C-B68A-E4C0-C2B5-9FD3E0C3120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DF99A4F5-635D-7400-9154-8AF88DF8C75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E76E2660-8445-B51E-B796-03D7941BD4A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35AF9F7E-A98A-78DC-BE81-0CCD1A74E69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298850B5-9EC8-E5EC-6052-A1224F66E2E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1954BB1E-EB3C-AFAF-9C0D-239ADFD5FAE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5FD8834A-8CB6-DE7D-8867-82D9A63EF460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Open-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Meteo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C8ABF4A5-A57E-7A52-7FEE-7230528D291C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7DD3D008-3DC6-E7B7-416D-9C2D6E12BA43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82478126-92A2-86EE-F8EF-4222A0F8E3C1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BDAE296C-476A-CC12-15C6-60135DC8EED0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F43D231A-E899-AF05-5886-CD1996889549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EBE56B24-287E-962D-18DA-52272BC3CED0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C5468370-7CF2-99B3-4EC4-2374764B4FD7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A7E768B6-4589-EC31-8358-8CF43F68B09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18F39D20-428D-F0C6-4A5A-04F1288644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AB000EEA-37C1-CC13-FF0D-5AD900F1267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FD910049-39D7-61AE-5DDC-4BBB42DDB5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E3A86CE6-51C2-5F3B-ED04-28BC88A7AD14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472B57CE-DEC8-472B-C1BC-C049750458DF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642369D8-B2AF-E2CB-6EF9-62D8A59411AF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00A49F83-E175-14EE-9F17-1B00C0CD7C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4C7B0743-3426-5909-1564-A27E6B7461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DE63FD19-097D-8DFD-8A77-BB68E242127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0DCB04EA-5137-7173-667D-8FB647FC2D3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50CD017A-5D09-9FF7-EC35-50DF10D752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DD771242-1D3E-3CFB-4853-F5CE73E7D11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481BA6D7-FF82-3A2C-9A09-0CB9ED102579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09FD9965-DDBC-AAFE-F7FB-0583650CA0C6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8DDBC8F1-71E6-1448-E403-776EA80DAC7E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1FC21A21-5A68-7C98-BC8A-D319AE19000D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0CA62315-9D7B-12D2-9D4A-94F81E9E43F2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1358F-3231-F37A-E7D8-335D71280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C692AB6-E503-0910-237C-605AC3E84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5B875CD-F762-204F-0BD7-51C091FCA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42D28651-6E7E-7DD9-0CD0-3896A511A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F85D37D-D840-ABD4-E196-9FFA902A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3E56E67-4702-D547-65F4-1854A88222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FED38A69-F931-9644-9D69-3536A96F93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77F82299-D57C-13BA-7984-976475CABB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A4C7BAF0-A536-8C93-850A-EAD45EBD8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0CA0E039-76A9-E08B-F1D0-B272120ABF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E17C8562-C62E-882C-9D9D-C5DEEC7C7C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8E134D3C-EDE8-1788-F420-D487ABBA435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78747582-4900-5811-FC4C-7116A44FA3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4CDFB38F-1C04-19D4-A088-065D00E5133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E35663F0-7A18-DFF4-01ED-F2124D429664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Seoul</a:t>
            </a:r>
            <a:endParaRPr lang="en-US" sz="225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2E892876-9111-DF0D-1F24-D52A9CEDE88E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데이터</a:t>
            </a:r>
            <a:endParaRPr lang="en-US" altLang="ko-KR" sz="1500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FDE03BC9-F5ED-F7FA-9510-F724B1ACE97C}"/>
              </a:ext>
            </a:extLst>
          </p:cNvPr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따릉이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공유 자전거 대여 시스템에서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년 부터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까지의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</a:t>
            </a:r>
            <a:endParaRPr lang="en-US" altLang="ko-KR" sz="105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857257EB-710A-1D5B-0ADE-9662377918E7}"/>
              </a:ext>
            </a:extLst>
          </p:cNvPr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E2409ED9-47B6-33A5-ACA0-ACFCAF1E43E8}"/>
              </a:ext>
            </a:extLst>
          </p:cNvPr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E2C99106-6FA0-79C6-5103-18357A330EAA}"/>
              </a:ext>
            </a:extLst>
          </p:cNvPr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1A22A59-EE46-8978-C7DC-0AAECF2EEA3E}"/>
              </a:ext>
            </a:extLst>
          </p:cNvPr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23D74B5-EBB2-6B9B-4293-5466D0486BE5}"/>
              </a:ext>
            </a:extLst>
          </p:cNvPr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Rental_date</a:t>
            </a:r>
            <a:endParaRPr lang="en-US" sz="1050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358D927F-1F65-370E-C5E0-FA5B9748F798}"/>
              </a:ext>
            </a:extLst>
          </p:cNvPr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Date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7692E6A0-FBB2-3422-A548-4D19EABDED90}"/>
              </a:ext>
            </a:extLst>
          </p:cNvPr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자전거가 대여된 날짜	</a:t>
            </a:r>
            <a:endParaRPr lang="en-US" sz="105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9FA396AA-F337-D371-CA39-704109F398BA}"/>
              </a:ext>
            </a:extLst>
          </p:cNvPr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54D531CE-AD6C-F768-17E2-77C030D29143}"/>
              </a:ext>
            </a:extLst>
          </p:cNvPr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Rental_hour</a:t>
            </a:r>
            <a:endParaRPr lang="en-US" sz="10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79EE7524-414E-853C-D0FD-182DEDD51F8A}"/>
              </a:ext>
            </a:extLst>
          </p:cNvPr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BCE69026-182B-5ACB-CD10-610D839D3F3C}"/>
              </a:ext>
            </a:extLst>
          </p:cNvPr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대여한 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단위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76E89128-CB61-4D20-D6D1-97578F0A3957}"/>
              </a:ext>
            </a:extLst>
          </p:cNvPr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6D3A061B-7881-F978-B0D8-1401B2BA8987}"/>
              </a:ext>
            </a:extLst>
          </p:cNvPr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Station_id</a:t>
            </a:r>
            <a:endParaRPr lang="en-US" sz="105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44FC5B96-D5CF-BCA2-8ED0-AC35852088C3}"/>
              </a:ext>
            </a:extLst>
          </p:cNvPr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int</a:t>
            </a:r>
            <a:endParaRPr lang="en-US" sz="105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DFD794FF-BCCB-19E3-9F78-C3CB4BE96971}"/>
              </a:ext>
            </a:extLst>
          </p:cNvPr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고유 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	</a:t>
            </a:r>
            <a:endParaRPr lang="en-US" sz="1050" dirty="0"/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164C169B-BE11-11AF-8D50-009C031F903D}"/>
              </a:ext>
            </a:extLst>
          </p:cNvPr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F41BFDBF-21C8-4DB8-FBAA-C8BD7C1FA4E1}"/>
              </a:ext>
            </a:extLst>
          </p:cNvPr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Station_name</a:t>
            </a:r>
            <a:endParaRPr lang="en-US" sz="1050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2CB34B08-3D77-91D0-2C6F-AAC239A47DD4}"/>
              </a:ext>
            </a:extLst>
          </p:cNvPr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940A6D31-D7BB-F803-58E5-7A016AB9893B}"/>
              </a:ext>
            </a:extLst>
          </p:cNvPr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명칭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지점명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47E065DB-87A7-FCBB-CA6B-2FD60A7FE82D}"/>
              </a:ext>
            </a:extLst>
          </p:cNvPr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B3695586-C300-AEC2-39D2-DF180086A355}"/>
              </a:ext>
            </a:extLst>
          </p:cNvPr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Rental_type</a:t>
            </a:r>
            <a:endParaRPr lang="en-US" sz="1050" dirty="0"/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E43B6A3B-F649-894C-D47B-DAE2EBB8C86F}"/>
              </a:ext>
            </a:extLst>
          </p:cNvPr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String</a:t>
            </a:r>
            <a:endParaRPr lang="en-US" sz="105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119E6E44-A9D2-56D1-9B33-48968521FCF0}"/>
              </a:ext>
            </a:extLst>
          </p:cNvPr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대여권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종류	</a:t>
            </a:r>
            <a:endParaRPr lang="en-US" sz="1050" dirty="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9AE943E-20B3-AA8E-1ED3-78D2C1B81FAE}"/>
              </a:ext>
            </a:extLst>
          </p:cNvPr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9D7A8189-9FF6-7320-199B-DE566C7D5352}"/>
              </a:ext>
            </a:extLst>
          </p:cNvPr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gender</a:t>
            </a:r>
            <a:endParaRPr lang="en-US" sz="1050" dirty="0"/>
          </a:p>
        </p:txBody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C50E4F12-75E9-6D81-FF6D-BD889B37046F}"/>
              </a:ext>
            </a:extLst>
          </p:cNvPr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3FB83F63-063B-8023-9D0F-7B60DA5EE15B}"/>
              </a:ext>
            </a:extLst>
          </p:cNvPr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성별	</a:t>
            </a:r>
            <a:endParaRPr lang="en-US" sz="1050" dirty="0"/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6BB98FE7-852E-F9EF-C182-7B1CF1A16379}"/>
              </a:ext>
            </a:extLst>
          </p:cNvPr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5F44F88E-E45F-D5BA-7A3A-D3CA45B528A3}"/>
              </a:ext>
            </a:extLst>
          </p:cNvPr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Age_group</a:t>
            </a:r>
            <a:endParaRPr lang="en-US" sz="1050" dirty="0"/>
          </a:p>
        </p:txBody>
      </p:sp>
      <p:sp>
        <p:nvSpPr>
          <p:cNvPr id="60" name="Text 32">
            <a:extLst>
              <a:ext uri="{FF2B5EF4-FFF2-40B4-BE49-F238E27FC236}">
                <a16:creationId xmlns:a16="http://schemas.microsoft.com/office/drawing/2014/main" id="{3477D35D-C30F-014A-8F6A-DD3C9CD31361}"/>
              </a:ext>
            </a:extLst>
          </p:cNvPr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61" name="Text 33">
            <a:extLst>
              <a:ext uri="{FF2B5EF4-FFF2-40B4-BE49-F238E27FC236}">
                <a16:creationId xmlns:a16="http://schemas.microsoft.com/office/drawing/2014/main" id="{56AE29CB-2971-CBBC-8306-D4A3C4AAF7F7}"/>
              </a:ext>
            </a:extLst>
          </p:cNvPr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연령대	</a:t>
            </a:r>
            <a:endParaRPr lang="en-US" sz="1050" dirty="0"/>
          </a:p>
        </p:txBody>
      </p:sp>
      <p:sp>
        <p:nvSpPr>
          <p:cNvPr id="62" name="Text 34">
            <a:extLst>
              <a:ext uri="{FF2B5EF4-FFF2-40B4-BE49-F238E27FC236}">
                <a16:creationId xmlns:a16="http://schemas.microsoft.com/office/drawing/2014/main" id="{3221EB6E-F6AA-7C42-C9D8-BC0C16BBEABE}"/>
              </a:ext>
            </a:extLst>
          </p:cNvPr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>
            <a:extLst>
              <a:ext uri="{FF2B5EF4-FFF2-40B4-BE49-F238E27FC236}">
                <a16:creationId xmlns:a16="http://schemas.microsoft.com/office/drawing/2014/main" id="{D83C6537-E262-D756-1B42-9966AE65365C}"/>
              </a:ext>
            </a:extLst>
          </p:cNvPr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count</a:t>
            </a:r>
            <a:endParaRPr lang="en-US" sz="1050" dirty="0"/>
          </a:p>
        </p:txBody>
      </p:sp>
      <p:sp>
        <p:nvSpPr>
          <p:cNvPr id="64" name="Text 36">
            <a:extLst>
              <a:ext uri="{FF2B5EF4-FFF2-40B4-BE49-F238E27FC236}">
                <a16:creationId xmlns:a16="http://schemas.microsoft.com/office/drawing/2014/main" id="{F4EE6539-63A1-8B5F-EB64-A40E3EF6B4AA}"/>
              </a:ext>
            </a:extLst>
          </p:cNvPr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65" name="Text 37">
            <a:extLst>
              <a:ext uri="{FF2B5EF4-FFF2-40B4-BE49-F238E27FC236}">
                <a16:creationId xmlns:a16="http://schemas.microsoft.com/office/drawing/2014/main" id="{37B86B74-91BC-DD2C-BFD7-12076772D168}"/>
              </a:ext>
            </a:extLst>
          </p:cNvPr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대여소의 총 이용건수	</a:t>
            </a:r>
            <a:endParaRPr lang="en-US" sz="1050" dirty="0"/>
          </a:p>
        </p:txBody>
      </p:sp>
      <p:sp>
        <p:nvSpPr>
          <p:cNvPr id="66" name="Text 38">
            <a:extLst>
              <a:ext uri="{FF2B5EF4-FFF2-40B4-BE49-F238E27FC236}">
                <a16:creationId xmlns:a16="http://schemas.microsoft.com/office/drawing/2014/main" id="{52279EAC-5703-6FAE-B44B-F1157A3011B4}"/>
              </a:ext>
            </a:extLst>
          </p:cNvPr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>
            <a:extLst>
              <a:ext uri="{FF2B5EF4-FFF2-40B4-BE49-F238E27FC236}">
                <a16:creationId xmlns:a16="http://schemas.microsoft.com/office/drawing/2014/main" id="{F2514C12-4B3F-C1DD-E3BC-81101878ED80}"/>
              </a:ext>
            </a:extLst>
          </p:cNvPr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calories</a:t>
            </a:r>
            <a:endParaRPr lang="en-US" sz="1050" dirty="0"/>
          </a:p>
        </p:txBody>
      </p:sp>
      <p:sp>
        <p:nvSpPr>
          <p:cNvPr id="68" name="Text 40">
            <a:extLst>
              <a:ext uri="{FF2B5EF4-FFF2-40B4-BE49-F238E27FC236}">
                <a16:creationId xmlns:a16="http://schemas.microsoft.com/office/drawing/2014/main" id="{ACFD9E03-E4B6-F8D3-5F14-86668302983D}"/>
              </a:ext>
            </a:extLst>
          </p:cNvPr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float</a:t>
            </a:r>
            <a:endParaRPr lang="en-US" sz="1050" dirty="0"/>
          </a:p>
        </p:txBody>
      </p:sp>
      <p:sp>
        <p:nvSpPr>
          <p:cNvPr id="69" name="Text 41">
            <a:extLst>
              <a:ext uri="{FF2B5EF4-FFF2-40B4-BE49-F238E27FC236}">
                <a16:creationId xmlns:a16="http://schemas.microsoft.com/office/drawing/2014/main" id="{39CE0F54-8C9F-A08C-0635-DC83868697FF}"/>
              </a:ext>
            </a:extLst>
          </p:cNvPr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이용 시 소모된 칼로리	</a:t>
            </a:r>
            <a:endParaRPr lang="en-US" sz="1050" dirty="0"/>
          </a:p>
        </p:txBody>
      </p:sp>
      <p:sp>
        <p:nvSpPr>
          <p:cNvPr id="70" name="Text 42">
            <a:extLst>
              <a:ext uri="{FF2B5EF4-FFF2-40B4-BE49-F238E27FC236}">
                <a16:creationId xmlns:a16="http://schemas.microsoft.com/office/drawing/2014/main" id="{8437B5E8-7C7D-736C-775F-57775371863C}"/>
              </a:ext>
            </a:extLst>
          </p:cNvPr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>
            <a:extLst>
              <a:ext uri="{FF2B5EF4-FFF2-40B4-BE49-F238E27FC236}">
                <a16:creationId xmlns:a16="http://schemas.microsoft.com/office/drawing/2014/main" id="{2EE078A3-20D9-C240-A5C1-B918861A3CE5}"/>
              </a:ext>
            </a:extLst>
          </p:cNvPr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Carbon_</a:t>
            </a:r>
            <a:b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reduction</a:t>
            </a:r>
            <a:endParaRPr lang="en-US" sz="1050" dirty="0"/>
          </a:p>
        </p:txBody>
      </p:sp>
      <p:sp>
        <p:nvSpPr>
          <p:cNvPr id="72" name="Text 44">
            <a:extLst>
              <a:ext uri="{FF2B5EF4-FFF2-40B4-BE49-F238E27FC236}">
                <a16:creationId xmlns:a16="http://schemas.microsoft.com/office/drawing/2014/main" id="{DEC5EB4F-31C1-9C16-D051-CB563999383B}"/>
              </a:ext>
            </a:extLst>
          </p:cNvPr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flaot</a:t>
            </a:r>
            <a:endParaRPr lang="en-US" sz="1050" dirty="0"/>
          </a:p>
        </p:txBody>
      </p:sp>
      <p:sp>
        <p:nvSpPr>
          <p:cNvPr id="73" name="Text 45">
            <a:extLst>
              <a:ext uri="{FF2B5EF4-FFF2-40B4-BE49-F238E27FC236}">
                <a16:creationId xmlns:a16="http://schemas.microsoft.com/office/drawing/2014/main" id="{3DB97015-D5A3-3FC1-0C65-C66F7609694E}"/>
              </a:ext>
            </a:extLst>
          </p:cNvPr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차량대비 절감된 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탄소량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	</a:t>
            </a:r>
            <a:endParaRPr lang="en-US" sz="1050" dirty="0"/>
          </a:p>
        </p:txBody>
      </p:sp>
      <p:sp>
        <p:nvSpPr>
          <p:cNvPr id="74" name="Text 46">
            <a:extLst>
              <a:ext uri="{FF2B5EF4-FFF2-40B4-BE49-F238E27FC236}">
                <a16:creationId xmlns:a16="http://schemas.microsoft.com/office/drawing/2014/main" id="{C7192C5F-26B2-603A-5F94-F1EF4F844EF2}"/>
              </a:ext>
            </a:extLst>
          </p:cNvPr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>
            <a:extLst>
              <a:ext uri="{FF2B5EF4-FFF2-40B4-BE49-F238E27FC236}">
                <a16:creationId xmlns:a16="http://schemas.microsoft.com/office/drawing/2014/main" id="{F390B771-0CA1-0411-6D49-8DB69552634F}"/>
              </a:ext>
            </a:extLst>
          </p:cNvPr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>
            <a:extLst>
              <a:ext uri="{FF2B5EF4-FFF2-40B4-BE49-F238E27FC236}">
                <a16:creationId xmlns:a16="http://schemas.microsoft.com/office/drawing/2014/main" id="{076C6536-8482-3776-F529-3B22B890C3C2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>
            <a:extLst>
              <a:ext uri="{FF2B5EF4-FFF2-40B4-BE49-F238E27FC236}">
                <a16:creationId xmlns:a16="http://schemas.microsoft.com/office/drawing/2014/main" id="{EDFB2B0F-7C99-375F-8B69-3344BFAA7AF9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4/5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701137EC-64EC-6F69-84E3-E75621FA9C1A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E59EC128-F633-E398-7C3B-8E9D87F57161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15918F39-B5B2-40FC-345D-6FC18221D46A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2099F7CC-74CD-94D4-A57F-0E28842100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B06C7C5C-7F55-E2F0-AFB9-849F2D3D9B1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1B6F6AE1-58CB-C878-5156-50A42DD6450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349F6BE6-B670-0A1B-9451-A10A2395F8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818C21AF-659C-CF91-2185-3E511B4905B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C05D403A-00E2-A582-67D3-D7BCDDFB1DF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22AF5251-4762-E23B-8FE0-D369C6335BC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FD806E18-A996-40AD-628D-55AD901D88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5B69AA97-5A54-2E62-DD49-0ED175A7175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F2DE07B1-31A4-8DFD-2D54-978379809A1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2833EB9C-D42F-2948-83C4-CB3D4313AD25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기상자료개방포털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—ASOS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5D7A18FB-96B6-D0CE-DAFA-007142377228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C02F7D60-CF3D-809F-2CA2-515FE1FA5B2A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E50E0145-3512-FD94-12F9-A56CA8335D60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21378ED4-BE50-4344-DC19-33035A55B489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57D930B7-5FC4-9C46-9B9D-031A24B4442D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D7D7B01B-F0C8-5E71-1B1D-4F609E580CE6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F5EE04E4-7B04-5A34-AE3F-679385857991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019753E5-5B18-A509-6AF5-56395474C1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C9D2DF25-F291-E2E7-CE2B-FC8036E3485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8B6F65A8-A1D9-E3B0-5548-44899576AA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47A40CC0-9E6C-1EFB-268F-D5F02A3937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7A546D26-DA4C-7243-91CA-24C791F5BD9E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8F4E23F2-84A4-823E-4FDC-7F923D10FD51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1C10E4C6-E5F3-6EC7-DBF8-07123A092AAD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BEF34C41-EBB7-4801-5965-E1079C70E4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EE36E537-E17A-C898-A49A-5F5342238AD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CE84475F-7508-2AFA-03E0-3DA94104E3F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2B3466DA-E40D-2FDA-E298-442EB601AA4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76EF4883-AAC6-43D9-3307-46360ECC314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264EEC1F-2254-3F7D-071D-92C60F25786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82CBAF7D-3E0D-2EC6-3BB2-A8B6615221FC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418E6344-409A-3498-37C9-4BF9D159FAB2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4611F0A5-4129-B368-734B-48975F636B57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29308E79-DF43-8A7A-FBCA-63DF88E602E7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40FE864B-AC9A-933E-C8DF-F7A2AF6DE1C0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5839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5341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5113" y="1066800"/>
            <a:ext cx="609600" cy="609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613" y="1219200"/>
            <a:ext cx="228600" cy="304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7113" y="1495425"/>
            <a:ext cx="3810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33875" y="1066800"/>
            <a:ext cx="6096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5800" y="1219200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238" y="1495425"/>
            <a:ext cx="381000" cy="190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1688" y="1066800"/>
            <a:ext cx="609600" cy="609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72188" y="121920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38" y="1495425"/>
            <a:ext cx="381000" cy="190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96138" y="1066800"/>
            <a:ext cx="609600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86638" y="1219200"/>
            <a:ext cx="22860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138" y="1495425"/>
            <a:ext cx="381000" cy="190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4413" y="1066800"/>
            <a:ext cx="609600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24913" y="1219200"/>
            <a:ext cx="22860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2171700"/>
            <a:ext cx="2163961" cy="2133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34380" y="232410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7730" y="2419350"/>
            <a:ext cx="19050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200400"/>
            <a:ext cx="114300" cy="1143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581400"/>
            <a:ext cx="114300" cy="1143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97361" y="2171700"/>
            <a:ext cx="2164110" cy="2133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50741" y="2324100"/>
            <a:ext cx="457200" cy="457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84091" y="2419350"/>
            <a:ext cx="190500" cy="266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200400"/>
            <a:ext cx="114300" cy="1143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581400"/>
            <a:ext cx="114300" cy="1143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13871" y="2171700"/>
            <a:ext cx="2164110" cy="2133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67251" y="2324100"/>
            <a:ext cx="457200" cy="457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00601" y="2419350"/>
            <a:ext cx="190500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200400"/>
            <a:ext cx="114300" cy="1143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429000"/>
            <a:ext cx="114300" cy="1143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30380" y="2171700"/>
            <a:ext cx="2164110" cy="2133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183761" y="2324100"/>
            <a:ext cx="457200" cy="4572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7111" y="2419350"/>
            <a:ext cx="190500" cy="2667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200400"/>
            <a:ext cx="114300" cy="114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429000"/>
            <a:ext cx="114300" cy="1143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646890" y="2171700"/>
            <a:ext cx="2163961" cy="21336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500271" y="2324100"/>
            <a:ext cx="457200" cy="4572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633621" y="2419350"/>
            <a:ext cx="190500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200400"/>
            <a:ext cx="114300" cy="114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429000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81000" y="4533900"/>
            <a:ext cx="11430000" cy="9906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759325" y="4686300"/>
            <a:ext cx="457200" cy="4572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902200" y="4781550"/>
            <a:ext cx="171450" cy="2667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64200" y="5019675"/>
            <a:ext cx="457200" cy="1905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683375" y="4686300"/>
            <a:ext cx="457200" cy="4572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816725" y="4781550"/>
            <a:ext cx="190500" cy="2667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702550" y="5019675"/>
            <a:ext cx="457200" cy="1905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502650" y="4686300"/>
            <a:ext cx="457200" cy="4572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659813" y="4781550"/>
            <a:ext cx="142875" cy="2667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81000" y="5676900"/>
            <a:ext cx="11430000" cy="47625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104727" y="5800725"/>
            <a:ext cx="1857375" cy="228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219027" y="5857875"/>
            <a:ext cx="76200" cy="1143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114502" y="5800725"/>
            <a:ext cx="19050" cy="2286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285952" y="5791200"/>
            <a:ext cx="3267521" cy="24765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400252" y="5857875"/>
            <a:ext cx="85725" cy="114300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7705874" y="5800725"/>
            <a:ext cx="19050" cy="228600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877323" y="5800724"/>
            <a:ext cx="3781247" cy="247651"/>
          </a:xfrm>
          <a:prstGeom prst="rect">
            <a:avLst/>
          </a:prstGeom>
        </p:spPr>
      </p:pic>
      <p:pic>
        <p:nvPicPr>
          <p:cNvPr id="60" name="Image 58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991624" y="5857875"/>
            <a:ext cx="114300" cy="114300"/>
          </a:xfrm>
          <a:prstGeom prst="rect">
            <a:avLst/>
          </a:prstGeom>
        </p:spPr>
      </p:pic>
      <p:pic>
        <p:nvPicPr>
          <p:cNvPr id="61" name="Image 59" descr="preencoded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1087100" y="6229350"/>
            <a:ext cx="104775" cy="133350"/>
          </a:xfrm>
          <a:prstGeom prst="rect">
            <a:avLst/>
          </a:prstGeom>
        </p:spPr>
      </p:pic>
      <p:sp>
        <p:nvSpPr>
          <p:cNvPr id="62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처리 과정 총정리</a:t>
            </a:r>
            <a:endParaRPr lang="en-US" sz="2250" dirty="0"/>
          </a:p>
        </p:txBody>
      </p:sp>
      <p:sp>
        <p:nvSpPr>
          <p:cNvPr id="63" name="Text 1"/>
          <p:cNvSpPr/>
          <p:nvPr/>
        </p:nvSpPr>
        <p:spPr>
          <a:xfrm>
            <a:off x="2744153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4" name="Text 2"/>
          <p:cNvSpPr/>
          <p:nvPr/>
        </p:nvSpPr>
        <p:spPr>
          <a:xfrm>
            <a:off x="3992880" y="1752600"/>
            <a:ext cx="1291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파생 변수 생성</a:t>
            </a:r>
            <a:endParaRPr lang="en-US" sz="1050" dirty="0"/>
          </a:p>
        </p:txBody>
      </p:sp>
      <p:sp>
        <p:nvSpPr>
          <p:cNvPr id="65" name="Text 3"/>
          <p:cNvSpPr/>
          <p:nvPr/>
        </p:nvSpPr>
        <p:spPr>
          <a:xfrm>
            <a:off x="5797868" y="1752600"/>
            <a:ext cx="7772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66" name="Text 4"/>
          <p:cNvSpPr/>
          <p:nvPr/>
        </p:nvSpPr>
        <p:spPr>
          <a:xfrm>
            <a:off x="7135178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정리</a:t>
            </a:r>
            <a:endParaRPr lang="en-US" sz="1050" dirty="0"/>
          </a:p>
        </p:txBody>
      </p:sp>
      <p:sp>
        <p:nvSpPr>
          <p:cNvPr id="67" name="Text 5"/>
          <p:cNvSpPr/>
          <p:nvPr/>
        </p:nvSpPr>
        <p:spPr>
          <a:xfrm>
            <a:off x="8402003" y="1752600"/>
            <a:ext cx="10744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카테고리화</a:t>
            </a:r>
            <a:endParaRPr lang="en-US" sz="1050" dirty="0"/>
          </a:p>
        </p:txBody>
      </p:sp>
      <p:sp>
        <p:nvSpPr>
          <p:cNvPr id="68" name="Text 6"/>
          <p:cNvSpPr/>
          <p:nvPr/>
        </p:nvSpPr>
        <p:spPr>
          <a:xfrm>
            <a:off x="53340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9" name="Text 7"/>
          <p:cNvSpPr/>
          <p:nvPr/>
        </p:nvSpPr>
        <p:spPr>
          <a:xfrm>
            <a:off x="723900" y="3162300"/>
            <a:ext cx="16686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 및 </a:t>
            </a:r>
            <a:r>
              <a:rPr lang="en-US" altLang="ko-KR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시간별 공유 자전거 대여 정보 수집</a:t>
            </a:r>
            <a:endParaRPr lang="en-US" sz="900" dirty="0"/>
          </a:p>
        </p:txBody>
      </p:sp>
      <p:sp>
        <p:nvSpPr>
          <p:cNvPr id="70" name="Text 8"/>
          <p:cNvSpPr/>
          <p:nvPr/>
        </p:nvSpPr>
        <p:spPr>
          <a:xfrm>
            <a:off x="723900" y="354330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 시간대의 날씨 환경 데이터 수집</a:t>
            </a:r>
            <a:endParaRPr lang="en-US" sz="900" dirty="0"/>
          </a:p>
        </p:txBody>
      </p:sp>
      <p:sp>
        <p:nvSpPr>
          <p:cNvPr id="72" name="Text 10"/>
          <p:cNvSpPr/>
          <p:nvPr/>
        </p:nvSpPr>
        <p:spPr>
          <a:xfrm>
            <a:off x="284976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파생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변수 생성</a:t>
            </a:r>
            <a:endParaRPr lang="en-US" sz="1050" dirty="0"/>
          </a:p>
        </p:txBody>
      </p:sp>
      <p:sp>
        <p:nvSpPr>
          <p:cNvPr id="73" name="Text 11"/>
          <p:cNvSpPr/>
          <p:nvPr/>
        </p:nvSpPr>
        <p:spPr>
          <a:xfrm>
            <a:off x="3040261" y="3162300"/>
            <a:ext cx="166881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시간정보에</a:t>
            </a: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year, month, day, hour </a:t>
            </a: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</a:t>
            </a:r>
            <a:endParaRPr lang="en-US" sz="900" dirty="0"/>
          </a:p>
        </p:txBody>
      </p:sp>
      <p:sp>
        <p:nvSpPr>
          <p:cNvPr id="74" name="Text 12"/>
          <p:cNvSpPr/>
          <p:nvPr/>
        </p:nvSpPr>
        <p:spPr>
          <a:xfrm>
            <a:off x="3040261" y="3543300"/>
            <a:ext cx="15316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쿼터(quarter) 플래그 생성</a:t>
            </a:r>
            <a:endParaRPr lang="en-US" sz="900" dirty="0"/>
          </a:p>
        </p:txBody>
      </p:sp>
      <p:sp>
        <p:nvSpPr>
          <p:cNvPr id="76" name="Text 14"/>
          <p:cNvSpPr/>
          <p:nvPr/>
        </p:nvSpPr>
        <p:spPr>
          <a:xfrm>
            <a:off x="516627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77" name="Text 15"/>
          <p:cNvSpPr/>
          <p:nvPr/>
        </p:nvSpPr>
        <p:spPr>
          <a:xfrm>
            <a:off x="5356771" y="3162300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데이터의 날짜 불일치 해결</a:t>
            </a:r>
            <a:endParaRPr lang="en-US" sz="900" dirty="0"/>
          </a:p>
        </p:txBody>
      </p:sp>
      <p:sp>
        <p:nvSpPr>
          <p:cNvPr id="78" name="Text 16"/>
          <p:cNvSpPr/>
          <p:nvPr/>
        </p:nvSpPr>
        <p:spPr>
          <a:xfrm>
            <a:off x="5356771" y="33909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방어적 처리</a:t>
            </a:r>
            <a:endParaRPr lang="en-US" sz="900" dirty="0"/>
          </a:p>
        </p:txBody>
      </p:sp>
      <p:sp>
        <p:nvSpPr>
          <p:cNvPr id="80" name="Text 18"/>
          <p:cNvSpPr/>
          <p:nvPr/>
        </p:nvSpPr>
        <p:spPr>
          <a:xfrm>
            <a:off x="7482780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피처/컬럼 정리</a:t>
            </a:r>
            <a:endParaRPr lang="en-US" sz="1050" dirty="0"/>
          </a:p>
        </p:txBody>
      </p:sp>
      <p:sp>
        <p:nvSpPr>
          <p:cNvPr id="81" name="Text 19"/>
          <p:cNvSpPr/>
          <p:nvPr/>
        </p:nvSpPr>
        <p:spPr>
          <a:xfrm>
            <a:off x="7673280" y="3162300"/>
            <a:ext cx="16459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 데이터 컬럼 영문화</a:t>
            </a:r>
            <a:endParaRPr lang="en-US" sz="900" dirty="0"/>
          </a:p>
        </p:txBody>
      </p:sp>
      <p:sp>
        <p:nvSpPr>
          <p:cNvPr id="82" name="Text 20"/>
          <p:cNvSpPr/>
          <p:nvPr/>
        </p:nvSpPr>
        <p:spPr>
          <a:xfrm>
            <a:off x="7673280" y="3390900"/>
            <a:ext cx="13944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 변수만 선택 및 명명</a:t>
            </a:r>
            <a:endParaRPr lang="en-US" sz="900" dirty="0"/>
          </a:p>
        </p:txBody>
      </p:sp>
      <p:sp>
        <p:nvSpPr>
          <p:cNvPr id="84" name="Text 22"/>
          <p:cNvSpPr/>
          <p:nvPr/>
        </p:nvSpPr>
        <p:spPr>
          <a:xfrm>
            <a:off x="979929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상태 카테고리화</a:t>
            </a:r>
            <a:endParaRPr lang="en-US" sz="1050" dirty="0"/>
          </a:p>
        </p:txBody>
      </p:sp>
      <p:sp>
        <p:nvSpPr>
          <p:cNvPr id="85" name="Text 23"/>
          <p:cNvSpPr/>
          <p:nvPr/>
        </p:nvSpPr>
        <p:spPr>
          <a:xfrm>
            <a:off x="9989790" y="3162300"/>
            <a:ext cx="15430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강수/적설 플래그 계산</a:t>
            </a:r>
            <a:endParaRPr lang="en-US" sz="900" dirty="0"/>
          </a:p>
        </p:txBody>
      </p:sp>
      <p:sp>
        <p:nvSpPr>
          <p:cNvPr id="86" name="Text 24"/>
          <p:cNvSpPr/>
          <p:nvPr/>
        </p:nvSpPr>
        <p:spPr>
          <a:xfrm>
            <a:off x="9989790" y="3390900"/>
            <a:ext cx="16687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서울/워싱턴용 확장 날씨 지수</a:t>
            </a:r>
            <a:endParaRPr lang="en-US" sz="900" dirty="0"/>
          </a:p>
        </p:txBody>
      </p:sp>
      <p:sp>
        <p:nvSpPr>
          <p:cNvPr id="88" name="Text 26"/>
          <p:cNvSpPr/>
          <p:nvPr/>
        </p:nvSpPr>
        <p:spPr>
          <a:xfrm>
            <a:off x="4450715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날씨 데이터</a:t>
            </a:r>
            <a:endParaRPr lang="en-US" sz="900" dirty="0"/>
          </a:p>
        </p:txBody>
      </p:sp>
      <p:sp>
        <p:nvSpPr>
          <p:cNvPr id="89" name="Text 27"/>
          <p:cNvSpPr/>
          <p:nvPr/>
        </p:nvSpPr>
        <p:spPr>
          <a:xfrm>
            <a:off x="6237605" y="5219700"/>
            <a:ext cx="13487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 +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+ 대여 데이터 조인</a:t>
            </a:r>
            <a:endParaRPr lang="en-US" sz="900" dirty="0"/>
          </a:p>
        </p:txBody>
      </p:sp>
      <p:sp>
        <p:nvSpPr>
          <p:cNvPr id="90" name="Text 28"/>
          <p:cNvSpPr/>
          <p:nvPr/>
        </p:nvSpPr>
        <p:spPr>
          <a:xfrm>
            <a:off x="8319770" y="5219700"/>
            <a:ext cx="8229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통합 CSV</a:t>
            </a:r>
            <a:endParaRPr lang="en-US" sz="900" dirty="0"/>
          </a:p>
        </p:txBody>
      </p:sp>
      <p:sp>
        <p:nvSpPr>
          <p:cNvPr id="91" name="Text 29"/>
          <p:cNvSpPr/>
          <p:nvPr/>
        </p:nvSpPr>
        <p:spPr>
          <a:xfrm>
            <a:off x="2371427" y="5838825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데이터와 대여 데이터 조인</a:t>
            </a:r>
            <a:endParaRPr lang="en-US" sz="900" dirty="0"/>
          </a:p>
        </p:txBody>
      </p:sp>
      <p:sp>
        <p:nvSpPr>
          <p:cNvPr id="92" name="Text 30"/>
          <p:cNvSpPr/>
          <p:nvPr/>
        </p:nvSpPr>
        <p:spPr>
          <a:xfrm>
            <a:off x="4562177" y="5829300"/>
            <a:ext cx="2876996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스크립트: </a:t>
            </a:r>
            <a:r>
              <a:rPr lang="en-US" sz="9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join_dc_weather_with_rental_data.py</a:t>
            </a:r>
            <a:endParaRPr lang="en-US" sz="900" dirty="0"/>
          </a:p>
        </p:txBody>
      </p:sp>
      <p:sp>
        <p:nvSpPr>
          <p:cNvPr id="93" name="Text 31"/>
          <p:cNvSpPr/>
          <p:nvPr/>
        </p:nvSpPr>
        <p:spPr>
          <a:xfrm>
            <a:off x="8182124" y="5838825"/>
            <a:ext cx="3476446" cy="114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 데이터셋 (dc_rental_data.csv,  seoul_rental_data.csv)</a:t>
            </a:r>
            <a:endParaRPr lang="en-US" sz="900" dirty="0"/>
          </a:p>
        </p:txBody>
      </p:sp>
      <p:sp>
        <p:nvSpPr>
          <p:cNvPr id="94" name="Text 32"/>
          <p:cNvSpPr/>
          <p:nvPr/>
        </p:nvSpPr>
        <p:spPr>
          <a:xfrm>
            <a:off x="11229975" y="6191250"/>
            <a:ext cx="1051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2025-11-12</a:t>
            </a:r>
            <a:endParaRPr lang="en-US" sz="1050" dirty="0"/>
          </a:p>
        </p:txBody>
      </p:sp>
      <p:pic>
        <p:nvPicPr>
          <p:cNvPr id="99" name="Image 9" descr="preencoded.png">
            <a:extLst>
              <a:ext uri="{FF2B5EF4-FFF2-40B4-BE49-F238E27FC236}">
                <a16:creationId xmlns:a16="http://schemas.microsoft.com/office/drawing/2014/main" id="{CEB6F4F6-FF6A-10F6-FE9C-6BB0F6CB6749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14052" y="4672410"/>
            <a:ext cx="468314" cy="468314"/>
          </a:xfrm>
          <a:prstGeom prst="rect">
            <a:avLst/>
          </a:prstGeom>
        </p:spPr>
      </p:pic>
      <p:pic>
        <p:nvPicPr>
          <p:cNvPr id="100" name="Image 14" descr="preencoded.png">
            <a:extLst>
              <a:ext uri="{FF2B5EF4-FFF2-40B4-BE49-F238E27FC236}">
                <a16:creationId xmlns:a16="http://schemas.microsoft.com/office/drawing/2014/main" id="{9308E7FD-2EFD-2368-D4A7-8AE6D4775852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292475" y="4756494"/>
            <a:ext cx="276860" cy="369147"/>
          </a:xfrm>
          <a:prstGeom prst="rect">
            <a:avLst/>
          </a:prstGeom>
        </p:spPr>
      </p:pic>
      <p:pic>
        <p:nvPicPr>
          <p:cNvPr id="102" name="Image 44" descr="preencoded.png">
            <a:extLst>
              <a:ext uri="{FF2B5EF4-FFF2-40B4-BE49-F238E27FC236}">
                <a16:creationId xmlns:a16="http://schemas.microsoft.com/office/drawing/2014/main" id="{88A5F691-35D7-F137-3DCB-3738F54C01AA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97313" y="5005391"/>
            <a:ext cx="457200" cy="19050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5E2E2C42-850A-92D7-F4C6-21C96DC4F697}"/>
              </a:ext>
            </a:extLst>
          </p:cNvPr>
          <p:cNvSpPr/>
          <p:nvPr/>
        </p:nvSpPr>
        <p:spPr>
          <a:xfrm>
            <a:off x="2918143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대여소별 </a:t>
            </a:r>
            <a:r>
              <a:rPr lang="en-US" altLang="ko-KR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정보</a:t>
            </a:r>
            <a:endParaRPr lang="en-US" sz="900" dirty="0"/>
          </a:p>
        </p:txBody>
      </p:sp>
      <p:pic>
        <p:nvPicPr>
          <p:cNvPr id="71" name="Image 20" descr="preencoded.png">
            <a:extLst>
              <a:ext uri="{FF2B5EF4-FFF2-40B4-BE49-F238E27FC236}">
                <a16:creationId xmlns:a16="http://schemas.microsoft.com/office/drawing/2014/main" id="{183FA314-30DB-6DDF-3450-B9B6DA9E4DC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905250"/>
            <a:ext cx="114300" cy="114300"/>
          </a:xfrm>
          <a:prstGeom prst="rect">
            <a:avLst/>
          </a:prstGeom>
        </p:spPr>
      </p:pic>
      <p:sp>
        <p:nvSpPr>
          <p:cNvPr id="75" name="Text 8">
            <a:extLst>
              <a:ext uri="{FF2B5EF4-FFF2-40B4-BE49-F238E27FC236}">
                <a16:creationId xmlns:a16="http://schemas.microsoft.com/office/drawing/2014/main" id="{61AEDE7C-4C87-5748-50E5-F3E8D228C955}"/>
              </a:ext>
            </a:extLst>
          </p:cNvPr>
          <p:cNvSpPr/>
          <p:nvPr/>
        </p:nvSpPr>
        <p:spPr>
          <a:xfrm>
            <a:off x="723900" y="390525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대여소의 </a:t>
            </a:r>
            <a:r>
              <a:rPr lang="en-US" altLang="ko-KR" sz="900" dirty="0"/>
              <a:t>POI </a:t>
            </a:r>
            <a:r>
              <a:rPr lang="ko-KR" altLang="en-US" sz="900" dirty="0"/>
              <a:t>정보 수집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DED1F-F6F1-FCA7-01C0-83902206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AF1B47A-BD10-87D5-63FC-82092F860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E32F48B-4ADF-D7B6-2075-96B8CC09D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BE1DE536-52FE-B171-6645-36BFA910F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3759200" cy="5251328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9932989-849F-8A7E-701E-8BB638F8B9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19200"/>
            <a:ext cx="381000" cy="3810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DA3D7F65-8B1F-4FB9-48FB-F13D7402FA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" y="133350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C344142D-6064-6D50-AEB7-FAFAB0652331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시간 데이터</a:t>
            </a:r>
            <a:endParaRPr lang="en-US" sz="2250" dirty="0"/>
          </a:p>
        </p:txBody>
      </p:sp>
      <p:sp>
        <p:nvSpPr>
          <p:cNvPr id="36" name="Text 1">
            <a:extLst>
              <a:ext uri="{FF2B5EF4-FFF2-40B4-BE49-F238E27FC236}">
                <a16:creationId xmlns:a16="http://schemas.microsoft.com/office/drawing/2014/main" id="{803AEE3A-9ECB-4ACE-0BF1-7A982736EACF}"/>
              </a:ext>
            </a:extLst>
          </p:cNvPr>
          <p:cNvSpPr/>
          <p:nvPr/>
        </p:nvSpPr>
        <p:spPr>
          <a:xfrm>
            <a:off x="1028700" y="1276350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69" name="Image 5" descr="preencoded.png">
            <a:extLst>
              <a:ext uri="{FF2B5EF4-FFF2-40B4-BE49-F238E27FC236}">
                <a16:creationId xmlns:a16="http://schemas.microsoft.com/office/drawing/2014/main" id="{17373A9C-73AA-594E-1714-44906593C5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514850"/>
            <a:ext cx="3369560" cy="1394884"/>
          </a:xfrm>
          <a:prstGeom prst="rect">
            <a:avLst/>
          </a:prstGeom>
        </p:spPr>
      </p:pic>
      <p:pic>
        <p:nvPicPr>
          <p:cNvPr id="70" name="Image 6" descr="preencoded.png">
            <a:extLst>
              <a:ext uri="{FF2B5EF4-FFF2-40B4-BE49-F238E27FC236}">
                <a16:creationId xmlns:a16="http://schemas.microsoft.com/office/drawing/2014/main" id="{B3AFD2DB-5F24-3D75-0B58-B7AFAEA7CD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667250"/>
            <a:ext cx="152400" cy="152400"/>
          </a:xfrm>
          <a:prstGeom prst="rect">
            <a:avLst/>
          </a:prstGeom>
        </p:spPr>
      </p:pic>
      <p:sp>
        <p:nvSpPr>
          <p:cNvPr id="71" name="Text 2">
            <a:extLst>
              <a:ext uri="{FF2B5EF4-FFF2-40B4-BE49-F238E27FC236}">
                <a16:creationId xmlns:a16="http://schemas.microsoft.com/office/drawing/2014/main" id="{42061762-397E-3C88-2392-64790DD0EF53}"/>
              </a:ext>
            </a:extLst>
          </p:cNvPr>
          <p:cNvSpPr/>
          <p:nvPr/>
        </p:nvSpPr>
        <p:spPr>
          <a:xfrm>
            <a:off x="914400" y="4629150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sp>
        <p:nvSpPr>
          <p:cNvPr id="72" name="Text 3">
            <a:extLst>
              <a:ext uri="{FF2B5EF4-FFF2-40B4-BE49-F238E27FC236}">
                <a16:creationId xmlns:a16="http://schemas.microsoft.com/office/drawing/2014/main" id="{577A52CE-E88D-F523-18D3-9AF626D87AC5}"/>
              </a:ext>
            </a:extLst>
          </p:cNvPr>
          <p:cNvSpPr/>
          <p:nvPr/>
        </p:nvSpPr>
        <p:spPr>
          <a:xfrm>
            <a:off x="723900" y="4933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05–06시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22BF2ADC-E274-3038-2394-E82F721D6941}"/>
              </a:ext>
            </a:extLst>
          </p:cNvPr>
          <p:cNvSpPr/>
          <p:nvPr/>
        </p:nvSpPr>
        <p:spPr>
          <a:xfrm>
            <a:off x="72390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퇴근 시간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18–21시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4" name="Text 5">
            <a:extLst>
              <a:ext uri="{FF2B5EF4-FFF2-40B4-BE49-F238E27FC236}">
                <a16:creationId xmlns:a16="http://schemas.microsoft.com/office/drawing/2014/main" id="{631CB6B2-58E2-F361-C54B-63CB2EB97DBC}"/>
              </a:ext>
            </a:extLst>
          </p:cNvPr>
          <p:cNvSpPr/>
          <p:nvPr/>
        </p:nvSpPr>
        <p:spPr>
          <a:xfrm>
            <a:off x="72390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고도의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-workingday 패턴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감지</a:t>
            </a:r>
            <a:endParaRPr lang="en-US" sz="1200" dirty="0"/>
          </a:p>
        </p:txBody>
      </p:sp>
      <p:pic>
        <p:nvPicPr>
          <p:cNvPr id="164" name="Image 2" descr="preencoded.png">
            <a:extLst>
              <a:ext uri="{FF2B5EF4-FFF2-40B4-BE49-F238E27FC236}">
                <a16:creationId xmlns:a16="http://schemas.microsoft.com/office/drawing/2014/main" id="{4D641484-4464-7092-BC50-ACD4304B9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900" y="1089025"/>
            <a:ext cx="3759200" cy="4876800"/>
          </a:xfrm>
          <a:prstGeom prst="rect">
            <a:avLst/>
          </a:prstGeom>
        </p:spPr>
      </p:pic>
      <p:pic>
        <p:nvPicPr>
          <p:cNvPr id="165" name="Image 3" descr="preencoded.png">
            <a:extLst>
              <a:ext uri="{FF2B5EF4-FFF2-40B4-BE49-F238E27FC236}">
                <a16:creationId xmlns:a16="http://schemas.microsoft.com/office/drawing/2014/main" id="{86E7434F-FDCB-2EA4-1906-00BFAF01D8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300" y="1241425"/>
            <a:ext cx="381000" cy="381000"/>
          </a:xfrm>
          <a:prstGeom prst="rect">
            <a:avLst/>
          </a:prstGeom>
        </p:spPr>
      </p:pic>
      <p:pic>
        <p:nvPicPr>
          <p:cNvPr id="166" name="Image 4" descr="preencoded.png">
            <a:extLst>
              <a:ext uri="{FF2B5EF4-FFF2-40B4-BE49-F238E27FC236}">
                <a16:creationId xmlns:a16="http://schemas.microsoft.com/office/drawing/2014/main" id="{D3C14048-4EC2-FDF9-85D9-07C8B96EAB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1355725"/>
            <a:ext cx="152400" cy="152400"/>
          </a:xfrm>
          <a:prstGeom prst="rect">
            <a:avLst/>
          </a:prstGeom>
        </p:spPr>
      </p:pic>
      <p:sp>
        <p:nvSpPr>
          <p:cNvPr id="167" name="Text 1">
            <a:extLst>
              <a:ext uri="{FF2B5EF4-FFF2-40B4-BE49-F238E27FC236}">
                <a16:creationId xmlns:a16="http://schemas.microsoft.com/office/drawing/2014/main" id="{673BFA48-3EF0-AD86-639E-6750A6FD97E9}"/>
              </a:ext>
            </a:extLst>
          </p:cNvPr>
          <p:cNvSpPr/>
          <p:nvPr/>
        </p:nvSpPr>
        <p:spPr>
          <a:xfrm>
            <a:off x="5054600" y="12985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168" name="Image 5" descr="preencoded.png">
            <a:extLst>
              <a:ext uri="{FF2B5EF4-FFF2-40B4-BE49-F238E27FC236}">
                <a16:creationId xmlns:a16="http://schemas.microsoft.com/office/drawing/2014/main" id="{D88A4A75-2F4A-B915-4AB3-5ACDD31D7B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7400" y="4537075"/>
            <a:ext cx="3369560" cy="1295400"/>
          </a:xfrm>
          <a:prstGeom prst="rect">
            <a:avLst/>
          </a:prstGeom>
        </p:spPr>
      </p:pic>
      <p:pic>
        <p:nvPicPr>
          <p:cNvPr id="169" name="Image 6" descr="preencoded.png">
            <a:extLst>
              <a:ext uri="{FF2B5EF4-FFF2-40B4-BE49-F238E27FC236}">
                <a16:creationId xmlns:a16="http://schemas.microsoft.com/office/drawing/2014/main" id="{8217F2F8-4929-51D3-95C5-328BCC3F50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4689475"/>
            <a:ext cx="152400" cy="152400"/>
          </a:xfrm>
          <a:prstGeom prst="rect">
            <a:avLst/>
          </a:prstGeom>
        </p:spPr>
      </p:pic>
      <p:sp>
        <p:nvSpPr>
          <p:cNvPr id="170" name="Text 2">
            <a:extLst>
              <a:ext uri="{FF2B5EF4-FFF2-40B4-BE49-F238E27FC236}">
                <a16:creationId xmlns:a16="http://schemas.microsoft.com/office/drawing/2014/main" id="{0BBEB239-92D6-96D0-EB2B-B324EE197509}"/>
              </a:ext>
            </a:extLst>
          </p:cNvPr>
          <p:cNvSpPr/>
          <p:nvPr/>
        </p:nvSpPr>
        <p:spPr>
          <a:xfrm>
            <a:off x="4940300" y="46513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pic>
        <p:nvPicPr>
          <p:cNvPr id="178" name="Image 2" descr="preencoded.png">
            <a:extLst>
              <a:ext uri="{FF2B5EF4-FFF2-40B4-BE49-F238E27FC236}">
                <a16:creationId xmlns:a16="http://schemas.microsoft.com/office/drawing/2014/main" id="{2A9A1DC9-2184-D585-4987-7260D8725D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050925"/>
            <a:ext cx="3759200" cy="5251328"/>
          </a:xfrm>
          <a:prstGeom prst="rect">
            <a:avLst/>
          </a:prstGeom>
        </p:spPr>
      </p:pic>
      <p:sp>
        <p:nvSpPr>
          <p:cNvPr id="181" name="Text 1">
            <a:extLst>
              <a:ext uri="{FF2B5EF4-FFF2-40B4-BE49-F238E27FC236}">
                <a16:creationId xmlns:a16="http://schemas.microsoft.com/office/drawing/2014/main" id="{8754FEFE-0A2A-F6A1-3A67-5BD4E2C9BFEA}"/>
              </a:ext>
            </a:extLst>
          </p:cNvPr>
          <p:cNvSpPr/>
          <p:nvPr/>
        </p:nvSpPr>
        <p:spPr>
          <a:xfrm>
            <a:off x="4902200" y="12604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요일별 패턴</a:t>
            </a:r>
            <a:endParaRPr lang="en-US" sz="1500" dirty="0"/>
          </a:p>
        </p:txBody>
      </p:sp>
      <p:pic>
        <p:nvPicPr>
          <p:cNvPr id="182" name="Image 5" descr="preencoded.png">
            <a:extLst>
              <a:ext uri="{FF2B5EF4-FFF2-40B4-BE49-F238E27FC236}">
                <a16:creationId xmlns:a16="http://schemas.microsoft.com/office/drawing/2014/main" id="{092E60C1-154F-5D00-3A0E-1481913AC9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4498975"/>
            <a:ext cx="3521960" cy="1394884"/>
          </a:xfrm>
          <a:prstGeom prst="rect">
            <a:avLst/>
          </a:prstGeom>
        </p:spPr>
      </p:pic>
      <p:sp>
        <p:nvSpPr>
          <p:cNvPr id="184" name="Text 2">
            <a:extLst>
              <a:ext uri="{FF2B5EF4-FFF2-40B4-BE49-F238E27FC236}">
                <a16:creationId xmlns:a16="http://schemas.microsoft.com/office/drawing/2014/main" id="{E2E40E47-55D3-471B-B66E-AD0F23B0DE3C}"/>
              </a:ext>
            </a:extLst>
          </p:cNvPr>
          <p:cNvSpPr/>
          <p:nvPr/>
        </p:nvSpPr>
        <p:spPr>
          <a:xfrm>
            <a:off x="4787900" y="46132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</a:t>
            </a:r>
            <a:endParaRPr lang="en-US" sz="1200" dirty="0"/>
          </a:p>
        </p:txBody>
      </p:sp>
      <p:pic>
        <p:nvPicPr>
          <p:cNvPr id="185" name="Image 2" descr="preencoded.png">
            <a:extLst>
              <a:ext uri="{FF2B5EF4-FFF2-40B4-BE49-F238E27FC236}">
                <a16:creationId xmlns:a16="http://schemas.microsoft.com/office/drawing/2014/main" id="{89187711-B5CE-3EBE-02E1-8C84C0A5FE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400" y="1069975"/>
            <a:ext cx="3759200" cy="5251328"/>
          </a:xfrm>
          <a:prstGeom prst="rect">
            <a:avLst/>
          </a:prstGeom>
        </p:spPr>
      </p:pic>
      <p:sp>
        <p:nvSpPr>
          <p:cNvPr id="188" name="Text 1">
            <a:extLst>
              <a:ext uri="{FF2B5EF4-FFF2-40B4-BE49-F238E27FC236}">
                <a16:creationId xmlns:a16="http://schemas.microsoft.com/office/drawing/2014/main" id="{DD5A0DDB-AF9F-5056-9020-140564AC6057}"/>
              </a:ext>
            </a:extLst>
          </p:cNvPr>
          <p:cNvSpPr/>
          <p:nvPr/>
        </p:nvSpPr>
        <p:spPr>
          <a:xfrm>
            <a:off x="8928100" y="127952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</a:t>
            </a:r>
            <a:endParaRPr lang="en-US" sz="1500" dirty="0"/>
          </a:p>
        </p:txBody>
      </p:sp>
      <p:pic>
        <p:nvPicPr>
          <p:cNvPr id="189" name="Image 5" descr="preencoded.png">
            <a:extLst>
              <a:ext uri="{FF2B5EF4-FFF2-40B4-BE49-F238E27FC236}">
                <a16:creationId xmlns:a16="http://schemas.microsoft.com/office/drawing/2014/main" id="{A7853635-F5C0-6E7E-868B-83DB227A6A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00" y="4518025"/>
            <a:ext cx="3483860" cy="1394884"/>
          </a:xfrm>
          <a:prstGeom prst="rect">
            <a:avLst/>
          </a:prstGeom>
        </p:spPr>
      </p:pic>
      <p:sp>
        <p:nvSpPr>
          <p:cNvPr id="191" name="Text 2">
            <a:extLst>
              <a:ext uri="{FF2B5EF4-FFF2-40B4-BE49-F238E27FC236}">
                <a16:creationId xmlns:a16="http://schemas.microsoft.com/office/drawing/2014/main" id="{85C6FD36-60D3-304C-5A1E-271911A77F9F}"/>
              </a:ext>
            </a:extLst>
          </p:cNvPr>
          <p:cNvSpPr/>
          <p:nvPr/>
        </p:nvSpPr>
        <p:spPr>
          <a:xfrm>
            <a:off x="8813800" y="463232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추세</a:t>
            </a:r>
            <a:endParaRPr lang="en-US" sz="1200" dirty="0"/>
          </a:p>
        </p:txBody>
      </p:sp>
      <p:pic>
        <p:nvPicPr>
          <p:cNvPr id="193" name="그림 192" descr="스크린샷, 텍스트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9744B7-03D5-52AF-B13A-28749150036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038327"/>
            <a:ext cx="3195003" cy="1771673"/>
          </a:xfrm>
          <a:prstGeom prst="rect">
            <a:avLst/>
          </a:prstGeom>
          <a:ln w="88900" cap="sq" cmpd="thickThin">
            <a:solidFill>
              <a:schemeClr val="bg1">
                <a:lumMod val="6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94" name="Image 8" descr="preencoded.png">
            <a:extLst>
              <a:ext uri="{FF2B5EF4-FFF2-40B4-BE49-F238E27FC236}">
                <a16:creationId xmlns:a16="http://schemas.microsoft.com/office/drawing/2014/main" id="{9ADB714A-1824-7568-1C1F-4AC57D3EB2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4657725"/>
            <a:ext cx="114300" cy="152400"/>
          </a:xfrm>
          <a:prstGeom prst="rect">
            <a:avLst/>
          </a:prstGeom>
        </p:spPr>
      </p:pic>
      <p:pic>
        <p:nvPicPr>
          <p:cNvPr id="195" name="Image 6" descr="preencoded.png">
            <a:extLst>
              <a:ext uri="{FF2B5EF4-FFF2-40B4-BE49-F238E27FC236}">
                <a16:creationId xmlns:a16="http://schemas.microsoft.com/office/drawing/2014/main" id="{A1DFE704-0CFE-B5DF-D7FB-D096C43DAE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0712" y="1230313"/>
            <a:ext cx="381000" cy="381000"/>
          </a:xfrm>
          <a:prstGeom prst="rect">
            <a:avLst/>
          </a:prstGeom>
        </p:spPr>
      </p:pic>
      <p:pic>
        <p:nvPicPr>
          <p:cNvPr id="196" name="Image 7" descr="preencoded.png">
            <a:extLst>
              <a:ext uri="{FF2B5EF4-FFF2-40B4-BE49-F238E27FC236}">
                <a16:creationId xmlns:a16="http://schemas.microsoft.com/office/drawing/2014/main" id="{C2DE9A20-264C-2F88-4CF2-40F823995B8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21200" y="1306513"/>
            <a:ext cx="200025" cy="228600"/>
          </a:xfrm>
          <a:prstGeom prst="rect">
            <a:avLst/>
          </a:prstGeom>
        </p:spPr>
      </p:pic>
      <p:sp>
        <p:nvSpPr>
          <p:cNvPr id="202" name="타원 201">
            <a:extLst>
              <a:ext uri="{FF2B5EF4-FFF2-40B4-BE49-F238E27FC236}">
                <a16:creationId xmlns:a16="http://schemas.microsoft.com/office/drawing/2014/main" id="{66F82DEB-A903-25B5-DC0F-981149494CCA}"/>
              </a:ext>
            </a:extLst>
          </p:cNvPr>
          <p:cNvSpPr/>
          <p:nvPr/>
        </p:nvSpPr>
        <p:spPr>
          <a:xfrm>
            <a:off x="8406447" y="1267460"/>
            <a:ext cx="400050" cy="371475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1" name="그래픽 200" descr="일일 일정표 단색으로 채워진">
            <a:extLst>
              <a:ext uri="{FF2B5EF4-FFF2-40B4-BE49-F238E27FC236}">
                <a16:creationId xmlns:a16="http://schemas.microsoft.com/office/drawing/2014/main" id="{F8F2C50C-FB66-DA91-E389-B08D743EBE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37244" y="1262379"/>
            <a:ext cx="338456" cy="338456"/>
          </a:xfrm>
          <a:prstGeom prst="rect">
            <a:avLst/>
          </a:prstGeom>
        </p:spPr>
      </p:pic>
      <p:sp>
        <p:nvSpPr>
          <p:cNvPr id="203" name="타원 202">
            <a:extLst>
              <a:ext uri="{FF2B5EF4-FFF2-40B4-BE49-F238E27FC236}">
                <a16:creationId xmlns:a16="http://schemas.microsoft.com/office/drawing/2014/main" id="{9B6F5126-9BB0-DD01-A079-77702C72FD86}"/>
              </a:ext>
            </a:extLst>
          </p:cNvPr>
          <p:cNvSpPr/>
          <p:nvPr/>
        </p:nvSpPr>
        <p:spPr>
          <a:xfrm>
            <a:off x="8551068" y="4658360"/>
            <a:ext cx="220663" cy="2286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" name="그림 204" descr="텍스트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C1122C-A7D5-BC4A-7D2C-5152DD43DF7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19575" y="2002632"/>
            <a:ext cx="3394986" cy="1882566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09" name="Text 3">
            <a:extLst>
              <a:ext uri="{FF2B5EF4-FFF2-40B4-BE49-F238E27FC236}">
                <a16:creationId xmlns:a16="http://schemas.microsoft.com/office/drawing/2014/main" id="{99B9DB8B-212B-B517-B58B-46C32E316509}"/>
              </a:ext>
            </a:extLst>
          </p:cNvPr>
          <p:cNvSpPr/>
          <p:nvPr/>
        </p:nvSpPr>
        <p:spPr>
          <a:xfrm>
            <a:off x="4559300" y="49085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주말에도 대여 수요 유지</a:t>
            </a:r>
            <a:endParaRPr lang="en-US" sz="1200" dirty="0"/>
          </a:p>
        </p:txBody>
      </p:sp>
      <p:sp>
        <p:nvSpPr>
          <p:cNvPr id="210" name="Text 4">
            <a:extLst>
              <a:ext uri="{FF2B5EF4-FFF2-40B4-BE49-F238E27FC236}">
                <a16:creationId xmlns:a16="http://schemas.microsoft.com/office/drawing/2014/main" id="{91D9D019-B365-5C09-A9EC-BBFE52CB8483}"/>
              </a:ext>
            </a:extLst>
          </p:cNvPr>
          <p:cNvSpPr/>
          <p:nvPr/>
        </p:nvSpPr>
        <p:spPr>
          <a:xfrm>
            <a:off x="4559300" y="51752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대비 주말 수요가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2%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200" dirty="0"/>
          </a:p>
        </p:txBody>
      </p:sp>
      <p:sp>
        <p:nvSpPr>
          <p:cNvPr id="211" name="Text 5">
            <a:extLst>
              <a:ext uri="{FF2B5EF4-FFF2-40B4-BE49-F238E27FC236}">
                <a16:creationId xmlns:a16="http://schemas.microsoft.com/office/drawing/2014/main" id="{55299C1B-98BE-05DB-18C0-067617E6B13D}"/>
              </a:ext>
            </a:extLst>
          </p:cNvPr>
          <p:cNvSpPr/>
          <p:nvPr/>
        </p:nvSpPr>
        <p:spPr>
          <a:xfrm>
            <a:off x="4559300" y="5441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도시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이동성 비중이 약간 더 높음</a:t>
            </a:r>
            <a:endParaRPr lang="en-US" sz="1200" dirty="0"/>
          </a:p>
        </p:txBody>
      </p:sp>
      <p:pic>
        <p:nvPicPr>
          <p:cNvPr id="213" name="그림 212" descr="스크린샷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CD060E-FF0A-AE4F-A315-D454773672A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4700" y="1979154"/>
            <a:ext cx="3483861" cy="1948321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15" name="Text 4">
            <a:extLst>
              <a:ext uri="{FF2B5EF4-FFF2-40B4-BE49-F238E27FC236}">
                <a16:creationId xmlns:a16="http://schemas.microsoft.com/office/drawing/2014/main" id="{A33A0F2B-C219-C9AC-5CFA-8814DF80A834}"/>
              </a:ext>
            </a:extLst>
          </p:cNvPr>
          <p:cNvSpPr/>
          <p:nvPr/>
        </p:nvSpPr>
        <p:spPr>
          <a:xfrm>
            <a:off x="866394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봄 과 가을 최고점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여름에 일시적 하락 </a:t>
            </a:r>
            <a:endParaRPr lang="en-US" sz="1200" dirty="0"/>
          </a:p>
        </p:txBody>
      </p:sp>
      <p:sp>
        <p:nvSpPr>
          <p:cNvPr id="216" name="Text 5">
            <a:extLst>
              <a:ext uri="{FF2B5EF4-FFF2-40B4-BE49-F238E27FC236}">
                <a16:creationId xmlns:a16="http://schemas.microsoft.com/office/drawing/2014/main" id="{E4E23F6B-BD05-74F5-2D96-04DD9B58E51C}"/>
              </a:ext>
            </a:extLst>
          </p:cNvPr>
          <p:cNvSpPr/>
          <p:nvPr/>
        </p:nvSpPr>
        <p:spPr>
          <a:xfrm>
            <a:off x="866394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변수와의 상호작용을 고려한 설계 필요</a:t>
            </a:r>
            <a:endParaRPr lang="en-US" sz="1200" dirty="0"/>
          </a:p>
        </p:txBody>
      </p:sp>
      <p:sp>
        <p:nvSpPr>
          <p:cNvPr id="217" name="Text 3">
            <a:extLst>
              <a:ext uri="{FF2B5EF4-FFF2-40B4-BE49-F238E27FC236}">
                <a16:creationId xmlns:a16="http://schemas.microsoft.com/office/drawing/2014/main" id="{74551A32-4FBF-9A07-3AD2-8624C26572EE}"/>
              </a:ext>
            </a:extLst>
          </p:cNvPr>
          <p:cNvSpPr/>
          <p:nvPr/>
        </p:nvSpPr>
        <p:spPr>
          <a:xfrm>
            <a:off x="8661399" y="4959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뚜렷한 계절성 추세</a:t>
            </a:r>
            <a:endParaRPr lang="en-US" sz="1200" dirty="0"/>
          </a:p>
        </p:txBody>
      </p:sp>
      <p:pic>
        <p:nvPicPr>
          <p:cNvPr id="223" name="Image 13" descr="preencoded.png">
            <a:extLst>
              <a:ext uri="{FF2B5EF4-FFF2-40B4-BE49-F238E27FC236}">
                <a16:creationId xmlns:a16="http://schemas.microsoft.com/office/drawing/2014/main" id="{D64C052E-DE2C-2E6F-E3A2-451D9E168BE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224" name="Image 14" descr="preencoded.png">
            <a:extLst>
              <a:ext uri="{FF2B5EF4-FFF2-40B4-BE49-F238E27FC236}">
                <a16:creationId xmlns:a16="http://schemas.microsoft.com/office/drawing/2014/main" id="{AC445345-B5CB-3261-48CC-1B47D5A2B1C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225" name="Text 2">
            <a:extLst>
              <a:ext uri="{FF2B5EF4-FFF2-40B4-BE49-F238E27FC236}">
                <a16:creationId xmlns:a16="http://schemas.microsoft.com/office/drawing/2014/main" id="{4A653136-F904-D38F-1F32-26FF023D790F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BEA2FEE4-01B2-1900-53B7-D4648C18FA33}"/>
              </a:ext>
            </a:extLst>
          </p:cNvPr>
          <p:cNvSpPr txBox="1"/>
          <p:nvPr/>
        </p:nvSpPr>
        <p:spPr>
          <a:xfrm>
            <a:off x="682625" y="7156391"/>
            <a:ext cx="1014095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특정 시점에 연속적으로 누적되는 추세형 시계열이기보다는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계절에 따라 반복적으로 변동하는 주기적 수요 구조를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수요 예측에서 과거 값 자체보다 해당 시점의 맥락적 시간 정보가 더 중요한 설명 요인임을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5604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BC115-A625-AB4F-A798-4A9F73DE3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2E3A46B-FAC5-9F5B-5893-F35349F3F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7267A386-B50E-29B3-879D-54AD4CC8D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92038132-4BFE-E695-B1F9-69CE28B819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099050"/>
          </a:xfrm>
          <a:prstGeom prst="rect">
            <a:avLst/>
          </a:prstGeom>
        </p:spPr>
      </p:pic>
      <p:pic>
        <p:nvPicPr>
          <p:cNvPr id="26" name="Image 24" descr="preencoded.png">
            <a:extLst>
              <a:ext uri="{FF2B5EF4-FFF2-40B4-BE49-F238E27FC236}">
                <a16:creationId xmlns:a16="http://schemas.microsoft.com/office/drawing/2014/main" id="{3407DCCF-9BCB-EAEB-1890-706E89F523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" y="1530350"/>
            <a:ext cx="381000" cy="3810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6209A676-DC1D-FBC8-A468-46391BEAB0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64465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878F39AD-1A28-C2E4-2EC1-F3CA53BFC6EE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날씨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E9888864-739D-13EB-CF95-4092AA8A3E73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요인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1AAAE10-5176-6859-AFED-68ACC55F8CDD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10/20</a:t>
            </a:r>
            <a:endParaRPr lang="en-US" sz="1050" dirty="0"/>
          </a:p>
        </p:txBody>
      </p:sp>
      <p:pic>
        <p:nvPicPr>
          <p:cNvPr id="10" name="그림 9" descr="텍스트, 스크린샷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E00E9E-EE2B-9182-CEA3-FAE56F8EDC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9800"/>
            <a:ext cx="4927600" cy="379741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DDCA500A-35EA-6320-601C-64F577ED31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3390" y="2152650"/>
            <a:ext cx="5120410" cy="3873618"/>
          </a:xfrm>
          <a:prstGeom prst="rect">
            <a:avLst/>
          </a:prstGeom>
        </p:spPr>
      </p:pic>
      <p:pic>
        <p:nvPicPr>
          <p:cNvPr id="12" name="Image 24" descr="preencoded.png">
            <a:extLst>
              <a:ext uri="{FF2B5EF4-FFF2-40B4-BE49-F238E27FC236}">
                <a16:creationId xmlns:a16="http://schemas.microsoft.com/office/drawing/2014/main" id="{5FA0B434-BD5C-F451-2B18-C0A8B47223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2228850"/>
            <a:ext cx="381000" cy="381000"/>
          </a:xfrm>
          <a:prstGeom prst="rect">
            <a:avLst/>
          </a:prstGeom>
        </p:spPr>
      </p:pic>
      <p:pic>
        <p:nvPicPr>
          <p:cNvPr id="13" name="Image 25" descr="preencoded.png">
            <a:extLst>
              <a:ext uri="{FF2B5EF4-FFF2-40B4-BE49-F238E27FC236}">
                <a16:creationId xmlns:a16="http://schemas.microsoft.com/office/drawing/2014/main" id="{805FCDE1-24E7-F5B9-0370-12B79A7CDA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300" y="2343150"/>
            <a:ext cx="152400" cy="152400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B1CD7E09-782A-153D-77AC-7872EDA861FD}"/>
              </a:ext>
            </a:extLst>
          </p:cNvPr>
          <p:cNvSpPr/>
          <p:nvPr/>
        </p:nvSpPr>
        <p:spPr>
          <a:xfrm>
            <a:off x="6845300" y="2343150"/>
            <a:ext cx="19431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</a:t>
            </a:r>
            <a:endParaRPr lang="en-US" sz="1200" dirty="0"/>
          </a:p>
        </p:txBody>
      </p:sp>
      <p:pic>
        <p:nvPicPr>
          <p:cNvPr id="16" name="그림 1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A3D5CB-D8D9-9802-7E47-B9F29EB03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4096" y="2819401"/>
            <a:ext cx="4816354" cy="2457449"/>
          </a:xfrm>
          <a:prstGeom prst="rect">
            <a:avLst/>
          </a:prstGeom>
        </p:spPr>
      </p:pic>
      <p:pic>
        <p:nvPicPr>
          <p:cNvPr id="18" name="그래픽 17" descr="느낌표 단색으로 채워진">
            <a:extLst>
              <a:ext uri="{FF2B5EF4-FFF2-40B4-BE49-F238E27FC236}">
                <a16:creationId xmlns:a16="http://schemas.microsoft.com/office/drawing/2014/main" id="{E1CCD262-10CC-9D02-4D8A-AA7A6ECF270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0" y="5372220"/>
            <a:ext cx="482600" cy="482600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CF61C106-0087-23F9-6AED-BCBEF8F495F2}"/>
              </a:ext>
            </a:extLst>
          </p:cNvPr>
          <p:cNvSpPr/>
          <p:nvPr/>
        </p:nvSpPr>
        <p:spPr>
          <a:xfrm>
            <a:off x="6832600" y="5518270"/>
            <a:ext cx="4248150" cy="4825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 이지만 </a:t>
            </a:r>
            <a:r>
              <a:rPr lang="ko-KR" altLang="en-US" sz="14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임계값이</a:t>
            </a: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존재한다</a:t>
            </a:r>
            <a:r>
              <a:rPr lang="en-US" altLang="ko-KR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pic>
        <p:nvPicPr>
          <p:cNvPr id="24" name="Image 13" descr="preencoded.png">
            <a:extLst>
              <a:ext uri="{FF2B5EF4-FFF2-40B4-BE49-F238E27FC236}">
                <a16:creationId xmlns:a16="http://schemas.microsoft.com/office/drawing/2014/main" id="{2FF34423-A8CB-2B5E-663D-C46F8314C1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7" name="Image 14" descr="preencoded.png">
            <a:extLst>
              <a:ext uri="{FF2B5EF4-FFF2-40B4-BE49-F238E27FC236}">
                <a16:creationId xmlns:a16="http://schemas.microsoft.com/office/drawing/2014/main" id="{1062BD69-15BF-9DB7-DC12-300992C1E36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8" name="Text 2">
            <a:extLst>
              <a:ext uri="{FF2B5EF4-FFF2-40B4-BE49-F238E27FC236}">
                <a16:creationId xmlns:a16="http://schemas.microsoft.com/office/drawing/2014/main" id="{1272CF10-4050-3687-1B95-A6D9197C81E9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BECF04-72C6-C223-FE47-FD5483FAC818}"/>
              </a:ext>
            </a:extLst>
          </p:cNvPr>
          <p:cNvSpPr txBox="1"/>
          <p:nvPr/>
        </p:nvSpPr>
        <p:spPr>
          <a:xfrm>
            <a:off x="533400" y="7167043"/>
            <a:ext cx="11277600" cy="53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개별 기상 변수의 단순한 선형 영향보다는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습도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일조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구름 상태가 결합된 ‘날씨 환경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상태’에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조건부로 형성되는 구조적 특성을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특정 기상 조합이 충족될 때만 수요가 유의미하게 확대되는 수요 메커니즘을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30517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5B1BB-9FEB-7D18-1F02-22D4F2F39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75A73A7-668F-4088-83B8-797DAFB8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0E5A3C4-F7EE-16F4-76CD-23C4657BE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2F71D2CB-E28E-0BBF-0A71-14D9C7193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39115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D5F0D520-2B3D-0A24-9CDC-354A4C650DE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POI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034E9986-02F4-0A52-2DFA-EDF58F4392C7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공간 요인 영향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965F5D7F-3CB9-6B0E-749E-65BC87F0BE39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10/20</a:t>
            </a:r>
            <a:endParaRPr lang="en-US" sz="1050" dirty="0"/>
          </a:p>
        </p:txBody>
      </p:sp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805DD528-DAD7-8347-427C-5301FB5A0A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2133599"/>
            <a:ext cx="5120410" cy="4343401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D6449309-39B0-235A-E759-6764B848152E}"/>
              </a:ext>
            </a:extLst>
          </p:cNvPr>
          <p:cNvSpPr/>
          <p:nvPr/>
        </p:nvSpPr>
        <p:spPr>
          <a:xfrm>
            <a:off x="6845300" y="2343150"/>
            <a:ext cx="3949700" cy="3552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일정거리 이상 가까울 수록 </a:t>
            </a: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상한이 높다</a:t>
            </a:r>
            <a:endParaRPr lang="en-US" sz="1200" dirty="0"/>
          </a:p>
        </p:txBody>
      </p:sp>
      <p:pic>
        <p:nvPicPr>
          <p:cNvPr id="4" name="Image 9" descr="preencoded.png">
            <a:extLst>
              <a:ext uri="{FF2B5EF4-FFF2-40B4-BE49-F238E27FC236}">
                <a16:creationId xmlns:a16="http://schemas.microsoft.com/office/drawing/2014/main" id="{6D354AFA-7B77-3E7E-6285-8A2A6915E6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643" y="1481560"/>
            <a:ext cx="468314" cy="468314"/>
          </a:xfrm>
          <a:prstGeom prst="rect">
            <a:avLst/>
          </a:prstGeom>
        </p:spPr>
      </p:pic>
      <p:pic>
        <p:nvPicPr>
          <p:cNvPr id="5" name="Image 14" descr="preencoded.png">
            <a:extLst>
              <a:ext uri="{FF2B5EF4-FFF2-40B4-BE49-F238E27FC236}">
                <a16:creationId xmlns:a16="http://schemas.microsoft.com/office/drawing/2014/main" id="{33BD8EE5-52AD-15E9-AC46-C2BDFBB8EE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066" y="1565644"/>
            <a:ext cx="276860" cy="369147"/>
          </a:xfrm>
          <a:prstGeom prst="rect">
            <a:avLst/>
          </a:prstGeom>
        </p:spPr>
      </p:pic>
      <p:pic>
        <p:nvPicPr>
          <p:cNvPr id="8" name="Image 9" descr="preencoded.png">
            <a:extLst>
              <a:ext uri="{FF2B5EF4-FFF2-40B4-BE49-F238E27FC236}">
                <a16:creationId xmlns:a16="http://schemas.microsoft.com/office/drawing/2014/main" id="{B6239E94-2931-ECDA-A499-939FCEAE96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7143" y="2281660"/>
            <a:ext cx="355283" cy="355283"/>
          </a:xfrm>
          <a:prstGeom prst="rect">
            <a:avLst/>
          </a:prstGeom>
        </p:spPr>
      </p:pic>
      <p:pic>
        <p:nvPicPr>
          <p:cNvPr id="9" name="Image 14" descr="preencoded.png">
            <a:extLst>
              <a:ext uri="{FF2B5EF4-FFF2-40B4-BE49-F238E27FC236}">
                <a16:creationId xmlns:a16="http://schemas.microsoft.com/office/drawing/2014/main" id="{92B79B94-0474-DE21-DB0B-DB4E5C272B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566" y="2365744"/>
            <a:ext cx="210038" cy="280051"/>
          </a:xfrm>
          <a:prstGeom prst="rect">
            <a:avLst/>
          </a:prstGeom>
        </p:spPr>
      </p:pic>
      <p:pic>
        <p:nvPicPr>
          <p:cNvPr id="17" name="그림 16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3B120-6282-FC2E-FCBF-0750AC1CCB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349" y="2305050"/>
            <a:ext cx="5006340" cy="4171950"/>
          </a:xfrm>
          <a:prstGeom prst="rect">
            <a:avLst/>
          </a:prstGeom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CCFB55D2-317D-10DF-056B-7F37C0BB235D}"/>
              </a:ext>
            </a:extLst>
          </p:cNvPr>
          <p:cNvSpPr/>
          <p:nvPr/>
        </p:nvSpPr>
        <p:spPr>
          <a:xfrm>
            <a:off x="6645604" y="4339168"/>
            <a:ext cx="4574846" cy="198543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인접 지하철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버스 정류장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 200m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학교 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500m ~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구간에서 고수요 집중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공원거리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분산이 넓고 패턴이 완만하지만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,  500m ~ 2km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>
              <a:lnSpc>
                <a:spcPts val="1800"/>
              </a:lnSpc>
              <a:buNone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그림 3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CDAAF6-C2A0-C041-8041-D24CF7A4D4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5604" y="2793029"/>
            <a:ext cx="3843393" cy="1366540"/>
          </a:xfrm>
          <a:prstGeom prst="rect">
            <a:avLst/>
          </a:prstGeom>
        </p:spPr>
      </p:pic>
      <p:pic>
        <p:nvPicPr>
          <p:cNvPr id="37" name="Image 13" descr="preencoded.png">
            <a:extLst>
              <a:ext uri="{FF2B5EF4-FFF2-40B4-BE49-F238E27FC236}">
                <a16:creationId xmlns:a16="http://schemas.microsoft.com/office/drawing/2014/main" id="{16B87F56-BC0C-3802-A5A2-742E12DAE2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8" name="Image 14" descr="preencoded.png">
            <a:extLst>
              <a:ext uri="{FF2B5EF4-FFF2-40B4-BE49-F238E27FC236}">
                <a16:creationId xmlns:a16="http://schemas.microsoft.com/office/drawing/2014/main" id="{725C127E-11B0-C38B-9DCE-6BEE5DC9CE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9" name="Text 2">
            <a:extLst>
              <a:ext uri="{FF2B5EF4-FFF2-40B4-BE49-F238E27FC236}">
                <a16:creationId xmlns:a16="http://schemas.microsoft.com/office/drawing/2014/main" id="{715E5BB1-A293-8C47-E999-EB4979AC6A0B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D5C412-B5D5-1BDD-D5F7-51A040DB1656}"/>
              </a:ext>
            </a:extLst>
          </p:cNvPr>
          <p:cNvSpPr txBox="1"/>
          <p:nvPr/>
        </p:nvSpPr>
        <p:spPr>
          <a:xfrm>
            <a:off x="657066" y="7196151"/>
            <a:ext cx="11001534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각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수요를 직접적으로 증가시키기보다는 대여 수요가 발생할 수 있는 ‘잠재적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상한’을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규정하는 역할을 하며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동일한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조건에서도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접근성이 높은 지역에서만 대규모 수요가 관찰된다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5713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31278"/>
            <a:ext cx="12192000" cy="7848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-1524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415634"/>
            <a:ext cx="11125200" cy="3429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415634"/>
            <a:ext cx="11125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415634"/>
            <a:ext cx="3137743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1143" y="415634"/>
            <a:ext cx="4326434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9985" y="568034"/>
            <a:ext cx="1143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97577" y="415634"/>
            <a:ext cx="3661023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46989" y="568034"/>
            <a:ext cx="1905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872834"/>
            <a:ext cx="1112520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1349084"/>
            <a:ext cx="1112520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825334"/>
            <a:ext cx="1112520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2282534"/>
            <a:ext cx="11125200" cy="4762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2758784"/>
            <a:ext cx="11125200" cy="4762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3235034"/>
            <a:ext cx="11125200" cy="609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" y="3826447"/>
            <a:ext cx="190500" cy="190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" y="4159822"/>
            <a:ext cx="5486400" cy="1672934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4159822"/>
            <a:ext cx="5486400" cy="1745678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77575" y="6591300"/>
            <a:ext cx="104775" cy="13335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381000" y="-5715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도시간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패턴 비교 (Washington vs Seoul)</a:t>
            </a:r>
            <a:endParaRPr lang="en-US" sz="2250" dirty="0"/>
          </a:p>
        </p:txBody>
      </p:sp>
      <p:sp>
        <p:nvSpPr>
          <p:cNvPr id="26" name="Text 1"/>
          <p:cNvSpPr/>
          <p:nvPr/>
        </p:nvSpPr>
        <p:spPr>
          <a:xfrm>
            <a:off x="533400" y="-3466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주요 특성 비교 결론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533400" y="4156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항목</a:t>
            </a:r>
            <a:endParaRPr lang="en-US" sz="1200" dirty="0"/>
          </a:p>
        </p:txBody>
      </p:sp>
      <p:sp>
        <p:nvSpPr>
          <p:cNvPr id="28" name="Text 3"/>
          <p:cNvSpPr/>
          <p:nvPr/>
        </p:nvSpPr>
        <p:spPr>
          <a:xfrm>
            <a:off x="5186660" y="529934"/>
            <a:ext cx="14859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9424154" y="529934"/>
            <a:ext cx="10744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30" name="Text 5"/>
          <p:cNvSpPr/>
          <p:nvPr/>
        </p:nvSpPr>
        <p:spPr>
          <a:xfrm>
            <a:off x="685800" y="8728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목적</a:t>
            </a:r>
            <a:endParaRPr lang="en-US" sz="1200" dirty="0"/>
          </a:p>
        </p:txBody>
      </p:sp>
      <p:sp>
        <p:nvSpPr>
          <p:cNvPr id="31" name="Text 6"/>
          <p:cNvSpPr/>
          <p:nvPr/>
        </p:nvSpPr>
        <p:spPr>
          <a:xfrm>
            <a:off x="5211425" y="1006184"/>
            <a:ext cx="1245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D4ED8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레저 + 출퇴근 혼합</a:t>
            </a:r>
            <a:endParaRPr lang="en-US" sz="900" dirty="0"/>
          </a:p>
        </p:txBody>
      </p:sp>
      <p:sp>
        <p:nvSpPr>
          <p:cNvPr id="32" name="Text 7"/>
          <p:cNvSpPr/>
          <p:nvPr/>
        </p:nvSpPr>
        <p:spPr>
          <a:xfrm>
            <a:off x="9405104" y="1006184"/>
            <a:ext cx="845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5803D"/>
                </a:solidFill>
                <a:highlight>
                  <a:srgbClr val="DCFCE7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</a:t>
            </a:r>
            <a:endParaRPr lang="en-US" sz="900" dirty="0"/>
          </a:p>
        </p:txBody>
      </p:sp>
      <p:sp>
        <p:nvSpPr>
          <p:cNvPr id="33" name="Text 8"/>
          <p:cNvSpPr/>
          <p:nvPr/>
        </p:nvSpPr>
        <p:spPr>
          <a:xfrm>
            <a:off x="685800" y="13490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민감도</a:t>
            </a:r>
            <a:endParaRPr lang="en-US" sz="1200" dirty="0"/>
          </a:p>
        </p:txBody>
      </p:sp>
      <p:sp>
        <p:nvSpPr>
          <p:cNvPr id="34" name="Text 9"/>
          <p:cNvSpPr/>
          <p:nvPr/>
        </p:nvSpPr>
        <p:spPr>
          <a:xfrm>
            <a:off x="5653385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높음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9647039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중간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685800" y="18253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피크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5377160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endParaRPr lang="en-US" sz="900" dirty="0"/>
          </a:p>
        </p:txBody>
      </p:sp>
      <p:sp>
        <p:nvSpPr>
          <p:cNvPr id="38" name="Text 13"/>
          <p:cNvSpPr/>
          <p:nvPr/>
        </p:nvSpPr>
        <p:spPr>
          <a:xfrm>
            <a:off x="9370814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</a:t>
            </a:r>
            <a:r>
              <a:rPr lang="en-US" altLang="ko-KR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18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</a:t>
            </a:r>
            <a:endParaRPr lang="en-US" sz="900" dirty="0"/>
          </a:p>
        </p:txBody>
      </p:sp>
      <p:sp>
        <p:nvSpPr>
          <p:cNvPr id="39" name="Text 14"/>
          <p:cNvSpPr/>
          <p:nvPr/>
        </p:nvSpPr>
        <p:spPr>
          <a:xfrm>
            <a:off x="685800" y="22825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피크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5268575" y="2415884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비교적 완만함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9342239" y="2415884"/>
            <a:ext cx="9715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뚜렷함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2" name="Text 17"/>
          <p:cNvSpPr/>
          <p:nvPr/>
        </p:nvSpPr>
        <p:spPr>
          <a:xfrm>
            <a:off x="685800" y="27587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요인</a:t>
            </a:r>
            <a:endParaRPr lang="en-US" sz="1200" dirty="0"/>
          </a:p>
        </p:txBody>
      </p:sp>
      <p:sp>
        <p:nvSpPr>
          <p:cNvPr id="43" name="Text 18"/>
          <p:cNvSpPr/>
          <p:nvPr/>
        </p:nvSpPr>
        <p:spPr>
          <a:xfrm>
            <a:off x="5653385" y="28921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적음</a:t>
            </a:r>
            <a:endParaRPr lang="en-US" sz="900" dirty="0"/>
          </a:p>
        </p:txBody>
      </p:sp>
      <p:sp>
        <p:nvSpPr>
          <p:cNvPr id="44" name="Text 19"/>
          <p:cNvSpPr/>
          <p:nvPr/>
        </p:nvSpPr>
        <p:spPr>
          <a:xfrm>
            <a:off x="9467969" y="2892134"/>
            <a:ext cx="7200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강함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5" name="Text 20"/>
          <p:cNvSpPr/>
          <p:nvPr/>
        </p:nvSpPr>
        <p:spPr>
          <a:xfrm>
            <a:off x="685800" y="3235034"/>
            <a:ext cx="313774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주말/평일 패턴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3823543" y="3349334"/>
            <a:ext cx="40216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수요 증가</a:t>
            </a:r>
            <a:endParaRPr lang="en-US" sz="1050" dirty="0"/>
          </a:p>
        </p:txBody>
      </p:sp>
      <p:sp>
        <p:nvSpPr>
          <p:cNvPr id="48" name="Text 23"/>
          <p:cNvSpPr/>
          <p:nvPr/>
        </p:nvSpPr>
        <p:spPr>
          <a:xfrm>
            <a:off x="8149977" y="3349334"/>
            <a:ext cx="335622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패턴 유지</a:t>
            </a:r>
            <a:endParaRPr lang="en-US" sz="1050" dirty="0"/>
          </a:p>
        </p:txBody>
      </p:sp>
      <p:sp>
        <p:nvSpPr>
          <p:cNvPr id="50" name="Text 25"/>
          <p:cNvSpPr/>
          <p:nvPr/>
        </p:nvSpPr>
        <p:spPr>
          <a:xfrm>
            <a:off x="800100" y="377882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차이점</a:t>
            </a:r>
            <a:endParaRPr lang="en-US" sz="1500" dirty="0"/>
          </a:p>
        </p:txBody>
      </p:sp>
      <p:sp>
        <p:nvSpPr>
          <p:cNvPr id="51" name="Text 26"/>
          <p:cNvSpPr/>
          <p:nvPr/>
        </p:nvSpPr>
        <p:spPr>
          <a:xfrm>
            <a:off x="6477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52" name="Text 27"/>
          <p:cNvSpPr/>
          <p:nvPr/>
        </p:nvSpPr>
        <p:spPr>
          <a:xfrm>
            <a:off x="6477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설명력은 낮음</a:t>
            </a:r>
            <a:endParaRPr lang="en-US" sz="1050" dirty="0"/>
          </a:p>
        </p:txBody>
      </p:sp>
      <p:sp>
        <p:nvSpPr>
          <p:cNvPr id="53" name="Text 28"/>
          <p:cNvSpPr/>
          <p:nvPr/>
        </p:nvSpPr>
        <p:spPr>
          <a:xfrm>
            <a:off x="6477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또는 완만한 오후 피크</a:t>
            </a:r>
            <a:endParaRPr lang="en-US" sz="1050" dirty="0"/>
          </a:p>
        </p:txBody>
      </p:sp>
      <p:sp>
        <p:nvSpPr>
          <p:cNvPr id="54" name="Text 29"/>
          <p:cNvSpPr/>
          <p:nvPr/>
        </p:nvSpPr>
        <p:spPr>
          <a:xfrm>
            <a:off x="6477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수요의 확실한 우세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30"/>
          <p:cNvSpPr/>
          <p:nvPr/>
        </p:nvSpPr>
        <p:spPr>
          <a:xfrm>
            <a:off x="647700" y="5226622"/>
            <a:ext cx="63093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비교적 완만한 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패턴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조절 변수 성격의 기상요인 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레저 중심 수요 구조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6" name="Text 31"/>
          <p:cNvSpPr/>
          <p:nvPr/>
        </p:nvSpPr>
        <p:spPr>
          <a:xfrm>
            <a:off x="62865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57" name="Text 32"/>
          <p:cNvSpPr/>
          <p:nvPr/>
        </p:nvSpPr>
        <p:spPr>
          <a:xfrm>
            <a:off x="62865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설명력이 매우 </a:t>
            </a: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050" dirty="0"/>
          </a:p>
        </p:txBody>
      </p:sp>
      <p:sp>
        <p:nvSpPr>
          <p:cNvPr id="58" name="Text 33"/>
          <p:cNvSpPr/>
          <p:nvPr/>
        </p:nvSpPr>
        <p:spPr>
          <a:xfrm>
            <a:off x="62865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퇴근 이중 피크 매우 뚜렷함</a:t>
            </a:r>
            <a:endParaRPr lang="en-US" sz="1050" dirty="0"/>
          </a:p>
        </p:txBody>
      </p:sp>
      <p:sp>
        <p:nvSpPr>
          <p:cNvPr id="59" name="Text 34"/>
          <p:cNvSpPr/>
          <p:nvPr/>
        </p:nvSpPr>
        <p:spPr>
          <a:xfrm>
            <a:off x="62865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과 주말 수요 모두 보장됨 차이가 뚜렷하지 않음</a:t>
            </a:r>
            <a:endParaRPr lang="en-US" sz="1050" dirty="0"/>
          </a:p>
        </p:txBody>
      </p:sp>
      <p:sp>
        <p:nvSpPr>
          <p:cNvPr id="60" name="Text 35"/>
          <p:cNvSpPr/>
          <p:nvPr/>
        </p:nvSpPr>
        <p:spPr>
          <a:xfrm>
            <a:off x="6286500" y="52266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여름과 겨울에 수요가 감소하는 계절 패턴</a:t>
            </a:r>
            <a:endParaRPr lang="en-US" sz="1050" dirty="0"/>
          </a:p>
        </p:txBody>
      </p:sp>
      <p:sp>
        <p:nvSpPr>
          <p:cNvPr id="61" name="Text 36"/>
          <p:cNvSpPr/>
          <p:nvPr/>
        </p:nvSpPr>
        <p:spPr>
          <a:xfrm>
            <a:off x="11220450" y="65532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11/20</a:t>
            </a:r>
            <a:endParaRPr lang="en-US" sz="1050" dirty="0"/>
          </a:p>
        </p:txBody>
      </p:sp>
      <p:sp>
        <p:nvSpPr>
          <p:cNvPr id="62" name="Text 35">
            <a:extLst>
              <a:ext uri="{FF2B5EF4-FFF2-40B4-BE49-F238E27FC236}">
                <a16:creationId xmlns:a16="http://schemas.microsoft.com/office/drawing/2014/main" id="{AE450DFD-5C25-FF61-D95A-F04CA081092D}"/>
              </a:ext>
            </a:extLst>
          </p:cNvPr>
          <p:cNvSpPr/>
          <p:nvPr/>
        </p:nvSpPr>
        <p:spPr>
          <a:xfrm>
            <a:off x="6286500" y="546127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비선형의 임계 값 조건부 구조의 기상 요인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서울 인프라 연계형 수요 구조</a:t>
            </a:r>
            <a:endParaRPr lang="en-US" sz="1050" dirty="0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13E28791-676D-C85F-B57C-C62FD89A7738}"/>
              </a:ext>
            </a:extLst>
          </p:cNvPr>
          <p:cNvSpPr/>
          <p:nvPr/>
        </p:nvSpPr>
        <p:spPr>
          <a:xfrm>
            <a:off x="5274925" y="1948296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8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r>
              <a:rPr lang="en-US" altLang="ko-KR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/17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419600"/>
            <a:ext cx="11125200" cy="2438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5720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6482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5638800"/>
            <a:ext cx="53340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5638800"/>
            <a:ext cx="5334000" cy="1066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종합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결론</a:t>
            </a:r>
            <a:endParaRPr lang="en-US" sz="2250" dirty="0"/>
          </a:p>
        </p:txBody>
      </p:sp>
      <p:sp>
        <p:nvSpPr>
          <p:cNvPr id="15" name="Text 1"/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/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수요는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(POI)’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 결합 효과에 의해 결정된다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3"/>
          <p:cNvSpPr/>
          <p:nvPr/>
        </p:nvSpPr>
        <p:spPr>
          <a:xfrm>
            <a:off x="838200" y="1866900"/>
            <a:ext cx="4762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D.C.,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 시간대 패턴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존재하나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이용 목적과 인프라 구조 차이로 변수 중요도가 달라진다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Text 4"/>
          <p:cNvSpPr/>
          <p:nvPr/>
        </p:nvSpPr>
        <p:spPr>
          <a:xfrm>
            <a:off x="838200" y="2336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기반 패턴은 공통적으로 관찰되지만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강도와 형태가 도시별로 다르다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5"/>
          <p:cNvSpPr/>
          <p:nvPr/>
        </p:nvSpPr>
        <p:spPr>
          <a:xfrm>
            <a:off x="838200" y="25654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 주말 평균 수요가 평일 보다  소폭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(2%)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높게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주말 레저 수요 비중이 커서 요일 효고와 변동성이 크다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/>
          </a:p>
        </p:txBody>
      </p:sp>
      <p:sp>
        <p:nvSpPr>
          <p:cNvPr id="20" name="Text 6"/>
          <p:cNvSpPr/>
          <p:nvPr/>
        </p:nvSpPr>
        <p:spPr>
          <a:xfrm>
            <a:off x="838200" y="3086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변수는 수요 상한을 규정하는 핵심 제약 조건으로 작동한다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838200" y="33147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단순 상관이 낮아도 가까운 구간에서만 고수요가 발생하는 임계 구조를 만든다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Text 8"/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방향</a:t>
            </a:r>
            <a:endParaRPr lang="en-US" sz="1500" dirty="0"/>
          </a:p>
        </p:txBody>
      </p:sp>
      <p:sp>
        <p:nvSpPr>
          <p:cNvPr id="23" name="Text 9"/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서울별 특화 모델링 방식</a:t>
            </a:r>
            <a:endParaRPr lang="en-US" sz="1200" dirty="0"/>
          </a:p>
        </p:txBody>
      </p:sp>
      <p:sp>
        <p:nvSpPr>
          <p:cNvPr id="24" name="Text 10"/>
          <p:cNvSpPr/>
          <p:nvPr/>
        </p:nvSpPr>
        <p:spPr>
          <a:xfrm>
            <a:off x="6553200" y="18669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</a:t>
            </a:r>
            <a:endParaRPr lang="en-US" sz="1050" dirty="0"/>
          </a:p>
        </p:txBody>
      </p:sp>
      <p:sp>
        <p:nvSpPr>
          <p:cNvPr id="25" name="Text 11"/>
          <p:cNvSpPr/>
          <p:nvPr/>
        </p:nvSpPr>
        <p:spPr>
          <a:xfrm>
            <a:off x="6591300" y="20955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 피처의 강화</a:t>
            </a:r>
            <a:endParaRPr lang="en-US" sz="1200" dirty="0"/>
          </a:p>
        </p:txBody>
      </p:sp>
      <p:sp>
        <p:nvSpPr>
          <p:cNvPr id="26" name="Text 12"/>
          <p:cNvSpPr/>
          <p:nvPr/>
        </p:nvSpPr>
        <p:spPr>
          <a:xfrm>
            <a:off x="6591300" y="23622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유형별 역할을 반영한 상호작용 설계</a:t>
            </a:r>
            <a:endParaRPr lang="en-US" sz="1200" dirty="0"/>
          </a:p>
        </p:txBody>
      </p:sp>
      <p:sp>
        <p:nvSpPr>
          <p:cNvPr id="27" name="Text 13"/>
          <p:cNvSpPr/>
          <p:nvPr/>
        </p:nvSpPr>
        <p:spPr>
          <a:xfrm>
            <a:off x="6591300" y="26289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피크 반영을 위한 시간대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 상호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작용 및 비선형 처리</a:t>
            </a:r>
            <a:endParaRPr lang="en-US" sz="1200" dirty="0"/>
          </a:p>
        </p:txBody>
      </p:sp>
      <p:sp>
        <p:nvSpPr>
          <p:cNvPr id="28" name="Text 14"/>
          <p:cNvSpPr/>
          <p:nvPr/>
        </p:nvSpPr>
        <p:spPr>
          <a:xfrm>
            <a:off x="6553200" y="2971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모델링 방식</a:t>
            </a:r>
            <a:endParaRPr lang="en-US" sz="1200" dirty="0"/>
          </a:p>
        </p:txBody>
      </p:sp>
      <p:sp>
        <p:nvSpPr>
          <p:cNvPr id="29" name="Text 15"/>
          <p:cNvSpPr/>
          <p:nvPr/>
        </p:nvSpPr>
        <p:spPr>
          <a:xfrm>
            <a:off x="6553200" y="32004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워싱턴의 경우</a:t>
            </a:r>
            <a:endParaRPr lang="en-US" sz="1050" dirty="0"/>
          </a:p>
        </p:txBody>
      </p:sp>
      <p:sp>
        <p:nvSpPr>
          <p:cNvPr id="30" name="Text 16"/>
          <p:cNvSpPr/>
          <p:nvPr/>
        </p:nvSpPr>
        <p:spPr>
          <a:xfrm>
            <a:off x="6591300" y="3429000"/>
            <a:ext cx="6080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계절성과 주말효과가 강하므로 시즌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구조를 우선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1" name="Text 17"/>
          <p:cNvSpPr/>
          <p:nvPr/>
        </p:nvSpPr>
        <p:spPr>
          <a:xfrm>
            <a:off x="6591300" y="36957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기상변수는 종합 상태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원인 변수의 조합으로 사용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6591300" y="39624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관광 레저 수요를 설명 할 수 있는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요소의 비중 확대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1143000" y="4648200"/>
            <a:ext cx="891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34" name="Text 20"/>
          <p:cNvSpPr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과거 수요 패턴보다 각 도시의 이동 맥락을 반영한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조건을 얼마나 정교하게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모델링하느냐에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 될 것으로 예상된다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도시별로 피처 중요도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 구조를 달리 설계하는 ‘도시 맞춤형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모델링’이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필요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8001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 모델링</a:t>
            </a:r>
            <a:endParaRPr lang="en-US" sz="1200" dirty="0"/>
          </a:p>
        </p:txBody>
      </p:sp>
      <p:sp>
        <p:nvSpPr>
          <p:cNvPr id="36" name="Text 22"/>
          <p:cNvSpPr/>
          <p:nvPr/>
        </p:nvSpPr>
        <p:spPr>
          <a:xfrm>
            <a:off x="8001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 주말 효과를 중심으로 기본베이스라인을 안정화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조합으로 기상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영햐의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비선형 반응 포착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공원 관광 레저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수요 잠재력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62865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모델링</a:t>
            </a:r>
            <a:endParaRPr lang="en-US" sz="1200" dirty="0"/>
          </a:p>
        </p:txBody>
      </p:sp>
      <p:sp>
        <p:nvSpPr>
          <p:cNvPr id="40" name="Text 26"/>
          <p:cNvSpPr/>
          <p:nvPr/>
        </p:nvSpPr>
        <p:spPr>
          <a:xfrm>
            <a:off x="62865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지하철역 버스 정류장 접근성 기반 환승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통근 수요 핵심 반영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상호작용 강조하여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툴퇴근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패턴을 구조적 학습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학교 업무지구 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 분해로 입지기반 수요 상한 모델링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/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1181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문제 정의 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6A47520C-6523-224B-0905-554D92CC97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" y="1257300"/>
            <a:ext cx="228600" cy="2286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5E1B410-9866-C6A5-1700-A526E227BD46}"/>
              </a:ext>
            </a:extLst>
          </p:cNvPr>
          <p:cNvSpPr txBox="1"/>
          <p:nvPr/>
        </p:nvSpPr>
        <p:spPr>
          <a:xfrm>
            <a:off x="876300" y="1529854"/>
            <a:ext cx="4823756" cy="6095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타겟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: 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수요량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en-US" altLang="ko-KR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회귀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(Regression)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예측</a:t>
            </a:r>
            <a:endParaRPr lang="en-US" altLang="ko-KR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 단위로 분리 학습 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도시별 데이터 스키마 차이는 코드에서 흡수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6" name="Image 2" descr="preencoded.png">
            <a:extLst>
              <a:ext uri="{FF2B5EF4-FFF2-40B4-BE49-F238E27FC236}">
                <a16:creationId xmlns:a16="http://schemas.microsoft.com/office/drawing/2014/main" id="{F853DEA7-CDAD-5220-54CD-C6718BE14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324100"/>
            <a:ext cx="6720780" cy="596900"/>
          </a:xfrm>
          <a:prstGeom prst="rect">
            <a:avLst/>
          </a:prstGeom>
          <a:solidFill>
            <a:srgbClr val="FF0000"/>
          </a:solidFill>
        </p:spPr>
      </p:pic>
      <p:pic>
        <p:nvPicPr>
          <p:cNvPr id="37" name="Image 10" descr="preencoded.png">
            <a:extLst>
              <a:ext uri="{FF2B5EF4-FFF2-40B4-BE49-F238E27FC236}">
                <a16:creationId xmlns:a16="http://schemas.microsoft.com/office/drawing/2014/main" id="{30749CB7-C76A-0FF5-A24D-BDBE3EB826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" y="2476500"/>
            <a:ext cx="228600" cy="228600"/>
          </a:xfrm>
          <a:prstGeom prst="rect">
            <a:avLst/>
          </a:prstGeom>
        </p:spPr>
      </p:pic>
      <p:sp>
        <p:nvSpPr>
          <p:cNvPr id="38" name="Text 1">
            <a:extLst>
              <a:ext uri="{FF2B5EF4-FFF2-40B4-BE49-F238E27FC236}">
                <a16:creationId xmlns:a16="http://schemas.microsoft.com/office/drawing/2014/main" id="{8B7F1F07-3FBE-0433-25F3-7E4FD20F9265}"/>
              </a:ext>
            </a:extLst>
          </p:cNvPr>
          <p:cNvSpPr/>
          <p:nvPr/>
        </p:nvSpPr>
        <p:spPr>
          <a:xfrm>
            <a:off x="876300" y="24765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피처 전략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: Time + Weather + POI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endParaRPr lang="en-US" sz="1500" dirty="0"/>
          </a:p>
        </p:txBody>
      </p:sp>
      <p:pic>
        <p:nvPicPr>
          <p:cNvPr id="40" name="Image 11" descr="preencoded.png">
            <a:extLst>
              <a:ext uri="{FF2B5EF4-FFF2-40B4-BE49-F238E27FC236}">
                <a16:creationId xmlns:a16="http://schemas.microsoft.com/office/drawing/2014/main" id="{CC004BCB-C0C8-F706-C90A-39497CB794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869" y="3086100"/>
            <a:ext cx="2044750" cy="2019300"/>
          </a:xfrm>
          <a:prstGeom prst="rect">
            <a:avLst/>
          </a:prstGeom>
        </p:spPr>
      </p:pic>
      <p:pic>
        <p:nvPicPr>
          <p:cNvPr id="41" name="Image 12" descr="preencoded.png">
            <a:extLst>
              <a:ext uri="{FF2B5EF4-FFF2-40B4-BE49-F238E27FC236}">
                <a16:creationId xmlns:a16="http://schemas.microsoft.com/office/drawing/2014/main" id="{BF1379F6-99EC-206B-2E72-08560A3D58E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269" y="3238500"/>
            <a:ext cx="200025" cy="304800"/>
          </a:xfrm>
          <a:prstGeom prst="rect">
            <a:avLst/>
          </a:prstGeom>
        </p:spPr>
      </p:pic>
      <p:pic>
        <p:nvPicPr>
          <p:cNvPr id="42" name="Image 13" descr="preencoded.png">
            <a:extLst>
              <a:ext uri="{FF2B5EF4-FFF2-40B4-BE49-F238E27FC236}">
                <a16:creationId xmlns:a16="http://schemas.microsoft.com/office/drawing/2014/main" id="{E7A4F3D9-75FF-D78B-0550-4EFB21FC231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695700"/>
            <a:ext cx="114300" cy="152400"/>
          </a:xfrm>
          <a:prstGeom prst="rect">
            <a:avLst/>
          </a:prstGeom>
        </p:spPr>
      </p:pic>
      <p:pic>
        <p:nvPicPr>
          <p:cNvPr id="43" name="Image 14" descr="preencoded.png">
            <a:extLst>
              <a:ext uri="{FF2B5EF4-FFF2-40B4-BE49-F238E27FC236}">
                <a16:creationId xmlns:a16="http://schemas.microsoft.com/office/drawing/2014/main" id="{F16177A0-993E-D419-FF37-BBA1C23C42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962400"/>
            <a:ext cx="114300" cy="152400"/>
          </a:xfrm>
          <a:prstGeom prst="rect">
            <a:avLst/>
          </a:prstGeom>
        </p:spPr>
      </p:pic>
      <p:pic>
        <p:nvPicPr>
          <p:cNvPr id="44" name="Image 15" descr="preencoded.png">
            <a:extLst>
              <a:ext uri="{FF2B5EF4-FFF2-40B4-BE49-F238E27FC236}">
                <a16:creationId xmlns:a16="http://schemas.microsoft.com/office/drawing/2014/main" id="{2AEE317B-6827-0645-CE79-68A17D51672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4229100"/>
            <a:ext cx="114300" cy="152400"/>
          </a:xfrm>
          <a:prstGeom prst="rect">
            <a:avLst/>
          </a:prstGeom>
        </p:spPr>
      </p:pic>
      <p:pic>
        <p:nvPicPr>
          <p:cNvPr id="45" name="Image 16" descr="preencoded.png">
            <a:extLst>
              <a:ext uri="{FF2B5EF4-FFF2-40B4-BE49-F238E27FC236}">
                <a16:creationId xmlns:a16="http://schemas.microsoft.com/office/drawing/2014/main" id="{5099F093-7088-E4B6-7D77-F1048318D3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3090" y="3086100"/>
            <a:ext cx="2044750" cy="20193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A48C36D7-D210-8C8F-F8E8-17F66ACC23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5490" y="3238500"/>
            <a:ext cx="285750" cy="304800"/>
          </a:xfrm>
          <a:prstGeom prst="rect">
            <a:avLst/>
          </a:prstGeom>
        </p:spPr>
      </p:pic>
      <p:pic>
        <p:nvPicPr>
          <p:cNvPr id="47" name="Image 18" descr="preencoded.png">
            <a:extLst>
              <a:ext uri="{FF2B5EF4-FFF2-40B4-BE49-F238E27FC236}">
                <a16:creationId xmlns:a16="http://schemas.microsoft.com/office/drawing/2014/main" id="{E450BB2D-5DD6-73AA-1E8B-5B65DE528AE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695700"/>
            <a:ext cx="114300" cy="152400"/>
          </a:xfrm>
          <a:prstGeom prst="rect">
            <a:avLst/>
          </a:prstGeom>
        </p:spPr>
      </p:pic>
      <p:pic>
        <p:nvPicPr>
          <p:cNvPr id="48" name="Image 19" descr="preencoded.png">
            <a:extLst>
              <a:ext uri="{FF2B5EF4-FFF2-40B4-BE49-F238E27FC236}">
                <a16:creationId xmlns:a16="http://schemas.microsoft.com/office/drawing/2014/main" id="{E39EB2FA-8FA3-9042-CD1B-5E3EF2D84BB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962400"/>
            <a:ext cx="114300" cy="152400"/>
          </a:xfrm>
          <a:prstGeom prst="rect">
            <a:avLst/>
          </a:prstGeom>
        </p:spPr>
      </p:pic>
      <p:pic>
        <p:nvPicPr>
          <p:cNvPr id="49" name="Image 20" descr="preencoded.png">
            <a:extLst>
              <a:ext uri="{FF2B5EF4-FFF2-40B4-BE49-F238E27FC236}">
                <a16:creationId xmlns:a16="http://schemas.microsoft.com/office/drawing/2014/main" id="{F8263E92-07D5-2DE3-E39E-4E72894463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229100"/>
            <a:ext cx="114300" cy="152400"/>
          </a:xfrm>
          <a:prstGeom prst="rect">
            <a:avLst/>
          </a:prstGeom>
        </p:spPr>
      </p:pic>
      <p:pic>
        <p:nvPicPr>
          <p:cNvPr id="50" name="Image 21" descr="preencoded.png">
            <a:extLst>
              <a:ext uri="{FF2B5EF4-FFF2-40B4-BE49-F238E27FC236}">
                <a16:creationId xmlns:a16="http://schemas.microsoft.com/office/drawing/2014/main" id="{D7F56F79-80F9-8C74-29CE-ADD93B27E4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495800"/>
            <a:ext cx="1143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D7BDC3CE-2391-3188-3E99-208544D0059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762500"/>
            <a:ext cx="114300" cy="152400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243954B4-2BCB-4C8F-067D-1903D36F8D5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9440" y="3086100"/>
            <a:ext cx="2044750" cy="2019300"/>
          </a:xfrm>
          <a:prstGeom prst="rect">
            <a:avLst/>
          </a:prstGeom>
        </p:spPr>
      </p:pic>
      <p:pic>
        <p:nvPicPr>
          <p:cNvPr id="53" name="Image 24" descr="preencoded.png">
            <a:extLst>
              <a:ext uri="{FF2B5EF4-FFF2-40B4-BE49-F238E27FC236}">
                <a16:creationId xmlns:a16="http://schemas.microsoft.com/office/drawing/2014/main" id="{5E674BC8-878C-AB0D-5A5A-E16A999CFCC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61840" y="3238500"/>
            <a:ext cx="171450" cy="304800"/>
          </a:xfrm>
          <a:prstGeom prst="rect">
            <a:avLst/>
          </a:prstGeom>
        </p:spPr>
      </p:pic>
      <p:pic>
        <p:nvPicPr>
          <p:cNvPr id="54" name="Image 25" descr="preencoded.png">
            <a:extLst>
              <a:ext uri="{FF2B5EF4-FFF2-40B4-BE49-F238E27FC236}">
                <a16:creationId xmlns:a16="http://schemas.microsoft.com/office/drawing/2014/main" id="{179B21B8-CFB3-9198-8714-A4FBEC9A7C9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695700"/>
            <a:ext cx="114300" cy="152400"/>
          </a:xfrm>
          <a:prstGeom prst="rect">
            <a:avLst/>
          </a:prstGeom>
        </p:spPr>
      </p:pic>
      <p:pic>
        <p:nvPicPr>
          <p:cNvPr id="55" name="Image 26" descr="preencoded.png">
            <a:extLst>
              <a:ext uri="{FF2B5EF4-FFF2-40B4-BE49-F238E27FC236}">
                <a16:creationId xmlns:a16="http://schemas.microsoft.com/office/drawing/2014/main" id="{07CDB077-31ED-E760-0317-5622A87A02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962400"/>
            <a:ext cx="114300" cy="152400"/>
          </a:xfrm>
          <a:prstGeom prst="rect">
            <a:avLst/>
          </a:prstGeom>
        </p:spPr>
      </p:pic>
      <p:pic>
        <p:nvPicPr>
          <p:cNvPr id="56" name="Image 27" descr="preencoded.png">
            <a:extLst>
              <a:ext uri="{FF2B5EF4-FFF2-40B4-BE49-F238E27FC236}">
                <a16:creationId xmlns:a16="http://schemas.microsoft.com/office/drawing/2014/main" id="{71C46A7A-BE5F-B765-BCCE-AC4F2C6360B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4343400"/>
            <a:ext cx="1143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3BE2C9D2-998E-FBF9-2C22-5388826094AC}"/>
              </a:ext>
            </a:extLst>
          </p:cNvPr>
          <p:cNvSpPr/>
          <p:nvPr/>
        </p:nvSpPr>
        <p:spPr>
          <a:xfrm>
            <a:off x="794594" y="3257550"/>
            <a:ext cx="62757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Time</a:t>
            </a:r>
            <a:endParaRPr lang="en-US" sz="1500" dirty="0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455C406E-03FB-94C4-1C59-8AC152EE2125}"/>
              </a:ext>
            </a:extLst>
          </p:cNvPr>
          <p:cNvSpPr/>
          <p:nvPr/>
        </p:nvSpPr>
        <p:spPr>
          <a:xfrm>
            <a:off x="480269" y="36576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month</a:t>
            </a:r>
            <a:endParaRPr lang="en-US" sz="1200" dirty="0"/>
          </a:p>
        </p:txBody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E71754F6-BA03-8BFD-CD5E-EB2F5121915D}"/>
              </a:ext>
            </a:extLst>
          </p:cNvPr>
          <p:cNvSpPr/>
          <p:nvPr/>
        </p:nvSpPr>
        <p:spPr>
          <a:xfrm>
            <a:off x="480269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weekend</a:t>
            </a:r>
            <a:endParaRPr lang="en-US" sz="1200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D87E7EF0-FAD0-BF2E-51A7-20455684E7EA}"/>
              </a:ext>
            </a:extLst>
          </p:cNvPr>
          <p:cNvSpPr/>
          <p:nvPr/>
        </p:nvSpPr>
        <p:spPr>
          <a:xfrm>
            <a:off x="480269" y="41910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quarter_flag</a:t>
            </a:r>
            <a:endParaRPr lang="en-US" sz="1200" dirty="0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0A3B4C02-5F08-F88E-C44A-0EBF6B89B73C}"/>
              </a:ext>
            </a:extLst>
          </p:cNvPr>
          <p:cNvSpPr/>
          <p:nvPr/>
        </p:nvSpPr>
        <p:spPr>
          <a:xfrm>
            <a:off x="3255540" y="3257550"/>
            <a:ext cx="109317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Weather</a:t>
            </a:r>
            <a:endParaRPr lang="en-US" sz="1500" dirty="0"/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8192501E-BAE7-508B-4700-38F81768DB1C}"/>
              </a:ext>
            </a:extLst>
          </p:cNvPr>
          <p:cNvSpPr/>
          <p:nvPr/>
        </p:nvSpPr>
        <p:spPr>
          <a:xfrm>
            <a:off x="285549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temperature</a:t>
            </a:r>
            <a:endParaRPr lang="en-US" sz="120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B7D57F9C-9D23-F629-EE52-F5404266766E}"/>
              </a:ext>
            </a:extLst>
          </p:cNvPr>
          <p:cNvSpPr/>
          <p:nvPr/>
        </p:nvSpPr>
        <p:spPr>
          <a:xfrm>
            <a:off x="2855490" y="39243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Precipitation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E748349C-C42D-5209-F0B5-BA019F89BFF5}"/>
              </a:ext>
            </a:extLst>
          </p:cNvPr>
          <p:cNvSpPr/>
          <p:nvPr/>
        </p:nvSpPr>
        <p:spPr>
          <a:xfrm>
            <a:off x="2855490" y="41910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windspeed</a:t>
            </a:r>
            <a:endParaRPr lang="en-US" sz="1200" dirty="0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77C8E237-E96C-7EF2-A55D-488526C925C5}"/>
              </a:ext>
            </a:extLst>
          </p:cNvPr>
          <p:cNvSpPr/>
          <p:nvPr/>
        </p:nvSpPr>
        <p:spPr>
          <a:xfrm>
            <a:off x="2855490" y="44577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humidity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536E27FC-F141-46D1-E8A4-A64C09BF595A}"/>
              </a:ext>
            </a:extLst>
          </p:cNvPr>
          <p:cNvSpPr/>
          <p:nvPr/>
        </p:nvSpPr>
        <p:spPr>
          <a:xfrm>
            <a:off x="2855490" y="47244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sunshine</a:t>
            </a:r>
            <a:endParaRPr lang="en-US" sz="12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A9B6BB84-772C-4BF7-FEC8-2E055D38B9F3}"/>
              </a:ext>
            </a:extLst>
          </p:cNvPr>
          <p:cNvSpPr/>
          <p:nvPr/>
        </p:nvSpPr>
        <p:spPr>
          <a:xfrm>
            <a:off x="5547590" y="3257550"/>
            <a:ext cx="447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</a:t>
            </a:r>
            <a:endParaRPr lang="en-US" sz="15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97026E55-A43B-D5DE-4CBC-CE11B3090F1B}"/>
              </a:ext>
            </a:extLst>
          </p:cNvPr>
          <p:cNvSpPr/>
          <p:nvPr/>
        </p:nvSpPr>
        <p:spPr>
          <a:xfrm>
            <a:off x="526184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Holding quantity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8407605E-BA9B-ADFF-997C-B3CDC3C4F30B}"/>
              </a:ext>
            </a:extLst>
          </p:cNvPr>
          <p:cNvSpPr/>
          <p:nvPr/>
        </p:nvSpPr>
        <p:spPr>
          <a:xfrm>
            <a:off x="5261840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 거리</a:t>
            </a:r>
            <a:endParaRPr lang="en-US" sz="1200" dirty="0"/>
          </a:p>
        </p:txBody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8A1E7EF3-EC66-E935-A9CC-1BB3196F38CF}"/>
              </a:ext>
            </a:extLst>
          </p:cNvPr>
          <p:cNvSpPr/>
          <p:nvPr/>
        </p:nvSpPr>
        <p:spPr>
          <a:xfrm>
            <a:off x="5278881" y="4279900"/>
            <a:ext cx="1930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반경별 개수 피처(100~2000m)</a:t>
            </a:r>
            <a:endParaRPr lang="en-US" sz="120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D42F918-9EC3-443E-1F95-06362DD8B9B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602B5E88-AE27-8285-53EE-CE4CCD5D8EAB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7977F0A-7DBA-A242-FFDC-8693C7F4DF0D}"/>
              </a:ext>
            </a:extLst>
          </p:cNvPr>
          <p:cNvSpPr txBox="1"/>
          <p:nvPr/>
        </p:nvSpPr>
        <p:spPr>
          <a:xfrm>
            <a:off x="477959" y="5758751"/>
            <a:ext cx="11277600" cy="302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에서 도출한 “수요는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공간의 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조건부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)”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이라는 구조를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코드가 그대로 피처 그룹화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all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7" name="Image 2" descr="preencoded.png">
            <a:extLst>
              <a:ext uri="{FF2B5EF4-FFF2-40B4-BE49-F238E27FC236}">
                <a16:creationId xmlns:a16="http://schemas.microsoft.com/office/drawing/2014/main" id="{7A64C6BC-0353-5472-A4AC-5B248420F2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4095" y="1074340"/>
            <a:ext cx="4423555" cy="4022016"/>
          </a:xfrm>
          <a:prstGeom prst="rect">
            <a:avLst/>
          </a:prstGeom>
        </p:spPr>
      </p:pic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872A59BE-B7C4-3736-CD83-65AB72C6C41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95" name="Image 12" descr="preencoded.png">
            <a:extLst>
              <a:ext uri="{FF2B5EF4-FFF2-40B4-BE49-F238E27FC236}">
                <a16:creationId xmlns:a16="http://schemas.microsoft.com/office/drawing/2014/main" id="{3C7D0342-8121-B7E6-20F5-2B8E8A2117B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96" name="Image 13" descr="preencoded.png">
            <a:extLst>
              <a:ext uri="{FF2B5EF4-FFF2-40B4-BE49-F238E27FC236}">
                <a16:creationId xmlns:a16="http://schemas.microsoft.com/office/drawing/2014/main" id="{3AE4CA84-D88E-5CBC-A206-99571FFB49F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89" name="그림 88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2A38AE-AB61-DC38-4A00-12C8F42EC38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77690" y="1643305"/>
            <a:ext cx="4027383" cy="330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9F4E-EA31-D55F-F08A-7B8545098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D4DEFD9-9390-A3F5-3AA2-B8E2ACB12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8083A6D-8DDD-EC73-4D19-384ECA796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D9DB3512-82B1-B4B4-00FD-86AEE888E1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6720780" cy="19431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A5703C56-BEE6-8760-AC5B-9EF477E83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03227330-FB1E-19F7-9524-8C0A82202FB2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전처리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A1B134DE-33AA-3530-B3D9-D73A8A6F5E88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분할 전략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BAC19C9-3CB9-0193-ADE7-B39E934E455D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6C9807-EBD8-3091-B5EA-70C5DBCEF425}"/>
              </a:ext>
            </a:extLst>
          </p:cNvPr>
          <p:cNvSpPr txBox="1"/>
          <p:nvPr/>
        </p:nvSpPr>
        <p:spPr>
          <a:xfrm>
            <a:off x="876300" y="1529854"/>
            <a:ext cx="4299575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시계열 홀드아웃 검증을 통한 과거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-&gt;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미래 순서 유지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153AE21-0ACB-D4AF-EA0B-C4596C625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7C4A6257-57AC-D961-CBD3-82C48973FA71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2D08A4-60B7-B96A-F367-D47F84D4DDD0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미래 데이터를 학습에 섞지 않아서 “시간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누수”를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방지하는 기본 시계열 검증 구조를 사용 하면서도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IQR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적용을 하여 일반 구간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RMSE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안정화를 노리는 전략과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미적용하여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실제 운영환경의 변동성 까지 학습 하려는 전략을 비교하여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정상 수요 예측 과 피크 포함 예측 중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어느쪽이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예측에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강한지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판단 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01B8084-7E10-1EE6-22C7-EA78978CB8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494C8B6E-B11D-3F5B-FD34-C3DC6D91B20C}"/>
              </a:ext>
            </a:extLst>
          </p:cNvPr>
          <p:cNvSpPr/>
          <p:nvPr/>
        </p:nvSpPr>
        <p:spPr>
          <a:xfrm>
            <a:off x="892124" y="1978198"/>
            <a:ext cx="3048001" cy="484632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2100"/>
              </a:lnSpc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0" name="화살표: 톱니 모양의 오른쪽 9">
            <a:extLst>
              <a:ext uri="{FF2B5EF4-FFF2-40B4-BE49-F238E27FC236}">
                <a16:creationId xmlns:a16="http://schemas.microsoft.com/office/drawing/2014/main" id="{30514A92-AC6A-1F38-B4C2-9C5C2AB244EE}"/>
              </a:ext>
            </a:extLst>
          </p:cNvPr>
          <p:cNvSpPr/>
          <p:nvPr/>
        </p:nvSpPr>
        <p:spPr>
          <a:xfrm>
            <a:off x="3807400" y="1978198"/>
            <a:ext cx="1295400" cy="484632"/>
          </a:xfrm>
          <a:prstGeom prst="notched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" name="화살표: 톱니 모양의 오른쪽 10">
            <a:extLst>
              <a:ext uri="{FF2B5EF4-FFF2-40B4-BE49-F238E27FC236}">
                <a16:creationId xmlns:a16="http://schemas.microsoft.com/office/drawing/2014/main" id="{38BBEC72-321A-F388-B30A-FA8A25439AEB}"/>
              </a:ext>
            </a:extLst>
          </p:cNvPr>
          <p:cNvSpPr/>
          <p:nvPr/>
        </p:nvSpPr>
        <p:spPr>
          <a:xfrm>
            <a:off x="4981525" y="1975222"/>
            <a:ext cx="1295400" cy="484632"/>
          </a:xfrm>
          <a:prstGeom prst="notched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90819DF3-9E57-8719-2E50-28DC04C2A9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6145" y="2343395"/>
            <a:ext cx="548580" cy="266700"/>
          </a:xfrm>
          <a:prstGeom prst="rect">
            <a:avLst/>
          </a:prstGeom>
        </p:spPr>
      </p:pic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B29525AB-7D0E-3C48-6F25-CCE939C944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65085" y="2329480"/>
            <a:ext cx="525066" cy="266700"/>
          </a:xfrm>
          <a:prstGeom prst="rect">
            <a:avLst/>
          </a:prstGeom>
        </p:spPr>
      </p:pic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83B634D8-B86F-23A5-D11A-6B6F47CC25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54389" y="2344147"/>
            <a:ext cx="525066" cy="266700"/>
          </a:xfrm>
          <a:prstGeom prst="rect">
            <a:avLst/>
          </a:prstGeom>
        </p:spPr>
      </p:pic>
      <p:sp>
        <p:nvSpPr>
          <p:cNvPr id="78" name="Text 4">
            <a:extLst>
              <a:ext uri="{FF2B5EF4-FFF2-40B4-BE49-F238E27FC236}">
                <a16:creationId xmlns:a16="http://schemas.microsoft.com/office/drawing/2014/main" id="{0BFDCAF0-6210-6522-A5D5-614C5FD25D41}"/>
              </a:ext>
            </a:extLst>
          </p:cNvPr>
          <p:cNvSpPr/>
          <p:nvPr/>
        </p:nvSpPr>
        <p:spPr>
          <a:xfrm>
            <a:off x="2041287" y="2343395"/>
            <a:ext cx="65829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70%</a:t>
            </a:r>
            <a:endParaRPr lang="en-US" sz="1050" dirty="0"/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A6930E40-125A-AA84-D422-F2E241B2E8A4}"/>
              </a:ext>
            </a:extLst>
          </p:cNvPr>
          <p:cNvSpPr/>
          <p:nvPr/>
        </p:nvSpPr>
        <p:spPr>
          <a:xfrm>
            <a:off x="4112578" y="2329480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16653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80A045B-B208-3CBE-F30C-FBE826D0748A}"/>
              </a:ext>
            </a:extLst>
          </p:cNvPr>
          <p:cNvSpPr/>
          <p:nvPr/>
        </p:nvSpPr>
        <p:spPr>
          <a:xfrm>
            <a:off x="5301883" y="2344147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21A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pic>
        <p:nvPicPr>
          <p:cNvPr id="83" name="Image 3" descr="preencoded.png">
            <a:extLst>
              <a:ext uri="{FF2B5EF4-FFF2-40B4-BE49-F238E27FC236}">
                <a16:creationId xmlns:a16="http://schemas.microsoft.com/office/drawing/2014/main" id="{4CA17FA0-31F7-5404-13A5-60AB56BFF11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0063" y="1257300"/>
            <a:ext cx="257175" cy="2286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3A12833-FBFD-A7D1-9059-29AC98AC7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6266"/>
            <a:ext cx="6720780" cy="1892240"/>
          </a:xfrm>
          <a:prstGeom prst="rect">
            <a:avLst/>
          </a:prstGeom>
        </p:spPr>
      </p:pic>
      <p:sp>
        <p:nvSpPr>
          <p:cNvPr id="112" name="Text 1">
            <a:extLst>
              <a:ext uri="{FF2B5EF4-FFF2-40B4-BE49-F238E27FC236}">
                <a16:creationId xmlns:a16="http://schemas.microsoft.com/office/drawing/2014/main" id="{64FC943F-DDD5-4E3A-11A2-B0C6DD8BC2D8}"/>
              </a:ext>
            </a:extLst>
          </p:cNvPr>
          <p:cNvSpPr/>
          <p:nvPr/>
        </p:nvSpPr>
        <p:spPr>
          <a:xfrm>
            <a:off x="876300" y="3192464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전략</a:t>
            </a:r>
            <a:endParaRPr lang="en-US" sz="1500" dirty="0"/>
          </a:p>
        </p:txBody>
      </p:sp>
      <p:pic>
        <p:nvPicPr>
          <p:cNvPr id="114" name="Image 12" descr="preencoded.png">
            <a:extLst>
              <a:ext uri="{FF2B5EF4-FFF2-40B4-BE49-F238E27FC236}">
                <a16:creationId xmlns:a16="http://schemas.microsoft.com/office/drawing/2014/main" id="{10ADA10B-2229-4CDC-D7C7-203127913C1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285" y="3230564"/>
            <a:ext cx="228600" cy="228600"/>
          </a:xfrm>
          <a:prstGeom prst="rect">
            <a:avLst/>
          </a:prstGeom>
        </p:spPr>
      </p:pic>
      <p:pic>
        <p:nvPicPr>
          <p:cNvPr id="118" name="Image 14" descr="preencoded.png">
            <a:extLst>
              <a:ext uri="{FF2B5EF4-FFF2-40B4-BE49-F238E27FC236}">
                <a16:creationId xmlns:a16="http://schemas.microsoft.com/office/drawing/2014/main" id="{0D8EF530-42DC-F653-5B2D-89864A7D9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2124" y="3691733"/>
            <a:ext cx="228600" cy="304800"/>
          </a:xfrm>
          <a:prstGeom prst="rect">
            <a:avLst/>
          </a:prstGeom>
        </p:spPr>
      </p:pic>
      <p:pic>
        <p:nvPicPr>
          <p:cNvPr id="119" name="Image 19" descr="preencoded.png">
            <a:extLst>
              <a:ext uri="{FF2B5EF4-FFF2-40B4-BE49-F238E27FC236}">
                <a16:creationId xmlns:a16="http://schemas.microsoft.com/office/drawing/2014/main" id="{285DDCD5-1C6D-B013-B5CE-D7ECAB59366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2124" y="4339476"/>
            <a:ext cx="228600" cy="304800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9E33153C-7E49-70E9-3B45-EE02ACC1E8B5}"/>
              </a:ext>
            </a:extLst>
          </p:cNvPr>
          <p:cNvSpPr txBox="1"/>
          <p:nvPr/>
        </p:nvSpPr>
        <p:spPr>
          <a:xfrm>
            <a:off x="1143000" y="3688859"/>
            <a:ext cx="1308371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적용 버전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C7C4E00-FA95-1EAD-74E3-962FC1475923}"/>
              </a:ext>
            </a:extLst>
          </p:cNvPr>
          <p:cNvSpPr txBox="1"/>
          <p:nvPr/>
        </p:nvSpPr>
        <p:spPr>
          <a:xfrm>
            <a:off x="1143000" y="4317739"/>
            <a:ext cx="1484702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미적용 버전</a:t>
            </a:r>
          </a:p>
        </p:txBody>
      </p:sp>
      <p:sp>
        <p:nvSpPr>
          <p:cNvPr id="123" name="Text 14">
            <a:extLst>
              <a:ext uri="{FF2B5EF4-FFF2-40B4-BE49-F238E27FC236}">
                <a16:creationId xmlns:a16="http://schemas.microsoft.com/office/drawing/2014/main" id="{27F8DCD9-E77C-9A89-E5F9-A0F9F133F72A}"/>
              </a:ext>
            </a:extLst>
          </p:cNvPr>
          <p:cNvSpPr/>
          <p:nvPr/>
        </p:nvSpPr>
        <p:spPr>
          <a:xfrm>
            <a:off x="1249153" y="3995397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 제외한 수치형 피처들에 대해 IQR 기반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제거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24" name="Text 14">
            <a:extLst>
              <a:ext uri="{FF2B5EF4-FFF2-40B4-BE49-F238E27FC236}">
                <a16:creationId xmlns:a16="http://schemas.microsoft.com/office/drawing/2014/main" id="{6D26B0E5-4DBD-B605-10F8-33ABB8F91A90}"/>
              </a:ext>
            </a:extLst>
          </p:cNvPr>
          <p:cNvSpPr/>
          <p:nvPr/>
        </p:nvSpPr>
        <p:spPr>
          <a:xfrm>
            <a:off x="1249153" y="4591005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 제거 없이 원본 분포 유지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127" name="Image 2" descr="preencoded.png">
            <a:extLst>
              <a:ext uri="{FF2B5EF4-FFF2-40B4-BE49-F238E27FC236}">
                <a16:creationId xmlns:a16="http://schemas.microsoft.com/office/drawing/2014/main" id="{C5E1D9AE-0145-5424-3EAD-B781E1A94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1074339"/>
            <a:ext cx="4434782" cy="1892240"/>
          </a:xfrm>
          <a:prstGeom prst="rect">
            <a:avLst/>
          </a:prstGeom>
        </p:spPr>
      </p:pic>
      <p:pic>
        <p:nvPicPr>
          <p:cNvPr id="128" name="Image 2" descr="preencoded.png">
            <a:extLst>
              <a:ext uri="{FF2B5EF4-FFF2-40B4-BE49-F238E27FC236}">
                <a16:creationId xmlns:a16="http://schemas.microsoft.com/office/drawing/2014/main" id="{D9E0A1BE-F816-5CA5-9FF3-FAAF17ED9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3145448"/>
            <a:ext cx="4434782" cy="1892240"/>
          </a:xfrm>
          <a:prstGeom prst="rect">
            <a:avLst/>
          </a:prstGeom>
        </p:spPr>
      </p:pic>
      <p:pic>
        <p:nvPicPr>
          <p:cNvPr id="126" name="그림 125">
            <a:extLst>
              <a:ext uri="{FF2B5EF4-FFF2-40B4-BE49-F238E27FC236}">
                <a16:creationId xmlns:a16="http://schemas.microsoft.com/office/drawing/2014/main" id="{105C6BFC-9463-BD1A-9E58-0AB285E309F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67880" y="3707282"/>
            <a:ext cx="3381120" cy="840610"/>
          </a:xfrm>
          <a:prstGeom prst="rect">
            <a:avLst/>
          </a:prstGeom>
        </p:spPr>
      </p:pic>
      <p:pic>
        <p:nvPicPr>
          <p:cNvPr id="129" name="Image 12" descr="preencoded.png">
            <a:extLst>
              <a:ext uri="{FF2B5EF4-FFF2-40B4-BE49-F238E27FC236}">
                <a16:creationId xmlns:a16="http://schemas.microsoft.com/office/drawing/2014/main" id="{348FCE34-376D-7F30-A143-87E7B70498E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130" name="Image 13" descr="preencoded.png">
            <a:extLst>
              <a:ext uri="{FF2B5EF4-FFF2-40B4-BE49-F238E27FC236}">
                <a16:creationId xmlns:a16="http://schemas.microsoft.com/office/drawing/2014/main" id="{F7FE8064-6A9B-8A95-968A-0B14D6097CB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131" name="Image 12" descr="preencoded.png">
            <a:extLst>
              <a:ext uri="{FF2B5EF4-FFF2-40B4-BE49-F238E27FC236}">
                <a16:creationId xmlns:a16="http://schemas.microsoft.com/office/drawing/2014/main" id="{630DD9AF-98FE-478C-3DA8-EF096F13BAE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3263363"/>
            <a:ext cx="238475" cy="317967"/>
          </a:xfrm>
          <a:prstGeom prst="rect">
            <a:avLst/>
          </a:prstGeom>
        </p:spPr>
      </p:pic>
      <p:pic>
        <p:nvPicPr>
          <p:cNvPr id="132" name="Image 13" descr="preencoded.png">
            <a:extLst>
              <a:ext uri="{FF2B5EF4-FFF2-40B4-BE49-F238E27FC236}">
                <a16:creationId xmlns:a16="http://schemas.microsoft.com/office/drawing/2014/main" id="{C1F5AC14-37DD-FC76-811C-64A68979D3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3349370"/>
            <a:ext cx="111288" cy="127186"/>
          </a:xfrm>
          <a:prstGeom prst="rect">
            <a:avLst/>
          </a:prstGeom>
        </p:spPr>
      </p:pic>
      <p:pic>
        <p:nvPicPr>
          <p:cNvPr id="134" name="그림 13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AF202F-8154-0BF7-A80D-3F1B960E35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05099" y="1485900"/>
            <a:ext cx="3505979" cy="133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63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8C9A3-225C-F362-F2B5-BA70312B5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808D912-ED0F-08E4-3CEE-C69DD6A5D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D1AB9D0-775A-560D-72B5-536D1250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1296908-073D-3CFC-D2C3-4510EBC22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5715000" cy="20193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015EB08-102F-BF79-F677-1B40D9AC42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95E13494-D1AF-E369-2A27-18BCFEF48A0C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학습 및 평가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70FFB172-D4A3-DFAA-167A-F416AFEC1E6A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트리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기반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모델  선정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DA8B481B-851B-D444-8E6B-37CEDF050686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6DC50D7-8A74-2B0E-153A-D6F5300816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B6500339-DAC0-7E2A-C631-6FFA63C08918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AF982D-0816-0DDD-F0D0-B52945CDEC41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트리 기반 계열로 통일 → 비선형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임계값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×POI)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자동으로 학습하기 위한 선택하였습니다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최종학습에서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선택 근거를 제공하고 최종 모델의 가능한 많은 과거 데이터를  써서 성능을 끌어올린 뒤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test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 예측 성능을 확인하기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629A016-E2A5-1988-D30F-4FCF71D510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F21DD34-7B2A-8928-9755-C5F655062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198214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ECBFF6E0-6415-87A9-02FD-2D45666DED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E65D3995-878C-A052-98E3-5E90733CCB3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D99102C-5E2E-6C28-136A-AC9DDED5B457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A07B7336-6DD2-EB37-B09D-874F622D10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353" y="1859606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04C8B3AA-096F-3D84-6DE4-489D43CCD121}"/>
              </a:ext>
            </a:extLst>
          </p:cNvPr>
          <p:cNvSpPr/>
          <p:nvPr/>
        </p:nvSpPr>
        <p:spPr>
          <a:xfrm>
            <a:off x="2496607" y="2367606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D43E88DE-BC25-7FB3-FC24-E1D1AB8A38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44864" y="1866900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44FBA2CE-A19E-00EA-8501-060AA4C2E95B}"/>
              </a:ext>
            </a:extLst>
          </p:cNvPr>
          <p:cNvSpPr/>
          <p:nvPr/>
        </p:nvSpPr>
        <p:spPr>
          <a:xfrm>
            <a:off x="4197256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7A133779-D604-47E2-5BDE-61260576AC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784" y="3223914"/>
            <a:ext cx="5362574" cy="1387887"/>
          </a:xfrm>
          <a:prstGeom prst="rect">
            <a:avLst/>
          </a:prstGeom>
        </p:spPr>
      </p:pic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41CBC0D6-087A-091F-8B14-94C76736B4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13" y="3203794"/>
            <a:ext cx="5715000" cy="2019300"/>
          </a:xfrm>
          <a:prstGeom prst="rect">
            <a:avLst/>
          </a:prstGeom>
        </p:spPr>
      </p:pic>
      <p:pic>
        <p:nvPicPr>
          <p:cNvPr id="21" name="Image 10" descr="preencoded.png">
            <a:extLst>
              <a:ext uri="{FF2B5EF4-FFF2-40B4-BE49-F238E27FC236}">
                <a16:creationId xmlns:a16="http://schemas.microsoft.com/office/drawing/2014/main" id="{EBC1D7D3-9EAA-D64F-4487-9F60EC4CA2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7959" y="3352800"/>
            <a:ext cx="190500" cy="190500"/>
          </a:xfrm>
          <a:prstGeom prst="rect">
            <a:avLst/>
          </a:prstGeom>
        </p:spPr>
      </p:pic>
      <p:sp>
        <p:nvSpPr>
          <p:cNvPr id="22" name="Text 1">
            <a:extLst>
              <a:ext uri="{FF2B5EF4-FFF2-40B4-BE49-F238E27FC236}">
                <a16:creationId xmlns:a16="http://schemas.microsoft.com/office/drawing/2014/main" id="{57857DEE-A98A-84E3-D5D0-CEDDCBE130B1}"/>
              </a:ext>
            </a:extLst>
          </p:cNvPr>
          <p:cNvSpPr/>
          <p:nvPr/>
        </p:nvSpPr>
        <p:spPr>
          <a:xfrm>
            <a:off x="876300" y="33147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튜닝</a:t>
            </a:r>
            <a:endParaRPr lang="en-US" sz="1500" dirty="0"/>
          </a:p>
        </p:txBody>
      </p:sp>
      <p:pic>
        <p:nvPicPr>
          <p:cNvPr id="23" name="Image 11" descr="preencoded.png">
            <a:extLst>
              <a:ext uri="{FF2B5EF4-FFF2-40B4-BE49-F238E27FC236}">
                <a16:creationId xmlns:a16="http://schemas.microsoft.com/office/drawing/2014/main" id="{51AE27B2-3FC0-0532-A6B5-F2E1F7B393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3885256"/>
            <a:ext cx="152400" cy="152400"/>
          </a:xfrm>
          <a:prstGeom prst="rect">
            <a:avLst/>
          </a:prstGeom>
        </p:spPr>
      </p:pic>
      <p:pic>
        <p:nvPicPr>
          <p:cNvPr id="24" name="Image 12" descr="preencoded.png">
            <a:extLst>
              <a:ext uri="{FF2B5EF4-FFF2-40B4-BE49-F238E27FC236}">
                <a16:creationId xmlns:a16="http://schemas.microsoft.com/office/drawing/2014/main" id="{973DE8FF-5440-CDF9-B15D-3767EC97AF6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190056"/>
            <a:ext cx="152400" cy="152400"/>
          </a:xfrm>
          <a:prstGeom prst="rect">
            <a:avLst/>
          </a:prstGeom>
        </p:spPr>
      </p:pic>
      <p:pic>
        <p:nvPicPr>
          <p:cNvPr id="25" name="Image 13" descr="preencoded.png">
            <a:extLst>
              <a:ext uri="{FF2B5EF4-FFF2-40B4-BE49-F238E27FC236}">
                <a16:creationId xmlns:a16="http://schemas.microsoft.com/office/drawing/2014/main" id="{1BB1D9EE-F019-33C1-F7DB-D29C06BC00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494856"/>
            <a:ext cx="152400" cy="152400"/>
          </a:xfrm>
          <a:prstGeom prst="rect">
            <a:avLst/>
          </a:prstGeom>
        </p:spPr>
      </p:pic>
      <p:sp>
        <p:nvSpPr>
          <p:cNvPr id="26" name="Text 9">
            <a:extLst>
              <a:ext uri="{FF2B5EF4-FFF2-40B4-BE49-F238E27FC236}">
                <a16:creationId xmlns:a16="http://schemas.microsoft.com/office/drawing/2014/main" id="{CA83E147-CA2B-0CDA-7363-7EE57EAB533F}"/>
              </a:ext>
            </a:extLst>
          </p:cNvPr>
          <p:cNvSpPr/>
          <p:nvPr/>
        </p:nvSpPr>
        <p:spPr>
          <a:xfrm>
            <a:off x="1152947" y="3847156"/>
            <a:ext cx="37919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RandomizedSearchCV를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자동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33DFA057-D617-B550-7733-DAF763AB93E9}"/>
              </a:ext>
            </a:extLst>
          </p:cNvPr>
          <p:cNvSpPr/>
          <p:nvPr/>
        </p:nvSpPr>
        <p:spPr>
          <a:xfrm>
            <a:off x="1152947" y="4151956"/>
            <a:ext cx="318343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튜닝용 샘플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200,000행</a:t>
            </a: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677092B0-D0B5-B756-105D-7A9C1456A8BD}"/>
              </a:ext>
            </a:extLst>
          </p:cNvPr>
          <p:cNvSpPr/>
          <p:nvPr/>
        </p:nvSpPr>
        <p:spPr>
          <a:xfrm>
            <a:off x="1152947" y="4456756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모든 모델에 동일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파이프라인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283AD397-A273-08D1-8D62-79900235FCD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15DAF377-6515-B02A-F997-27F16CEEAAC7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학습 및 재 학습 과정</a:t>
            </a:r>
            <a:endParaRPr lang="en-US" sz="1500" dirty="0"/>
          </a:p>
        </p:txBody>
      </p:sp>
      <p:pic>
        <p:nvPicPr>
          <p:cNvPr id="47" name="Image 16" descr="preencoded.png">
            <a:extLst>
              <a:ext uri="{FF2B5EF4-FFF2-40B4-BE49-F238E27FC236}">
                <a16:creationId xmlns:a16="http://schemas.microsoft.com/office/drawing/2014/main" id="{8DFF8D7E-0355-7D6B-7C1E-6FD7DDC177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9534" y="1728558"/>
            <a:ext cx="1210717" cy="676275"/>
          </a:xfrm>
          <a:prstGeom prst="rect">
            <a:avLst/>
          </a:prstGeom>
        </p:spPr>
      </p:pic>
      <p:pic>
        <p:nvPicPr>
          <p:cNvPr id="48" name="Image 17" descr="preencoded.png">
            <a:extLst>
              <a:ext uri="{FF2B5EF4-FFF2-40B4-BE49-F238E27FC236}">
                <a16:creationId xmlns:a16="http://schemas.microsoft.com/office/drawing/2014/main" id="{DD3DF2AD-F271-0856-3757-51413C85BF2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08143" y="1871433"/>
            <a:ext cx="133350" cy="152400"/>
          </a:xfrm>
          <a:prstGeom prst="rect">
            <a:avLst/>
          </a:prstGeom>
        </p:spPr>
      </p:pic>
      <p:pic>
        <p:nvPicPr>
          <p:cNvPr id="49" name="Image 19" descr="preencoded.png">
            <a:extLst>
              <a:ext uri="{FF2B5EF4-FFF2-40B4-BE49-F238E27FC236}">
                <a16:creationId xmlns:a16="http://schemas.microsoft.com/office/drawing/2014/main" id="{84BEAB7D-25CC-E12E-32F8-8FEB7E8AD31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2143" y="1728558"/>
            <a:ext cx="1210717" cy="676275"/>
          </a:xfrm>
          <a:prstGeom prst="rect">
            <a:avLst/>
          </a:prstGeom>
        </p:spPr>
      </p:pic>
      <p:pic>
        <p:nvPicPr>
          <p:cNvPr id="50" name="Image 20" descr="preencoded.png">
            <a:extLst>
              <a:ext uri="{FF2B5EF4-FFF2-40B4-BE49-F238E27FC236}">
                <a16:creationId xmlns:a16="http://schemas.microsoft.com/office/drawing/2014/main" id="{2762ECF7-E7E5-ED5C-763C-261C615AD23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61227" y="1871433"/>
            <a:ext cx="1524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90AB7DEE-D42B-3537-676C-37AC6C3B28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0988" y="1728558"/>
            <a:ext cx="1210717" cy="676275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36C5CB49-3AC9-A465-46F4-48150EF4EDD6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40072" y="1871433"/>
            <a:ext cx="152400" cy="152400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D3B8E73C-DF51-47B3-C5A7-163BDFF45C06}"/>
              </a:ext>
            </a:extLst>
          </p:cNvPr>
          <p:cNvSpPr/>
          <p:nvPr/>
        </p:nvSpPr>
        <p:spPr>
          <a:xfrm>
            <a:off x="6783834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튜닝</a:t>
            </a:r>
            <a:endParaRPr lang="en-US" sz="1050" dirty="0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4EDC4950-1811-F70C-C47D-05A56AF8D467}"/>
              </a:ext>
            </a:extLst>
          </p:cNvPr>
          <p:cNvSpPr/>
          <p:nvPr/>
        </p:nvSpPr>
        <p:spPr>
          <a:xfrm>
            <a:off x="8546443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재학습</a:t>
            </a:r>
            <a:endParaRPr lang="en-US" sz="105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D1D38450-300A-B4D8-0914-3DF4F5902792}"/>
              </a:ext>
            </a:extLst>
          </p:cNvPr>
          <p:cNvSpPr/>
          <p:nvPr/>
        </p:nvSpPr>
        <p:spPr>
          <a:xfrm>
            <a:off x="10225288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평가</a:t>
            </a:r>
            <a:endParaRPr lang="en-US" sz="105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C465451E-76DD-95BA-B32C-7D4F2AA0E58B}"/>
              </a:ext>
            </a:extLst>
          </p:cNvPr>
          <p:cNvSpPr/>
          <p:nvPr/>
        </p:nvSpPr>
        <p:spPr>
          <a:xfrm>
            <a:off x="6477000" y="2493733"/>
            <a:ext cx="1565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9B1F2EA7-462C-9BE6-DAD1-18A6F33E01D5}"/>
              </a:ext>
            </a:extLst>
          </p:cNvPr>
          <p:cNvSpPr/>
          <p:nvPr/>
        </p:nvSpPr>
        <p:spPr>
          <a:xfrm>
            <a:off x="8385114" y="2471508"/>
            <a:ext cx="13049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train+val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488FEAEE-A610-1258-6A78-41006A59F1D1}"/>
              </a:ext>
            </a:extLst>
          </p:cNvPr>
          <p:cNvSpPr/>
          <p:nvPr/>
        </p:nvSpPr>
        <p:spPr>
          <a:xfrm>
            <a:off x="10068529" y="2493055"/>
            <a:ext cx="13049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13229039-B4E1-CE74-4C59-7E2A9C830D9B}"/>
              </a:ext>
            </a:extLst>
          </p:cNvPr>
          <p:cNvCxnSpPr>
            <a:stCxn id="47" idx="3"/>
            <a:endCxn id="49" idx="1"/>
          </p:cNvCxnSpPr>
          <p:nvPr/>
        </p:nvCxnSpPr>
        <p:spPr>
          <a:xfrm>
            <a:off x="7880251" y="2066696"/>
            <a:ext cx="5518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1F622E39-8449-F233-5D8A-5FF083209C52}"/>
              </a:ext>
            </a:extLst>
          </p:cNvPr>
          <p:cNvCxnSpPr>
            <a:stCxn id="49" idx="3"/>
            <a:endCxn id="51" idx="1"/>
          </p:cNvCxnSpPr>
          <p:nvPr/>
        </p:nvCxnSpPr>
        <p:spPr>
          <a:xfrm>
            <a:off x="9642860" y="2066696"/>
            <a:ext cx="4681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4D312A24-6D7D-FD3D-45EE-A78C6ECF12A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8925" y="3458519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8B469E52-1133-C3E0-B006-5677EA92EBA8}"/>
              </a:ext>
            </a:extLst>
          </p:cNvPr>
          <p:cNvSpPr/>
          <p:nvPr/>
        </p:nvSpPr>
        <p:spPr>
          <a:xfrm>
            <a:off x="7109141" y="3457047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BC335521-612D-8935-39F4-914773284C7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5352" y="3784945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F62D48E6-8208-333F-D721-AE0009FC1771}"/>
              </a:ext>
            </a:extLst>
          </p:cNvPr>
          <p:cNvSpPr/>
          <p:nvPr/>
        </p:nvSpPr>
        <p:spPr>
          <a:xfrm>
            <a:off x="6839652" y="3899245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3E452FE7-B1F2-33FE-9B93-B5F5DF1F90DF}"/>
              </a:ext>
            </a:extLst>
          </p:cNvPr>
          <p:cNvSpPr/>
          <p:nvPr/>
        </p:nvSpPr>
        <p:spPr>
          <a:xfrm>
            <a:off x="6737823" y="4127845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0" name="Image 27" descr="preencoded.png">
            <a:extLst>
              <a:ext uri="{FF2B5EF4-FFF2-40B4-BE49-F238E27FC236}">
                <a16:creationId xmlns:a16="http://schemas.microsoft.com/office/drawing/2014/main" id="{806F50EA-6D20-D9DA-35EA-34A5DB8BF3F4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530141" y="3784945"/>
            <a:ext cx="1113532" cy="647700"/>
          </a:xfrm>
          <a:prstGeom prst="rect">
            <a:avLst/>
          </a:prstGeom>
        </p:spPr>
      </p:pic>
      <p:sp>
        <p:nvSpPr>
          <p:cNvPr id="71" name="Text 23">
            <a:extLst>
              <a:ext uri="{FF2B5EF4-FFF2-40B4-BE49-F238E27FC236}">
                <a16:creationId xmlns:a16="http://schemas.microsoft.com/office/drawing/2014/main" id="{81DCF148-DAE8-834A-CD5B-E92463EFB18B}"/>
              </a:ext>
            </a:extLst>
          </p:cNvPr>
          <p:cNvSpPr/>
          <p:nvPr/>
        </p:nvSpPr>
        <p:spPr>
          <a:xfrm>
            <a:off x="8644441" y="3899245"/>
            <a:ext cx="88493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MAE</a:t>
            </a:r>
            <a:endParaRPr lang="en-US" sz="1200" dirty="0"/>
          </a:p>
        </p:txBody>
      </p:sp>
      <p:sp>
        <p:nvSpPr>
          <p:cNvPr id="73" name="Text 24">
            <a:extLst>
              <a:ext uri="{FF2B5EF4-FFF2-40B4-BE49-F238E27FC236}">
                <a16:creationId xmlns:a16="http://schemas.microsoft.com/office/drawing/2014/main" id="{259B43DA-5CC7-6706-35A4-ADF7B4F3CD02}"/>
              </a:ext>
            </a:extLst>
          </p:cNvPr>
          <p:cNvSpPr/>
          <p:nvPr/>
        </p:nvSpPr>
        <p:spPr>
          <a:xfrm>
            <a:off x="8555947" y="4127845"/>
            <a:ext cx="106191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절대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53F1A6BB-B40F-4656-9AE7-8B9C475A4C4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150780" y="3797645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B27BADC5-32BE-B0DA-150C-DEC8794C7141}"/>
              </a:ext>
            </a:extLst>
          </p:cNvPr>
          <p:cNvSpPr/>
          <p:nvPr/>
        </p:nvSpPr>
        <p:spPr>
          <a:xfrm>
            <a:off x="10265080" y="3911945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A654FEF-9805-D12F-1A37-61D90E54CC66}"/>
              </a:ext>
            </a:extLst>
          </p:cNvPr>
          <p:cNvSpPr/>
          <p:nvPr/>
        </p:nvSpPr>
        <p:spPr>
          <a:xfrm>
            <a:off x="10207498" y="4140545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pic>
        <p:nvPicPr>
          <p:cNvPr id="85" name="Image 2" descr="preencoded.png">
            <a:extLst>
              <a:ext uri="{FF2B5EF4-FFF2-40B4-BE49-F238E27FC236}">
                <a16:creationId xmlns:a16="http://schemas.microsoft.com/office/drawing/2014/main" id="{73D96EFB-F3F2-C9E1-B309-9CFD6BF57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9457" y="4747727"/>
            <a:ext cx="5362574" cy="533032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01703D2F-C184-1284-998E-989D097120F6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69534" y="4952809"/>
            <a:ext cx="190500" cy="190500"/>
          </a:xfrm>
          <a:prstGeom prst="rect">
            <a:avLst/>
          </a:prstGeom>
        </p:spPr>
      </p:pic>
      <p:sp>
        <p:nvSpPr>
          <p:cNvPr id="84" name="Text 1">
            <a:extLst>
              <a:ext uri="{FF2B5EF4-FFF2-40B4-BE49-F238E27FC236}">
                <a16:creationId xmlns:a16="http://schemas.microsoft.com/office/drawing/2014/main" id="{06C875A2-F379-DE23-8BD7-175A80CED255}"/>
              </a:ext>
            </a:extLst>
          </p:cNvPr>
          <p:cNvSpPr/>
          <p:nvPr/>
        </p:nvSpPr>
        <p:spPr>
          <a:xfrm>
            <a:off x="7109141" y="4880141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산출물 관리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로그 및 모델 저장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 재현성 보장 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02835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7C2F5-1CA5-2E97-244E-E8D574B4F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C5DAF2B-3A47-5D09-0EAD-14A7B6EF3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B103397-3AE6-F624-E494-7CCA62038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8C14CCF5-E1A1-3F63-DD7C-E58BC85B78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2970993" cy="49911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712D10B2-2485-0228-92E8-8457139F8A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B18786C1-13C1-715B-31DD-017BFB05A0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B0ED48B4-0C1A-7B24-E9C2-2E18B4737BF6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 학습 및 평가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C787C5B-33E4-2159-2BB8-DAA07B78AADD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1C63C13-2921-76D6-6945-C1F98E516CF4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1BC0462-E5C5-1F67-43D8-AAEA614837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277" y="1652155"/>
            <a:ext cx="2089396" cy="4260550"/>
          </a:xfrm>
          <a:prstGeom prst="rect">
            <a:avLst/>
          </a:prstGeom>
        </p:spPr>
      </p:pic>
      <p:pic>
        <p:nvPicPr>
          <p:cNvPr id="43" name="Image 2" descr="preencoded.png">
            <a:extLst>
              <a:ext uri="{FF2B5EF4-FFF2-40B4-BE49-F238E27FC236}">
                <a16:creationId xmlns:a16="http://schemas.microsoft.com/office/drawing/2014/main" id="{7BA494E5-49F7-1CF6-4A71-2540D5671E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1214" y="1066800"/>
            <a:ext cx="2970993" cy="4991100"/>
          </a:xfrm>
          <a:prstGeom prst="rect">
            <a:avLst/>
          </a:prstGeom>
        </p:spPr>
      </p:pic>
      <p:pic>
        <p:nvPicPr>
          <p:cNvPr id="44" name="Image 3" descr="preencoded.png">
            <a:extLst>
              <a:ext uri="{FF2B5EF4-FFF2-40B4-BE49-F238E27FC236}">
                <a16:creationId xmlns:a16="http://schemas.microsoft.com/office/drawing/2014/main" id="{ACAE58BC-9803-7EF3-E3B1-577C27E291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0933" y="1295400"/>
            <a:ext cx="190500" cy="190500"/>
          </a:xfrm>
          <a:prstGeom prst="rect">
            <a:avLst/>
          </a:prstGeom>
        </p:spPr>
      </p:pic>
      <p:sp>
        <p:nvSpPr>
          <p:cNvPr id="45" name="Text 1">
            <a:extLst>
              <a:ext uri="{FF2B5EF4-FFF2-40B4-BE49-F238E27FC236}">
                <a16:creationId xmlns:a16="http://schemas.microsoft.com/office/drawing/2014/main" id="{6A54F9DD-E705-9954-E507-8DA230209D29}"/>
              </a:ext>
            </a:extLst>
          </p:cNvPr>
          <p:cNvSpPr/>
          <p:nvPr/>
        </p:nvSpPr>
        <p:spPr>
          <a:xfrm>
            <a:off x="4375733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47" name="그림 46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0BF70E-FF84-74B2-3E9B-8D4DB1F4427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37587"/>
          <a:stretch>
            <a:fillRect/>
          </a:stretch>
        </p:blipFill>
        <p:spPr>
          <a:xfrm>
            <a:off x="4301380" y="1652155"/>
            <a:ext cx="2090769" cy="4277386"/>
          </a:xfrm>
          <a:prstGeom prst="rect">
            <a:avLst/>
          </a:prstGeom>
        </p:spPr>
      </p:pic>
      <p:pic>
        <p:nvPicPr>
          <p:cNvPr id="48" name="Image 6" descr="preencoded.png">
            <a:extLst>
              <a:ext uri="{FF2B5EF4-FFF2-40B4-BE49-F238E27FC236}">
                <a16:creationId xmlns:a16="http://schemas.microsoft.com/office/drawing/2014/main" id="{DB626F77-EF11-3531-1CA9-D9CD0E3031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0380" y="1066801"/>
            <a:ext cx="4480620" cy="1863436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2CF6C229-30C8-A9E1-33A0-A581574BC9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6D5D3B26-CB9A-D821-35E2-14FB4EC6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20880" y="1676400"/>
            <a:ext cx="4099620" cy="937176"/>
          </a:xfrm>
          <a:prstGeom prst="rect">
            <a:avLst/>
          </a:prstGeom>
        </p:spPr>
      </p:pic>
      <p:pic>
        <p:nvPicPr>
          <p:cNvPr id="51" name="Image 9" descr="preencoded.png">
            <a:extLst>
              <a:ext uri="{FF2B5EF4-FFF2-40B4-BE49-F238E27FC236}">
                <a16:creationId xmlns:a16="http://schemas.microsoft.com/office/drawing/2014/main" id="{978A19C1-5714-5DFA-1A9E-1A1D45B506A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35180" y="1838325"/>
            <a:ext cx="190500" cy="171450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1D47048D-5164-C2BF-8948-8ECCE43D8BB4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1500" dirty="0"/>
          </a:p>
        </p:txBody>
      </p:sp>
      <p:sp>
        <p:nvSpPr>
          <p:cNvPr id="56" name="Text 4">
            <a:extLst>
              <a:ext uri="{FF2B5EF4-FFF2-40B4-BE49-F238E27FC236}">
                <a16:creationId xmlns:a16="http://schemas.microsoft.com/office/drawing/2014/main" id="{E64AF370-223F-D678-F9F7-F9E8700F4E71}"/>
              </a:ext>
            </a:extLst>
          </p:cNvPr>
          <p:cNvSpPr/>
          <p:nvPr/>
        </p:nvSpPr>
        <p:spPr>
          <a:xfrm>
            <a:off x="7901880" y="1790700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 모델: LightGBM</a:t>
            </a:r>
            <a:endParaRPr lang="en-US" sz="135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9CA643C9-D237-92A3-CED4-126F8B5AE0BE}"/>
              </a:ext>
            </a:extLst>
          </p:cNvPr>
          <p:cNvSpPr/>
          <p:nvPr/>
        </p:nvSpPr>
        <p:spPr>
          <a:xfrm>
            <a:off x="7635180" y="2095500"/>
            <a:ext cx="464522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WDC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모델과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Seoul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모델 모두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LGBM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모델의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RMSE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값과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R^2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값이 가장 낮았음</a:t>
            </a:r>
            <a:endParaRPr lang="en-US" sz="120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2E01AB75-8893-AC57-49DB-D53F9CA975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0380" y="3011626"/>
            <a:ext cx="4480620" cy="3046274"/>
          </a:xfrm>
          <a:prstGeom prst="rect">
            <a:avLst/>
          </a:prstGeom>
        </p:spPr>
      </p:pic>
      <p:pic>
        <p:nvPicPr>
          <p:cNvPr id="65" name="Image 7" descr="preencoded.png">
            <a:extLst>
              <a:ext uri="{FF2B5EF4-FFF2-40B4-BE49-F238E27FC236}">
                <a16:creationId xmlns:a16="http://schemas.microsoft.com/office/drawing/2014/main" id="{8E3EFEB8-9847-2BE7-0776-06326C599F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60705" y="3240226"/>
            <a:ext cx="142875" cy="190500"/>
          </a:xfrm>
          <a:prstGeom prst="rect">
            <a:avLst/>
          </a:prstGeom>
        </p:spPr>
      </p:pic>
      <p:sp>
        <p:nvSpPr>
          <p:cNvPr id="68" name="Text 3">
            <a:extLst>
              <a:ext uri="{FF2B5EF4-FFF2-40B4-BE49-F238E27FC236}">
                <a16:creationId xmlns:a16="http://schemas.microsoft.com/office/drawing/2014/main" id="{7E5493A7-BF40-0C11-5FF1-D12B1DA3FED9}"/>
              </a:ext>
            </a:extLst>
          </p:cNvPr>
          <p:cNvSpPr/>
          <p:nvPr/>
        </p:nvSpPr>
        <p:spPr>
          <a:xfrm>
            <a:off x="7778055" y="3202126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VS </a:t>
            </a:r>
            <a:r>
              <a:rPr lang="en-US" altLang="ko-KR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No_IQR</a:t>
            </a:r>
            <a:endParaRPr lang="en-US" sz="1500" dirty="0"/>
          </a:p>
        </p:txBody>
      </p:sp>
      <p:pic>
        <p:nvPicPr>
          <p:cNvPr id="71" name="Image 10" descr="preencoded.png">
            <a:extLst>
              <a:ext uri="{FF2B5EF4-FFF2-40B4-BE49-F238E27FC236}">
                <a16:creationId xmlns:a16="http://schemas.microsoft.com/office/drawing/2014/main" id="{7ED7FCA6-0859-E700-80F0-5A33698169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20880" y="3554552"/>
            <a:ext cx="4099620" cy="952500"/>
          </a:xfrm>
          <a:prstGeom prst="rect">
            <a:avLst/>
          </a:prstGeom>
        </p:spPr>
      </p:pic>
      <p:pic>
        <p:nvPicPr>
          <p:cNvPr id="73" name="Image 10" descr="preencoded.png">
            <a:extLst>
              <a:ext uri="{FF2B5EF4-FFF2-40B4-BE49-F238E27FC236}">
                <a16:creationId xmlns:a16="http://schemas.microsoft.com/office/drawing/2014/main" id="{B7565064-1F17-AE9E-4B33-FEAE628B30A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20880" y="4668980"/>
            <a:ext cx="4099620" cy="1230456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0BFD9600-BFA5-45A2-1E6B-CCAF147BA86F}"/>
              </a:ext>
            </a:extLst>
          </p:cNvPr>
          <p:cNvSpPr txBox="1"/>
          <p:nvPr/>
        </p:nvSpPr>
        <p:spPr>
          <a:xfrm>
            <a:off x="7560705" y="3566627"/>
            <a:ext cx="6141026" cy="76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Seoul — IQR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적용이 더 좋음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 품질 높음 →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IQR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로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이상값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정리 효과적</a:t>
            </a:r>
          </a:p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LightGBM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기준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RMSE 6.007 → 7.481 (No‑IQR)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41EA1C1-5FCC-C3E0-0B68-94DC561EB774}"/>
              </a:ext>
            </a:extLst>
          </p:cNvPr>
          <p:cNvSpPr txBox="1"/>
          <p:nvPr/>
        </p:nvSpPr>
        <p:spPr>
          <a:xfrm>
            <a:off x="7520880" y="4678461"/>
            <a:ext cx="3871843" cy="1247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Washington DC — No‑IQR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 더 좋음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원본 데이터의 분포가 매우 넓고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노이즈도 다양</a:t>
            </a:r>
          </a:p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제거로 약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84%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 손실 발생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 다양성 감소 → 모델 성능 하락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결과적으로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No‑IQR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모델이 모든 지표에서 우세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762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7F8B-4109-AD55-F4E4-F6D91C1C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7CD149F-BA9B-7304-99B6-A0CBC688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A67FA00-424E-74E9-5A2F-ACEEF3120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21E5BA0-AA7F-253E-1C94-430A450780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5715000" cy="20193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FF2B5A99-FBEA-00E8-43D9-DF5F5A0D2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298D105-F093-164C-84E4-4D71A7B4142D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D3A8D94-FAB3-267C-3137-F0470C2FA466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트리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기반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모델  선정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3BEC91F-B7D4-B5B8-E1BA-AC85EA4CFF62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3B4987B-150D-8802-A57D-CAF622884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3991E6D1-2A68-7F52-6930-C3ED99EEE5BC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E93178-CD6B-75B6-48E7-F3BC7E14ADA5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트리 기반 계열로 통일 → 비선형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임계값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×POI)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자동으로 학습하기 위한 선택하였습니다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최종학습에서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선택 근거를 제공하고 최종 모델의 가능한 많은 과거 데이터를  써서 성능을 끌어올린 뒤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test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 예측 성능을 확인하기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9704BDA3-12AA-276A-172C-EDBE596DF2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7A9AD408-88E1-D6A8-D717-C61BDC2592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198214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9347E0E7-2834-0E9B-29A9-CAF115F2A1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05EBCCB-9790-8101-3A91-D101CFDF9A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9369A6D-F920-A3F1-C45F-E9F69B45A8A9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C9EA8F57-5480-4C4A-0A81-744936CD236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353" y="1859606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B950A021-7B08-B105-6231-43B61DFD3E6B}"/>
              </a:ext>
            </a:extLst>
          </p:cNvPr>
          <p:cNvSpPr/>
          <p:nvPr/>
        </p:nvSpPr>
        <p:spPr>
          <a:xfrm>
            <a:off x="2496607" y="2367606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0EFF6643-27BC-E44A-5681-F7F9668564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44864" y="1866900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F811E152-0D2F-86D8-6F84-F0B5A6F0BF75}"/>
              </a:ext>
            </a:extLst>
          </p:cNvPr>
          <p:cNvSpPr/>
          <p:nvPr/>
        </p:nvSpPr>
        <p:spPr>
          <a:xfrm>
            <a:off x="4197256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4565B15B-152C-761B-8532-FCB39A71FE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784" y="3223914"/>
            <a:ext cx="5362574" cy="1387887"/>
          </a:xfrm>
          <a:prstGeom prst="rect">
            <a:avLst/>
          </a:prstGeom>
        </p:spPr>
      </p:pic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88B3F7E5-EEE9-94A2-7CB6-8E1C581C1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13" y="3203794"/>
            <a:ext cx="5715000" cy="2019300"/>
          </a:xfrm>
          <a:prstGeom prst="rect">
            <a:avLst/>
          </a:prstGeom>
        </p:spPr>
      </p:pic>
      <p:pic>
        <p:nvPicPr>
          <p:cNvPr id="21" name="Image 10" descr="preencoded.png">
            <a:extLst>
              <a:ext uri="{FF2B5EF4-FFF2-40B4-BE49-F238E27FC236}">
                <a16:creationId xmlns:a16="http://schemas.microsoft.com/office/drawing/2014/main" id="{07BCE868-ED4B-0644-ADF6-219F10D38B0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7959" y="3352800"/>
            <a:ext cx="190500" cy="190500"/>
          </a:xfrm>
          <a:prstGeom prst="rect">
            <a:avLst/>
          </a:prstGeom>
        </p:spPr>
      </p:pic>
      <p:sp>
        <p:nvSpPr>
          <p:cNvPr id="22" name="Text 1">
            <a:extLst>
              <a:ext uri="{FF2B5EF4-FFF2-40B4-BE49-F238E27FC236}">
                <a16:creationId xmlns:a16="http://schemas.microsoft.com/office/drawing/2014/main" id="{1281FBC2-5F72-2BF6-4A44-738D89FCA82E}"/>
              </a:ext>
            </a:extLst>
          </p:cNvPr>
          <p:cNvSpPr/>
          <p:nvPr/>
        </p:nvSpPr>
        <p:spPr>
          <a:xfrm>
            <a:off x="876300" y="33147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튜닝</a:t>
            </a:r>
            <a:endParaRPr lang="en-US" sz="1500" dirty="0"/>
          </a:p>
        </p:txBody>
      </p:sp>
      <p:pic>
        <p:nvPicPr>
          <p:cNvPr id="23" name="Image 11" descr="preencoded.png">
            <a:extLst>
              <a:ext uri="{FF2B5EF4-FFF2-40B4-BE49-F238E27FC236}">
                <a16:creationId xmlns:a16="http://schemas.microsoft.com/office/drawing/2014/main" id="{B68B0E48-8120-4093-3F0C-216F5C36EF9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3885256"/>
            <a:ext cx="152400" cy="152400"/>
          </a:xfrm>
          <a:prstGeom prst="rect">
            <a:avLst/>
          </a:prstGeom>
        </p:spPr>
      </p:pic>
      <p:pic>
        <p:nvPicPr>
          <p:cNvPr id="24" name="Image 12" descr="preencoded.png">
            <a:extLst>
              <a:ext uri="{FF2B5EF4-FFF2-40B4-BE49-F238E27FC236}">
                <a16:creationId xmlns:a16="http://schemas.microsoft.com/office/drawing/2014/main" id="{82AAD688-5D76-2732-30B9-2C44F889389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190056"/>
            <a:ext cx="152400" cy="152400"/>
          </a:xfrm>
          <a:prstGeom prst="rect">
            <a:avLst/>
          </a:prstGeom>
        </p:spPr>
      </p:pic>
      <p:pic>
        <p:nvPicPr>
          <p:cNvPr id="25" name="Image 13" descr="preencoded.png">
            <a:extLst>
              <a:ext uri="{FF2B5EF4-FFF2-40B4-BE49-F238E27FC236}">
                <a16:creationId xmlns:a16="http://schemas.microsoft.com/office/drawing/2014/main" id="{9CB0280E-CCDD-BFD0-16D6-7221044B752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494856"/>
            <a:ext cx="152400" cy="152400"/>
          </a:xfrm>
          <a:prstGeom prst="rect">
            <a:avLst/>
          </a:prstGeom>
        </p:spPr>
      </p:pic>
      <p:sp>
        <p:nvSpPr>
          <p:cNvPr id="26" name="Text 9">
            <a:extLst>
              <a:ext uri="{FF2B5EF4-FFF2-40B4-BE49-F238E27FC236}">
                <a16:creationId xmlns:a16="http://schemas.microsoft.com/office/drawing/2014/main" id="{4F665ECC-8E45-8DC4-E89A-0345B49E8CA5}"/>
              </a:ext>
            </a:extLst>
          </p:cNvPr>
          <p:cNvSpPr/>
          <p:nvPr/>
        </p:nvSpPr>
        <p:spPr>
          <a:xfrm>
            <a:off x="1152947" y="3847156"/>
            <a:ext cx="37919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RandomizedSearchCV를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자동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301B9141-B9E1-9401-3295-2C7C4A688896}"/>
              </a:ext>
            </a:extLst>
          </p:cNvPr>
          <p:cNvSpPr/>
          <p:nvPr/>
        </p:nvSpPr>
        <p:spPr>
          <a:xfrm>
            <a:off x="1152947" y="4151956"/>
            <a:ext cx="318343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튜닝용 샘플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200,000행</a:t>
            </a: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2D653584-61A9-CCFF-7B7B-AB15B9F0E98F}"/>
              </a:ext>
            </a:extLst>
          </p:cNvPr>
          <p:cNvSpPr/>
          <p:nvPr/>
        </p:nvSpPr>
        <p:spPr>
          <a:xfrm>
            <a:off x="1152947" y="4456756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모든 모델에 동일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파이프라인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59F84461-74C1-9445-FFCD-EC0FB7566A3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50CB357E-6DA3-0997-F995-585E96C1BBB8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학습 및 재 학습 과정</a:t>
            </a:r>
            <a:endParaRPr lang="en-US" sz="1500" dirty="0"/>
          </a:p>
        </p:txBody>
      </p:sp>
      <p:pic>
        <p:nvPicPr>
          <p:cNvPr id="47" name="Image 16" descr="preencoded.png">
            <a:extLst>
              <a:ext uri="{FF2B5EF4-FFF2-40B4-BE49-F238E27FC236}">
                <a16:creationId xmlns:a16="http://schemas.microsoft.com/office/drawing/2014/main" id="{3526EBD0-B95D-9101-B37B-BAA18D5DEAA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9534" y="1728558"/>
            <a:ext cx="1210717" cy="676275"/>
          </a:xfrm>
          <a:prstGeom prst="rect">
            <a:avLst/>
          </a:prstGeom>
        </p:spPr>
      </p:pic>
      <p:pic>
        <p:nvPicPr>
          <p:cNvPr id="48" name="Image 17" descr="preencoded.png">
            <a:extLst>
              <a:ext uri="{FF2B5EF4-FFF2-40B4-BE49-F238E27FC236}">
                <a16:creationId xmlns:a16="http://schemas.microsoft.com/office/drawing/2014/main" id="{5B21CB54-1B0E-7034-883B-6D1AA944247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08143" y="1871433"/>
            <a:ext cx="133350" cy="152400"/>
          </a:xfrm>
          <a:prstGeom prst="rect">
            <a:avLst/>
          </a:prstGeom>
        </p:spPr>
      </p:pic>
      <p:pic>
        <p:nvPicPr>
          <p:cNvPr id="49" name="Image 19" descr="preencoded.png">
            <a:extLst>
              <a:ext uri="{FF2B5EF4-FFF2-40B4-BE49-F238E27FC236}">
                <a16:creationId xmlns:a16="http://schemas.microsoft.com/office/drawing/2014/main" id="{297C139E-2B71-9B61-3791-826DF856202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2143" y="1728558"/>
            <a:ext cx="1210717" cy="676275"/>
          </a:xfrm>
          <a:prstGeom prst="rect">
            <a:avLst/>
          </a:prstGeom>
        </p:spPr>
      </p:pic>
      <p:pic>
        <p:nvPicPr>
          <p:cNvPr id="50" name="Image 20" descr="preencoded.png">
            <a:extLst>
              <a:ext uri="{FF2B5EF4-FFF2-40B4-BE49-F238E27FC236}">
                <a16:creationId xmlns:a16="http://schemas.microsoft.com/office/drawing/2014/main" id="{60CA5770-8001-F2E1-59CE-B7AE9CC099C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61227" y="1871433"/>
            <a:ext cx="1524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75C5BC20-1E22-CB2C-32CE-C75BFA8A3A0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0988" y="1728558"/>
            <a:ext cx="1210717" cy="676275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04F7524E-2ABB-1EB9-E10B-8DBA0FD96EA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40072" y="1871433"/>
            <a:ext cx="152400" cy="152400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A87C7AA0-141C-B75D-AD32-3FA8600B6805}"/>
              </a:ext>
            </a:extLst>
          </p:cNvPr>
          <p:cNvSpPr/>
          <p:nvPr/>
        </p:nvSpPr>
        <p:spPr>
          <a:xfrm>
            <a:off x="6783834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튜닝</a:t>
            </a:r>
            <a:endParaRPr lang="en-US" sz="1050" dirty="0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2FC82DA8-2600-B1BC-BBDC-EDF39A1EFA9D}"/>
              </a:ext>
            </a:extLst>
          </p:cNvPr>
          <p:cNvSpPr/>
          <p:nvPr/>
        </p:nvSpPr>
        <p:spPr>
          <a:xfrm>
            <a:off x="8546443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재학습</a:t>
            </a:r>
            <a:endParaRPr lang="en-US" sz="105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8D1AF6B8-AEA2-8387-EDCB-F6C86C25F37B}"/>
              </a:ext>
            </a:extLst>
          </p:cNvPr>
          <p:cNvSpPr/>
          <p:nvPr/>
        </p:nvSpPr>
        <p:spPr>
          <a:xfrm>
            <a:off x="10225288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평가</a:t>
            </a:r>
            <a:endParaRPr lang="en-US" sz="105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7012B372-8C58-928A-8CB8-BAEB8E054643}"/>
              </a:ext>
            </a:extLst>
          </p:cNvPr>
          <p:cNvSpPr/>
          <p:nvPr/>
        </p:nvSpPr>
        <p:spPr>
          <a:xfrm>
            <a:off x="6477000" y="2493733"/>
            <a:ext cx="1565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92C93647-143C-D426-47E9-D4942BB2DF11}"/>
              </a:ext>
            </a:extLst>
          </p:cNvPr>
          <p:cNvSpPr/>
          <p:nvPr/>
        </p:nvSpPr>
        <p:spPr>
          <a:xfrm>
            <a:off x="8385114" y="2471508"/>
            <a:ext cx="13049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train+val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8864DE02-E84A-F052-2043-9F950911BC76}"/>
              </a:ext>
            </a:extLst>
          </p:cNvPr>
          <p:cNvSpPr/>
          <p:nvPr/>
        </p:nvSpPr>
        <p:spPr>
          <a:xfrm>
            <a:off x="10068529" y="2493055"/>
            <a:ext cx="13049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3B576FD1-A965-6E01-9548-4B3503298076}"/>
              </a:ext>
            </a:extLst>
          </p:cNvPr>
          <p:cNvCxnSpPr>
            <a:stCxn id="47" idx="3"/>
            <a:endCxn id="49" idx="1"/>
          </p:cNvCxnSpPr>
          <p:nvPr/>
        </p:nvCxnSpPr>
        <p:spPr>
          <a:xfrm>
            <a:off x="7880251" y="2066696"/>
            <a:ext cx="5518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573C4A1-1F27-7696-BB31-CEC503E691D7}"/>
              </a:ext>
            </a:extLst>
          </p:cNvPr>
          <p:cNvCxnSpPr>
            <a:stCxn id="49" idx="3"/>
            <a:endCxn id="51" idx="1"/>
          </p:cNvCxnSpPr>
          <p:nvPr/>
        </p:nvCxnSpPr>
        <p:spPr>
          <a:xfrm>
            <a:off x="9642860" y="2066696"/>
            <a:ext cx="4681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752881CC-95A3-C1E6-CCFB-2F55E2E89E5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8925" y="3458519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F4F0B0E7-D59E-BA24-E3E1-3FA8E3B83B5F}"/>
              </a:ext>
            </a:extLst>
          </p:cNvPr>
          <p:cNvSpPr/>
          <p:nvPr/>
        </p:nvSpPr>
        <p:spPr>
          <a:xfrm>
            <a:off x="7109141" y="3457047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3E373EB4-53EF-EE7E-1B4B-65C2D8C7C5E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5352" y="3784945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C70B0A2A-17D4-1E8C-C6F2-1834CE14B81F}"/>
              </a:ext>
            </a:extLst>
          </p:cNvPr>
          <p:cNvSpPr/>
          <p:nvPr/>
        </p:nvSpPr>
        <p:spPr>
          <a:xfrm>
            <a:off x="6839652" y="3899245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57F39AB9-8963-BE0F-A9A7-AD8FA6223489}"/>
              </a:ext>
            </a:extLst>
          </p:cNvPr>
          <p:cNvSpPr/>
          <p:nvPr/>
        </p:nvSpPr>
        <p:spPr>
          <a:xfrm>
            <a:off x="6737823" y="4127845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0" name="Image 27" descr="preencoded.png">
            <a:extLst>
              <a:ext uri="{FF2B5EF4-FFF2-40B4-BE49-F238E27FC236}">
                <a16:creationId xmlns:a16="http://schemas.microsoft.com/office/drawing/2014/main" id="{0F467CB2-4BD4-A8AC-9B92-7DAE5EEE735C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530141" y="3784945"/>
            <a:ext cx="1113532" cy="647700"/>
          </a:xfrm>
          <a:prstGeom prst="rect">
            <a:avLst/>
          </a:prstGeom>
        </p:spPr>
      </p:pic>
      <p:sp>
        <p:nvSpPr>
          <p:cNvPr id="71" name="Text 23">
            <a:extLst>
              <a:ext uri="{FF2B5EF4-FFF2-40B4-BE49-F238E27FC236}">
                <a16:creationId xmlns:a16="http://schemas.microsoft.com/office/drawing/2014/main" id="{B1E1A4B2-8881-58ED-9167-23812FE10941}"/>
              </a:ext>
            </a:extLst>
          </p:cNvPr>
          <p:cNvSpPr/>
          <p:nvPr/>
        </p:nvSpPr>
        <p:spPr>
          <a:xfrm>
            <a:off x="8644441" y="3899245"/>
            <a:ext cx="88493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MAE</a:t>
            </a:r>
            <a:endParaRPr lang="en-US" sz="1200" dirty="0"/>
          </a:p>
        </p:txBody>
      </p:sp>
      <p:sp>
        <p:nvSpPr>
          <p:cNvPr id="73" name="Text 24">
            <a:extLst>
              <a:ext uri="{FF2B5EF4-FFF2-40B4-BE49-F238E27FC236}">
                <a16:creationId xmlns:a16="http://schemas.microsoft.com/office/drawing/2014/main" id="{42A76CAD-A7D8-5C72-7C8F-92D9E08CDD0E}"/>
              </a:ext>
            </a:extLst>
          </p:cNvPr>
          <p:cNvSpPr/>
          <p:nvPr/>
        </p:nvSpPr>
        <p:spPr>
          <a:xfrm>
            <a:off x="8555947" y="4127845"/>
            <a:ext cx="106191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절대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B6DFF060-D088-BFB6-3E3F-236A27C7C25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150780" y="3797645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56AC1092-0DD4-224D-3CB0-32D5E8F698DD}"/>
              </a:ext>
            </a:extLst>
          </p:cNvPr>
          <p:cNvSpPr/>
          <p:nvPr/>
        </p:nvSpPr>
        <p:spPr>
          <a:xfrm>
            <a:off x="10265080" y="3911945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2313E057-3B59-20D9-FA62-780B827B46F7}"/>
              </a:ext>
            </a:extLst>
          </p:cNvPr>
          <p:cNvSpPr/>
          <p:nvPr/>
        </p:nvSpPr>
        <p:spPr>
          <a:xfrm>
            <a:off x="10207498" y="4140545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pic>
        <p:nvPicPr>
          <p:cNvPr id="85" name="Image 2" descr="preencoded.png">
            <a:extLst>
              <a:ext uri="{FF2B5EF4-FFF2-40B4-BE49-F238E27FC236}">
                <a16:creationId xmlns:a16="http://schemas.microsoft.com/office/drawing/2014/main" id="{35E43B0C-3D2D-42F6-DAEF-4EB8A9C791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9457" y="4747727"/>
            <a:ext cx="5362574" cy="533032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4B48236D-BE69-4C82-91AD-D4496253BFE5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69534" y="4952809"/>
            <a:ext cx="190500" cy="190500"/>
          </a:xfrm>
          <a:prstGeom prst="rect">
            <a:avLst/>
          </a:prstGeom>
        </p:spPr>
      </p:pic>
      <p:sp>
        <p:nvSpPr>
          <p:cNvPr id="84" name="Text 1">
            <a:extLst>
              <a:ext uri="{FF2B5EF4-FFF2-40B4-BE49-F238E27FC236}">
                <a16:creationId xmlns:a16="http://schemas.microsoft.com/office/drawing/2014/main" id="{E3B1F8A1-961F-7717-4561-C597B867F6AE}"/>
              </a:ext>
            </a:extLst>
          </p:cNvPr>
          <p:cNvSpPr/>
          <p:nvPr/>
        </p:nvSpPr>
        <p:spPr>
          <a:xfrm>
            <a:off x="7109141" y="4880141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산출물 관리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로그 및 모델 저장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 재현성 보장 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629484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65AB-BEF9-6BE3-2832-D06990E13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ADA0A5A-8350-2933-B4DB-62555B481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07A3ED3-54A2-9E45-C76C-18C5AA3532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57443030-32CD-787C-695F-574DE95501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5715000" cy="20193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1BA68D0B-CAD5-260D-5CBB-2CFE6B4401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6733678D-8540-DFAE-1B49-D1641FA89866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SHAP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DBEA3387-B899-7425-B5DC-CA0BED2E0325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트리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기반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모델  선정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267F0ECE-429F-3CF6-7F1A-7020516E925E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9F63E6A5-B65C-C153-5C1D-7A732F3C4E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5394AE53-6493-9B19-8A71-ACDAB6F3070C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5541E00-A1E9-90A4-78A6-266C725C6A1A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트리 기반 계열로 통일 → 비선형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임계값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×POI)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자동으로 학습하기 위한 선택하였습니다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최종학습에서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선택 근거를 제공하고 최종 모델의 가능한 많은 과거 데이터를  써서 성능을 끌어올린 뒤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test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 예측 성능을 확인하기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44720924-49A4-D3DA-D25D-0F42AD01B2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57954A2F-6120-D134-4A18-2450447251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198214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2B07F41E-0BBB-57D8-E369-0A73385B88C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4AB0A54D-52FE-232F-926C-EB8087BF612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09990D5B-4AA5-B32E-1873-0E6EA095524B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3EC9C2BD-2286-426B-10DB-5EE7516E9FD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353" y="1859606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413E59D6-885D-C625-EC2D-F2D19CF08BE0}"/>
              </a:ext>
            </a:extLst>
          </p:cNvPr>
          <p:cNvSpPr/>
          <p:nvPr/>
        </p:nvSpPr>
        <p:spPr>
          <a:xfrm>
            <a:off x="2496607" y="2367606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74E80121-F2E5-9B71-C4E0-C621331B9C3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44864" y="1866900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BAE7978A-E0EB-5B6B-E4C2-014409A89095}"/>
              </a:ext>
            </a:extLst>
          </p:cNvPr>
          <p:cNvSpPr/>
          <p:nvPr/>
        </p:nvSpPr>
        <p:spPr>
          <a:xfrm>
            <a:off x="4197256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09D84AAD-121E-D5CC-ABF7-BB88D9F686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784" y="3223914"/>
            <a:ext cx="5362574" cy="1387887"/>
          </a:xfrm>
          <a:prstGeom prst="rect">
            <a:avLst/>
          </a:prstGeom>
        </p:spPr>
      </p:pic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F174ED2F-0882-7008-023B-7B173C654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13" y="3203794"/>
            <a:ext cx="5715000" cy="2019300"/>
          </a:xfrm>
          <a:prstGeom prst="rect">
            <a:avLst/>
          </a:prstGeom>
        </p:spPr>
      </p:pic>
      <p:pic>
        <p:nvPicPr>
          <p:cNvPr id="21" name="Image 10" descr="preencoded.png">
            <a:extLst>
              <a:ext uri="{FF2B5EF4-FFF2-40B4-BE49-F238E27FC236}">
                <a16:creationId xmlns:a16="http://schemas.microsoft.com/office/drawing/2014/main" id="{B66A1F3B-EB01-AE5C-C76B-C596BA573B3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7959" y="3352800"/>
            <a:ext cx="190500" cy="190500"/>
          </a:xfrm>
          <a:prstGeom prst="rect">
            <a:avLst/>
          </a:prstGeom>
        </p:spPr>
      </p:pic>
      <p:sp>
        <p:nvSpPr>
          <p:cNvPr id="22" name="Text 1">
            <a:extLst>
              <a:ext uri="{FF2B5EF4-FFF2-40B4-BE49-F238E27FC236}">
                <a16:creationId xmlns:a16="http://schemas.microsoft.com/office/drawing/2014/main" id="{EE727FCA-E9F5-4770-BABC-DE2854C77F68}"/>
              </a:ext>
            </a:extLst>
          </p:cNvPr>
          <p:cNvSpPr/>
          <p:nvPr/>
        </p:nvSpPr>
        <p:spPr>
          <a:xfrm>
            <a:off x="876300" y="33147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튜닝</a:t>
            </a:r>
            <a:endParaRPr lang="en-US" sz="1500" dirty="0"/>
          </a:p>
        </p:txBody>
      </p:sp>
      <p:pic>
        <p:nvPicPr>
          <p:cNvPr id="23" name="Image 11" descr="preencoded.png">
            <a:extLst>
              <a:ext uri="{FF2B5EF4-FFF2-40B4-BE49-F238E27FC236}">
                <a16:creationId xmlns:a16="http://schemas.microsoft.com/office/drawing/2014/main" id="{7A4BBD31-4BBC-6FAF-B383-7C9F053B9BF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3885256"/>
            <a:ext cx="152400" cy="152400"/>
          </a:xfrm>
          <a:prstGeom prst="rect">
            <a:avLst/>
          </a:prstGeom>
        </p:spPr>
      </p:pic>
      <p:pic>
        <p:nvPicPr>
          <p:cNvPr id="24" name="Image 12" descr="preencoded.png">
            <a:extLst>
              <a:ext uri="{FF2B5EF4-FFF2-40B4-BE49-F238E27FC236}">
                <a16:creationId xmlns:a16="http://schemas.microsoft.com/office/drawing/2014/main" id="{150E6FD8-C69E-42AC-6576-3BD8BBFA7F9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190056"/>
            <a:ext cx="152400" cy="152400"/>
          </a:xfrm>
          <a:prstGeom prst="rect">
            <a:avLst/>
          </a:prstGeom>
        </p:spPr>
      </p:pic>
      <p:pic>
        <p:nvPicPr>
          <p:cNvPr id="25" name="Image 13" descr="preencoded.png">
            <a:extLst>
              <a:ext uri="{FF2B5EF4-FFF2-40B4-BE49-F238E27FC236}">
                <a16:creationId xmlns:a16="http://schemas.microsoft.com/office/drawing/2014/main" id="{90E79320-CEFE-9461-D898-57ADFA39F4F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494856"/>
            <a:ext cx="152400" cy="152400"/>
          </a:xfrm>
          <a:prstGeom prst="rect">
            <a:avLst/>
          </a:prstGeom>
        </p:spPr>
      </p:pic>
      <p:sp>
        <p:nvSpPr>
          <p:cNvPr id="26" name="Text 9">
            <a:extLst>
              <a:ext uri="{FF2B5EF4-FFF2-40B4-BE49-F238E27FC236}">
                <a16:creationId xmlns:a16="http://schemas.microsoft.com/office/drawing/2014/main" id="{DA9CDCE0-1F8D-1213-5E0E-22A50B74731D}"/>
              </a:ext>
            </a:extLst>
          </p:cNvPr>
          <p:cNvSpPr/>
          <p:nvPr/>
        </p:nvSpPr>
        <p:spPr>
          <a:xfrm>
            <a:off x="1152947" y="3847156"/>
            <a:ext cx="37919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RandomizedSearchCV를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자동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C4F13C44-9C80-357D-07DC-6D73014BAF47}"/>
              </a:ext>
            </a:extLst>
          </p:cNvPr>
          <p:cNvSpPr/>
          <p:nvPr/>
        </p:nvSpPr>
        <p:spPr>
          <a:xfrm>
            <a:off x="1152947" y="4151956"/>
            <a:ext cx="318343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튜닝용 샘플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200,000행</a:t>
            </a: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5E583719-7CFA-49A9-FFF1-A0F1B930D239}"/>
              </a:ext>
            </a:extLst>
          </p:cNvPr>
          <p:cNvSpPr/>
          <p:nvPr/>
        </p:nvSpPr>
        <p:spPr>
          <a:xfrm>
            <a:off x="1152947" y="4456756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모든 모델에 동일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파이프라인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3734B518-B4A2-A781-30E3-0139D609688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A823D6D7-4F95-2A17-97B3-22435D8520EA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학습 및 재 학습 과정</a:t>
            </a:r>
            <a:endParaRPr lang="en-US" sz="1500" dirty="0"/>
          </a:p>
        </p:txBody>
      </p:sp>
      <p:pic>
        <p:nvPicPr>
          <p:cNvPr id="47" name="Image 16" descr="preencoded.png">
            <a:extLst>
              <a:ext uri="{FF2B5EF4-FFF2-40B4-BE49-F238E27FC236}">
                <a16:creationId xmlns:a16="http://schemas.microsoft.com/office/drawing/2014/main" id="{06B92D85-89CE-BF99-171A-98752218C3D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9534" y="1728558"/>
            <a:ext cx="1210717" cy="676275"/>
          </a:xfrm>
          <a:prstGeom prst="rect">
            <a:avLst/>
          </a:prstGeom>
        </p:spPr>
      </p:pic>
      <p:pic>
        <p:nvPicPr>
          <p:cNvPr id="48" name="Image 17" descr="preencoded.png">
            <a:extLst>
              <a:ext uri="{FF2B5EF4-FFF2-40B4-BE49-F238E27FC236}">
                <a16:creationId xmlns:a16="http://schemas.microsoft.com/office/drawing/2014/main" id="{8CF38FF9-20F5-8493-0735-9F3856AE0D2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08143" y="1871433"/>
            <a:ext cx="133350" cy="152400"/>
          </a:xfrm>
          <a:prstGeom prst="rect">
            <a:avLst/>
          </a:prstGeom>
        </p:spPr>
      </p:pic>
      <p:pic>
        <p:nvPicPr>
          <p:cNvPr id="49" name="Image 19" descr="preencoded.png">
            <a:extLst>
              <a:ext uri="{FF2B5EF4-FFF2-40B4-BE49-F238E27FC236}">
                <a16:creationId xmlns:a16="http://schemas.microsoft.com/office/drawing/2014/main" id="{8D0CC823-F946-3DF4-5E77-4FD1E5559A3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2143" y="1728558"/>
            <a:ext cx="1210717" cy="676275"/>
          </a:xfrm>
          <a:prstGeom prst="rect">
            <a:avLst/>
          </a:prstGeom>
        </p:spPr>
      </p:pic>
      <p:pic>
        <p:nvPicPr>
          <p:cNvPr id="50" name="Image 20" descr="preencoded.png">
            <a:extLst>
              <a:ext uri="{FF2B5EF4-FFF2-40B4-BE49-F238E27FC236}">
                <a16:creationId xmlns:a16="http://schemas.microsoft.com/office/drawing/2014/main" id="{19272AD3-D55E-2E6A-1466-2EFEA24644F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61227" y="1871433"/>
            <a:ext cx="1524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08AE60D0-5C7C-5822-A067-FEE2EA51E9D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0988" y="1728558"/>
            <a:ext cx="1210717" cy="676275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6231577A-747F-75E8-7F08-0BCC2A2945E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40072" y="1871433"/>
            <a:ext cx="152400" cy="152400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076AC4F6-61FB-A27D-35C6-35703AC767EA}"/>
              </a:ext>
            </a:extLst>
          </p:cNvPr>
          <p:cNvSpPr/>
          <p:nvPr/>
        </p:nvSpPr>
        <p:spPr>
          <a:xfrm>
            <a:off x="6783834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튜닝</a:t>
            </a:r>
            <a:endParaRPr lang="en-US" sz="1050" dirty="0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F8A11B33-F305-E7A2-4ACD-BFB2ED481CAB}"/>
              </a:ext>
            </a:extLst>
          </p:cNvPr>
          <p:cNvSpPr/>
          <p:nvPr/>
        </p:nvSpPr>
        <p:spPr>
          <a:xfrm>
            <a:off x="8546443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재학습</a:t>
            </a:r>
            <a:endParaRPr lang="en-US" sz="105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7F84935F-F578-6295-ED31-E893B6DB69A5}"/>
              </a:ext>
            </a:extLst>
          </p:cNvPr>
          <p:cNvSpPr/>
          <p:nvPr/>
        </p:nvSpPr>
        <p:spPr>
          <a:xfrm>
            <a:off x="10225288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평가</a:t>
            </a:r>
            <a:endParaRPr lang="en-US" sz="105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A290087C-09C2-DC64-EA2C-803EEFC46C94}"/>
              </a:ext>
            </a:extLst>
          </p:cNvPr>
          <p:cNvSpPr/>
          <p:nvPr/>
        </p:nvSpPr>
        <p:spPr>
          <a:xfrm>
            <a:off x="6477000" y="2493733"/>
            <a:ext cx="1565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8961C281-3ED0-FC70-8D05-9F4FB8A16E9D}"/>
              </a:ext>
            </a:extLst>
          </p:cNvPr>
          <p:cNvSpPr/>
          <p:nvPr/>
        </p:nvSpPr>
        <p:spPr>
          <a:xfrm>
            <a:off x="8385114" y="2471508"/>
            <a:ext cx="13049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train+val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E49BFDC3-67B3-B57E-387C-D01D45E40137}"/>
              </a:ext>
            </a:extLst>
          </p:cNvPr>
          <p:cNvSpPr/>
          <p:nvPr/>
        </p:nvSpPr>
        <p:spPr>
          <a:xfrm>
            <a:off x="10068529" y="2493055"/>
            <a:ext cx="13049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5CDF22B4-9DF8-7707-1D7B-DE9BD0EDF701}"/>
              </a:ext>
            </a:extLst>
          </p:cNvPr>
          <p:cNvCxnSpPr>
            <a:stCxn id="47" idx="3"/>
            <a:endCxn id="49" idx="1"/>
          </p:cNvCxnSpPr>
          <p:nvPr/>
        </p:nvCxnSpPr>
        <p:spPr>
          <a:xfrm>
            <a:off x="7880251" y="2066696"/>
            <a:ext cx="5518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3DFDC5D-5D2E-6BB5-7342-6E64592CC39B}"/>
              </a:ext>
            </a:extLst>
          </p:cNvPr>
          <p:cNvCxnSpPr>
            <a:stCxn id="49" idx="3"/>
            <a:endCxn id="51" idx="1"/>
          </p:cNvCxnSpPr>
          <p:nvPr/>
        </p:nvCxnSpPr>
        <p:spPr>
          <a:xfrm>
            <a:off x="9642860" y="2066696"/>
            <a:ext cx="4681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188A32A4-27D4-A2E6-8E46-B555F004196A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8925" y="3458519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8493CF77-9B8E-8F5D-432C-EDEA4538E0BD}"/>
              </a:ext>
            </a:extLst>
          </p:cNvPr>
          <p:cNvSpPr/>
          <p:nvPr/>
        </p:nvSpPr>
        <p:spPr>
          <a:xfrm>
            <a:off x="7109141" y="3457047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FD3FDE66-E87C-22F9-D037-F33773F1C7F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5352" y="3784945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47D85DA7-C615-3313-4B91-A694719A666C}"/>
              </a:ext>
            </a:extLst>
          </p:cNvPr>
          <p:cNvSpPr/>
          <p:nvPr/>
        </p:nvSpPr>
        <p:spPr>
          <a:xfrm>
            <a:off x="6839652" y="3899245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A34DEC37-8C52-A9B8-35B1-4D4CA4D5E76F}"/>
              </a:ext>
            </a:extLst>
          </p:cNvPr>
          <p:cNvSpPr/>
          <p:nvPr/>
        </p:nvSpPr>
        <p:spPr>
          <a:xfrm>
            <a:off x="6737823" y="4127845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0" name="Image 27" descr="preencoded.png">
            <a:extLst>
              <a:ext uri="{FF2B5EF4-FFF2-40B4-BE49-F238E27FC236}">
                <a16:creationId xmlns:a16="http://schemas.microsoft.com/office/drawing/2014/main" id="{A7FE5895-DDAA-5D19-D7EA-A4E0E5CA0326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530141" y="3784945"/>
            <a:ext cx="1113532" cy="647700"/>
          </a:xfrm>
          <a:prstGeom prst="rect">
            <a:avLst/>
          </a:prstGeom>
        </p:spPr>
      </p:pic>
      <p:sp>
        <p:nvSpPr>
          <p:cNvPr id="71" name="Text 23">
            <a:extLst>
              <a:ext uri="{FF2B5EF4-FFF2-40B4-BE49-F238E27FC236}">
                <a16:creationId xmlns:a16="http://schemas.microsoft.com/office/drawing/2014/main" id="{F45F88E3-0938-F4BC-6968-1D526CA6B1BD}"/>
              </a:ext>
            </a:extLst>
          </p:cNvPr>
          <p:cNvSpPr/>
          <p:nvPr/>
        </p:nvSpPr>
        <p:spPr>
          <a:xfrm>
            <a:off x="8644441" y="3899245"/>
            <a:ext cx="88493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MAE</a:t>
            </a:r>
            <a:endParaRPr lang="en-US" sz="1200" dirty="0"/>
          </a:p>
        </p:txBody>
      </p:sp>
      <p:sp>
        <p:nvSpPr>
          <p:cNvPr id="73" name="Text 24">
            <a:extLst>
              <a:ext uri="{FF2B5EF4-FFF2-40B4-BE49-F238E27FC236}">
                <a16:creationId xmlns:a16="http://schemas.microsoft.com/office/drawing/2014/main" id="{D93C9522-2673-B7B6-FF51-342C032CE05B}"/>
              </a:ext>
            </a:extLst>
          </p:cNvPr>
          <p:cNvSpPr/>
          <p:nvPr/>
        </p:nvSpPr>
        <p:spPr>
          <a:xfrm>
            <a:off x="8555947" y="4127845"/>
            <a:ext cx="106191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절대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A28C462B-FF34-8AC1-4B50-3F81D4FA756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150780" y="3797645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CC8A373C-0733-8050-3804-AEA9C5F20F5A}"/>
              </a:ext>
            </a:extLst>
          </p:cNvPr>
          <p:cNvSpPr/>
          <p:nvPr/>
        </p:nvSpPr>
        <p:spPr>
          <a:xfrm>
            <a:off x="10265080" y="3911945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EE90F8D4-7AD0-FCF2-60F3-44808B08058C}"/>
              </a:ext>
            </a:extLst>
          </p:cNvPr>
          <p:cNvSpPr/>
          <p:nvPr/>
        </p:nvSpPr>
        <p:spPr>
          <a:xfrm>
            <a:off x="10207498" y="4140545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pic>
        <p:nvPicPr>
          <p:cNvPr id="85" name="Image 2" descr="preencoded.png">
            <a:extLst>
              <a:ext uri="{FF2B5EF4-FFF2-40B4-BE49-F238E27FC236}">
                <a16:creationId xmlns:a16="http://schemas.microsoft.com/office/drawing/2014/main" id="{51AA05DE-E0BA-F329-E45A-64EA6517C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9457" y="4747727"/>
            <a:ext cx="5362574" cy="533032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1BF3D67E-1DD7-F2D1-69AE-B923068A814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69534" y="4952809"/>
            <a:ext cx="190500" cy="190500"/>
          </a:xfrm>
          <a:prstGeom prst="rect">
            <a:avLst/>
          </a:prstGeom>
        </p:spPr>
      </p:pic>
      <p:sp>
        <p:nvSpPr>
          <p:cNvPr id="84" name="Text 1">
            <a:extLst>
              <a:ext uri="{FF2B5EF4-FFF2-40B4-BE49-F238E27FC236}">
                <a16:creationId xmlns:a16="http://schemas.microsoft.com/office/drawing/2014/main" id="{85189B34-5BAE-52BD-BCA4-9A89EADD4668}"/>
              </a:ext>
            </a:extLst>
          </p:cNvPr>
          <p:cNvSpPr/>
          <p:nvPr/>
        </p:nvSpPr>
        <p:spPr>
          <a:xfrm>
            <a:off x="7109141" y="4880141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산출물 관리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로그 및 모델 저장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 재현성 보장 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1374510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3657600" cy="37528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573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25" y="1343025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192405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26695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3845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18135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752850"/>
            <a:ext cx="32766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905250"/>
            <a:ext cx="104775" cy="1333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200" y="1066800"/>
            <a:ext cx="3657600" cy="37528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7700" y="1257300"/>
            <a:ext cx="476250" cy="4762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52950" y="1343025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57700" y="19240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57700" y="249555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57700" y="306705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57700" y="3638550"/>
            <a:ext cx="3276600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3790950"/>
            <a:ext cx="104775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1066800"/>
            <a:ext cx="3657600" cy="37528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43900" y="1257300"/>
            <a:ext cx="476250" cy="4762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67725" y="1343025"/>
            <a:ext cx="228600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3900" y="1885950"/>
            <a:ext cx="3276600" cy="1219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43900" y="3295650"/>
            <a:ext cx="1524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43900" y="3867150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43900" y="443865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" y="5048250"/>
            <a:ext cx="11430000" cy="4572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09713" y="5210175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31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운영 개선 방안</a:t>
            </a:r>
            <a:endParaRPr lang="en-US" sz="2250" dirty="0"/>
          </a:p>
        </p:txBody>
      </p:sp>
      <p:sp>
        <p:nvSpPr>
          <p:cNvPr id="32" name="Text 1"/>
          <p:cNvSpPr/>
          <p:nvPr/>
        </p:nvSpPr>
        <p:spPr>
          <a:xfrm>
            <a:off x="1162050" y="1362075"/>
            <a:ext cx="22631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재배치 전략</a:t>
            </a:r>
            <a:endParaRPr lang="en-US" sz="1500" dirty="0"/>
          </a:p>
        </p:txBody>
      </p:sp>
      <p:sp>
        <p:nvSpPr>
          <p:cNvPr id="33" name="Text 2"/>
          <p:cNvSpPr/>
          <p:nvPr/>
        </p:nvSpPr>
        <p:spPr>
          <a:xfrm>
            <a:off x="800100" y="1885950"/>
            <a:ext cx="2971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유형별 맞춤형 재배치 전략 개발</a:t>
            </a:r>
            <a:endParaRPr lang="en-US" sz="1200" dirty="0"/>
          </a:p>
        </p:txBody>
      </p:sp>
      <p:sp>
        <p:nvSpPr>
          <p:cNvPr id="34" name="Text 3"/>
          <p:cNvSpPr/>
          <p:nvPr/>
        </p:nvSpPr>
        <p:spPr>
          <a:xfrm>
            <a:off x="800100" y="2228850"/>
            <a:ext cx="3048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시간대 주거지와 업무지구 간 자전거 불균형 해소</a:t>
            </a:r>
            <a:endParaRPr lang="en-US" sz="1200" dirty="0"/>
          </a:p>
        </p:txBody>
      </p:sp>
      <p:sp>
        <p:nvSpPr>
          <p:cNvPr id="35" name="Text 4"/>
          <p:cNvSpPr/>
          <p:nvPr/>
        </p:nvSpPr>
        <p:spPr>
          <a:xfrm>
            <a:off x="800100" y="2800350"/>
            <a:ext cx="31661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고지대/저지대 대여소의 지형적 특성 반영</a:t>
            </a:r>
            <a:endParaRPr lang="en-US" sz="1200" dirty="0"/>
          </a:p>
        </p:txBody>
      </p:sp>
      <p:sp>
        <p:nvSpPr>
          <p:cNvPr id="36" name="Text 5"/>
          <p:cNvSpPr/>
          <p:nvPr/>
        </p:nvSpPr>
        <p:spPr>
          <a:xfrm>
            <a:off x="800100" y="3143250"/>
            <a:ext cx="3048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Log-Transform 및 원-핫 인코딩 을 통한 모델 개선</a:t>
            </a:r>
            <a:endParaRPr lang="en-US" sz="1200" dirty="0"/>
          </a:p>
        </p:txBody>
      </p:sp>
      <p:sp>
        <p:nvSpPr>
          <p:cNvPr id="37" name="Text 6"/>
          <p:cNvSpPr/>
          <p:nvPr/>
        </p:nvSpPr>
        <p:spPr>
          <a:xfrm>
            <a:off x="866775" y="3867150"/>
            <a:ext cx="3048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LightGBM 모델을 활용한 정확한 수요 예측으로 재배치 효율성 향상</a:t>
            </a:r>
            <a:endParaRPr lang="en-US" sz="1050" dirty="0"/>
          </a:p>
        </p:txBody>
      </p:sp>
      <p:sp>
        <p:nvSpPr>
          <p:cNvPr id="38" name="Text 7"/>
          <p:cNvSpPr/>
          <p:nvPr/>
        </p:nvSpPr>
        <p:spPr>
          <a:xfrm>
            <a:off x="5048250" y="1362075"/>
            <a:ext cx="2674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참여형 인센티브 시스템</a:t>
            </a:r>
            <a:endParaRPr lang="en-US" sz="1500" dirty="0"/>
          </a:p>
        </p:txBody>
      </p:sp>
      <p:sp>
        <p:nvSpPr>
          <p:cNvPr id="39" name="Text 8"/>
          <p:cNvSpPr/>
          <p:nvPr/>
        </p:nvSpPr>
        <p:spPr>
          <a:xfrm>
            <a:off x="4686300" y="1885950"/>
            <a:ext cx="3048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왕복 마일리지 확대 - 자전거 불균형 해소에 기여하는 왕복 이용자 보상</a:t>
            </a:r>
            <a:endParaRPr lang="en-US" sz="1200" dirty="0"/>
          </a:p>
        </p:txBody>
      </p:sp>
      <p:sp>
        <p:nvSpPr>
          <p:cNvPr id="40" name="Text 9"/>
          <p:cNvSpPr/>
          <p:nvPr/>
        </p:nvSpPr>
        <p:spPr>
          <a:xfrm>
            <a:off x="4686300" y="2457450"/>
            <a:ext cx="3048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요소 도입 - 배지 및 랭킹 시스템으로 자전거 재배치 참여 동기 부여</a:t>
            </a:r>
            <a:endParaRPr lang="en-US" sz="1200" dirty="0"/>
          </a:p>
        </p:txBody>
      </p:sp>
      <p:sp>
        <p:nvSpPr>
          <p:cNvPr id="41" name="Text 10"/>
          <p:cNvSpPr/>
          <p:nvPr/>
        </p:nvSpPr>
        <p:spPr>
          <a:xfrm>
            <a:off x="4686300" y="3028950"/>
            <a:ext cx="3048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수요-공급 정보 제공 - 따릉이 앱을 통한 대여소 실시간 상황 공개</a:t>
            </a:r>
            <a:endParaRPr lang="en-US" sz="1200" dirty="0"/>
          </a:p>
        </p:txBody>
      </p:sp>
      <p:sp>
        <p:nvSpPr>
          <p:cNvPr id="42" name="Text 11"/>
          <p:cNvSpPr/>
          <p:nvPr/>
        </p:nvSpPr>
        <p:spPr>
          <a:xfrm>
            <a:off x="4752975" y="3752850"/>
            <a:ext cx="3048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이러한 시스템은 자전거 재배치의 사회적 참여를 촉진하여 운영 효율성을 높임</a:t>
            </a:r>
            <a:endParaRPr lang="en-US" sz="1050" dirty="0"/>
          </a:p>
        </p:txBody>
      </p:sp>
      <p:sp>
        <p:nvSpPr>
          <p:cNvPr id="43" name="Text 12"/>
          <p:cNvSpPr/>
          <p:nvPr/>
        </p:nvSpPr>
        <p:spPr>
          <a:xfrm>
            <a:off x="8934450" y="1362075"/>
            <a:ext cx="18516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모델 활용 방안</a:t>
            </a:r>
            <a:endParaRPr lang="en-US" sz="1500" dirty="0"/>
          </a:p>
        </p:txBody>
      </p:sp>
      <p:sp>
        <p:nvSpPr>
          <p:cNvPr id="44" name="Text 13"/>
          <p:cNvSpPr/>
          <p:nvPr/>
        </p:nvSpPr>
        <p:spPr>
          <a:xfrm>
            <a:off x="8572500" y="3257550"/>
            <a:ext cx="3048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환경 요인 고려(기온, 습도, 풍속, 날씨, 계절, 휴일, 근무일, 시간)</a:t>
            </a:r>
            <a:endParaRPr lang="en-US" sz="1200" dirty="0"/>
          </a:p>
        </p:txBody>
      </p:sp>
      <p:sp>
        <p:nvSpPr>
          <p:cNvPr id="45" name="Text 14"/>
          <p:cNvSpPr/>
          <p:nvPr/>
        </p:nvSpPr>
        <p:spPr>
          <a:xfrm>
            <a:off x="8572500" y="3829050"/>
            <a:ext cx="3048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예측된 수요를 바탕으로 자전거 재배치 계획 수립</a:t>
            </a:r>
            <a:endParaRPr lang="en-US" sz="1200" dirty="0"/>
          </a:p>
        </p:txBody>
      </p:sp>
      <p:sp>
        <p:nvSpPr>
          <p:cNvPr id="46" name="Text 15"/>
          <p:cNvSpPr/>
          <p:nvPr/>
        </p:nvSpPr>
        <p:spPr>
          <a:xfrm>
            <a:off x="8572500" y="4400550"/>
            <a:ext cx="36233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및 차량 운영을 최적화 하여 운영 비용 절감</a:t>
            </a:r>
            <a:endParaRPr lang="en-US" sz="1200" dirty="0"/>
          </a:p>
        </p:txBody>
      </p:sp>
      <p:sp>
        <p:nvSpPr>
          <p:cNvPr id="47" name="Text 16"/>
          <p:cNvSpPr/>
          <p:nvPr/>
        </p:nvSpPr>
        <p:spPr>
          <a:xfrm>
            <a:off x="-624840" y="5162550"/>
            <a:ext cx="134416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위의 운영 개선 방안은 데이터 기반 의사결정을 통해 자전거 공유 시스템의 효율성을 높이고, 사용자 만족도를 향상시키는 것을 목표로 합니다.</a:t>
            </a:r>
            <a:endParaRPr lang="en-US" sz="1200" dirty="0"/>
          </a:p>
        </p:txBody>
      </p:sp>
      <p:sp>
        <p:nvSpPr>
          <p:cNvPr id="48" name="Text 17"/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10/12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7F4C-81AA-00F5-E227-B84145C4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EDC9DF3-6AAC-CFA4-A81A-2E0B70DBB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FC821275-BEE9-535F-55C6-B82D4D39E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9D91ECA7-2CD6-5D16-B8B1-82DB3A606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5FC31195-40EE-4FD6-0702-6A23B559B5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A96BCC25-A990-D50F-0642-86158D1C8E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A75176AF-2AB3-E327-3DA8-10D22C3D5D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419600"/>
            <a:ext cx="11125200" cy="24384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54C80DD3-C159-FF50-E31C-58615C8EF6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5720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37AB1098-25CC-8758-AB08-4EA4A31690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6482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B9F9EE4F-EE5F-785F-7320-81BA905B02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3810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0B774F37-C4AB-99C4-14ED-FD5E8083A3D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5638800"/>
            <a:ext cx="5334000" cy="10668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9E7CD58B-7939-2048-F24C-FB31FDBD23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5638800"/>
            <a:ext cx="5334000" cy="10668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1B2F3197-01DC-1EF9-9399-78ACC2001DE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1B2CE9B5-84EB-C7B5-3866-9AA8D92E1300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및 시사점</a:t>
            </a:r>
            <a:endParaRPr lang="en-US" sz="22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7DFB3B2-1D32-062A-EDF6-F19D6ADA5452}"/>
              </a:ext>
            </a:extLst>
          </p:cNvPr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DCD18E94-5B1F-3D53-D40D-EB322BBE631E}"/>
              </a:ext>
            </a:extLst>
          </p:cNvPr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수요는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(POI)’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 결합 효과에 의해 결정된다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B99D37E2-602C-0A4D-6E0E-2972AAFACCFB}"/>
              </a:ext>
            </a:extLst>
          </p:cNvPr>
          <p:cNvSpPr/>
          <p:nvPr/>
        </p:nvSpPr>
        <p:spPr>
          <a:xfrm>
            <a:off x="838200" y="1866900"/>
            <a:ext cx="4762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D.C.,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 시간대 패턴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존재하나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이용 목적과 인프라 구조 차이로 변수 중요도가 달라진다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0F9D2550-248C-6FEA-919E-265921ED119A}"/>
              </a:ext>
            </a:extLst>
          </p:cNvPr>
          <p:cNvSpPr/>
          <p:nvPr/>
        </p:nvSpPr>
        <p:spPr>
          <a:xfrm>
            <a:off x="838200" y="2336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기반 패턴은 공통적으로 관찰되지만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강도와 형태가 도시별로 다르다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C0D209E-E791-641D-F849-9C7EA84BE5D5}"/>
              </a:ext>
            </a:extLst>
          </p:cNvPr>
          <p:cNvSpPr/>
          <p:nvPr/>
        </p:nvSpPr>
        <p:spPr>
          <a:xfrm>
            <a:off x="838200" y="25654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 주말 평균 수요가 평일 보다  소폭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(2%)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높게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주말 레저 수요 비중이 커서 요일 효고와 변동성이 크다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DFA25FAC-BFB6-DED0-ECC6-4CB0C42660E4}"/>
              </a:ext>
            </a:extLst>
          </p:cNvPr>
          <p:cNvSpPr/>
          <p:nvPr/>
        </p:nvSpPr>
        <p:spPr>
          <a:xfrm>
            <a:off x="838200" y="3086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변수는 수요 상한을 규정하는 핵심 제약 조건으로 작동한다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8BF97AF8-1197-FDB5-5F7B-557FD170F817}"/>
              </a:ext>
            </a:extLst>
          </p:cNvPr>
          <p:cNvSpPr/>
          <p:nvPr/>
        </p:nvSpPr>
        <p:spPr>
          <a:xfrm>
            <a:off x="838200" y="33147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단순 상관이 낮아도 가까운 구간에서만 고수요가 발생하는 임계 구조를 만든다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11A648A3-B71B-5454-24AF-E85D7466F892}"/>
              </a:ext>
            </a:extLst>
          </p:cNvPr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방향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2EDE078C-3D27-2C20-8FE9-C646A5CF98F4}"/>
              </a:ext>
            </a:extLst>
          </p:cNvPr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서울별 특화 모델링 방식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EC6766CD-734D-E57B-E2F5-F450C5417733}"/>
              </a:ext>
            </a:extLst>
          </p:cNvPr>
          <p:cNvSpPr/>
          <p:nvPr/>
        </p:nvSpPr>
        <p:spPr>
          <a:xfrm>
            <a:off x="6553200" y="18669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</a:t>
            </a:r>
            <a:endParaRPr lang="en-US" sz="105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FB780-0E28-FD83-1BCC-075E55E5DF2C}"/>
              </a:ext>
            </a:extLst>
          </p:cNvPr>
          <p:cNvSpPr/>
          <p:nvPr/>
        </p:nvSpPr>
        <p:spPr>
          <a:xfrm>
            <a:off x="6591300" y="20955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 피처의 강화</a:t>
            </a:r>
            <a:endParaRPr lang="en-US" sz="1200" dirty="0"/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C00A2254-8FE6-494A-8EF1-6B8E4FBF037D}"/>
              </a:ext>
            </a:extLst>
          </p:cNvPr>
          <p:cNvSpPr/>
          <p:nvPr/>
        </p:nvSpPr>
        <p:spPr>
          <a:xfrm>
            <a:off x="6591300" y="23622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유형별 역할을 반영한 상호작용 설계</a:t>
            </a:r>
            <a:endParaRPr lang="en-US" sz="1200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DBC5216B-575A-C03D-2AB7-B859456BB84B}"/>
              </a:ext>
            </a:extLst>
          </p:cNvPr>
          <p:cNvSpPr/>
          <p:nvPr/>
        </p:nvSpPr>
        <p:spPr>
          <a:xfrm>
            <a:off x="6591300" y="26289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피크 반영을 위한 시간대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 상호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작용 및 비선형 처리</a:t>
            </a:r>
            <a:endParaRPr lang="en-US" sz="12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541274B7-C92B-4AEF-98A9-19FAA0278FC8}"/>
              </a:ext>
            </a:extLst>
          </p:cNvPr>
          <p:cNvSpPr/>
          <p:nvPr/>
        </p:nvSpPr>
        <p:spPr>
          <a:xfrm>
            <a:off x="6553200" y="2971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모델링 방식</a:t>
            </a:r>
            <a:endParaRPr lang="en-US" sz="1200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49746B04-EC03-07D9-9D08-2992DA366652}"/>
              </a:ext>
            </a:extLst>
          </p:cNvPr>
          <p:cNvSpPr/>
          <p:nvPr/>
        </p:nvSpPr>
        <p:spPr>
          <a:xfrm>
            <a:off x="6553200" y="32004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워싱턴의 경우</a:t>
            </a:r>
            <a:endParaRPr lang="en-US" sz="1050" dirty="0"/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F47F2E86-D9F7-C7CF-0BD2-D2A1772DD1BB}"/>
              </a:ext>
            </a:extLst>
          </p:cNvPr>
          <p:cNvSpPr/>
          <p:nvPr/>
        </p:nvSpPr>
        <p:spPr>
          <a:xfrm>
            <a:off x="6591300" y="3429000"/>
            <a:ext cx="6080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계절성과 주말효과가 강하므로 시즌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구조를 우선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D8778AF-A564-F65F-5252-F9C5EEBED6F0}"/>
              </a:ext>
            </a:extLst>
          </p:cNvPr>
          <p:cNvSpPr/>
          <p:nvPr/>
        </p:nvSpPr>
        <p:spPr>
          <a:xfrm>
            <a:off x="6591300" y="36957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기상변수는 종합 상태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원인 변수의 조합으로 사용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9383051C-7392-FC58-F2E1-77042B63FB69}"/>
              </a:ext>
            </a:extLst>
          </p:cNvPr>
          <p:cNvSpPr/>
          <p:nvPr/>
        </p:nvSpPr>
        <p:spPr>
          <a:xfrm>
            <a:off x="6591300" y="39624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관광 레저 수요를 설명 할 수 있는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요소의 비중 확대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0602CC21-2275-1C29-A11D-E458E96F8EBB}"/>
              </a:ext>
            </a:extLst>
          </p:cNvPr>
          <p:cNvSpPr/>
          <p:nvPr/>
        </p:nvSpPr>
        <p:spPr>
          <a:xfrm>
            <a:off x="1143000" y="4648200"/>
            <a:ext cx="891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3F3F543B-601D-2098-DA67-26B9632D5947}"/>
              </a:ext>
            </a:extLst>
          </p:cNvPr>
          <p:cNvSpPr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과거 수요 패턴보다 각 도시의 이동 맥락을 반영한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조건을 얼마나 정교하게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모델링하느냐에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 될 것으로 예상된다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도시별로 피처 중요도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 구조를 달리 설계하는 ‘도시 맞춤형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모델링’이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필요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FA73120A-7927-7A41-2632-CB8DDF18C740}"/>
              </a:ext>
            </a:extLst>
          </p:cNvPr>
          <p:cNvSpPr/>
          <p:nvPr/>
        </p:nvSpPr>
        <p:spPr>
          <a:xfrm>
            <a:off x="8001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 모델링</a:t>
            </a:r>
            <a:endParaRPr lang="en-US" sz="1200" dirty="0"/>
          </a:p>
        </p:txBody>
      </p:sp>
      <p:sp>
        <p:nvSpPr>
          <p:cNvPr id="36" name="Text 22">
            <a:extLst>
              <a:ext uri="{FF2B5EF4-FFF2-40B4-BE49-F238E27FC236}">
                <a16:creationId xmlns:a16="http://schemas.microsoft.com/office/drawing/2014/main" id="{548229E9-D363-0D2F-4D68-E99136BB74CB}"/>
              </a:ext>
            </a:extLst>
          </p:cNvPr>
          <p:cNvSpPr/>
          <p:nvPr/>
        </p:nvSpPr>
        <p:spPr>
          <a:xfrm>
            <a:off x="8001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 주말 효과를 중심으로 기본베이스라인을 안정화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조합으로 기상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영햐의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비선형 반응 포착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공원 관광 레저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수요 잠재력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25">
            <a:extLst>
              <a:ext uri="{FF2B5EF4-FFF2-40B4-BE49-F238E27FC236}">
                <a16:creationId xmlns:a16="http://schemas.microsoft.com/office/drawing/2014/main" id="{EF4B4E45-3BA7-656D-C045-19C8F659B411}"/>
              </a:ext>
            </a:extLst>
          </p:cNvPr>
          <p:cNvSpPr/>
          <p:nvPr/>
        </p:nvSpPr>
        <p:spPr>
          <a:xfrm>
            <a:off x="62865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모델링</a:t>
            </a:r>
            <a:endParaRPr lang="en-US" sz="1200" dirty="0"/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53E56B4D-C74A-B5D2-2F73-2167BAF15EE3}"/>
              </a:ext>
            </a:extLst>
          </p:cNvPr>
          <p:cNvSpPr/>
          <p:nvPr/>
        </p:nvSpPr>
        <p:spPr>
          <a:xfrm>
            <a:off x="62865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지하철역 버스 정류장 접근성 기반 환승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통근 수요 핵심 반영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상호작용 강조하여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툴퇴근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패턴을 구조적 학습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학교 업무지구 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 분해로 입지기반 수요 상한 모델링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C9F9C119-D95F-62C9-3A34-8F23EEFF5F7D}"/>
              </a:ext>
            </a:extLst>
          </p:cNvPr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8406592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458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4283" y="548693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13199" y="5469996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67048" y="5469996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1526" y="5469996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감사합니다</a:t>
            </a:r>
            <a:r>
              <a:rPr lang="en-US" altLang="ko-KR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8962823" y="5867930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9635843" y="5850996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10255030" y="5850996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10966650" y="5850996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2025-11-12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075FA99-1020-4236-B77C-A4214182138D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63544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2494</TotalTime>
  <Words>5192</Words>
  <Application>Microsoft Office PowerPoint</Application>
  <PresentationFormat>와이드스크린</PresentationFormat>
  <Paragraphs>729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Noto Sans KR</vt:lpstr>
      <vt:lpstr>Noto Serif KR</vt:lpstr>
      <vt:lpstr>ui-monospace</vt:lpstr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양호 전</cp:lastModifiedBy>
  <cp:revision>61</cp:revision>
  <dcterms:created xsi:type="dcterms:W3CDTF">2025-11-12T13:07:29Z</dcterms:created>
  <dcterms:modified xsi:type="dcterms:W3CDTF">2025-12-18T13:20:26Z</dcterms:modified>
</cp:coreProperties>
</file>