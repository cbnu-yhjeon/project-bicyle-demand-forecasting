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7" r:id="rId4"/>
    <p:sldId id="259" r:id="rId5"/>
    <p:sldId id="260" r:id="rId6"/>
    <p:sldId id="269" r:id="rId7"/>
    <p:sldId id="266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0258" autoAdjust="0"/>
  </p:normalViewPr>
  <p:slideViewPr>
    <p:cSldViewPr snapToGrid="0" snapToObjects="1">
      <p:cViewPr>
        <p:scale>
          <a:sx n="100" d="100"/>
          <a:sy n="100" d="100"/>
        </p:scale>
        <p:origin x="570" y="-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7719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오픈 마인드 팀의 발표자 </a:t>
            </a:r>
            <a:r>
              <a:rPr lang="ko-KR" altLang="en-US" dirty="0" err="1"/>
              <a:t>전양호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팀은 처음 발표 드렸던 계획을 그대로 수행했습니다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이전에 말씀 드렸던 내용은 간단히 말씀드리고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어떠한 점이 원래의 계획과 변경이 되었는지 말씀드리면서</a:t>
            </a:r>
            <a:r>
              <a:rPr lang="en-US" altLang="ko-KR" dirty="0"/>
              <a:t> </a:t>
            </a:r>
            <a:r>
              <a:rPr lang="ko-KR" altLang="en-US" dirty="0"/>
              <a:t>프로젝트의 결과를 보고 드리겠습니다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오픈마인드 팀은 박사과정 </a:t>
            </a:r>
            <a:r>
              <a:rPr lang="en-US" altLang="ko-KR" dirty="0"/>
              <a:t>2</a:t>
            </a:r>
            <a:r>
              <a:rPr lang="ko-KR" altLang="en-US" dirty="0"/>
              <a:t>명과 석사과정 </a:t>
            </a:r>
            <a:r>
              <a:rPr lang="en-US" altLang="ko-KR" dirty="0"/>
              <a:t>2</a:t>
            </a:r>
            <a:r>
              <a:rPr lang="ko-KR" altLang="en-US" dirty="0"/>
              <a:t>명으로 구성된 팀입니다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팀원 모두가 각자의 본업에서 다양한 기술 개발과 프로젝트 관리 경험을 갖고 있기 때문에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서로 다른 시각과 전문성을 바탕으로 문제를 다각도로 분석할 수 있는 것이 강점입니다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이러한 배경은 저희 팀의 핵심 가치와 자연스럽게 연결됩니다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ko-KR" altLang="en-US" dirty="0"/>
              <a:t>첫 번째로</a:t>
            </a:r>
            <a:r>
              <a:rPr lang="en-US" altLang="ko-KR" dirty="0"/>
              <a:t>, </a:t>
            </a:r>
            <a:r>
              <a:rPr lang="ko-KR" altLang="en-US" b="1" dirty="0"/>
              <a:t>혁신적 사고</a:t>
            </a:r>
            <a:r>
              <a:rPr lang="ko-KR" altLang="en-US" dirty="0"/>
              <a:t>는 각자 경험한 산업과 연구 분야에서 얻은 통찰을 기반으로 새로운 접근을 시도하는 데서 비롯됩니다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두 번째로</a:t>
            </a:r>
            <a:r>
              <a:rPr lang="en-US" altLang="ko-KR" dirty="0"/>
              <a:t>, </a:t>
            </a:r>
            <a:r>
              <a:rPr lang="ko-KR" altLang="en-US" dirty="0"/>
              <a:t>서로 다른 직무 경험을 가진 팀원 간 </a:t>
            </a:r>
            <a:r>
              <a:rPr lang="ko-KR" altLang="en-US" b="1" dirty="0"/>
              <a:t>협업과 소통</a:t>
            </a:r>
            <a:r>
              <a:rPr lang="ko-KR" altLang="en-US" dirty="0"/>
              <a:t>은 프로젝트 전 과정을 빠르고 유기적으로 연결시키는 힘이 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세 번째로</a:t>
            </a:r>
            <a:r>
              <a:rPr lang="en-US" altLang="ko-KR" dirty="0"/>
              <a:t>, </a:t>
            </a:r>
            <a:r>
              <a:rPr lang="ko-KR" altLang="en-US" dirty="0"/>
              <a:t>저희는 공정 데이터</a:t>
            </a:r>
            <a:r>
              <a:rPr lang="en-US" altLang="ko-KR" dirty="0"/>
              <a:t>, </a:t>
            </a:r>
            <a:r>
              <a:rPr lang="ko-KR" altLang="en-US" dirty="0"/>
              <a:t>시스템 데이터</a:t>
            </a:r>
            <a:r>
              <a:rPr lang="en-US" altLang="ko-KR" dirty="0"/>
              <a:t>, </a:t>
            </a:r>
            <a:r>
              <a:rPr lang="ko-KR" altLang="en-US" dirty="0"/>
              <a:t>운영 데이터 등 실제 산업 데이터를 다뤄 본 경험이 있기 때문에 </a:t>
            </a:r>
            <a:r>
              <a:rPr lang="ko-KR" altLang="en-US" b="1" dirty="0"/>
              <a:t>데이터 기반 의사결정</a:t>
            </a:r>
            <a:r>
              <a:rPr lang="ko-KR" altLang="en-US" dirty="0"/>
              <a:t>을 무엇보다 중시합니다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마지막으로</a:t>
            </a:r>
            <a:r>
              <a:rPr lang="en-US" altLang="ko-KR" dirty="0"/>
              <a:t>, </a:t>
            </a:r>
            <a:r>
              <a:rPr lang="ko-KR" altLang="en-US" dirty="0"/>
              <a:t>다양한 배경을 가진 구성원이 함께 학습하고 발전하는 과정 자체가 </a:t>
            </a:r>
            <a:r>
              <a:rPr lang="ko-KR" altLang="en-US" b="1" dirty="0"/>
              <a:t>지속적인 성장</a:t>
            </a:r>
            <a:r>
              <a:rPr lang="ko-KR" altLang="en-US" dirty="0"/>
              <a:t>이라는 가치로 이어지고 있습니다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ko-KR" altLang="en-US" dirty="0"/>
              <a:t>이러한 네 가지 핵심 가치를 기반으로 이번 자전거 수요 예측 프로젝트를 수행하고자 합니다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 도시형 공유 </a:t>
            </a:r>
            <a:r>
              <a:rPr lang="ko-KR" altLang="en-US" dirty="0" err="1"/>
              <a:t>모빌리티</a:t>
            </a:r>
            <a:r>
              <a:rPr lang="ko-KR" altLang="en-US" dirty="0"/>
              <a:t> 시스템의 수요가 증가하면서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자전거 공유 플랫폼의 효율적인 운영과 예측 기반 의사결정의 필요성이 커지고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자전거 </a:t>
            </a:r>
            <a:r>
              <a:rPr lang="ko-KR" altLang="en-US" dirty="0" err="1"/>
              <a:t>대여량은</a:t>
            </a:r>
            <a:r>
              <a:rPr lang="ko-KR" altLang="en-US" dirty="0"/>
              <a:t> 시간대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휴일</a:t>
            </a:r>
            <a:r>
              <a:rPr lang="en-US" altLang="ko-KR" dirty="0"/>
              <a:t>, </a:t>
            </a:r>
            <a:r>
              <a:rPr lang="ko-KR" altLang="en-US" dirty="0"/>
              <a:t>생활 패턴 등 다양한 외부 요인들의 영향을 복합적으로 받기 때문에</a:t>
            </a:r>
            <a:br>
              <a:rPr lang="ko-KR" altLang="en-US" dirty="0"/>
            </a:br>
            <a:r>
              <a:rPr lang="ko-KR" altLang="en-US" dirty="0"/>
              <a:t>단순 통계만으로는 정확한 수요 예측이 어렵다는 문제가</a:t>
            </a:r>
            <a:r>
              <a:rPr lang="ko-KR" altLang="en-US" baseline="0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en-US" altLang="ko-KR" baseline="0" dirty="0"/>
              <a:t> </a:t>
            </a:r>
            <a:r>
              <a:rPr lang="ko-KR" altLang="en-US" baseline="0" dirty="0"/>
              <a:t>저희 팀은</a:t>
            </a:r>
            <a:endParaRPr lang="en-US" altLang="ko-KR" baseline="0" dirty="0"/>
          </a:p>
          <a:p>
            <a:r>
              <a:rPr lang="ko-KR" altLang="en-US" dirty="0"/>
              <a:t>자전거 대여 수요를 정확하게 예측할 수 있는 </a:t>
            </a:r>
            <a:r>
              <a:rPr lang="ko-KR" altLang="en-US" dirty="0" err="1"/>
              <a:t>머신러닝</a:t>
            </a:r>
            <a:r>
              <a:rPr lang="ko-KR" altLang="en-US" dirty="0"/>
              <a:t> 모델을 개발 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수요에 영향을 미치는 주요 원인을 분석하여 운영 의사결정에 활용 가능한 인사이트를 뽑아내기 </a:t>
            </a:r>
            <a:r>
              <a:rPr lang="ko-KR" altLang="en-US" dirty="0" err="1"/>
              <a:t>위함인데요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기온</a:t>
            </a:r>
            <a:r>
              <a:rPr lang="en-US" altLang="ko-KR" dirty="0"/>
              <a:t>, </a:t>
            </a:r>
            <a:r>
              <a:rPr lang="ko-KR" altLang="en-US" dirty="0"/>
              <a:t>습도</a:t>
            </a:r>
            <a:r>
              <a:rPr lang="en-US" altLang="ko-KR" dirty="0"/>
              <a:t>, </a:t>
            </a:r>
            <a:r>
              <a:rPr lang="ko-KR" altLang="en-US" dirty="0"/>
              <a:t>풍속</a:t>
            </a:r>
            <a:r>
              <a:rPr lang="en-US" altLang="ko-KR" dirty="0"/>
              <a:t>, </a:t>
            </a:r>
            <a:r>
              <a:rPr lang="ko-KR" altLang="en-US" dirty="0"/>
              <a:t>날씨 상태</a:t>
            </a:r>
            <a:r>
              <a:rPr lang="en-US" altLang="ko-KR" dirty="0"/>
              <a:t>, </a:t>
            </a:r>
            <a:r>
              <a:rPr lang="ko-KR" altLang="en-US" dirty="0"/>
              <a:t>요일</a:t>
            </a:r>
            <a:r>
              <a:rPr lang="en-US" altLang="ko-KR" dirty="0"/>
              <a:t>, </a:t>
            </a:r>
            <a:r>
              <a:rPr lang="ko-KR" altLang="en-US" dirty="0"/>
              <a:t>근무일</a:t>
            </a:r>
            <a:r>
              <a:rPr lang="en-US" altLang="ko-KR" dirty="0"/>
              <a:t>(</a:t>
            </a:r>
            <a:r>
              <a:rPr lang="ko-KR" altLang="en-US" dirty="0"/>
              <a:t>주말인지 평일인지</a:t>
            </a:r>
            <a:r>
              <a:rPr lang="ko-KR" altLang="en-US" baseline="0" dirty="0"/>
              <a:t> 혹은 공휴일인지</a:t>
            </a:r>
            <a:r>
              <a:rPr lang="en-US" altLang="ko-KR" dirty="0"/>
              <a:t>), </a:t>
            </a:r>
            <a:r>
              <a:rPr lang="ko-KR" altLang="en-US" dirty="0"/>
              <a:t>여부 등 다양한 변수들이 실제 </a:t>
            </a:r>
            <a:r>
              <a:rPr lang="ko-KR" altLang="en-US" dirty="0" err="1"/>
              <a:t>대여량에</a:t>
            </a:r>
            <a:r>
              <a:rPr lang="ko-KR" altLang="en-US" dirty="0"/>
              <a:t> 어떤 패턴을 가지는지 분석할 예정입니다</a:t>
            </a:r>
            <a:r>
              <a:rPr lang="en-US" altLang="ko-KR" dirty="0"/>
              <a:t>.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목적을 달성하기 위해서는 학습을 위한 데이터 셋이 필요한데요</a:t>
            </a:r>
            <a:r>
              <a:rPr lang="en-US" altLang="ko-KR" dirty="0"/>
              <a:t>,</a:t>
            </a:r>
            <a:r>
              <a:rPr lang="en-US" altLang="ko-KR" baseline="0" dirty="0"/>
              <a:t> </a:t>
            </a:r>
            <a:r>
              <a:rPr lang="ko-KR" altLang="en-US" baseline="0" dirty="0"/>
              <a:t>저희 팀은 워싱턴 </a:t>
            </a:r>
            <a:r>
              <a:rPr lang="en-US" altLang="ko-KR" baseline="0" dirty="0"/>
              <a:t>DC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Capital </a:t>
            </a:r>
            <a:r>
              <a:rPr lang="en-US" altLang="ko-KR" baseline="0" dirty="0" err="1"/>
              <a:t>BikeShare</a:t>
            </a:r>
            <a:r>
              <a:rPr lang="en-US" altLang="ko-KR" baseline="0" dirty="0"/>
              <a:t> </a:t>
            </a:r>
            <a:r>
              <a:rPr lang="ko-KR" altLang="en-US" baseline="0" dirty="0"/>
              <a:t>시스템에서 공개한 자전거 </a:t>
            </a:r>
            <a:r>
              <a:rPr lang="ko-KR" altLang="en-US" baseline="0" dirty="0" err="1"/>
              <a:t>대여량</a:t>
            </a:r>
            <a:r>
              <a:rPr lang="ko-KR" altLang="en-US" baseline="0" dirty="0"/>
              <a:t> 정보인 </a:t>
            </a:r>
            <a:br>
              <a:rPr lang="en-US" altLang="ko-KR" baseline="0" dirty="0"/>
            </a:br>
            <a:r>
              <a:rPr lang="en-US" altLang="ko-KR" baseline="0" dirty="0"/>
              <a:t>UCI </a:t>
            </a:r>
            <a:r>
              <a:rPr lang="en-US" altLang="ko-KR" baseline="0" dirty="0" err="1"/>
              <a:t>BikeSharing</a:t>
            </a:r>
            <a:r>
              <a:rPr lang="en-US" altLang="ko-KR" baseline="0" dirty="0"/>
              <a:t> Dataset</a:t>
            </a:r>
            <a:r>
              <a:rPr lang="ko-KR" altLang="en-US" baseline="0" dirty="0"/>
              <a:t>으로 기본 모델을 학습시키고</a:t>
            </a:r>
            <a:r>
              <a:rPr lang="en-US" altLang="ko-KR" baseline="0" dirty="0"/>
              <a:t>, </a:t>
            </a:r>
            <a:r>
              <a:rPr lang="ko-KR" altLang="en-US" baseline="0" dirty="0"/>
              <a:t>서울시 </a:t>
            </a:r>
            <a:r>
              <a:rPr lang="ko-KR" altLang="en-US" baseline="0" dirty="0" err="1"/>
              <a:t>따릉이</a:t>
            </a:r>
            <a:r>
              <a:rPr lang="ko-KR" altLang="en-US" baseline="0" dirty="0"/>
              <a:t> 데이터를 트랜스퍼 데이터셋으로 활용 할 예정입니다</a:t>
            </a:r>
            <a:r>
              <a:rPr lang="en-US" altLang="ko-KR" baseline="0" dirty="0"/>
              <a:t>.</a:t>
            </a:r>
          </a:p>
          <a:p>
            <a:br>
              <a:rPr lang="en-US" altLang="ko-KR" baseline="0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“</a:t>
            </a:r>
            <a:r>
              <a:rPr lang="en-US" altLang="ko-KR"/>
              <a:t>UCI BikeSharing Dataset</a:t>
            </a:r>
            <a:r>
              <a:rPr lang="ko-KR" altLang="en-US"/>
              <a:t>은 워싱턴 </a:t>
            </a:r>
            <a:r>
              <a:rPr lang="en-US" altLang="ko-KR"/>
              <a:t>D.C.</a:t>
            </a:r>
            <a:r>
              <a:rPr lang="ko-KR" altLang="en-US"/>
              <a:t>의 자전거 대여 시스템 데이터를 기반으로</a:t>
            </a:r>
            <a:r>
              <a:rPr lang="en-US" altLang="ko-KR"/>
              <a:t>,</a:t>
            </a:r>
            <a:br>
              <a:rPr lang="en-US" altLang="ko-KR"/>
            </a:br>
            <a:r>
              <a:rPr lang="en-US" altLang="ko-KR" b="1"/>
              <a:t>2011</a:t>
            </a:r>
            <a:r>
              <a:rPr lang="ko-KR" altLang="en-US" b="1"/>
              <a:t>년 </a:t>
            </a:r>
            <a:r>
              <a:rPr lang="en-US" altLang="ko-KR" b="1"/>
              <a:t>1</a:t>
            </a:r>
            <a:r>
              <a:rPr lang="ko-KR" altLang="en-US" b="1"/>
              <a:t>월 </a:t>
            </a:r>
            <a:r>
              <a:rPr lang="en-US" altLang="ko-KR" b="1"/>
              <a:t>1</a:t>
            </a:r>
            <a:r>
              <a:rPr lang="ko-KR" altLang="en-US" b="1"/>
              <a:t>일부터 </a:t>
            </a:r>
            <a:r>
              <a:rPr lang="en-US" altLang="ko-KR" b="1"/>
              <a:t>2012</a:t>
            </a:r>
            <a:r>
              <a:rPr lang="ko-KR" altLang="en-US" b="1"/>
              <a:t>년 </a:t>
            </a:r>
            <a:r>
              <a:rPr lang="en-US" altLang="ko-KR" b="1"/>
              <a:t>12</a:t>
            </a:r>
            <a:r>
              <a:rPr lang="ko-KR" altLang="en-US" b="1"/>
              <a:t>월 </a:t>
            </a:r>
            <a:r>
              <a:rPr lang="en-US" altLang="ko-KR" b="1"/>
              <a:t>31</a:t>
            </a:r>
            <a:r>
              <a:rPr lang="ko-KR" altLang="en-US" b="1"/>
              <a:t>일까지</a:t>
            </a:r>
            <a:r>
              <a:rPr lang="ko-KR" altLang="en-US"/>
              <a:t> 기록된</a:t>
            </a:r>
            <a:br>
              <a:rPr lang="ko-KR" altLang="en-US"/>
            </a:br>
            <a:r>
              <a:rPr lang="ko-KR" altLang="en-US" b="1"/>
              <a:t>자전거 대여량</a:t>
            </a:r>
            <a:r>
              <a:rPr lang="en-US" altLang="ko-KR" b="1"/>
              <a:t>(</a:t>
            </a:r>
            <a:r>
              <a:rPr lang="ko-KR" altLang="en-US" b="1"/>
              <a:t>일별</a:t>
            </a:r>
            <a:r>
              <a:rPr lang="en-US" altLang="ko-KR" b="1"/>
              <a:t>·</a:t>
            </a:r>
            <a:r>
              <a:rPr lang="ko-KR" altLang="en-US" b="1"/>
              <a:t>시간별</a:t>
            </a:r>
            <a:r>
              <a:rPr lang="en-US" altLang="ko-KR" b="1"/>
              <a:t>)</a:t>
            </a:r>
            <a:r>
              <a:rPr lang="ko-KR" altLang="en-US"/>
              <a:t> 데이터를 포함한 공개 데이터셋 입니다</a:t>
            </a:r>
            <a:r>
              <a:rPr lang="en-US" altLang="ko-KR"/>
              <a:t>.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이 데이터에는 계절</a:t>
            </a:r>
            <a:r>
              <a:rPr lang="en-US" altLang="ko-KR"/>
              <a:t>, </a:t>
            </a:r>
            <a:r>
              <a:rPr lang="ko-KR" altLang="en-US"/>
              <a:t>시간</a:t>
            </a:r>
            <a:r>
              <a:rPr lang="en-US" altLang="ko-KR"/>
              <a:t>, </a:t>
            </a:r>
            <a:r>
              <a:rPr lang="ko-KR" altLang="en-US"/>
              <a:t>날씨 상태</a:t>
            </a:r>
            <a:r>
              <a:rPr lang="en-US" altLang="ko-KR"/>
              <a:t>, </a:t>
            </a:r>
            <a:r>
              <a:rPr lang="ko-KR" altLang="en-US"/>
              <a:t>기온</a:t>
            </a:r>
            <a:r>
              <a:rPr lang="en-US" altLang="ko-KR"/>
              <a:t>, </a:t>
            </a:r>
            <a:r>
              <a:rPr lang="ko-KR" altLang="en-US"/>
              <a:t>습도</a:t>
            </a:r>
            <a:r>
              <a:rPr lang="en-US" altLang="ko-KR"/>
              <a:t>, </a:t>
            </a:r>
            <a:r>
              <a:rPr lang="ko-KR" altLang="en-US"/>
              <a:t>풍속</a:t>
            </a:r>
            <a:r>
              <a:rPr lang="en-US" altLang="ko-KR"/>
              <a:t>, </a:t>
            </a:r>
            <a:r>
              <a:rPr lang="ko-KR" altLang="en-US"/>
              <a:t>근무일 여부 등 </a:t>
            </a:r>
            <a:r>
              <a:rPr lang="en-US" altLang="ko-KR"/>
              <a:t>17</a:t>
            </a:r>
            <a:r>
              <a:rPr lang="ko-KR" altLang="en-US"/>
              <a:t>개의 </a:t>
            </a:r>
            <a:br>
              <a:rPr lang="ko-KR" altLang="en-US"/>
            </a:br>
            <a:r>
              <a:rPr lang="ko-KR" altLang="en-US"/>
              <a:t>자전거 수요에 직접적인 영향을 줄 수 있는 요소들이 체계적으로 포함되어 있습니다</a:t>
            </a:r>
            <a:r>
              <a:rPr lang="en-US" altLang="ko-KR"/>
              <a:t>.</a:t>
            </a:r>
          </a:p>
          <a:p>
            <a:br>
              <a:rPr lang="en-US" altLang="ko-KR"/>
            </a:br>
            <a:r>
              <a:rPr lang="ko-KR" altLang="en-US"/>
              <a:t>해당 데이터는 수백편의 연구논문에서 도시 자전거 공유 시스템의 운영 분석</a:t>
            </a:r>
            <a:r>
              <a:rPr lang="en-US" altLang="ko-KR"/>
              <a:t>, </a:t>
            </a:r>
            <a:r>
              <a:rPr lang="ko-KR" altLang="en-US"/>
              <a:t>수요 예측</a:t>
            </a:r>
            <a:r>
              <a:rPr lang="en-US" altLang="ko-KR"/>
              <a:t>, </a:t>
            </a:r>
            <a:r>
              <a:rPr lang="ko-KR" altLang="en-US"/>
              <a:t>날씨와 교통 패턴 분석 등에 활용될 만큼</a:t>
            </a:r>
            <a:br>
              <a:rPr lang="en-US" altLang="ko-KR"/>
            </a:br>
            <a:r>
              <a:rPr lang="ko-KR" altLang="en-US"/>
              <a:t>데이터 품질이 높고</a:t>
            </a:r>
            <a:r>
              <a:rPr lang="en-US" altLang="ko-KR"/>
              <a:t>, </a:t>
            </a:r>
            <a:r>
              <a:rPr lang="ko-KR" altLang="en-US"/>
              <a:t>변수 정의가 명확하여 머신러닝 학습에 매우 적합한 구조를 가지고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따라서 수요 예측을 위한 모델 학습에 </a:t>
            </a:r>
            <a:r>
              <a:rPr lang="en-US" altLang="ko-KR"/>
              <a:t>Train/validation</a:t>
            </a:r>
            <a:r>
              <a:rPr lang="en-US" altLang="ko-KR" baseline="0"/>
              <a:t> Dataset</a:t>
            </a:r>
            <a:r>
              <a:rPr lang="ko-KR" altLang="en-US" baseline="0"/>
              <a:t>으로 </a:t>
            </a:r>
            <a:r>
              <a:rPr lang="en-US" altLang="ko-KR" baseline="0"/>
              <a:t>UCI Bike Sharing Dataset</a:t>
            </a:r>
            <a:r>
              <a:rPr lang="ko-KR" altLang="en-US" baseline="0"/>
              <a:t>을 사용하기로 했습니다</a:t>
            </a:r>
            <a:r>
              <a:rPr lang="en-US" altLang="ko-KR" baseline="0"/>
              <a:t>.</a:t>
            </a:r>
          </a:p>
          <a:p>
            <a:endParaRPr lang="en-US" altLang="ko-KR"/>
          </a:p>
          <a:p>
            <a:r>
              <a:rPr lang="ko-KR" altLang="en-US"/>
              <a:t>또한 </a:t>
            </a:r>
            <a:r>
              <a:rPr lang="en-US" altLang="ko-KR"/>
              <a:t>, </a:t>
            </a:r>
            <a:r>
              <a:rPr lang="ko-KR" altLang="en-US" b="1"/>
              <a:t>서울시 따릉이 데이터</a:t>
            </a:r>
            <a:r>
              <a:rPr lang="ko-KR" altLang="en-US"/>
              <a:t>를 보너스 데이터로 활용하기로 했는데요</a:t>
            </a:r>
            <a:r>
              <a:rPr lang="en-US" altLang="ko-KR"/>
              <a:t>.</a:t>
            </a:r>
          </a:p>
          <a:p>
            <a:br>
              <a:rPr lang="en-US" altLang="ko-KR"/>
            </a:br>
            <a:r>
              <a:rPr lang="ko-KR" altLang="en-US"/>
              <a:t>단순히 두 데이터를 합치는 것이 아니라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서울시 따릉이 데이터는 ‘다른 도시에서 동일 모델이 얼마나 일반화되는지’ 확인하기 위한 </a:t>
            </a:r>
            <a:r>
              <a:rPr lang="ko-KR" altLang="en-US" b="1"/>
              <a:t>트랜스퍼 데이터셋 이라는 관점으로 활용할 예정입니다</a:t>
            </a:r>
            <a:r>
              <a:rPr lang="en-US" altLang="ko-KR" b="1"/>
              <a:t>.</a:t>
            </a:r>
            <a:br>
              <a:rPr lang="en-US" altLang="ko-KR" b="1"/>
            </a:br>
            <a:br>
              <a:rPr lang="en-US" altLang="ko-KR"/>
            </a:b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워싱턴 </a:t>
            </a:r>
            <a:r>
              <a:rPr lang="en-US" altLang="ko-KR"/>
              <a:t>D.C.</a:t>
            </a:r>
            <a:r>
              <a:rPr lang="ko-KR" altLang="en-US"/>
              <a:t>에서 학습한 모델이 서울의 이용 패턴에서도 잘 작동하는지 검증하는 것이 첫번째 역할이고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서울 데이터를 일부 활용해 모델을 미세 조정하여 지역 적응력을 높이는 데 활용 할 예정입니다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이를 통해 ‘단순 모델 만들기’에서 한 단계 더 나아가</a:t>
            </a:r>
            <a:r>
              <a:rPr lang="en-US" altLang="ko-KR"/>
              <a:t>,</a:t>
            </a:r>
            <a:r>
              <a:rPr lang="en-US" altLang="ko-KR" baseline="0"/>
              <a:t> </a:t>
            </a:r>
            <a:r>
              <a:rPr lang="ko-KR" altLang="en-US"/>
              <a:t>자전거 공유 모델이 도시마다 어떻게 다르게 작동하는지 비교하고 현지화가 가능한지에 따라서 향후 확장 가능성을 확인해볼 수 있을 것 같습니다</a:t>
            </a:r>
            <a:r>
              <a:rPr lang="en-US" altLang="ko-KR"/>
              <a:t>.”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 슬라이드에서는 </a:t>
            </a:r>
            <a:r>
              <a:rPr lang="ko-KR" altLang="en-US" b="1"/>
              <a:t>서울시 따릉이 데이터가 어떤 데이터인지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그리고 </a:t>
            </a:r>
            <a:r>
              <a:rPr lang="en-US" altLang="ko-KR" b="1"/>
              <a:t>UCI BikeSharing Dataset</a:t>
            </a:r>
            <a:r>
              <a:rPr lang="ko-KR" altLang="en-US" b="1"/>
              <a:t>과 어떻게 통합해서 쓸 것인지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마지막으로 </a:t>
            </a:r>
            <a:r>
              <a:rPr lang="ko-KR" altLang="en-US" b="1"/>
              <a:t>트랜스퍼 데이터셋으로 어떤 역할을 하게 될 것인지</a:t>
            </a:r>
            <a:r>
              <a:rPr lang="ko-KR" altLang="en-US"/>
              <a:t>에 대해 설명드리겠습니다</a:t>
            </a:r>
            <a:r>
              <a:rPr lang="en-US" altLang="ko-KR"/>
              <a:t>.</a:t>
            </a:r>
          </a:p>
          <a:p>
            <a:r>
              <a:rPr lang="ko-KR" altLang="en-US"/>
              <a:t>먼저</a:t>
            </a:r>
            <a:r>
              <a:rPr lang="en-US" altLang="ko-KR"/>
              <a:t>, </a:t>
            </a:r>
            <a:r>
              <a:rPr lang="ko-KR" altLang="en-US" b="1"/>
              <a:t>서울시 따릉이 데이터</a:t>
            </a:r>
            <a:r>
              <a:rPr lang="ko-KR" altLang="en-US"/>
              <a:t>부터 간단히 소개 드리겠습니다</a:t>
            </a:r>
            <a:r>
              <a:rPr lang="en-US" altLang="ko-KR"/>
              <a:t>.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서울시 따릉이 데이터는 서울시 공공데이터 포털에서 제공하는 자전거 대여 이력 데이터입니다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각 대여 건마다 대여일시</a:t>
            </a:r>
            <a:r>
              <a:rPr lang="en-US" altLang="ko-KR"/>
              <a:t>, </a:t>
            </a:r>
            <a:r>
              <a:rPr lang="ko-KR" altLang="en-US"/>
              <a:t>반납일시</a:t>
            </a:r>
            <a:r>
              <a:rPr lang="en-US" altLang="ko-KR"/>
              <a:t>, </a:t>
            </a:r>
            <a:r>
              <a:rPr lang="ko-KR" altLang="en-US"/>
              <a:t>대여소 번호</a:t>
            </a:r>
            <a:r>
              <a:rPr lang="en-US" altLang="ko-KR"/>
              <a:t>, </a:t>
            </a:r>
            <a:r>
              <a:rPr lang="ko-KR" altLang="en-US"/>
              <a:t>반납소 번호</a:t>
            </a:r>
            <a:r>
              <a:rPr lang="en-US" altLang="ko-KR"/>
              <a:t>, </a:t>
            </a:r>
            <a:r>
              <a:rPr lang="ko-KR" altLang="en-US"/>
              <a:t>이용 시간</a:t>
            </a:r>
            <a:r>
              <a:rPr lang="en-US" altLang="ko-KR"/>
              <a:t>, </a:t>
            </a:r>
            <a:r>
              <a:rPr lang="ko-KR" altLang="en-US"/>
              <a:t>이동거리 등이 기록되어 있고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이를 대여소별</a:t>
            </a:r>
            <a:r>
              <a:rPr lang="en-US" altLang="ko-KR"/>
              <a:t>, </a:t>
            </a:r>
            <a:r>
              <a:rPr lang="ko-KR" altLang="en-US"/>
              <a:t>시간대별</a:t>
            </a:r>
            <a:r>
              <a:rPr lang="en-US" altLang="ko-KR"/>
              <a:t>, </a:t>
            </a:r>
            <a:r>
              <a:rPr lang="ko-KR" altLang="en-US"/>
              <a:t>요일별로 집계하면 실제 도시 환경에서의 자전거 이용 패턴을 굉장히 자세하게 파악할 수 있습니다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특히 출퇴근 시간대의 이동</a:t>
            </a:r>
            <a:r>
              <a:rPr lang="en-US" altLang="ko-KR"/>
              <a:t>, </a:t>
            </a:r>
            <a:r>
              <a:rPr lang="ko-KR" altLang="en-US"/>
              <a:t>주말 레저 목적 사용</a:t>
            </a:r>
            <a:r>
              <a:rPr lang="en-US" altLang="ko-KR"/>
              <a:t>, </a:t>
            </a:r>
            <a:r>
              <a:rPr lang="ko-KR" altLang="en-US"/>
              <a:t>특정 상권 또는 주거 지역에서의 수요 집중 같은</a:t>
            </a:r>
            <a:br>
              <a:rPr lang="ko-KR" altLang="en-US"/>
            </a:br>
            <a:r>
              <a:rPr lang="ko-KR" altLang="en-US"/>
              <a:t>‘도시형 사람 흐름’을 잘 반영하고 있다는 점이 큰 특징입니다</a:t>
            </a:r>
            <a:r>
              <a:rPr lang="en-US" altLang="ko-KR"/>
              <a:t>.</a:t>
            </a:r>
            <a:br>
              <a:rPr lang="en-US" altLang="ko-KR"/>
            </a:br>
            <a:endParaRPr lang="en-US" altLang="ko-KR"/>
          </a:p>
          <a:p>
            <a:r>
              <a:rPr lang="ko-KR" altLang="en-US"/>
              <a:t>다음으로는</a:t>
            </a:r>
            <a:r>
              <a:rPr lang="en-US" altLang="ko-KR"/>
              <a:t>, </a:t>
            </a:r>
            <a:r>
              <a:rPr lang="en-US" altLang="ko-KR" b="1"/>
              <a:t>UCI BikeSharing Dataset</a:t>
            </a:r>
            <a:r>
              <a:rPr lang="ko-KR" altLang="en-US" b="1"/>
              <a:t>과 따릉이 데이터를 어떻게 통합해서 활용할 것인지</a:t>
            </a:r>
            <a:r>
              <a:rPr lang="ko-KR" altLang="en-US"/>
              <a:t>에 대해 설명드리겠습니다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두 데이터셋은 서로 다른 도시에서 수집된 데이터이기 때문에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단순히 붙여서 쓰는 것이 아니라</a:t>
            </a:r>
            <a:r>
              <a:rPr lang="en-US" altLang="ko-KR"/>
              <a:t>, </a:t>
            </a:r>
            <a:r>
              <a:rPr lang="ko-KR" altLang="en-US"/>
              <a:t>먼저 </a:t>
            </a:r>
            <a:r>
              <a:rPr lang="ko-KR" altLang="en-US" b="1"/>
              <a:t>공통된 구조와 특성으로 맞추는 작업</a:t>
            </a:r>
            <a:r>
              <a:rPr lang="ko-KR" altLang="en-US"/>
              <a:t>을 진행합니다</a:t>
            </a:r>
            <a:r>
              <a:rPr lang="en-US" altLang="ko-KR"/>
              <a:t>.</a:t>
            </a:r>
          </a:p>
          <a:p>
            <a:r>
              <a:rPr lang="ko-KR" altLang="en-US"/>
              <a:t>구체적으로는</a:t>
            </a:r>
            <a:r>
              <a:rPr lang="en-US" altLang="ko-KR"/>
              <a:t>,</a:t>
            </a:r>
            <a:br>
              <a:rPr lang="en-US" altLang="ko-KR"/>
            </a:br>
            <a:r>
              <a:rPr lang="en-US" altLang="ko-KR"/>
              <a:t>UCI </a:t>
            </a:r>
            <a:r>
              <a:rPr lang="ko-KR" altLang="en-US"/>
              <a:t>데이터셋에서 사용하는 주요 특징들</a:t>
            </a:r>
            <a:r>
              <a:rPr lang="en-US" altLang="ko-KR"/>
              <a:t>, </a:t>
            </a:r>
            <a:r>
              <a:rPr lang="ko-KR" altLang="en-US"/>
              <a:t>예를 들어 계절 </a:t>
            </a:r>
            <a:r>
              <a:rPr lang="en-US" altLang="ko-KR"/>
              <a:t>season, </a:t>
            </a:r>
            <a:r>
              <a:rPr lang="ko-KR" altLang="en-US"/>
              <a:t>연도 </a:t>
            </a:r>
            <a:r>
              <a:rPr lang="en-US" altLang="ko-KR"/>
              <a:t>yr, </a:t>
            </a:r>
            <a:r>
              <a:rPr lang="ko-KR" altLang="en-US"/>
              <a:t>월 </a:t>
            </a:r>
            <a:r>
              <a:rPr lang="en-US" altLang="ko-KR"/>
              <a:t>mnth, </a:t>
            </a:r>
            <a:r>
              <a:rPr lang="ko-KR" altLang="en-US"/>
              <a:t>시간 </a:t>
            </a:r>
            <a:r>
              <a:rPr lang="en-US" altLang="ko-KR"/>
              <a:t>hr,</a:t>
            </a:r>
            <a:br>
              <a:rPr lang="en-US" altLang="ko-KR"/>
            </a:br>
            <a:r>
              <a:rPr lang="ko-KR" altLang="en-US"/>
              <a:t>요일 </a:t>
            </a:r>
            <a:r>
              <a:rPr lang="en-US" altLang="ko-KR"/>
              <a:t>weekday, </a:t>
            </a:r>
            <a:r>
              <a:rPr lang="ko-KR" altLang="en-US"/>
              <a:t>근무일 여부 </a:t>
            </a:r>
            <a:r>
              <a:rPr lang="en-US" altLang="ko-KR"/>
              <a:t>workingday, </a:t>
            </a:r>
            <a:r>
              <a:rPr lang="ko-KR" altLang="en-US"/>
              <a:t>공휴일 여부 </a:t>
            </a:r>
            <a:r>
              <a:rPr lang="en-US" altLang="ko-KR"/>
              <a:t>holiday, </a:t>
            </a:r>
            <a:r>
              <a:rPr lang="ko-KR" altLang="en-US"/>
              <a:t>날씨 상태 </a:t>
            </a:r>
            <a:r>
              <a:rPr lang="en-US" altLang="ko-KR"/>
              <a:t>weathersit,</a:t>
            </a:r>
            <a:br>
              <a:rPr lang="en-US" altLang="ko-KR"/>
            </a:br>
            <a:r>
              <a:rPr lang="ko-KR" altLang="en-US"/>
              <a:t>그리고 기온</a:t>
            </a:r>
            <a:r>
              <a:rPr lang="en-US" altLang="ko-KR"/>
              <a:t>, </a:t>
            </a:r>
            <a:r>
              <a:rPr lang="ko-KR" altLang="en-US"/>
              <a:t>습도</a:t>
            </a:r>
            <a:r>
              <a:rPr lang="en-US" altLang="ko-KR"/>
              <a:t>, </a:t>
            </a:r>
            <a:r>
              <a:rPr lang="ko-KR" altLang="en-US"/>
              <a:t>풍속 같은 기상 변수들을 기준으로 스키마를 정의해 둔 다음</a:t>
            </a:r>
            <a:r>
              <a:rPr lang="en-US" altLang="ko-KR"/>
              <a:t>,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서울시 따릉이 데이터도 이 스키마에 맞춰 가공할 예정입니다</a:t>
            </a:r>
            <a:r>
              <a:rPr lang="en-US" altLang="ko-KR"/>
              <a:t>.</a:t>
            </a:r>
          </a:p>
          <a:p>
            <a:r>
              <a:rPr lang="ko-KR" altLang="en-US"/>
              <a:t>따릉이 데이터의 경우</a:t>
            </a:r>
            <a:r>
              <a:rPr lang="en-US" altLang="ko-KR"/>
              <a:t>, </a:t>
            </a:r>
            <a:r>
              <a:rPr lang="ko-KR" altLang="en-US"/>
              <a:t>원본은 개별 대여 건 단위이기 때문에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먼저 대여일시를 기준으로 </a:t>
            </a:r>
            <a:r>
              <a:rPr lang="ko-KR" altLang="en-US" b="1"/>
              <a:t>연도</a:t>
            </a:r>
            <a:r>
              <a:rPr lang="en-US" altLang="ko-KR" b="1"/>
              <a:t>, </a:t>
            </a:r>
            <a:r>
              <a:rPr lang="ko-KR" altLang="en-US" b="1"/>
              <a:t>월</a:t>
            </a:r>
            <a:r>
              <a:rPr lang="en-US" altLang="ko-KR" b="1"/>
              <a:t>, </a:t>
            </a:r>
            <a:r>
              <a:rPr lang="ko-KR" altLang="en-US" b="1"/>
              <a:t>일</a:t>
            </a:r>
            <a:r>
              <a:rPr lang="en-US" altLang="ko-KR" b="1"/>
              <a:t>, </a:t>
            </a:r>
            <a:r>
              <a:rPr lang="ko-KR" altLang="en-US" b="1"/>
              <a:t>시간</a:t>
            </a:r>
            <a:r>
              <a:rPr lang="en-US" altLang="ko-KR" b="1"/>
              <a:t>, </a:t>
            </a:r>
            <a:r>
              <a:rPr lang="ko-KR" altLang="en-US" b="1"/>
              <a:t>요일</a:t>
            </a:r>
            <a:r>
              <a:rPr lang="ko-KR" altLang="en-US"/>
              <a:t>을 추출하고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그 다음에 시간대별 혹은 일자별로 </a:t>
            </a:r>
            <a:r>
              <a:rPr lang="ko-KR" altLang="en-US" b="1"/>
              <a:t>대여 건수를 집계해서 </a:t>
            </a:r>
            <a:r>
              <a:rPr lang="en-US" altLang="ko-KR" b="1"/>
              <a:t>cnt </a:t>
            </a:r>
            <a:r>
              <a:rPr lang="ko-KR" altLang="en-US" b="1"/>
              <a:t>형태의 수요 데이터</a:t>
            </a:r>
            <a:r>
              <a:rPr lang="ko-KR" altLang="en-US"/>
              <a:t>를 만들게 됩니다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그리고 </a:t>
            </a:r>
            <a:r>
              <a:rPr lang="en-US" altLang="ko-KR"/>
              <a:t>UCI </a:t>
            </a:r>
            <a:r>
              <a:rPr lang="ko-KR" altLang="en-US"/>
              <a:t>데이터처럼 계절 정보를 생성하고</a:t>
            </a:r>
            <a:r>
              <a:rPr lang="en-US" altLang="ko-KR"/>
              <a:t>,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공휴일 여부는 국내 공휴일 데이터를 활용해 플래그를 추가합니다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기온</a:t>
            </a:r>
            <a:r>
              <a:rPr lang="en-US" altLang="ko-KR"/>
              <a:t>, </a:t>
            </a:r>
            <a:r>
              <a:rPr lang="ko-KR" altLang="en-US"/>
              <a:t>습도</a:t>
            </a:r>
            <a:r>
              <a:rPr lang="en-US" altLang="ko-KR"/>
              <a:t>, </a:t>
            </a:r>
            <a:r>
              <a:rPr lang="ko-KR" altLang="en-US"/>
              <a:t>풍속 등 기상 메타데이터가 필요하다면</a:t>
            </a:r>
            <a:r>
              <a:rPr lang="en-US" altLang="ko-KR"/>
              <a:t>,</a:t>
            </a:r>
            <a:r>
              <a:rPr lang="ko-KR" altLang="en-US"/>
              <a:t> 기상청 혹은 기상 데이터 </a:t>
            </a:r>
            <a:r>
              <a:rPr lang="en-US" altLang="ko-KR"/>
              <a:t>API</a:t>
            </a:r>
            <a:r>
              <a:rPr lang="ko-KR" altLang="en-US"/>
              <a:t>에서 가져와</a:t>
            </a:r>
            <a:br>
              <a:rPr lang="ko-KR" altLang="en-US"/>
            </a:br>
            <a:r>
              <a:rPr lang="ko-KR" altLang="en-US"/>
              <a:t>따릉이 데이터의 시간 정보와 매칭하여 결합하게 됩니다</a:t>
            </a:r>
            <a:r>
              <a:rPr lang="en-US" altLang="ko-KR"/>
              <a:t>.</a:t>
            </a:r>
          </a:p>
          <a:p>
            <a:r>
              <a:rPr lang="ko-KR" altLang="en-US"/>
              <a:t>마지막으로</a:t>
            </a:r>
            <a:r>
              <a:rPr lang="en-US" altLang="ko-KR"/>
              <a:t>, </a:t>
            </a:r>
            <a:r>
              <a:rPr lang="ko-KR" altLang="en-US"/>
              <a:t>이렇게 구조를 맞춰준 따릉이 데이터는</a:t>
            </a:r>
            <a:br>
              <a:rPr lang="ko-KR" altLang="en-US"/>
            </a:br>
            <a:r>
              <a:rPr lang="ko-KR" altLang="en-US" b="1"/>
              <a:t>트랜스퍼 데이터셋</a:t>
            </a:r>
            <a:r>
              <a:rPr lang="ko-KR" altLang="en-US"/>
              <a:t>으로 활용할 계획입니다</a:t>
            </a:r>
            <a:r>
              <a:rPr lang="en-US" altLang="ko-KR"/>
              <a:t>.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여기서 트랜스퍼 데이터셋이라는 것은</a:t>
            </a:r>
            <a:r>
              <a:rPr lang="en-US" altLang="ko-KR"/>
              <a:t>,</a:t>
            </a:r>
            <a:br>
              <a:rPr lang="en-US" altLang="ko-KR"/>
            </a:br>
            <a:r>
              <a:rPr lang="en-US" altLang="ko-KR"/>
              <a:t>‘</a:t>
            </a:r>
            <a:r>
              <a:rPr lang="ko-KR" altLang="en-US"/>
              <a:t>워싱턴 </a:t>
            </a:r>
            <a:r>
              <a:rPr lang="en-US" altLang="ko-KR"/>
              <a:t>D.C.</a:t>
            </a:r>
            <a:r>
              <a:rPr lang="ko-KR" altLang="en-US"/>
              <a:t>의 </a:t>
            </a:r>
            <a:r>
              <a:rPr lang="en-US" altLang="ko-KR"/>
              <a:t>UCI </a:t>
            </a:r>
            <a:r>
              <a:rPr lang="ko-KR" altLang="en-US"/>
              <a:t>데이터로 학습한 모델이 서울이라는 전혀 다른 도시에서도 잘 동작하는지 시험해 보고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필요하다면 서울 데이터로 모델을 미세 조정해 보는 데 사용하는 데이터셋’이라는 의미입니다</a:t>
            </a:r>
            <a:r>
              <a:rPr lang="en-US" altLang="ko-KR"/>
              <a:t>.</a:t>
            </a:r>
          </a:p>
          <a:p>
            <a:br>
              <a:rPr lang="en-US" altLang="ko-KR"/>
            </a:br>
            <a:r>
              <a:rPr lang="ko-KR" altLang="en-US"/>
              <a:t>먼저</a:t>
            </a:r>
            <a:r>
              <a:rPr lang="en-US" altLang="ko-KR"/>
              <a:t>, </a:t>
            </a:r>
            <a:r>
              <a:rPr lang="ko-KR" altLang="en-US"/>
              <a:t>첫 번째 역할은 </a:t>
            </a:r>
            <a:r>
              <a:rPr lang="ko-KR" altLang="en-US" b="1"/>
              <a:t>모델의 일반화 성능을 평가하는 테스트 데이터</a:t>
            </a:r>
            <a:r>
              <a:rPr lang="ko-KR" altLang="en-US"/>
              <a:t>입니다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UCI </a:t>
            </a:r>
            <a:r>
              <a:rPr lang="ko-KR" altLang="en-US"/>
              <a:t>데이터만으로 학습한 모델을 따릉이 데이터에 그대로 적용해 보면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도시가 바뀌었을 때 수요 패턴 차이 때문에 성능이 얼마나 떨어지는지 확인할 수 있습니다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이를 통해 ‘우리 모델이 특정 도시에만 특화된 모델인지</a:t>
            </a:r>
            <a:r>
              <a:rPr lang="en-US" altLang="ko-KR"/>
              <a:t>, </a:t>
            </a:r>
            <a:r>
              <a:rPr lang="ko-KR" altLang="en-US"/>
              <a:t>아니면 어느 정도 범용적인 패턴을 학습했는지’를 점검할 수 있습니다</a:t>
            </a:r>
            <a:r>
              <a:rPr lang="en-US" altLang="ko-KR"/>
              <a:t>.</a:t>
            </a:r>
          </a:p>
          <a:p>
            <a:br>
              <a:rPr lang="en-US" altLang="ko-KR"/>
            </a:br>
            <a:r>
              <a:rPr lang="ko-KR" altLang="en-US"/>
              <a:t>두 번째 역할은</a:t>
            </a:r>
            <a:r>
              <a:rPr lang="en-US" altLang="ko-KR"/>
              <a:t>, </a:t>
            </a:r>
            <a:r>
              <a:rPr lang="ko-KR" altLang="en-US" b="1"/>
              <a:t>모델을 서울 환경에 맞게 적응시키는 </a:t>
            </a:r>
            <a:r>
              <a:rPr lang="en-US" altLang="ko-KR" b="1"/>
              <a:t>Fine-tuning </a:t>
            </a:r>
            <a:r>
              <a:rPr lang="ko-KR" altLang="en-US" b="1"/>
              <a:t>데이터</a:t>
            </a:r>
            <a:r>
              <a:rPr lang="ko-KR" altLang="en-US"/>
              <a:t>입니다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UCI </a:t>
            </a:r>
            <a:r>
              <a:rPr lang="ko-KR" altLang="en-US"/>
              <a:t>데이터로 먼저 기본적인 자전거 수요 패턴을 학습한 뒤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따릉이 데이터의 일부 구간을 이용해서 모델을 다시 학습시키면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서울의 출퇴근 시간대 특징</a:t>
            </a:r>
            <a:r>
              <a:rPr lang="en-US" altLang="ko-KR"/>
              <a:t>, </a:t>
            </a:r>
            <a:r>
              <a:rPr lang="ko-KR" altLang="en-US"/>
              <a:t>계절별 이용 차이</a:t>
            </a:r>
            <a:r>
              <a:rPr lang="en-US" altLang="ko-KR"/>
              <a:t>, </a:t>
            </a:r>
            <a:r>
              <a:rPr lang="ko-KR" altLang="en-US"/>
              <a:t>기상 조건에 따른 민감도 등을 반영한</a:t>
            </a:r>
            <a:br>
              <a:rPr lang="ko-KR" altLang="en-US"/>
            </a:br>
            <a:r>
              <a:rPr lang="ko-KR" altLang="en-US"/>
              <a:t>‘서울 맞춤형 모델’로 전이 학습을 수행할 수 있습니다</a:t>
            </a:r>
            <a:r>
              <a:rPr lang="en-US" altLang="ko-KR"/>
              <a:t>.</a:t>
            </a:r>
          </a:p>
          <a:p>
            <a:br>
              <a:rPr lang="en-US" altLang="ko-KR"/>
            </a:br>
            <a:r>
              <a:rPr lang="ko-KR" altLang="en-US"/>
              <a:t>세 번째로는</a:t>
            </a:r>
            <a:r>
              <a:rPr lang="en-US" altLang="ko-KR"/>
              <a:t>, </a:t>
            </a:r>
            <a:r>
              <a:rPr lang="ko-KR" altLang="en-US" b="1"/>
              <a:t>도시 간 패턴 비교를 위한 분석 데이터</a:t>
            </a:r>
            <a:r>
              <a:rPr lang="ko-KR" altLang="en-US"/>
              <a:t> 역할입니다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UCI</a:t>
            </a:r>
            <a:r>
              <a:rPr lang="ko-KR" altLang="en-US"/>
              <a:t>와 따릉이 데이터를 같은 특징 공간으로 맞춰두면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예를 들어 같은 기온</a:t>
            </a:r>
            <a:r>
              <a:rPr lang="en-US" altLang="ko-KR"/>
              <a:t>, </a:t>
            </a:r>
            <a:r>
              <a:rPr lang="ko-KR" altLang="en-US"/>
              <a:t>같은 시간대</a:t>
            </a:r>
            <a:r>
              <a:rPr lang="en-US" altLang="ko-KR"/>
              <a:t>, </a:t>
            </a:r>
            <a:r>
              <a:rPr lang="ko-KR" altLang="en-US"/>
              <a:t>같은 요일 조건에서</a:t>
            </a:r>
            <a:br>
              <a:rPr lang="ko-KR" altLang="en-US"/>
            </a:br>
            <a:r>
              <a:rPr lang="ko-KR" altLang="en-US"/>
              <a:t>워싱턴과 서울의 수요가 어떻게 다른지 직접 비교해 볼 수 있습니다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이는 단순 예측을 넘어</a:t>
            </a:r>
            <a:r>
              <a:rPr lang="en-US" altLang="ko-KR"/>
              <a:t>, </a:t>
            </a:r>
            <a:r>
              <a:rPr lang="ko-KR" altLang="en-US"/>
              <a:t>도시 구조</a:t>
            </a:r>
            <a:r>
              <a:rPr lang="en-US" altLang="ko-KR"/>
              <a:t>·</a:t>
            </a:r>
            <a:r>
              <a:rPr lang="ko-KR" altLang="en-US"/>
              <a:t>교통 수단</a:t>
            </a:r>
            <a:r>
              <a:rPr lang="en-US" altLang="ko-KR"/>
              <a:t>·</a:t>
            </a:r>
            <a:r>
              <a:rPr lang="ko-KR" altLang="en-US"/>
              <a:t>생활 패턴의 차이를 데이터로 설명하는 데도 활용될 수 있습니다</a:t>
            </a:r>
            <a:r>
              <a:rPr lang="en-US" altLang="ko-KR"/>
              <a:t>.</a:t>
            </a:r>
          </a:p>
          <a:p>
            <a:br>
              <a:rPr lang="en-US" altLang="ko-KR"/>
            </a:br>
            <a:r>
              <a:rPr lang="ko-KR" altLang="en-US"/>
              <a:t>정리하자면</a:t>
            </a:r>
            <a:r>
              <a:rPr lang="en-US" altLang="ko-KR"/>
              <a:t>, </a:t>
            </a:r>
            <a:r>
              <a:rPr lang="ko-KR" altLang="en-US"/>
              <a:t>서울시 따릉이 데이터는</a:t>
            </a:r>
            <a:br>
              <a:rPr lang="ko-KR" altLang="en-US"/>
            </a:br>
            <a:r>
              <a:rPr lang="ko-KR" altLang="en-US"/>
              <a:t>단순한 보조 데이터가 아니라</a:t>
            </a:r>
            <a:r>
              <a:rPr lang="en-US" altLang="ko-KR"/>
              <a:t>,</a:t>
            </a:r>
            <a:br>
              <a:rPr lang="en-US" altLang="ko-KR"/>
            </a:br>
            <a:r>
              <a:rPr lang="en-US" altLang="ko-KR" b="1"/>
              <a:t>UCI </a:t>
            </a:r>
            <a:r>
              <a:rPr lang="ko-KR" altLang="en-US" b="1"/>
              <a:t>기반 모델의 일반화 성능을 검증하고</a:t>
            </a:r>
            <a:r>
              <a:rPr lang="en-US" altLang="ko-KR" b="1"/>
              <a:t>,</a:t>
            </a:r>
            <a:br>
              <a:rPr lang="en-US" altLang="ko-KR" b="1"/>
            </a:br>
            <a:r>
              <a:rPr lang="ko-KR" altLang="en-US" b="1"/>
              <a:t>서울이라는 새로운 도메인으로 전이</a:t>
            </a:r>
            <a:r>
              <a:rPr lang="en-US" altLang="ko-KR" b="1"/>
              <a:t>·</a:t>
            </a:r>
            <a:r>
              <a:rPr lang="ko-KR" altLang="en-US" b="1"/>
              <a:t>적응시키는 데 중요한 트랜스퍼 데이터셋</a:t>
            </a:r>
            <a:r>
              <a:rPr lang="ko-KR" altLang="en-US"/>
              <a:t>으로 활용될 예정입니다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최종적으로는 </a:t>
            </a:r>
            <a:r>
              <a:rPr lang="en-US" altLang="ko-KR"/>
              <a:t>UCI </a:t>
            </a:r>
            <a:r>
              <a:rPr lang="ko-KR" altLang="en-US"/>
              <a:t>데이터셋을 통해 학습한 모델이 서울시 따릉이 데이터를 트랜스퍼 데이터셋으로 추가 학습 및 검증을 통하여 가장 적절한</a:t>
            </a:r>
            <a:r>
              <a:rPr lang="ko-KR" altLang="en-US" baseline="0"/>
              <a:t> </a:t>
            </a:r>
            <a:r>
              <a:rPr lang="ko-KR" altLang="en-US"/>
              <a:t>모델을 선정하고</a:t>
            </a:r>
            <a:r>
              <a:rPr lang="en-US" altLang="ko-KR"/>
              <a:t>,</a:t>
            </a:r>
            <a:r>
              <a:rPr lang="ko-KR" altLang="en-US"/>
              <a:t> </a:t>
            </a:r>
            <a:br>
              <a:rPr lang="en-US" altLang="ko-KR"/>
            </a:br>
            <a:r>
              <a:rPr lang="ko-KR" altLang="en-US"/>
              <a:t>설명이 가능한 예측 데이터가 시사하는 인사이트로 따릉이의 운영방안을 제안 하는 것이 이번 프로젝트의 목표입니다</a:t>
            </a:r>
            <a:r>
              <a:rPr lang="en-US" altLang="ko-KR"/>
              <a:t>.</a:t>
            </a:r>
            <a:br>
              <a:rPr lang="en-US" altLang="ko-KR"/>
            </a:br>
            <a:endParaRPr lang="ko-KR" altLang="en-US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0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52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21" Type="http://schemas.openxmlformats.org/officeDocument/2006/relationships/image" Target="../media/image34.jp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jp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33.png"/><Relationship Id="rId10" Type="http://schemas.openxmlformats.org/officeDocument/2006/relationships/image" Target="../media/image44.png"/><Relationship Id="rId4" Type="http://schemas.openxmlformats.org/officeDocument/2006/relationships/image" Target="../media/image17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33.png"/><Relationship Id="rId3" Type="http://schemas.openxmlformats.org/officeDocument/2006/relationships/image" Target="../media/image17.png"/><Relationship Id="rId21" Type="http://schemas.openxmlformats.org/officeDocument/2006/relationships/image" Target="../media/image66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33.png"/><Relationship Id="rId3" Type="http://schemas.openxmlformats.org/officeDocument/2006/relationships/image" Target="../media/image38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4" Type="http://schemas.openxmlformats.org/officeDocument/2006/relationships/image" Target="../media/image17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3.png"/><Relationship Id="rId18" Type="http://schemas.openxmlformats.org/officeDocument/2006/relationships/image" Target="../media/image98.png"/><Relationship Id="rId26" Type="http://schemas.openxmlformats.org/officeDocument/2006/relationships/image" Target="../media/image105.png"/><Relationship Id="rId3" Type="http://schemas.openxmlformats.org/officeDocument/2006/relationships/image" Target="../media/image17.png"/><Relationship Id="rId21" Type="http://schemas.openxmlformats.org/officeDocument/2006/relationships/image" Target="../media/image100.png"/><Relationship Id="rId34" Type="http://schemas.openxmlformats.org/officeDocument/2006/relationships/image" Target="../media/image113.png"/><Relationship Id="rId7" Type="http://schemas.openxmlformats.org/officeDocument/2006/relationships/image" Target="../media/image87.png"/><Relationship Id="rId12" Type="http://schemas.openxmlformats.org/officeDocument/2006/relationships/image" Target="../media/image92.png"/><Relationship Id="rId17" Type="http://schemas.openxmlformats.org/officeDocument/2006/relationships/image" Target="../media/image97.png"/><Relationship Id="rId25" Type="http://schemas.openxmlformats.org/officeDocument/2006/relationships/image" Target="../media/image104.png"/><Relationship Id="rId33" Type="http://schemas.openxmlformats.org/officeDocument/2006/relationships/image" Target="../media/image11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96.png"/><Relationship Id="rId20" Type="http://schemas.openxmlformats.org/officeDocument/2006/relationships/image" Target="../media/image33.png"/><Relationship Id="rId29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11" Type="http://schemas.openxmlformats.org/officeDocument/2006/relationships/image" Target="../media/image91.png"/><Relationship Id="rId24" Type="http://schemas.openxmlformats.org/officeDocument/2006/relationships/image" Target="../media/image103.png"/><Relationship Id="rId32" Type="http://schemas.openxmlformats.org/officeDocument/2006/relationships/image" Target="../media/image111.png"/><Relationship Id="rId5" Type="http://schemas.openxmlformats.org/officeDocument/2006/relationships/image" Target="../media/image85.png"/><Relationship Id="rId15" Type="http://schemas.openxmlformats.org/officeDocument/2006/relationships/image" Target="../media/image95.png"/><Relationship Id="rId23" Type="http://schemas.openxmlformats.org/officeDocument/2006/relationships/image" Target="../media/image102.png"/><Relationship Id="rId28" Type="http://schemas.openxmlformats.org/officeDocument/2006/relationships/image" Target="../media/image107.png"/><Relationship Id="rId36" Type="http://schemas.openxmlformats.org/officeDocument/2006/relationships/image" Target="../media/image115.png"/><Relationship Id="rId10" Type="http://schemas.openxmlformats.org/officeDocument/2006/relationships/image" Target="../media/image90.png"/><Relationship Id="rId19" Type="http://schemas.openxmlformats.org/officeDocument/2006/relationships/image" Target="../media/image99.png"/><Relationship Id="rId31" Type="http://schemas.openxmlformats.org/officeDocument/2006/relationships/image" Target="../media/image110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Relationship Id="rId14" Type="http://schemas.openxmlformats.org/officeDocument/2006/relationships/image" Target="../media/image94.png"/><Relationship Id="rId22" Type="http://schemas.openxmlformats.org/officeDocument/2006/relationships/image" Target="../media/image101.png"/><Relationship Id="rId27" Type="http://schemas.openxmlformats.org/officeDocument/2006/relationships/image" Target="../media/image106.png"/><Relationship Id="rId30" Type="http://schemas.openxmlformats.org/officeDocument/2006/relationships/image" Target="../media/image109.png"/><Relationship Id="rId35" Type="http://schemas.openxmlformats.org/officeDocument/2006/relationships/image" Target="../media/image114.png"/><Relationship Id="rId8" Type="http://schemas.openxmlformats.org/officeDocument/2006/relationships/image" Target="../media/image8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353" y="48101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5333" y="4810125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9385" y="48101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08664" y="4810125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자전거 대여 수요 예측 분석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4097893" y="5191125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5007977" y="5191125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5957367" y="5191125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6973788" y="5191125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2025-12-17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20029C5-06A1-4D3D-AAB2-228578A29061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723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93" y="1876425"/>
            <a:ext cx="5600700" cy="1562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590800"/>
            <a:ext cx="133350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819400"/>
            <a:ext cx="133350" cy="1333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3048000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828800"/>
            <a:ext cx="5600700" cy="1562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590800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8194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30480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" y="3619500"/>
            <a:ext cx="5600700" cy="1562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381500"/>
            <a:ext cx="133350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61010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83870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619500"/>
            <a:ext cx="5600700" cy="15621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381500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6101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838700"/>
            <a:ext cx="13335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" y="5505450"/>
            <a:ext cx="11430000" cy="1104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5724525"/>
            <a:ext cx="133350" cy="1714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6057900"/>
            <a:ext cx="1209675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3900" y="6172200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33575" y="6057900"/>
            <a:ext cx="1247775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85975" y="6172200"/>
            <a:ext cx="171450" cy="1333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33750" y="6057900"/>
            <a:ext cx="1743075" cy="342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6150" y="6172200"/>
            <a:ext cx="133350" cy="1333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29225" y="6057900"/>
            <a:ext cx="1209675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1625" y="6172200"/>
            <a:ext cx="133350" cy="13335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OpenMind 팀 소개</a:t>
            </a:r>
            <a:endParaRPr lang="en-US" sz="2250" dirty="0"/>
          </a:p>
        </p:txBody>
      </p:sp>
      <p:sp>
        <p:nvSpPr>
          <p:cNvPr id="40" name="Text 1"/>
          <p:cNvSpPr/>
          <p:nvPr/>
        </p:nvSpPr>
        <p:spPr>
          <a:xfrm>
            <a:off x="381000" y="1066800"/>
            <a:ext cx="11430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OpenMind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명과 석사과정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팀원으로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구성되었습니다. 각 팀원의 전문 분야를 바탕으로 자전거 대여 수요 예측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진행 하겠습니다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2"/>
          <p:cNvSpPr/>
          <p:nvPr/>
        </p:nvSpPr>
        <p:spPr>
          <a:xfrm>
            <a:off x="11525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이해선 </a:t>
            </a:r>
            <a:endParaRPr lang="en-US" sz="1350" dirty="0"/>
          </a:p>
        </p:txBody>
      </p:sp>
      <p:sp>
        <p:nvSpPr>
          <p:cNvPr id="42" name="Text 3"/>
          <p:cNvSpPr/>
          <p:nvPr/>
        </p:nvSpPr>
        <p:spPr>
          <a:xfrm>
            <a:off x="11525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2025154003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13620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심텍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1362075" y="2781300"/>
            <a:ext cx="2137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프로세스 개발 및 설비 개발 투자</a:t>
            </a:r>
            <a:endParaRPr lang="en-US" sz="1050" dirty="0"/>
          </a:p>
        </p:txBody>
      </p:sp>
      <p:sp>
        <p:nvSpPr>
          <p:cNvPr id="45" name="Text 6"/>
          <p:cNvSpPr/>
          <p:nvPr/>
        </p:nvSpPr>
        <p:spPr>
          <a:xfrm>
            <a:off x="1362075" y="3009900"/>
            <a:ext cx="29328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 회로 기판 개발 제품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수율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공정능력 개선 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69818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박정수</a:t>
            </a:r>
            <a:endParaRPr lang="en-US" sz="1350" dirty="0"/>
          </a:p>
        </p:txBody>
      </p:sp>
      <p:sp>
        <p:nvSpPr>
          <p:cNvPr id="47" name="Text 8"/>
          <p:cNvSpPr/>
          <p:nvPr/>
        </p:nvSpPr>
        <p:spPr>
          <a:xfrm>
            <a:off x="69818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2025154004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71913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에니아소프트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7191375" y="27813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현황 관리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7191374" y="3009900"/>
            <a:ext cx="2009775" cy="133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아이템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1152525" y="3810000"/>
            <a:ext cx="19716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이원표</a:t>
            </a:r>
            <a:endParaRPr lang="en-US" sz="1350" dirty="0"/>
          </a:p>
        </p:txBody>
      </p:sp>
      <p:sp>
        <p:nvSpPr>
          <p:cNvPr id="52" name="Text 13"/>
          <p:cNvSpPr/>
          <p:nvPr/>
        </p:nvSpPr>
        <p:spPr>
          <a:xfrm>
            <a:off x="1152525" y="4076700"/>
            <a:ext cx="23660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2025254021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1362075" y="4343400"/>
            <a:ext cx="20459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세노텍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1362075" y="45720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엔지니어링 개발 총괄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1362075" y="4800600"/>
            <a:ext cx="16573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개발 및 기술 전략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6981825" y="3810000"/>
            <a:ext cx="22193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전양호</a:t>
            </a:r>
            <a:endParaRPr lang="en-US" sz="1350" dirty="0"/>
          </a:p>
        </p:txBody>
      </p:sp>
      <p:sp>
        <p:nvSpPr>
          <p:cNvPr id="57" name="Text 18"/>
          <p:cNvSpPr/>
          <p:nvPr/>
        </p:nvSpPr>
        <p:spPr>
          <a:xfrm>
            <a:off x="7037070" y="4076700"/>
            <a:ext cx="2663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2025254002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7191375" y="4343400"/>
            <a:ext cx="2194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에이브이지니어스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7191375" y="4572000"/>
            <a:ext cx="24117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 및 무인 이동체 제어 인터페이스 개발</a:t>
            </a:r>
            <a:endParaRPr lang="en-US" sz="1050" dirty="0"/>
          </a:p>
        </p:txBody>
      </p:sp>
      <p:sp>
        <p:nvSpPr>
          <p:cNvPr id="60" name="Text 21"/>
          <p:cNvSpPr/>
          <p:nvPr/>
        </p:nvSpPr>
        <p:spPr>
          <a:xfrm>
            <a:off x="7191375" y="4800600"/>
            <a:ext cx="23088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원격 제어 및 데이터 통신 최적화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781050" y="56769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핵심 가치</a:t>
            </a:r>
            <a:endParaRPr lang="en-US" sz="1350" dirty="0"/>
          </a:p>
        </p:txBody>
      </p:sp>
      <p:sp>
        <p:nvSpPr>
          <p:cNvPr id="62" name="Text 23"/>
          <p:cNvSpPr/>
          <p:nvPr/>
        </p:nvSpPr>
        <p:spPr>
          <a:xfrm>
            <a:off x="933450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혁신적 사고</a:t>
            </a:r>
            <a:endParaRPr lang="en-US" sz="1050" dirty="0"/>
          </a:p>
        </p:txBody>
      </p:sp>
      <p:sp>
        <p:nvSpPr>
          <p:cNvPr id="63" name="Text 24"/>
          <p:cNvSpPr/>
          <p:nvPr/>
        </p:nvSpPr>
        <p:spPr>
          <a:xfrm>
            <a:off x="2333625" y="6057900"/>
            <a:ext cx="12477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협업과 소통</a:t>
            </a:r>
            <a:endParaRPr lang="en-US" sz="1050" dirty="0"/>
          </a:p>
        </p:txBody>
      </p:sp>
      <p:sp>
        <p:nvSpPr>
          <p:cNvPr id="64" name="Text 25"/>
          <p:cNvSpPr/>
          <p:nvPr/>
        </p:nvSpPr>
        <p:spPr>
          <a:xfrm>
            <a:off x="3695700" y="6057900"/>
            <a:ext cx="209169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기반 의사결정</a:t>
            </a:r>
            <a:endParaRPr lang="en-US" sz="1050" dirty="0"/>
          </a:p>
        </p:txBody>
      </p:sp>
      <p:sp>
        <p:nvSpPr>
          <p:cNvPr id="65" name="Text 26"/>
          <p:cNvSpPr/>
          <p:nvPr/>
        </p:nvSpPr>
        <p:spPr>
          <a:xfrm>
            <a:off x="5591175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지속적 성장</a:t>
            </a:r>
            <a:endParaRPr lang="en-US" sz="1050" dirty="0"/>
          </a:p>
        </p:txBody>
      </p:sp>
      <p:sp>
        <p:nvSpPr>
          <p:cNvPr id="66" name="Text 27"/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1/5</a:t>
            </a:r>
            <a:endParaRPr lang="en-US" sz="1050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08602201-5596-4126-A1F9-3972FD1C5170}"/>
              </a:ext>
            </a:extLst>
          </p:cNvPr>
          <p:cNvSpPr/>
          <p:nvPr/>
        </p:nvSpPr>
        <p:spPr>
          <a:xfrm>
            <a:off x="609600" y="2015490"/>
            <a:ext cx="428625" cy="571500"/>
          </a:xfrm>
          <a:prstGeom prst="ellipse">
            <a:avLst/>
          </a:prstGeom>
          <a:blipFill>
            <a:blip r:embed="rId21"/>
            <a:stretch>
              <a:fillRect/>
            </a:stretch>
          </a:blip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281030B-40A7-4304-B389-F7EFA8CCE4B5}"/>
              </a:ext>
            </a:extLst>
          </p:cNvPr>
          <p:cNvSpPr/>
          <p:nvPr/>
        </p:nvSpPr>
        <p:spPr>
          <a:xfrm>
            <a:off x="6414136" y="2015490"/>
            <a:ext cx="428625" cy="571500"/>
          </a:xfrm>
          <a:prstGeom prst="ellipse">
            <a:avLst/>
          </a:prstGeom>
          <a:blipFill>
            <a:blip r:embed="rId22"/>
            <a:stretch>
              <a:fillRect/>
            </a:stretch>
          </a:blip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AFABCEF-49AE-4BE1-9804-A8EC0C12A966}"/>
              </a:ext>
            </a:extLst>
          </p:cNvPr>
          <p:cNvSpPr/>
          <p:nvPr/>
        </p:nvSpPr>
        <p:spPr>
          <a:xfrm>
            <a:off x="604838" y="3810000"/>
            <a:ext cx="428625" cy="571500"/>
          </a:xfrm>
          <a:prstGeom prst="ellipse">
            <a:avLst/>
          </a:prstGeom>
          <a:blipFill>
            <a:blip r:embed="rId2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7F8B4E0-A88F-47EE-BAC3-B163AB87376F}"/>
              </a:ext>
            </a:extLst>
          </p:cNvPr>
          <p:cNvSpPr/>
          <p:nvPr/>
        </p:nvSpPr>
        <p:spPr>
          <a:xfrm>
            <a:off x="6488430" y="3813810"/>
            <a:ext cx="428625" cy="571500"/>
          </a:xfrm>
          <a:prstGeom prst="ellipse">
            <a:avLst/>
          </a:prstGeom>
          <a:blipFill>
            <a:blip r:embed="rId24"/>
            <a:stretch>
              <a:fillRect/>
            </a:stretch>
          </a:blip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5600700" cy="2819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09700"/>
            <a:ext cx="238125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8288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2098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194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290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143000"/>
            <a:ext cx="5600700" cy="2819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1409700"/>
            <a:ext cx="171450" cy="19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1790700"/>
            <a:ext cx="3048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191452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0" y="25146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8900" y="2857500"/>
            <a:ext cx="2667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2981325"/>
            <a:ext cx="1143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9900" y="3390900"/>
            <a:ext cx="104775" cy="13335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개요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와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목적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962025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목적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838200" y="1790700"/>
            <a:ext cx="5600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공유 시스템의 운영 효율성을 극대화하기 위해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</a:t>
            </a:r>
            <a:endParaRPr lang="en-US" sz="1200" dirty="0"/>
          </a:p>
        </p:txBody>
      </p:sp>
      <p:sp>
        <p:nvSpPr>
          <p:cNvPr id="22" name="Text 3"/>
          <p:cNvSpPr/>
          <p:nvPr/>
        </p:nvSpPr>
        <p:spPr>
          <a:xfrm>
            <a:off x="838200" y="21717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날씨, 시간, 요일, 계절 등 다양한 환경 요인이 자전거 대여 수요에 미치는 영향 분석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838200" y="27813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Dataset과 서울시 따릉이 데이터를 활용한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기반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838200" y="3390900"/>
            <a:ext cx="5303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모델을 바탕으로 실제 운영 환경에 적용할 수 있는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방안 제시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24650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6858000" y="17907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6858000" y="20574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시스템에서 2011년부터 2012년까지 기록된 시간별(hour.csv) 및 일별(day.csv) 자전거 대여량 정보</a:t>
            </a:r>
            <a:endParaRPr lang="en-US" sz="1050" dirty="0"/>
          </a:p>
        </p:txBody>
      </p:sp>
      <p:sp>
        <p:nvSpPr>
          <p:cNvPr id="28" name="Text 9"/>
          <p:cNvSpPr/>
          <p:nvPr/>
        </p:nvSpPr>
        <p:spPr>
          <a:xfrm>
            <a:off x="7029450" y="24765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기온, 습도, 풍속, 날씨, 계절, 휴일, 근무일, 시간 등</a:t>
            </a:r>
            <a:endParaRPr lang="en-US" sz="1050" dirty="0"/>
          </a:p>
        </p:txBody>
      </p:sp>
      <p:sp>
        <p:nvSpPr>
          <p:cNvPr id="29" name="Text 10"/>
          <p:cNvSpPr/>
          <p:nvPr/>
        </p:nvSpPr>
        <p:spPr>
          <a:xfrm>
            <a:off x="6819900" y="28575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 대여 이력 (보너스 데이터)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6819900" y="31242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31" name="Text 12"/>
          <p:cNvSpPr/>
          <p:nvPr/>
        </p:nvSpPr>
        <p:spPr>
          <a:xfrm>
            <a:off x="6962775" y="3352800"/>
            <a:ext cx="47625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출퇴근 패턴, 요일별 이용 차이, 특정 대여소의 자전거 불균형 문제 등 인사이트 도출</a:t>
            </a:r>
            <a:endParaRPr lang="en-US" sz="1050" dirty="0"/>
          </a:p>
        </p:txBody>
      </p:sp>
      <p:pic>
        <p:nvPicPr>
          <p:cNvPr id="33" name="Image 36" descr="preencoded.png">
            <a:extLst>
              <a:ext uri="{FF2B5EF4-FFF2-40B4-BE49-F238E27FC236}">
                <a16:creationId xmlns:a16="http://schemas.microsoft.com/office/drawing/2014/main" id="{28588AFC-3BD1-45E3-BE7B-C0F1394B145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4" name="Text 27">
            <a:extLst>
              <a:ext uri="{FF2B5EF4-FFF2-40B4-BE49-F238E27FC236}">
                <a16:creationId xmlns:a16="http://schemas.microsoft.com/office/drawing/2014/main" id="{55087C57-0F6E-43E8-8F40-DE7ED2E0E0AE}"/>
              </a:ext>
            </a:extLst>
          </p:cNvPr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2/5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876300"/>
            <a:ext cx="11582400" cy="2781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8700"/>
            <a:ext cx="112776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28700"/>
            <a:ext cx="955625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2825" y="1028700"/>
            <a:ext cx="2293739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6564" y="1028700"/>
            <a:ext cx="5734348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0912" y="1028700"/>
            <a:ext cx="2293888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371600"/>
            <a:ext cx="955625" cy="533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524000"/>
            <a:ext cx="228600" cy="228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371600"/>
            <a:ext cx="2293739" cy="533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371600"/>
            <a:ext cx="5734348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150495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371600"/>
            <a:ext cx="2293888" cy="533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905000"/>
            <a:ext cx="955625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057400"/>
            <a:ext cx="2286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905000"/>
            <a:ext cx="2293739" cy="533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905000"/>
            <a:ext cx="5734348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03835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905000"/>
            <a:ext cx="2293888" cy="533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438400"/>
            <a:ext cx="955625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2590800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438400"/>
            <a:ext cx="2293739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438400"/>
            <a:ext cx="5734348" cy="533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57175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438400"/>
            <a:ext cx="2293888" cy="533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971800"/>
            <a:ext cx="955625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3124200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971800"/>
            <a:ext cx="2293739" cy="533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971800"/>
            <a:ext cx="5734348" cy="533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3105150"/>
            <a:ext cx="133350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971800"/>
            <a:ext cx="2293888" cy="533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800" y="3810000"/>
            <a:ext cx="11582400" cy="1371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010025"/>
            <a:ext cx="219075" cy="1714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4305300"/>
            <a:ext cx="1466850" cy="495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3400" y="4467225"/>
            <a:ext cx="180975" cy="1905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76450" y="4305300"/>
            <a:ext cx="1371600" cy="4953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52650" y="4467225"/>
            <a:ext cx="171450" cy="1905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00450" y="4305300"/>
            <a:ext cx="1504950" cy="4953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676650" y="4467225"/>
            <a:ext cx="142875" cy="1905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7200" y="4905375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44" name="Text 0"/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일정 (2025.11.13 ~ 2025.12.12)</a:t>
            </a:r>
            <a:endParaRPr lang="en-US" sz="2250" dirty="0"/>
          </a:p>
        </p:txBody>
      </p:sp>
      <p:sp>
        <p:nvSpPr>
          <p:cNvPr id="45" name="Text 1"/>
          <p:cNvSpPr/>
          <p:nvPr/>
        </p:nvSpPr>
        <p:spPr>
          <a:xfrm>
            <a:off x="571500" y="1028700"/>
            <a:ext cx="95562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주차</a:t>
            </a:r>
            <a:endParaRPr lang="en-US" sz="1050" dirty="0"/>
          </a:p>
        </p:txBody>
      </p:sp>
      <p:sp>
        <p:nvSpPr>
          <p:cNvPr id="46" name="Text 2"/>
          <p:cNvSpPr/>
          <p:nvPr/>
        </p:nvSpPr>
        <p:spPr>
          <a:xfrm>
            <a:off x="1527125" y="1028700"/>
            <a:ext cx="22937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050" dirty="0"/>
          </a:p>
        </p:txBody>
      </p:sp>
      <p:sp>
        <p:nvSpPr>
          <p:cNvPr id="47" name="Text 3"/>
          <p:cNvSpPr/>
          <p:nvPr/>
        </p:nvSpPr>
        <p:spPr>
          <a:xfrm>
            <a:off x="3820864" y="1028700"/>
            <a:ext cx="573434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작업</a:t>
            </a:r>
            <a:endParaRPr lang="en-US" sz="1050" dirty="0"/>
          </a:p>
        </p:txBody>
      </p:sp>
      <p:sp>
        <p:nvSpPr>
          <p:cNvPr id="48" name="Text 4"/>
          <p:cNvSpPr/>
          <p:nvPr/>
        </p:nvSpPr>
        <p:spPr>
          <a:xfrm>
            <a:off x="9555212" y="1028700"/>
            <a:ext cx="229388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 / 방식</a:t>
            </a:r>
            <a:endParaRPr lang="en-US" sz="1050" dirty="0"/>
          </a:p>
        </p:txBody>
      </p:sp>
      <p:sp>
        <p:nvSpPr>
          <p:cNvPr id="49" name="Text 5"/>
          <p:cNvSpPr/>
          <p:nvPr/>
        </p:nvSpPr>
        <p:spPr>
          <a:xfrm>
            <a:off x="652463" y="15240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Text 6"/>
          <p:cNvSpPr/>
          <p:nvPr/>
        </p:nvSpPr>
        <p:spPr>
          <a:xfrm>
            <a:off x="1527125" y="13716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11.13 ~ 11.19</a:t>
            </a:r>
            <a:endParaRPr lang="en-US" sz="1050" dirty="0"/>
          </a:p>
        </p:txBody>
      </p:sp>
      <p:sp>
        <p:nvSpPr>
          <p:cNvPr id="51" name="Text 7"/>
          <p:cNvSpPr/>
          <p:nvPr/>
        </p:nvSpPr>
        <p:spPr>
          <a:xfrm>
            <a:off x="3992314" y="1466850"/>
            <a:ext cx="30003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050" dirty="0"/>
          </a:p>
        </p:txBody>
      </p:sp>
      <p:sp>
        <p:nvSpPr>
          <p:cNvPr id="52" name="Text 8"/>
          <p:cNvSpPr/>
          <p:nvPr/>
        </p:nvSpPr>
        <p:spPr>
          <a:xfrm>
            <a:off x="3992314" y="1657350"/>
            <a:ext cx="36004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Kaggle/UCI 데이터, 날씨·시간대 데이터 병합, 결측치·형식 통일</a:t>
            </a:r>
            <a:endParaRPr lang="en-US" sz="900" dirty="0"/>
          </a:p>
        </p:txBody>
      </p:sp>
      <p:sp>
        <p:nvSpPr>
          <p:cNvPr id="53" name="Text 9"/>
          <p:cNvSpPr/>
          <p:nvPr/>
        </p:nvSpPr>
        <p:spPr>
          <a:xfrm>
            <a:off x="9555212" y="1447800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전체 협업</a:t>
            </a:r>
            <a:endParaRPr lang="en-US" sz="1050" dirty="0"/>
          </a:p>
        </p:txBody>
      </p:sp>
      <p:sp>
        <p:nvSpPr>
          <p:cNvPr id="54" name="Text 10"/>
          <p:cNvSpPr/>
          <p:nvPr/>
        </p:nvSpPr>
        <p:spPr>
          <a:xfrm>
            <a:off x="10250537" y="14478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55" name="Text 11"/>
          <p:cNvSpPr/>
          <p:nvPr/>
        </p:nvSpPr>
        <p:spPr>
          <a:xfrm>
            <a:off x="9555212" y="1657350"/>
            <a:ext cx="112014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Drive / Git</a:t>
            </a:r>
            <a:endParaRPr lang="en-US" sz="900" dirty="0"/>
          </a:p>
        </p:txBody>
      </p:sp>
      <p:sp>
        <p:nvSpPr>
          <p:cNvPr id="56" name="Text 12"/>
          <p:cNvSpPr/>
          <p:nvPr/>
        </p:nvSpPr>
        <p:spPr>
          <a:xfrm>
            <a:off x="652463" y="20574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13"/>
          <p:cNvSpPr/>
          <p:nvPr/>
        </p:nvSpPr>
        <p:spPr>
          <a:xfrm>
            <a:off x="1527125" y="19050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11.20 ~ 11.26</a:t>
            </a:r>
            <a:endParaRPr lang="en-US" sz="1050" dirty="0"/>
          </a:p>
        </p:txBody>
      </p:sp>
      <p:sp>
        <p:nvSpPr>
          <p:cNvPr id="58" name="Text 14"/>
          <p:cNvSpPr/>
          <p:nvPr/>
        </p:nvSpPr>
        <p:spPr>
          <a:xfrm>
            <a:off x="3992314" y="2000250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및 EDA 공동 진행</a:t>
            </a:r>
            <a:endParaRPr lang="en-US" sz="1050" dirty="0"/>
          </a:p>
        </p:txBody>
      </p:sp>
      <p:sp>
        <p:nvSpPr>
          <p:cNvPr id="59" name="Text 15"/>
          <p:cNvSpPr/>
          <p:nvPr/>
        </p:nvSpPr>
        <p:spPr>
          <a:xfrm>
            <a:off x="3992314" y="2190750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IQR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처리, 범주형 인코딩, EDA Notebook 작성, 베이스라인 모델 공유</a:t>
            </a:r>
            <a:endParaRPr lang="en-US" sz="900" dirty="0"/>
          </a:p>
        </p:txBody>
      </p:sp>
      <p:sp>
        <p:nvSpPr>
          <p:cNvPr id="60" name="Text 16"/>
          <p:cNvSpPr/>
          <p:nvPr/>
        </p:nvSpPr>
        <p:spPr>
          <a:xfrm>
            <a:off x="9555212" y="1981200"/>
            <a:ext cx="9829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전원 동일 환경</a:t>
            </a:r>
            <a:endParaRPr lang="en-US" sz="1050" dirty="0"/>
          </a:p>
        </p:txBody>
      </p:sp>
      <p:sp>
        <p:nvSpPr>
          <p:cNvPr id="61" name="Text 17"/>
          <p:cNvSpPr/>
          <p:nvPr/>
        </p:nvSpPr>
        <p:spPr>
          <a:xfrm>
            <a:off x="10374362" y="19812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2" name="Text 18"/>
          <p:cNvSpPr/>
          <p:nvPr/>
        </p:nvSpPr>
        <p:spPr>
          <a:xfrm>
            <a:off x="9555212" y="2190750"/>
            <a:ext cx="98298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/ VSCode</a:t>
            </a:r>
            <a:endParaRPr lang="en-US" sz="900" dirty="0"/>
          </a:p>
        </p:txBody>
      </p:sp>
      <p:sp>
        <p:nvSpPr>
          <p:cNvPr id="63" name="Text 19"/>
          <p:cNvSpPr/>
          <p:nvPr/>
        </p:nvSpPr>
        <p:spPr>
          <a:xfrm>
            <a:off x="652463" y="25908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64" name="Text 20"/>
          <p:cNvSpPr/>
          <p:nvPr/>
        </p:nvSpPr>
        <p:spPr>
          <a:xfrm>
            <a:off x="1527125" y="24384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11.27 ~ 12.03</a:t>
            </a:r>
            <a:endParaRPr lang="en-US" sz="1050" dirty="0"/>
          </a:p>
        </p:txBody>
      </p:sp>
      <p:sp>
        <p:nvSpPr>
          <p:cNvPr id="65" name="Text 21"/>
          <p:cNvSpPr/>
          <p:nvPr/>
        </p:nvSpPr>
        <p:spPr>
          <a:xfrm>
            <a:off x="3992314" y="2533650"/>
            <a:ext cx="50387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모델링</a:t>
            </a:r>
            <a:endParaRPr lang="en-US" sz="1050" dirty="0"/>
          </a:p>
        </p:txBody>
      </p:sp>
      <p:sp>
        <p:nvSpPr>
          <p:cNvPr id="66" name="Text 22"/>
          <p:cNvSpPr/>
          <p:nvPr/>
        </p:nvSpPr>
        <p:spPr>
          <a:xfrm>
            <a:off x="3992314" y="2724150"/>
            <a:ext cx="6046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LightGBM, XGBoost,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적용, 동일 train/valid split, MAE/RMSE 비교</a:t>
            </a:r>
            <a:endParaRPr lang="en-US" sz="900" dirty="0"/>
          </a:p>
        </p:txBody>
      </p:sp>
      <p:sp>
        <p:nvSpPr>
          <p:cNvPr id="67" name="Text 23"/>
          <p:cNvSpPr/>
          <p:nvPr/>
        </p:nvSpPr>
        <p:spPr>
          <a:xfrm>
            <a:off x="9555212" y="25146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개인별 분담</a:t>
            </a:r>
            <a:endParaRPr lang="en-US" sz="1050" dirty="0"/>
          </a:p>
        </p:txBody>
      </p:sp>
      <p:sp>
        <p:nvSpPr>
          <p:cNvPr id="68" name="Text 24"/>
          <p:cNvSpPr/>
          <p:nvPr/>
        </p:nvSpPr>
        <p:spPr>
          <a:xfrm>
            <a:off x="10212437" y="25146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9" name="Text 25"/>
          <p:cNvSpPr/>
          <p:nvPr/>
        </p:nvSpPr>
        <p:spPr>
          <a:xfrm>
            <a:off x="9555212" y="2724150"/>
            <a:ext cx="110871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 담당 모델 개발</a:t>
            </a:r>
            <a:endParaRPr lang="en-US" sz="900" dirty="0"/>
          </a:p>
        </p:txBody>
      </p:sp>
      <p:sp>
        <p:nvSpPr>
          <p:cNvPr id="70" name="Text 26"/>
          <p:cNvSpPr/>
          <p:nvPr/>
        </p:nvSpPr>
        <p:spPr>
          <a:xfrm>
            <a:off x="652463" y="31242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27"/>
          <p:cNvSpPr/>
          <p:nvPr/>
        </p:nvSpPr>
        <p:spPr>
          <a:xfrm>
            <a:off x="1527125" y="29718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12.04 ~ 12.12</a:t>
            </a:r>
            <a:endParaRPr lang="en-US" sz="1050" dirty="0"/>
          </a:p>
        </p:txBody>
      </p:sp>
      <p:sp>
        <p:nvSpPr>
          <p:cNvPr id="72" name="Text 28"/>
          <p:cNvSpPr/>
          <p:nvPr/>
        </p:nvSpPr>
        <p:spPr>
          <a:xfrm>
            <a:off x="3992314" y="3067050"/>
            <a:ext cx="3924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050" dirty="0"/>
          </a:p>
        </p:txBody>
      </p:sp>
      <p:sp>
        <p:nvSpPr>
          <p:cNvPr id="73" name="Text 29"/>
          <p:cNvSpPr/>
          <p:nvPr/>
        </p:nvSpPr>
        <p:spPr>
          <a:xfrm>
            <a:off x="3992314" y="3257550"/>
            <a:ext cx="47091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Weighted Average 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</a:t>
            </a:r>
            <a:r>
              <a:rPr lang="en-US" altLang="ko-KR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해석, 결과 보고서 작성</a:t>
            </a:r>
            <a:endParaRPr lang="en-US" sz="900" dirty="0"/>
          </a:p>
        </p:txBody>
      </p:sp>
      <p:sp>
        <p:nvSpPr>
          <p:cNvPr id="74" name="Text 30"/>
          <p:cNvSpPr/>
          <p:nvPr/>
        </p:nvSpPr>
        <p:spPr>
          <a:xfrm>
            <a:off x="9555212" y="3048000"/>
            <a:ext cx="4914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통합</a:t>
            </a:r>
            <a:endParaRPr lang="en-US" sz="1050" dirty="0"/>
          </a:p>
        </p:txBody>
      </p:sp>
      <p:sp>
        <p:nvSpPr>
          <p:cNvPr id="75" name="Text 31"/>
          <p:cNvSpPr/>
          <p:nvPr/>
        </p:nvSpPr>
        <p:spPr>
          <a:xfrm>
            <a:off x="9964787" y="30480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76" name="Text 32"/>
          <p:cNvSpPr/>
          <p:nvPr/>
        </p:nvSpPr>
        <p:spPr>
          <a:xfrm>
            <a:off x="9555212" y="3257550"/>
            <a:ext cx="94869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 완성</a:t>
            </a:r>
            <a:endParaRPr lang="en-US" sz="900" dirty="0"/>
          </a:p>
        </p:txBody>
      </p:sp>
      <p:sp>
        <p:nvSpPr>
          <p:cNvPr id="77" name="Text 33"/>
          <p:cNvSpPr/>
          <p:nvPr/>
        </p:nvSpPr>
        <p:spPr>
          <a:xfrm>
            <a:off x="752475" y="3962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방식</a:t>
            </a:r>
            <a:endParaRPr lang="en-US" sz="1350" dirty="0"/>
          </a:p>
        </p:txBody>
      </p:sp>
      <p:sp>
        <p:nvSpPr>
          <p:cNvPr id="78" name="Text 34"/>
          <p:cNvSpPr/>
          <p:nvPr/>
        </p:nvSpPr>
        <p:spPr>
          <a:xfrm>
            <a:off x="790575" y="4381500"/>
            <a:ext cx="10572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050" dirty="0"/>
          </a:p>
        </p:txBody>
      </p:sp>
      <p:sp>
        <p:nvSpPr>
          <p:cNvPr id="79" name="Text 35"/>
          <p:cNvSpPr/>
          <p:nvPr/>
        </p:nvSpPr>
        <p:spPr>
          <a:xfrm>
            <a:off x="790575" y="4572000"/>
            <a:ext cx="126873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및 코드 공유</a:t>
            </a:r>
            <a:endParaRPr lang="en-US" sz="900" dirty="0"/>
          </a:p>
        </p:txBody>
      </p:sp>
      <p:sp>
        <p:nvSpPr>
          <p:cNvPr id="80" name="Text 36"/>
          <p:cNvSpPr/>
          <p:nvPr/>
        </p:nvSpPr>
        <p:spPr>
          <a:xfrm>
            <a:off x="2400300" y="43815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Slack</a:t>
            </a:r>
            <a:endParaRPr lang="en-US" sz="1050" dirty="0"/>
          </a:p>
        </p:txBody>
      </p:sp>
      <p:sp>
        <p:nvSpPr>
          <p:cNvPr id="81" name="Text 37"/>
          <p:cNvSpPr/>
          <p:nvPr/>
        </p:nvSpPr>
        <p:spPr>
          <a:xfrm>
            <a:off x="2400300" y="4572000"/>
            <a:ext cx="11658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커뮤니케이션</a:t>
            </a:r>
            <a:endParaRPr lang="en-US" sz="900" dirty="0"/>
          </a:p>
        </p:txBody>
      </p:sp>
      <p:sp>
        <p:nvSpPr>
          <p:cNvPr id="82" name="Text 38"/>
          <p:cNvSpPr/>
          <p:nvPr/>
        </p:nvSpPr>
        <p:spPr>
          <a:xfrm>
            <a:off x="3895725" y="4381500"/>
            <a:ext cx="11334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</a:t>
            </a:r>
            <a:endParaRPr lang="en-US" sz="1050" dirty="0"/>
          </a:p>
        </p:txBody>
      </p:sp>
      <p:sp>
        <p:nvSpPr>
          <p:cNvPr id="83" name="Text 39"/>
          <p:cNvSpPr/>
          <p:nvPr/>
        </p:nvSpPr>
        <p:spPr>
          <a:xfrm>
            <a:off x="3895725" y="4572000"/>
            <a:ext cx="13601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및 프로젝트 관리</a:t>
            </a:r>
            <a:endParaRPr lang="en-US" sz="900" dirty="0"/>
          </a:p>
        </p:txBody>
      </p:sp>
      <p:sp>
        <p:nvSpPr>
          <p:cNvPr id="84" name="Text 40"/>
          <p:cNvSpPr/>
          <p:nvPr/>
        </p:nvSpPr>
        <p:spPr>
          <a:xfrm>
            <a:off x="609600" y="4876800"/>
            <a:ext cx="112776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협업 툴을 활용한 효율적인 프로젝트 관리로 팀원 간 원활한 소통과 일정 준수를 실현합니다.</a:t>
            </a:r>
            <a:endParaRPr lang="en-US" sz="900" dirty="0"/>
          </a:p>
        </p:txBody>
      </p:sp>
      <p:sp>
        <p:nvSpPr>
          <p:cNvPr id="85" name="Text 41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86" name="Image 38" descr="preencoded.png">
            <a:extLst>
              <a:ext uri="{FF2B5EF4-FFF2-40B4-BE49-F238E27FC236}">
                <a16:creationId xmlns:a16="http://schemas.microsoft.com/office/drawing/2014/main" id="{696E4436-3CDF-4D04-A5D2-FC29C6C9C5DF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10175" y="4314825"/>
            <a:ext cx="1504950" cy="495300"/>
          </a:xfrm>
          <a:prstGeom prst="rect">
            <a:avLst/>
          </a:prstGeom>
        </p:spPr>
      </p:pic>
      <p:sp>
        <p:nvSpPr>
          <p:cNvPr id="87" name="Text 38">
            <a:extLst>
              <a:ext uri="{FF2B5EF4-FFF2-40B4-BE49-F238E27FC236}">
                <a16:creationId xmlns:a16="http://schemas.microsoft.com/office/drawing/2014/main" id="{31E80D66-4582-4C5A-A79A-89D75D066CB5}"/>
              </a:ext>
            </a:extLst>
          </p:cNvPr>
          <p:cNvSpPr/>
          <p:nvPr/>
        </p:nvSpPr>
        <p:spPr>
          <a:xfrm>
            <a:off x="5505450" y="4391025"/>
            <a:ext cx="11334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MS365</a:t>
            </a:r>
            <a:endParaRPr lang="en-US" sz="1050" dirty="0"/>
          </a:p>
        </p:txBody>
      </p:sp>
      <p:sp>
        <p:nvSpPr>
          <p:cNvPr id="88" name="Text 39">
            <a:extLst>
              <a:ext uri="{FF2B5EF4-FFF2-40B4-BE49-F238E27FC236}">
                <a16:creationId xmlns:a16="http://schemas.microsoft.com/office/drawing/2014/main" id="{72D52CB9-0DFA-4779-A61B-89222932A119}"/>
              </a:ext>
            </a:extLst>
          </p:cNvPr>
          <p:cNvSpPr/>
          <p:nvPr/>
        </p:nvSpPr>
        <p:spPr>
          <a:xfrm>
            <a:off x="5505450" y="4581525"/>
            <a:ext cx="13601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및 프로젝트 관리</a:t>
            </a:r>
            <a:endParaRPr lang="en-US" sz="900" dirty="0"/>
          </a:p>
        </p:txBody>
      </p:sp>
      <p:pic>
        <p:nvPicPr>
          <p:cNvPr id="91" name="Picture 4">
            <a:extLst>
              <a:ext uri="{FF2B5EF4-FFF2-40B4-BE49-F238E27FC236}">
                <a16:creationId xmlns:a16="http://schemas.microsoft.com/office/drawing/2014/main" id="{5CFB5B74-5AEA-4CF3-B891-172FCAE581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53" t="3947" r="21841" b="34211"/>
          <a:stretch/>
        </p:blipFill>
        <p:spPr bwMode="auto">
          <a:xfrm>
            <a:off x="5247084" y="4441031"/>
            <a:ext cx="215741" cy="22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20880" y="1638300"/>
            <a:ext cx="4099620" cy="1447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2819400"/>
            <a:ext cx="66675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20880" y="3238500"/>
            <a:ext cx="4099620" cy="1524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35180" y="3390900"/>
            <a:ext cx="1143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35180" y="3695700"/>
            <a:ext cx="133350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35180" y="3962400"/>
            <a:ext cx="133350" cy="1333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35180" y="4229100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35180" y="44958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 소개 및 변수 설명</a:t>
            </a:r>
            <a:endParaRPr lang="en-US" sz="2250" dirty="0"/>
          </a:p>
        </p:txBody>
      </p:sp>
      <p:sp>
        <p:nvSpPr>
          <p:cNvPr id="29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시스템에서 2011년부터 2012년까지 기록된 시간별 및 일별 자전거 대여량 정보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/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instant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인덱스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dteday</a:t>
            </a:r>
            <a:endParaRPr lang="en-US" sz="1050" dirty="0"/>
          </a:p>
        </p:txBody>
      </p:sp>
      <p:sp>
        <p:nvSpPr>
          <p:cNvPr id="40" name="Text 12"/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endParaRPr lang="en-US" sz="1050" dirty="0"/>
          </a:p>
        </p:txBody>
      </p:sp>
      <p:sp>
        <p:nvSpPr>
          <p:cNvPr id="42" name="Text 14"/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</a:t>
            </a:r>
            <a:endParaRPr lang="en-US" sz="1050" dirty="0"/>
          </a:p>
        </p:txBody>
      </p:sp>
      <p:sp>
        <p:nvSpPr>
          <p:cNvPr id="44" name="Text 16"/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5" name="Text 17"/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(1:겨울, 2:봄, 3:여름, 4:가을)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/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yr</a:t>
            </a:r>
            <a:endParaRPr lang="en-US" sz="1050" dirty="0"/>
          </a:p>
        </p:txBody>
      </p:sp>
      <p:sp>
        <p:nvSpPr>
          <p:cNvPr id="48" name="Text 20"/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9" name="Text 21"/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연도 (0: 2011, 1: 2012)</a:t>
            </a:r>
            <a:endParaRPr lang="en-US" sz="1050" dirty="0"/>
          </a:p>
        </p:txBody>
      </p:sp>
      <p:sp>
        <p:nvSpPr>
          <p:cNvPr id="50" name="Text 22"/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/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mnth</a:t>
            </a:r>
            <a:endParaRPr lang="en-US" sz="1050" dirty="0"/>
          </a:p>
        </p:txBody>
      </p:sp>
      <p:sp>
        <p:nvSpPr>
          <p:cNvPr id="52" name="Text 24"/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3" name="Text 25"/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(1~12)</a:t>
            </a:r>
            <a:endParaRPr lang="en-US" sz="1050" dirty="0"/>
          </a:p>
        </p:txBody>
      </p:sp>
      <p:sp>
        <p:nvSpPr>
          <p:cNvPr id="54" name="Text 26"/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hr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(0~23)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holiday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1" name="Text 33"/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공휴일 여부 (1:공휴일, 0:아님)</a:t>
            </a:r>
            <a:endParaRPr lang="en-US" sz="1050" dirty="0"/>
          </a:p>
        </p:txBody>
      </p:sp>
      <p:sp>
        <p:nvSpPr>
          <p:cNvPr id="62" name="Text 34"/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/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weekday</a:t>
            </a:r>
            <a:endParaRPr lang="en-US" sz="1050" dirty="0"/>
          </a:p>
        </p:txBody>
      </p:sp>
      <p:sp>
        <p:nvSpPr>
          <p:cNvPr id="64" name="Text 36"/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65" name="Text 37"/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</a:t>
            </a:r>
            <a:endParaRPr lang="en-US" sz="1050" dirty="0"/>
          </a:p>
        </p:txBody>
      </p:sp>
      <p:sp>
        <p:nvSpPr>
          <p:cNvPr id="66" name="Text 38"/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/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workingday</a:t>
            </a:r>
            <a:endParaRPr lang="en-US" sz="1050" dirty="0"/>
          </a:p>
        </p:txBody>
      </p:sp>
      <p:sp>
        <p:nvSpPr>
          <p:cNvPr id="68" name="Text 40"/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9" name="Text 41"/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근무일 여부 (1:근무일, 0:아님)</a:t>
            </a:r>
            <a:endParaRPr lang="en-US" sz="1050" dirty="0"/>
          </a:p>
        </p:txBody>
      </p:sp>
      <p:sp>
        <p:nvSpPr>
          <p:cNvPr id="70" name="Text 42"/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/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weathersit</a:t>
            </a:r>
            <a:endParaRPr lang="en-US" sz="1050" dirty="0"/>
          </a:p>
        </p:txBody>
      </p:sp>
      <p:sp>
        <p:nvSpPr>
          <p:cNvPr id="72" name="Text 44"/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73" name="Text 45"/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(1:맑음, 2:흐림/안개, 3:약한 눈/비, 4:폭우/폭설)</a:t>
            </a:r>
            <a:endParaRPr lang="en-US" sz="1050" dirty="0"/>
          </a:p>
        </p:txBody>
      </p:sp>
      <p:sp>
        <p:nvSpPr>
          <p:cNvPr id="74" name="Text 46"/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/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/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 데이터</a:t>
            </a:r>
            <a:endParaRPr lang="en-US" sz="1500" dirty="0"/>
          </a:p>
        </p:txBody>
      </p:sp>
      <p:sp>
        <p:nvSpPr>
          <p:cNvPr id="92" name="Text 64"/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구조 및 특성</a:t>
            </a:r>
            <a:endParaRPr lang="en-US" sz="1200" dirty="0"/>
          </a:p>
        </p:txBody>
      </p:sp>
      <p:sp>
        <p:nvSpPr>
          <p:cNvPr id="93" name="Text 65"/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94" name="Text 66"/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시간대, 요일, 지역 특성에 따른 이용 패턴의 차이 분석</a:t>
            </a:r>
            <a:endParaRPr lang="en-US" sz="1050" dirty="0"/>
          </a:p>
        </p:txBody>
      </p:sp>
      <p:sp>
        <p:nvSpPr>
          <p:cNvPr id="95" name="Text 67"/>
          <p:cNvSpPr/>
          <p:nvPr/>
        </p:nvSpPr>
        <p:spPr>
          <a:xfrm>
            <a:off x="7778055" y="2781300"/>
            <a:ext cx="35890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시간대의 주거지와 업무지구 간 이동 패턴 분석</a:t>
            </a:r>
            <a:endParaRPr lang="en-US" sz="1050" dirty="0"/>
          </a:p>
        </p:txBody>
      </p:sp>
      <p:sp>
        <p:nvSpPr>
          <p:cNvPr id="96" name="Text 68"/>
          <p:cNvSpPr/>
          <p:nvPr/>
        </p:nvSpPr>
        <p:spPr>
          <a:xfrm>
            <a:off x="7825680" y="33528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97" name="Text 69"/>
          <p:cNvSpPr/>
          <p:nvPr/>
        </p:nvSpPr>
        <p:spPr>
          <a:xfrm>
            <a:off x="7844730" y="36576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98" name="Text 70"/>
          <p:cNvSpPr/>
          <p:nvPr/>
        </p:nvSpPr>
        <p:spPr>
          <a:xfrm>
            <a:off x="7844730" y="39243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9" name="Text 71"/>
          <p:cNvSpPr/>
          <p:nvPr/>
        </p:nvSpPr>
        <p:spPr>
          <a:xfrm>
            <a:off x="7844730" y="41910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0" name="Text 72"/>
          <p:cNvSpPr/>
          <p:nvPr/>
        </p:nvSpPr>
        <p:spPr>
          <a:xfrm>
            <a:off x="7844730" y="44577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sp>
        <p:nvSpPr>
          <p:cNvPr id="101" name="Text 73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DF805B61-B1C5-4E87-A6F1-10C67BBF1908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EE55E8F-6A6D-4A64-8990-BD58FFDB51E7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6D8AC0D5-A35F-420D-B8D9-1C57ACA28C6F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066800"/>
            <a:ext cx="5600700" cy="16002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95400"/>
            <a:ext cx="17145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676400"/>
            <a:ext cx="17145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981200"/>
            <a:ext cx="1143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286000"/>
            <a:ext cx="1905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2895600"/>
            <a:ext cx="5600700" cy="3390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3124200"/>
            <a:ext cx="190500" cy="190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3467100"/>
            <a:ext cx="5219700" cy="8001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3581400"/>
            <a:ext cx="3048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370522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4381500"/>
            <a:ext cx="5219700" cy="800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4495800"/>
            <a:ext cx="3048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4619625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5295900"/>
            <a:ext cx="5219700" cy="8001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410200"/>
            <a:ext cx="3048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2000" y="5534025"/>
            <a:ext cx="1524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15075" y="5514975"/>
            <a:ext cx="5600700" cy="914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66346" y="5572126"/>
            <a:ext cx="190500" cy="2667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41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서울시 따릉이 데이터 활용 방안</a:t>
            </a:r>
            <a:endParaRPr lang="en-US" sz="2250" dirty="0"/>
          </a:p>
        </p:txBody>
      </p:sp>
      <p:sp>
        <p:nvSpPr>
          <p:cNvPr id="42" name="Text 1"/>
          <p:cNvSpPr/>
          <p:nvPr/>
        </p:nvSpPr>
        <p:spPr>
          <a:xfrm>
            <a:off x="857250" y="12573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 데이터 소개</a:t>
            </a:r>
            <a:endParaRPr lang="en-US" sz="1500" dirty="0"/>
          </a:p>
        </p:txBody>
      </p:sp>
      <p:sp>
        <p:nvSpPr>
          <p:cNvPr id="43" name="Text 2"/>
          <p:cNvSpPr/>
          <p:nvPr/>
        </p:nvSpPr>
        <p:spPr>
          <a:xfrm>
            <a:off x="819150" y="1638300"/>
            <a:ext cx="47777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공공데이터 포털에서 제공하는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따릉이 대여 이력 데이터</a:t>
            </a:r>
            <a:endParaRPr lang="en-US" sz="1200" dirty="0"/>
          </a:p>
        </p:txBody>
      </p:sp>
      <p:sp>
        <p:nvSpPr>
          <p:cNvPr id="44" name="Text 3"/>
          <p:cNvSpPr/>
          <p:nvPr/>
        </p:nvSpPr>
        <p:spPr>
          <a:xfrm>
            <a:off x="762000" y="1943100"/>
            <a:ext cx="3577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대여소별, 시간대별 대여량 및 반납량 정보 포함</a:t>
            </a:r>
            <a:endParaRPr lang="en-US" sz="1200" dirty="0"/>
          </a:p>
        </p:txBody>
      </p:sp>
      <p:sp>
        <p:nvSpPr>
          <p:cNvPr id="45" name="Text 4"/>
          <p:cNvSpPr/>
          <p:nvPr/>
        </p:nvSpPr>
        <p:spPr>
          <a:xfrm>
            <a:off x="838200" y="2247900"/>
            <a:ext cx="45148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날씨, 온도, 습도 등의 메타데이터 필요시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기상청 API와 결합</a:t>
            </a:r>
            <a:endParaRPr lang="en-US" sz="1200" dirty="0"/>
          </a:p>
        </p:txBody>
      </p:sp>
      <p:sp>
        <p:nvSpPr>
          <p:cNvPr id="46" name="Text 5"/>
          <p:cNvSpPr/>
          <p:nvPr/>
        </p:nvSpPr>
        <p:spPr>
          <a:xfrm>
            <a:off x="876300" y="3086100"/>
            <a:ext cx="62636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데이터셋과 따릉이 데이터의 통합 전략</a:t>
            </a:r>
            <a:endParaRPr lang="en-US" sz="1500" dirty="0"/>
          </a:p>
        </p:txBody>
      </p:sp>
      <p:sp>
        <p:nvSpPr>
          <p:cNvPr id="47" name="Text 6"/>
          <p:cNvSpPr/>
          <p:nvPr/>
        </p:nvSpPr>
        <p:spPr>
          <a:xfrm>
            <a:off x="1066800" y="3657600"/>
            <a:ext cx="2103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특성(Feature) 일치화 작업</a:t>
            </a:r>
            <a:endParaRPr lang="en-US" sz="1200" dirty="0"/>
          </a:p>
        </p:txBody>
      </p:sp>
      <p:sp>
        <p:nvSpPr>
          <p:cNvPr id="48" name="Text 7"/>
          <p:cNvSpPr/>
          <p:nvPr/>
        </p:nvSpPr>
        <p:spPr>
          <a:xfrm>
            <a:off x="1028700" y="3962400"/>
            <a:ext cx="4648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데이터셋의 변수 매핑 및 일관성 확보</a:t>
            </a:r>
            <a:endParaRPr lang="en-US" sz="1050" dirty="0"/>
          </a:p>
        </p:txBody>
      </p:sp>
      <p:sp>
        <p:nvSpPr>
          <p:cNvPr id="49" name="Text 8"/>
          <p:cNvSpPr/>
          <p:nvPr/>
        </p:nvSpPr>
        <p:spPr>
          <a:xfrm>
            <a:off x="1066800" y="4572000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단위 표준화</a:t>
            </a:r>
            <a:endParaRPr lang="en-US" sz="1200" dirty="0"/>
          </a:p>
        </p:txBody>
      </p:sp>
      <p:sp>
        <p:nvSpPr>
          <p:cNvPr id="50" name="Text 9"/>
          <p:cNvSpPr/>
          <p:nvPr/>
        </p:nvSpPr>
        <p:spPr>
          <a:xfrm>
            <a:off x="1028700" y="4876800"/>
            <a:ext cx="4648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시간별/일별 데이터 형식 통일</a:t>
            </a:r>
            <a:endParaRPr lang="en-US" sz="1050" dirty="0"/>
          </a:p>
        </p:txBody>
      </p:sp>
      <p:sp>
        <p:nvSpPr>
          <p:cNvPr id="51" name="Text 10"/>
          <p:cNvSpPr/>
          <p:nvPr/>
        </p:nvSpPr>
        <p:spPr>
          <a:xfrm>
            <a:off x="1066800" y="5486400"/>
            <a:ext cx="20688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및 이상치 처리 방안</a:t>
            </a:r>
            <a:endParaRPr lang="en-US" sz="1200" dirty="0"/>
          </a:p>
        </p:txBody>
      </p:sp>
      <p:sp>
        <p:nvSpPr>
          <p:cNvPr id="52" name="Text 11"/>
          <p:cNvSpPr/>
          <p:nvPr/>
        </p:nvSpPr>
        <p:spPr>
          <a:xfrm>
            <a:off x="1028700" y="5791200"/>
            <a:ext cx="46482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품질 확보를 위한 전처리 규칙 수립</a:t>
            </a:r>
            <a:endParaRPr lang="en-US" sz="1050" dirty="0"/>
          </a:p>
        </p:txBody>
      </p:sp>
      <p:sp>
        <p:nvSpPr>
          <p:cNvPr id="69" name="Text 28"/>
          <p:cNvSpPr/>
          <p:nvPr/>
        </p:nvSpPr>
        <p:spPr>
          <a:xfrm>
            <a:off x="7164704" y="5924551"/>
            <a:ext cx="3599022" cy="1407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/>
              <a:t>UCI</a:t>
            </a:r>
            <a:r>
              <a:rPr lang="ko-KR" altLang="en-US" sz="1050" dirty="0"/>
              <a:t> </a:t>
            </a:r>
            <a:r>
              <a:rPr lang="en-US" altLang="ko-KR" sz="1050" dirty="0"/>
              <a:t>Bike</a:t>
            </a:r>
            <a:r>
              <a:rPr lang="ko-KR" altLang="en-US" sz="1050" dirty="0"/>
              <a:t> </a:t>
            </a:r>
            <a:r>
              <a:rPr lang="en-US" altLang="ko-KR" sz="1050" dirty="0"/>
              <a:t>Sharing</a:t>
            </a:r>
            <a:r>
              <a:rPr lang="ko-KR" altLang="en-US" sz="1050" dirty="0"/>
              <a:t> </a:t>
            </a:r>
            <a:r>
              <a:rPr lang="en-US" altLang="ko-KR" sz="1050" dirty="0"/>
              <a:t>Dataset </a:t>
            </a:r>
            <a:r>
              <a:rPr lang="ko-KR" altLang="en-US" sz="1050" dirty="0"/>
              <a:t>기반 모델의 일반화 성능 및 현지화 그리고 도시 별 패턴 차이 분석 </a:t>
            </a:r>
            <a:endParaRPr lang="en-US" sz="1050" dirty="0"/>
          </a:p>
        </p:txBody>
      </p:sp>
      <p:sp>
        <p:nvSpPr>
          <p:cNvPr id="70" name="Text 29"/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5/5</a:t>
            </a:r>
            <a:endParaRPr lang="en-US" sz="1050" dirty="0"/>
          </a:p>
        </p:txBody>
      </p:sp>
      <p:pic>
        <p:nvPicPr>
          <p:cNvPr id="57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210300" y="1066800"/>
            <a:ext cx="5600700" cy="3019425"/>
          </a:xfrm>
          <a:prstGeom prst="rect">
            <a:avLst/>
          </a:prstGeom>
        </p:spPr>
      </p:pic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00800" y="1295400"/>
            <a:ext cx="238125" cy="190500"/>
          </a:xfrm>
          <a:prstGeom prst="rect">
            <a:avLst/>
          </a:prstGeom>
        </p:spPr>
      </p:pic>
      <p:pic>
        <p:nvPicPr>
          <p:cNvPr id="59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00800" y="1676400"/>
            <a:ext cx="304800" cy="381000"/>
          </a:xfrm>
          <a:prstGeom prst="rect">
            <a:avLst/>
          </a:prstGeom>
        </p:spPr>
      </p:pic>
      <p:pic>
        <p:nvPicPr>
          <p:cNvPr id="60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77000" y="1800225"/>
            <a:ext cx="152400" cy="152400"/>
          </a:xfrm>
          <a:prstGeom prst="rect">
            <a:avLst/>
          </a:prstGeom>
        </p:spPr>
      </p:pic>
      <p:pic>
        <p:nvPicPr>
          <p:cNvPr id="61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00800" y="2524125"/>
            <a:ext cx="304800" cy="381000"/>
          </a:xfrm>
          <a:prstGeom prst="rect">
            <a:avLst/>
          </a:prstGeom>
        </p:spPr>
      </p:pic>
      <p:pic>
        <p:nvPicPr>
          <p:cNvPr id="63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77000" y="2647950"/>
            <a:ext cx="152400" cy="152400"/>
          </a:xfrm>
          <a:prstGeom prst="rect">
            <a:avLst/>
          </a:prstGeom>
        </p:spPr>
      </p:pic>
      <p:pic>
        <p:nvPicPr>
          <p:cNvPr id="64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400800" y="3429000"/>
            <a:ext cx="342900" cy="381000"/>
          </a:xfrm>
          <a:prstGeom prst="rect">
            <a:avLst/>
          </a:prstGeom>
        </p:spPr>
      </p:pic>
      <p:pic>
        <p:nvPicPr>
          <p:cNvPr id="65" name="Image 2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77000" y="3552825"/>
            <a:ext cx="190500" cy="152400"/>
          </a:xfrm>
          <a:prstGeom prst="rect">
            <a:avLst/>
          </a:prstGeom>
        </p:spPr>
      </p:pic>
      <p:sp>
        <p:nvSpPr>
          <p:cNvPr id="66" name="Text 12"/>
          <p:cNvSpPr/>
          <p:nvPr/>
        </p:nvSpPr>
        <p:spPr>
          <a:xfrm>
            <a:off x="6753225" y="12573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 데이터의 세 가지 역할</a:t>
            </a:r>
            <a:endParaRPr lang="en-US" sz="1500" dirty="0"/>
          </a:p>
        </p:txBody>
      </p:sp>
      <p:sp>
        <p:nvSpPr>
          <p:cNvPr id="67" name="Text 13"/>
          <p:cNvSpPr/>
          <p:nvPr/>
        </p:nvSpPr>
        <p:spPr>
          <a:xfrm>
            <a:off x="6819900" y="1638300"/>
            <a:ext cx="480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일반화 성능을 평가하는 테스트 데이터</a:t>
            </a:r>
            <a:endParaRPr lang="en-US" sz="1200" dirty="0"/>
          </a:p>
        </p:txBody>
      </p:sp>
      <p:sp>
        <p:nvSpPr>
          <p:cNvPr id="71" name="Text 15"/>
          <p:cNvSpPr/>
          <p:nvPr/>
        </p:nvSpPr>
        <p:spPr>
          <a:xfrm>
            <a:off x="6819900" y="1933575"/>
            <a:ext cx="4800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</a:t>
            </a: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특정 도시에만 특화된 모델인지, 아니면 어느 정도 범용적인 패턴을 학습했는지 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점검할 수 있습니다.</a:t>
            </a:r>
            <a:endParaRPr lang="en-US" sz="1050" dirty="0"/>
          </a:p>
        </p:txBody>
      </p:sp>
      <p:sp>
        <p:nvSpPr>
          <p:cNvPr id="72" name="Text 16"/>
          <p:cNvSpPr/>
          <p:nvPr/>
        </p:nvSpPr>
        <p:spPr>
          <a:xfrm>
            <a:off x="6819900" y="2486025"/>
            <a:ext cx="57607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서울 환경에 맞게 적응시키는 Fine-tuning 데이터</a:t>
            </a:r>
            <a:endParaRPr lang="en-US" sz="1200" dirty="0"/>
          </a:p>
        </p:txBody>
      </p:sp>
      <p:sp>
        <p:nvSpPr>
          <p:cNvPr id="74" name="Text 18"/>
          <p:cNvSpPr/>
          <p:nvPr/>
        </p:nvSpPr>
        <p:spPr>
          <a:xfrm>
            <a:off x="6819900" y="2771775"/>
            <a:ext cx="4800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출퇴근 시간대 특징, 계절별 이용 차이, 기상 조건에 따른 민감도 등을 반영한 </a:t>
            </a: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맞춤형 모델 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전이 학습을 수행할 수 있습니다.</a:t>
            </a:r>
            <a:endParaRPr lang="en-US" sz="1050" dirty="0"/>
          </a:p>
        </p:txBody>
      </p:sp>
      <p:sp>
        <p:nvSpPr>
          <p:cNvPr id="75" name="Text 19"/>
          <p:cNvSpPr/>
          <p:nvPr/>
        </p:nvSpPr>
        <p:spPr>
          <a:xfrm>
            <a:off x="6858000" y="33909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간 패턴 비교를 위한 분석 데이터</a:t>
            </a:r>
            <a:endParaRPr lang="en-US" sz="1200" dirty="0"/>
          </a:p>
        </p:txBody>
      </p:sp>
      <p:sp>
        <p:nvSpPr>
          <p:cNvPr id="77" name="Text 21"/>
          <p:cNvSpPr/>
          <p:nvPr/>
        </p:nvSpPr>
        <p:spPr>
          <a:xfrm>
            <a:off x="6858000" y="3705225"/>
            <a:ext cx="47625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예측을 넘어, 도시 구조·교통 수단·생활 패턴의 차이를 데이터로 설명 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데도 활용될 수 있습니다.</a:t>
            </a:r>
            <a:endParaRPr lang="en-US" sz="1050" dirty="0"/>
          </a:p>
        </p:txBody>
      </p:sp>
      <p:pic>
        <p:nvPicPr>
          <p:cNvPr id="78" name="Image 2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15075" y="4286250"/>
            <a:ext cx="190500" cy="190500"/>
          </a:xfrm>
          <a:prstGeom prst="rect">
            <a:avLst/>
          </a:prstGeom>
        </p:spPr>
      </p:pic>
      <p:pic>
        <p:nvPicPr>
          <p:cNvPr id="83" name="Image 32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29563" y="5219700"/>
            <a:ext cx="190500" cy="266700"/>
          </a:xfrm>
          <a:prstGeom prst="rect">
            <a:avLst/>
          </a:prstGeom>
        </p:spPr>
      </p:pic>
      <p:pic>
        <p:nvPicPr>
          <p:cNvPr id="87" name="Image 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386888" y="5219700"/>
            <a:ext cx="171450" cy="266700"/>
          </a:xfrm>
          <a:prstGeom prst="rect">
            <a:avLst/>
          </a:prstGeom>
        </p:spPr>
      </p:pic>
      <p:sp>
        <p:nvSpPr>
          <p:cNvPr id="91" name="Text 22"/>
          <p:cNvSpPr/>
          <p:nvPr/>
        </p:nvSpPr>
        <p:spPr>
          <a:xfrm>
            <a:off x="6619875" y="424815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확장성 및 데이터 활용 효과</a:t>
            </a:r>
            <a:endParaRPr lang="en-US" sz="1500" dirty="0"/>
          </a:p>
        </p:txBody>
      </p:sp>
      <p:pic>
        <p:nvPicPr>
          <p:cNvPr id="99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15075" y="4541308"/>
            <a:ext cx="5600700" cy="914400"/>
          </a:xfrm>
          <a:prstGeom prst="rect">
            <a:avLst/>
          </a:prstGeom>
        </p:spPr>
      </p:pic>
      <p:sp>
        <p:nvSpPr>
          <p:cNvPr id="92" name="Text 23"/>
          <p:cNvSpPr/>
          <p:nvPr/>
        </p:nvSpPr>
        <p:spPr>
          <a:xfrm>
            <a:off x="6964681" y="5086350"/>
            <a:ext cx="8001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</a:t>
            </a:r>
            <a:endParaRPr lang="en-US" sz="1050" dirty="0"/>
          </a:p>
        </p:txBody>
      </p:sp>
      <p:sp>
        <p:nvSpPr>
          <p:cNvPr id="93" name="Text 24"/>
          <p:cNvSpPr/>
          <p:nvPr/>
        </p:nvSpPr>
        <p:spPr>
          <a:xfrm>
            <a:off x="7026593" y="5276850"/>
            <a:ext cx="65151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데이터</a:t>
            </a:r>
            <a:endParaRPr lang="en-US" sz="900" dirty="0"/>
          </a:p>
        </p:txBody>
      </p:sp>
      <p:sp>
        <p:nvSpPr>
          <p:cNvPr id="94" name="Text 25"/>
          <p:cNvSpPr/>
          <p:nvPr/>
        </p:nvSpPr>
        <p:spPr>
          <a:xfrm>
            <a:off x="8813006" y="5078412"/>
            <a:ext cx="2971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endParaRPr lang="en-US" sz="1050" dirty="0"/>
          </a:p>
        </p:txBody>
      </p:sp>
      <p:sp>
        <p:nvSpPr>
          <p:cNvPr id="95" name="Text 26"/>
          <p:cNvSpPr/>
          <p:nvPr/>
        </p:nvSpPr>
        <p:spPr>
          <a:xfrm>
            <a:off x="8608219" y="5268912"/>
            <a:ext cx="7886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따릉이 데이터</a:t>
            </a:r>
            <a:endParaRPr lang="en-US" sz="900" dirty="0"/>
          </a:p>
        </p:txBody>
      </p:sp>
      <p:sp>
        <p:nvSpPr>
          <p:cNvPr id="96" name="Text 27"/>
          <p:cNvSpPr/>
          <p:nvPr/>
        </p:nvSpPr>
        <p:spPr>
          <a:xfrm>
            <a:off x="10251281" y="5086350"/>
            <a:ext cx="9829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범용 예측 모델</a:t>
            </a:r>
            <a:endParaRPr lang="en-US" sz="1050" dirty="0"/>
          </a:p>
        </p:txBody>
      </p:sp>
      <p:sp>
        <p:nvSpPr>
          <p:cNvPr id="97" name="Text 28"/>
          <p:cNvSpPr/>
          <p:nvPr/>
        </p:nvSpPr>
        <p:spPr>
          <a:xfrm>
            <a:off x="10146506" y="5276850"/>
            <a:ext cx="12344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도시 환경 적용</a:t>
            </a:r>
            <a:endParaRPr lang="en-US" sz="900" dirty="0"/>
          </a:p>
        </p:txBody>
      </p:sp>
      <p:pic>
        <p:nvPicPr>
          <p:cNvPr id="54" name="그림 53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38499" y="4617720"/>
            <a:ext cx="430530" cy="430530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926239" y="4714834"/>
            <a:ext cx="362001" cy="590632"/>
          </a:xfrm>
          <a:prstGeom prst="rect">
            <a:avLst/>
          </a:prstGeom>
        </p:spPr>
      </p:pic>
      <p:pic>
        <p:nvPicPr>
          <p:cNvPr id="56" name="그림 55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20449" y="4610100"/>
            <a:ext cx="599751" cy="459549"/>
          </a:xfrm>
          <a:prstGeom prst="rect">
            <a:avLst/>
          </a:prstGeom>
        </p:spPr>
      </p:pic>
      <p:pic>
        <p:nvPicPr>
          <p:cNvPr id="100" name="그림 99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533075" y="4767228"/>
            <a:ext cx="295316" cy="485843"/>
          </a:xfrm>
          <a:prstGeom prst="rect">
            <a:avLst/>
          </a:prstGeom>
        </p:spPr>
      </p:pic>
      <p:pic>
        <p:nvPicPr>
          <p:cNvPr id="101" name="그림 100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20778" y="4640648"/>
            <a:ext cx="485347" cy="42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147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458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4283" y="548693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13199" y="5469996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67048" y="5469996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1526" y="5469996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감사합니다</a:t>
            </a:r>
            <a:r>
              <a:rPr lang="en-US" altLang="ko-KR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8962823" y="586793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9635843" y="5850996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10255030" y="5850996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10966650" y="5850996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2025-11-12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075FA99-1020-4236-B77C-A4214182138D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63544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2175</Words>
  <Application>Microsoft Office PowerPoint</Application>
  <PresentationFormat>와이드스크린</PresentationFormat>
  <Paragraphs>229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Noto Sans KR</vt:lpstr>
      <vt:lpstr>Noto Serif KR</vt:lpstr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양호 전</cp:lastModifiedBy>
  <cp:revision>32</cp:revision>
  <dcterms:created xsi:type="dcterms:W3CDTF">2025-11-12T13:07:29Z</dcterms:created>
  <dcterms:modified xsi:type="dcterms:W3CDTF">2025-12-16T21:47:23Z</dcterms:modified>
</cp:coreProperties>
</file>