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9" r:id="rId7"/>
    <p:sldId id="26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0258" autoAdjust="0"/>
  </p:normalViewPr>
  <p:slideViewPr>
    <p:cSldViewPr snapToGrid="0" snapToObjects="1">
      <p:cViewPr varScale="1">
        <p:scale>
          <a:sx n="69" d="100"/>
          <a:sy n="69" d="100"/>
        </p:scale>
        <p:origin x="21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71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안녕하세요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저희는 </a:t>
            </a:r>
            <a:r>
              <a:rPr lang="ko-KR" altLang="en-US" dirty="0" err="1" smtClean="0"/>
              <a:t>오픈마인드</a:t>
            </a:r>
            <a:r>
              <a:rPr lang="ko-KR" altLang="en-US" dirty="0" smtClean="0"/>
              <a:t> 팀입니다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본 프로젝트는 </a:t>
            </a:r>
            <a:r>
              <a:rPr lang="en-US" altLang="ko-KR" dirty="0" smtClean="0"/>
              <a:t>UCI Bike Sharing Dataset</a:t>
            </a:r>
            <a:r>
              <a:rPr lang="ko-KR" altLang="en-US" dirty="0" smtClean="0"/>
              <a:t>과 서울시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데이터를 활용하여</a:t>
            </a:r>
            <a:br>
              <a:rPr lang="ko-KR" altLang="en-US" dirty="0" smtClean="0"/>
            </a:br>
            <a:r>
              <a:rPr lang="ko-KR" altLang="en-US" dirty="0" smtClean="0"/>
              <a:t>날씨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요일 등의 다양한 변수로 자전거 대여 수요를 예측하는 </a:t>
            </a:r>
            <a:r>
              <a:rPr lang="ko-KR" altLang="en-US" dirty="0" err="1" smtClean="0"/>
              <a:t>머신러닝</a:t>
            </a:r>
            <a:r>
              <a:rPr lang="ko-KR" altLang="en-US" dirty="0" smtClean="0"/>
              <a:t> 모델을 개발하는 것입니다</a:t>
            </a:r>
            <a:r>
              <a:rPr lang="en-US" altLang="ko-K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저희 </a:t>
            </a:r>
            <a:r>
              <a:rPr lang="ko-KR" altLang="en-US" dirty="0" err="1" smtClean="0"/>
              <a:t>오픈마인드</a:t>
            </a:r>
            <a:r>
              <a:rPr lang="ko-KR" altLang="en-US" dirty="0" smtClean="0"/>
              <a:t> 팀은 박사과정 </a:t>
            </a:r>
            <a:r>
              <a:rPr lang="en-US" altLang="ko-KR" dirty="0" smtClean="0"/>
              <a:t>2</a:t>
            </a:r>
            <a:r>
              <a:rPr lang="ko-KR" altLang="en-US" dirty="0" smtClean="0"/>
              <a:t>명과 석사과정 </a:t>
            </a:r>
            <a:r>
              <a:rPr lang="en-US" altLang="ko-KR" dirty="0" smtClean="0"/>
              <a:t>2</a:t>
            </a:r>
            <a:r>
              <a:rPr lang="ko-KR" altLang="en-US" dirty="0" smtClean="0"/>
              <a:t>명으로 구성된 팀입니다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팀원 모두가 각자의 본업에서 다양한 기술 개발과 프로젝트 관리 경험을 갖고 있기 때문에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서로 다른 시각과 전문성을 바탕으로 문제를 다각도로 분석할 수 있는 것이 강점입니다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이러한 배경은 저희 팀의 핵심 가치와 자연스럽게 연결됩니다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첫 번째로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혁신적 사고</a:t>
            </a:r>
            <a:r>
              <a:rPr lang="ko-KR" altLang="en-US" dirty="0" smtClean="0"/>
              <a:t>는 각자 경험한 산업과 연구 분야에서 얻은 통찰을 기반으로 새로운 접근을 시도하는 데서 비롯됩니다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두 번째로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서로 다른 직무 경험을 가진 팀원 간 </a:t>
            </a:r>
            <a:r>
              <a:rPr lang="ko-KR" altLang="en-US" b="1" dirty="0" smtClean="0"/>
              <a:t>협업과 소통</a:t>
            </a:r>
            <a:r>
              <a:rPr lang="ko-KR" altLang="en-US" dirty="0" smtClean="0"/>
              <a:t>은 프로젝트 전 과정을 빠르고 유기적으로 연결시키는 힘이 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 번째로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저희는 공정 데이터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시스템 데이터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운영 데이터 등 실제 산업 데이터를 다뤄 본 경험이 있기 때문에 </a:t>
            </a:r>
            <a:r>
              <a:rPr lang="ko-KR" altLang="en-US" b="1" dirty="0" smtClean="0"/>
              <a:t>데이터 기반 의사결정</a:t>
            </a:r>
            <a:r>
              <a:rPr lang="ko-KR" altLang="en-US" dirty="0" smtClean="0"/>
              <a:t>을 무엇보다 중시합니다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마지막으로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다양한 배경을 가진 구성원이 함께 학습하고 발전하는 과정 자체가 </a:t>
            </a:r>
            <a:r>
              <a:rPr lang="ko-KR" altLang="en-US" b="1" dirty="0" smtClean="0"/>
              <a:t>지속적인 성장</a:t>
            </a:r>
            <a:r>
              <a:rPr lang="ko-KR" altLang="en-US" dirty="0" smtClean="0"/>
              <a:t>이라는 가치로 이어지고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이러한 네 가지 핵심 가치를 기반으로 이번 자전거 수요 예측 프로젝트를 수행하고자 합니다</a:t>
            </a:r>
            <a:r>
              <a:rPr lang="en-US" altLang="ko-KR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최근 도시형 공유 </a:t>
            </a:r>
            <a:r>
              <a:rPr lang="ko-KR" altLang="en-US" dirty="0" err="1" smtClean="0"/>
              <a:t>모빌리티</a:t>
            </a:r>
            <a:r>
              <a:rPr lang="ko-KR" altLang="en-US" dirty="0" smtClean="0"/>
              <a:t> 시스템의 수요가 증가하면서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자전거 공유 플랫폼의 효율적인 운영과 예측 기반 의사결정의 필요성이 커지고 있습니다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자전거 </a:t>
            </a:r>
            <a:r>
              <a:rPr lang="ko-KR" altLang="en-US" dirty="0" err="1" smtClean="0"/>
              <a:t>대여량은</a:t>
            </a:r>
            <a:r>
              <a:rPr lang="ko-KR" altLang="en-US" dirty="0" smtClean="0"/>
              <a:t> 시간대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날씨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계절</a:t>
            </a:r>
            <a:r>
              <a:rPr lang="en-US" altLang="ko-KR" dirty="0" smtClean="0"/>
              <a:t>, </a:t>
            </a:r>
            <a:r>
              <a:rPr lang="ko-KR" altLang="en-US" dirty="0" smtClean="0"/>
              <a:t>휴일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생활 패턴 등 다양한 외부 요인들의 영향을 복합적으로 받기 때문에</a:t>
            </a:r>
            <a:br>
              <a:rPr lang="ko-KR" altLang="en-US" dirty="0" smtClean="0"/>
            </a:br>
            <a:r>
              <a:rPr lang="ko-KR" altLang="en-US" dirty="0" smtClean="0"/>
              <a:t>단순 통계만으로는 정확한 수요 예측이 어렵다는 문제가</a:t>
            </a:r>
            <a:r>
              <a:rPr lang="ko-KR" altLang="en-US" baseline="0" dirty="0" smtClean="0"/>
              <a:t> </a:t>
            </a:r>
            <a:r>
              <a:rPr lang="ko-KR" altLang="en-US" dirty="0" smtClean="0"/>
              <a:t>있습니다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따라서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저희 팀은</a:t>
            </a:r>
            <a:endParaRPr lang="en-US" altLang="ko-KR" baseline="0" dirty="0" smtClean="0"/>
          </a:p>
          <a:p>
            <a:r>
              <a:rPr lang="ko-KR" altLang="en-US" dirty="0" smtClean="0"/>
              <a:t>자전거 대여 수요를 정확하게 예측할 수 있는 </a:t>
            </a:r>
            <a:r>
              <a:rPr lang="ko-KR" altLang="en-US" dirty="0" err="1" smtClean="0"/>
              <a:t>머신러닝</a:t>
            </a:r>
            <a:r>
              <a:rPr lang="ko-KR" altLang="en-US" dirty="0" smtClean="0"/>
              <a:t> 모델을 개발 하는 것입니다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수요에 영향을 미치는 주요 원인을 분석하여 운영 의사결정에 활용 가능한 </a:t>
            </a:r>
            <a:r>
              <a:rPr lang="ko-KR" altLang="en-US" dirty="0" err="1" smtClean="0"/>
              <a:t>인사이트를</a:t>
            </a:r>
            <a:r>
              <a:rPr lang="ko-KR" altLang="en-US" dirty="0" smtClean="0"/>
              <a:t> 뽑아내기 </a:t>
            </a:r>
            <a:r>
              <a:rPr lang="ko-KR" altLang="en-US" dirty="0" err="1" smtClean="0"/>
              <a:t>위함인데요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기온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습도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풍속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날씨 상태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요일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근무일</a:t>
            </a:r>
            <a:r>
              <a:rPr lang="en-US" altLang="ko-KR" dirty="0" smtClean="0"/>
              <a:t>(</a:t>
            </a:r>
            <a:r>
              <a:rPr lang="ko-KR" altLang="en-US" dirty="0" smtClean="0"/>
              <a:t>주말인지 평일인지</a:t>
            </a:r>
            <a:r>
              <a:rPr lang="ko-KR" altLang="en-US" baseline="0" dirty="0" smtClean="0"/>
              <a:t> 혹은 공휴일인지</a:t>
            </a:r>
            <a:r>
              <a:rPr lang="en-US" altLang="ko-KR" dirty="0" smtClean="0"/>
              <a:t>), </a:t>
            </a:r>
            <a:r>
              <a:rPr lang="ko-KR" altLang="en-US" dirty="0" smtClean="0"/>
              <a:t>여부 등 다양한 변수들이 실제 </a:t>
            </a:r>
            <a:r>
              <a:rPr lang="ko-KR" altLang="en-US" dirty="0" err="1" smtClean="0"/>
              <a:t>대여량에</a:t>
            </a:r>
            <a:r>
              <a:rPr lang="ko-KR" altLang="en-US" dirty="0" smtClean="0"/>
              <a:t> 어떤 패턴을 가지는지 분석할 예정입니다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목적을 달성하기 위해서는 학습을 위한 데이터 셋이 필요한데요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저희 팀은 워싱턴 </a:t>
            </a:r>
            <a:r>
              <a:rPr lang="en-US" altLang="ko-KR" baseline="0" dirty="0" smtClean="0"/>
              <a:t>DC</a:t>
            </a:r>
            <a:r>
              <a:rPr lang="ko-KR" altLang="en-US" baseline="0" dirty="0" smtClean="0"/>
              <a:t>의 </a:t>
            </a:r>
            <a:r>
              <a:rPr lang="en-US" altLang="ko-KR" baseline="0" dirty="0" smtClean="0"/>
              <a:t>Capital </a:t>
            </a:r>
            <a:r>
              <a:rPr lang="en-US" altLang="ko-KR" baseline="0" dirty="0" err="1" smtClean="0"/>
              <a:t>BikeShare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시스템에서 공개한 자전거 </a:t>
            </a:r>
            <a:r>
              <a:rPr lang="ko-KR" altLang="en-US" baseline="0" dirty="0" err="1" smtClean="0"/>
              <a:t>대여량</a:t>
            </a:r>
            <a:r>
              <a:rPr lang="ko-KR" altLang="en-US" baseline="0" dirty="0" smtClean="0"/>
              <a:t> 정보인 </a:t>
            </a:r>
            <a:r>
              <a:rPr lang="en-US" altLang="ko-KR" baseline="0" dirty="0" smtClean="0"/>
              <a:t/>
            </a:r>
            <a:br>
              <a:rPr lang="en-US" altLang="ko-KR" baseline="0" dirty="0" smtClean="0"/>
            </a:br>
            <a:r>
              <a:rPr lang="en-US" altLang="ko-KR" baseline="0" dirty="0" smtClean="0"/>
              <a:t>UCI </a:t>
            </a:r>
            <a:r>
              <a:rPr lang="en-US" altLang="ko-KR" baseline="0" dirty="0" err="1" smtClean="0"/>
              <a:t>BikeSharing</a:t>
            </a:r>
            <a:r>
              <a:rPr lang="en-US" altLang="ko-KR" baseline="0" dirty="0" smtClean="0"/>
              <a:t> Dataset</a:t>
            </a:r>
            <a:r>
              <a:rPr lang="ko-KR" altLang="en-US" baseline="0" dirty="0" smtClean="0"/>
              <a:t>으로 기본 모델을 학습시키고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서울시 </a:t>
            </a:r>
            <a:r>
              <a:rPr lang="ko-KR" altLang="en-US" baseline="0" dirty="0" err="1" smtClean="0"/>
              <a:t>따릉이</a:t>
            </a:r>
            <a:r>
              <a:rPr lang="ko-KR" altLang="en-US" baseline="0" dirty="0" smtClean="0"/>
              <a:t> 데이터를 </a:t>
            </a:r>
            <a:r>
              <a:rPr lang="ko-KR" altLang="en-US" baseline="0" dirty="0" err="1" smtClean="0"/>
              <a:t>트랜스퍼</a:t>
            </a:r>
            <a:r>
              <a:rPr lang="ko-KR" altLang="en-US" baseline="0" dirty="0" smtClean="0"/>
              <a:t> 데이터셋으로 활용 할 예정입니다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/>
            </a:r>
            <a:br>
              <a:rPr lang="en-US" altLang="ko-KR" baseline="0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“프로젝트는 총 </a:t>
            </a:r>
            <a:r>
              <a:rPr lang="en-US" altLang="ko-KR" dirty="0" smtClean="0"/>
              <a:t>4</a:t>
            </a:r>
            <a:r>
              <a:rPr lang="ko-KR" altLang="en-US" dirty="0" smtClean="0"/>
              <a:t>주간 진행됩니다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첫 주에는 데이터를 수집하고 정리하며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두 번째 주에는 </a:t>
            </a:r>
            <a:r>
              <a:rPr lang="ko-KR" altLang="en-US" dirty="0" err="1" smtClean="0"/>
              <a:t>전처리와</a:t>
            </a:r>
            <a:r>
              <a:rPr lang="ko-KR" altLang="en-US" dirty="0" smtClean="0"/>
              <a:t> </a:t>
            </a:r>
            <a:r>
              <a:rPr lang="en-US" altLang="ko-KR" dirty="0" smtClean="0"/>
              <a:t>EDA</a:t>
            </a:r>
            <a:r>
              <a:rPr lang="ko-KR" altLang="en-US" dirty="0" smtClean="0"/>
              <a:t>를 통해 데이터 품질과 주요 패턴을 파악합니다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 번째 주에는 팀원들이 각자 서로 다른 모델을 적용하여 성능을 비교하고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마지막 주에는 성능이 우수한 모델들을 결합하여 최종 결과를 도출합니다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이때 핵심 단계가 바로 **앙상블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En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semble</a:t>
            </a:r>
            <a:r>
              <a:rPr lang="en-US" altLang="ko-KR" dirty="0" smtClean="0"/>
              <a:t>)**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앙상블 이란 단어가 조금 생소 하실 수 있으실 </a:t>
            </a:r>
            <a:r>
              <a:rPr lang="ko-KR" altLang="en-US" dirty="0" err="1" smtClean="0"/>
              <a:t>탠데요</a:t>
            </a:r>
            <a:r>
              <a:rPr lang="en-US" altLang="ko-KR" dirty="0" smtClean="0"/>
              <a:t>.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보통 음악 연주 앙상블을 많이 떠올리십니다</a:t>
            </a:r>
            <a:r>
              <a:rPr lang="en-US" altLang="ko-KR" baseline="0" dirty="0" smtClean="0"/>
              <a:t>. </a:t>
            </a:r>
          </a:p>
          <a:p>
            <a:r>
              <a:rPr lang="ko-KR" altLang="en-US" dirty="0" err="1" smtClean="0"/>
              <a:t>머신러닝</a:t>
            </a:r>
            <a:r>
              <a:rPr lang="ko-KR" altLang="en-US" dirty="0" smtClean="0"/>
              <a:t> 분야에서도 비슷한 맥락인데요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앙상블은 여러 모델의 예측을 결합해 단일 모델보다 더 높은 정확도와 안정성을 확보하는 방식입니다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예를 들어 </a:t>
            </a:r>
            <a:r>
              <a:rPr lang="en-US" altLang="ko-KR" dirty="0" err="1" smtClean="0"/>
              <a:t>LightGBM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XGBoost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CatBoost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 개별 모델의 강점을 평균</a:t>
            </a:r>
            <a:r>
              <a:rPr lang="en-US" altLang="ko-KR" dirty="0" smtClean="0"/>
              <a:t>·</a:t>
            </a:r>
            <a:r>
              <a:rPr lang="ko-KR" altLang="en-US" dirty="0" smtClean="0"/>
              <a:t>가중평균으로 최종 예측을 하는 </a:t>
            </a:r>
            <a:r>
              <a:rPr lang="en-US" altLang="ko-KR" dirty="0" smtClean="0"/>
              <a:t>Voting</a:t>
            </a:r>
            <a:r>
              <a:rPr lang="ko-KR" altLang="en-US" dirty="0" smtClean="0"/>
              <a:t> 또는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여러 모델의 예측 값을 새로운 입력으로 사용하고 </a:t>
            </a:r>
            <a:r>
              <a:rPr lang="ko-KR" altLang="en-US" dirty="0" err="1" smtClean="0"/>
              <a:t>메타모델이</a:t>
            </a:r>
            <a:r>
              <a:rPr lang="ko-KR" altLang="en-US" dirty="0" smtClean="0"/>
              <a:t> 학습해 하나의 결과를 도출하는 </a:t>
            </a:r>
            <a:r>
              <a:rPr lang="en-US" altLang="ko-KR" dirty="0" smtClean="0"/>
              <a:t>Stacking </a:t>
            </a:r>
            <a:r>
              <a:rPr lang="ko-KR" altLang="en-US" dirty="0" smtClean="0"/>
              <a:t>구조로 통합합니다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이렇게 </a:t>
            </a:r>
            <a:r>
              <a:rPr lang="en-US" altLang="ko-KR" dirty="0" smtClean="0"/>
              <a:t>4</a:t>
            </a:r>
            <a:r>
              <a:rPr lang="ko-KR" altLang="en-US" dirty="0" smtClean="0"/>
              <a:t>주차 때 앙상블이 완료가 되고 나면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최종 모델이 예측을 어떻게 수행하는지 이해하기 위해 </a:t>
            </a:r>
            <a:r>
              <a:rPr lang="en-US" altLang="ko-KR" b="1" dirty="0" smtClean="0"/>
              <a:t>SHAP </a:t>
            </a:r>
            <a:r>
              <a:rPr lang="ko-KR" altLang="en-US" b="1" dirty="0" smtClean="0"/>
              <a:t>해석</a:t>
            </a:r>
            <a:r>
              <a:rPr lang="ko-KR" altLang="en-US" dirty="0" smtClean="0"/>
              <a:t>을 함께 진행합니다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SHAP(</a:t>
            </a:r>
            <a:r>
              <a:rPr lang="en-US" altLang="ko-KR" dirty="0" err="1" smtClean="0"/>
              <a:t>SHapley</a:t>
            </a:r>
            <a:r>
              <a:rPr lang="en-US" altLang="ko-KR" dirty="0" smtClean="0"/>
              <a:t> Additive </a:t>
            </a:r>
            <a:r>
              <a:rPr lang="en-US" altLang="ko-KR" dirty="0" err="1" smtClean="0"/>
              <a:t>exPlanations</a:t>
            </a:r>
            <a:r>
              <a:rPr lang="en-US" altLang="ko-KR" dirty="0" smtClean="0"/>
              <a:t>)</a:t>
            </a:r>
            <a:r>
              <a:rPr lang="ko-KR" altLang="en-US" dirty="0" smtClean="0"/>
              <a:t>은 각 특성이 예측 결과에 얼마나 영향을 주었는지 정량적으로 보여주는 기법인데요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SHAP</a:t>
            </a:r>
            <a:r>
              <a:rPr lang="ko-KR" altLang="en-US" dirty="0" smtClean="0"/>
              <a:t>를 통해서 모델 </a:t>
            </a:r>
            <a:r>
              <a:rPr lang="ko-KR" altLang="en-US" dirty="0" err="1" smtClean="0"/>
              <a:t>해석력</a:t>
            </a:r>
            <a:r>
              <a:rPr lang="ko-KR" altLang="en-US" dirty="0" smtClean="0"/>
              <a:t> 향상뿐 아니라 실제 운영 의사결정에도 중요한 </a:t>
            </a:r>
            <a:r>
              <a:rPr lang="ko-KR" altLang="en-US" dirty="0" err="1" smtClean="0"/>
              <a:t>인사이트를</a:t>
            </a:r>
            <a:r>
              <a:rPr lang="ko-KR" altLang="en-US" dirty="0" smtClean="0"/>
              <a:t> 제공합니다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이러한 과정을 통해 단순 모델링을 넘어 ‘설명 가능한 </a:t>
            </a:r>
            <a:r>
              <a:rPr lang="en-US" altLang="ko-KR" dirty="0" smtClean="0"/>
              <a:t>AI </a:t>
            </a:r>
            <a:r>
              <a:rPr lang="ko-KR" altLang="en-US" dirty="0" err="1" smtClean="0"/>
              <a:t>모델’을</a:t>
            </a:r>
            <a:r>
              <a:rPr lang="ko-KR" altLang="en-US" dirty="0" smtClean="0"/>
              <a:t> 구축하는 것을 목표를 우선으로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예측된 데이터가 시사하는 </a:t>
            </a:r>
            <a:r>
              <a:rPr lang="ko-KR" altLang="en-US" dirty="0" err="1" smtClean="0"/>
              <a:t>인사이트로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운영방안까지 제안 하는 것이 이번 프로젝트의 목표입니다</a:t>
            </a:r>
            <a:r>
              <a:rPr lang="en-US" altLang="ko-KR" dirty="0" smtClean="0"/>
              <a:t>.”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-----</a:t>
            </a:r>
          </a:p>
          <a:p>
            <a:endParaRPr lang="en-US" altLang="ko-KR" dirty="0" smtClean="0"/>
          </a:p>
          <a:p>
            <a:r>
              <a:rPr lang="en-US" altLang="ko-KR" b="1" dirty="0" smtClean="0"/>
              <a:t>Voting Ensemble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이는 </a:t>
            </a:r>
            <a:r>
              <a:rPr lang="en-US" altLang="ko-KR" dirty="0" err="1" smtClean="0"/>
              <a:t>LightGBM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XGBoost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CatBoost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 개별 모델의 예측을 평균하거나 가중 평균하여 최종 예측을 만드는 방식입니다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err="1" smtClean="0"/>
              <a:t>모델별로</a:t>
            </a:r>
            <a:r>
              <a:rPr lang="ko-KR" altLang="en-US" dirty="0" smtClean="0"/>
              <a:t> 장단점이 다르기 때문에 서로의 약점을 보완하여 더 안정적인 결과를 얻을 수 있습니다</a:t>
            </a:r>
            <a:r>
              <a:rPr lang="en-US" altLang="ko-KR" dirty="0" smtClean="0"/>
              <a:t>.</a:t>
            </a:r>
          </a:p>
          <a:p>
            <a:r>
              <a:rPr lang="en-US" altLang="ko-KR" b="1" dirty="0" smtClean="0"/>
              <a:t>Weighted Voting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각 모델의 성능</a:t>
            </a:r>
            <a:r>
              <a:rPr lang="en-US" altLang="ko-KR" dirty="0" smtClean="0"/>
              <a:t>(RMSE, MAE)</a:t>
            </a:r>
            <a:r>
              <a:rPr lang="ko-KR" altLang="en-US" dirty="0" smtClean="0"/>
              <a:t>에 따라 가중치를 다르게 부여해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성능이 좋은 모델의 영향력을 더 크게 가져가는 방식입니다</a:t>
            </a:r>
            <a:r>
              <a:rPr lang="en-US" altLang="ko-KR" dirty="0" smtClean="0"/>
              <a:t>.</a:t>
            </a:r>
          </a:p>
          <a:p>
            <a:r>
              <a:rPr lang="en-US" altLang="ko-KR" b="1" dirty="0" smtClean="0"/>
              <a:t>Stacking Ensemble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여러 모델의 </a:t>
            </a:r>
            <a:r>
              <a:rPr lang="ko-KR" altLang="en-US" dirty="0" err="1" smtClean="0"/>
              <a:t>예측값을</a:t>
            </a:r>
            <a:r>
              <a:rPr lang="ko-KR" altLang="en-US" dirty="0" smtClean="0"/>
              <a:t> 새로운 입력으로 사용하고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최종적으로 </a:t>
            </a:r>
            <a:r>
              <a:rPr lang="ko-KR" altLang="en-US" dirty="0" err="1" smtClean="0"/>
              <a:t>메타모델</a:t>
            </a:r>
            <a:r>
              <a:rPr lang="en-US" altLang="ko-KR" dirty="0" smtClean="0"/>
              <a:t>(Ridge, Linear Regression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이를 다시 학습해 하나의 결과를 도출하는 방식입니다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“</a:t>
            </a:r>
            <a:r>
              <a:rPr lang="en-US" altLang="ko-KR" dirty="0" smtClean="0"/>
              <a:t>UCI </a:t>
            </a:r>
            <a:r>
              <a:rPr lang="en-US" altLang="ko-KR" dirty="0" err="1" smtClean="0"/>
              <a:t>BikeSharing</a:t>
            </a:r>
            <a:r>
              <a:rPr lang="en-US" altLang="ko-KR" dirty="0" smtClean="0"/>
              <a:t> Dataset</a:t>
            </a:r>
            <a:r>
              <a:rPr lang="ko-KR" altLang="en-US" dirty="0" smtClean="0"/>
              <a:t>은 워싱턴 </a:t>
            </a:r>
            <a:r>
              <a:rPr lang="en-US" altLang="ko-KR" dirty="0" smtClean="0"/>
              <a:t>D.C.</a:t>
            </a:r>
            <a:r>
              <a:rPr lang="ko-KR" altLang="en-US" dirty="0" smtClean="0"/>
              <a:t>의 자전거 대여 시스템 데이터를 기반으로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b="1" dirty="0" smtClean="0"/>
              <a:t>2011</a:t>
            </a:r>
            <a:r>
              <a:rPr lang="ko-KR" altLang="en-US" b="1" dirty="0" smtClean="0"/>
              <a:t>년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월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일부터 </a:t>
            </a:r>
            <a:r>
              <a:rPr lang="en-US" altLang="ko-KR" b="1" dirty="0" smtClean="0"/>
              <a:t>2012</a:t>
            </a:r>
            <a:r>
              <a:rPr lang="ko-KR" altLang="en-US" b="1" dirty="0" smtClean="0"/>
              <a:t>년 </a:t>
            </a:r>
            <a:r>
              <a:rPr lang="en-US" altLang="ko-KR" b="1" dirty="0" smtClean="0"/>
              <a:t>12</a:t>
            </a:r>
            <a:r>
              <a:rPr lang="ko-KR" altLang="en-US" b="1" dirty="0" smtClean="0"/>
              <a:t>월 </a:t>
            </a:r>
            <a:r>
              <a:rPr lang="en-US" altLang="ko-KR" b="1" dirty="0" smtClean="0"/>
              <a:t>31</a:t>
            </a:r>
            <a:r>
              <a:rPr lang="ko-KR" altLang="en-US" b="1" dirty="0" smtClean="0"/>
              <a:t>일까지</a:t>
            </a:r>
            <a:r>
              <a:rPr lang="ko-KR" altLang="en-US" dirty="0" smtClean="0"/>
              <a:t> 기록된</a:t>
            </a:r>
            <a:br>
              <a:rPr lang="ko-KR" altLang="en-US" dirty="0" smtClean="0"/>
            </a:br>
            <a:r>
              <a:rPr lang="ko-KR" altLang="en-US" b="1" dirty="0" smtClean="0"/>
              <a:t>자전거 </a:t>
            </a:r>
            <a:r>
              <a:rPr lang="ko-KR" altLang="en-US" b="1" dirty="0" err="1" smtClean="0"/>
              <a:t>대여량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일별</a:t>
            </a:r>
            <a:r>
              <a:rPr lang="en-US" altLang="ko-KR" b="1" dirty="0" smtClean="0"/>
              <a:t>·</a:t>
            </a:r>
            <a:r>
              <a:rPr lang="ko-KR" altLang="en-US" b="1" dirty="0" err="1" smtClean="0"/>
              <a:t>시간별</a:t>
            </a:r>
            <a:r>
              <a:rPr lang="en-US" altLang="ko-KR" b="1" dirty="0" smtClean="0"/>
              <a:t>)</a:t>
            </a:r>
            <a:r>
              <a:rPr lang="ko-KR" altLang="en-US" dirty="0" smtClean="0"/>
              <a:t> 데이터를 포함한 공개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 데이터에는 계절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날씨 상태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습도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풍속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근무일 여부 등 </a:t>
            </a:r>
            <a:r>
              <a:rPr lang="en-US" altLang="ko-KR" dirty="0" smtClean="0"/>
              <a:t>17</a:t>
            </a:r>
            <a:r>
              <a:rPr lang="ko-KR" altLang="en-US" dirty="0" smtClean="0"/>
              <a:t>개의 </a:t>
            </a:r>
            <a:br>
              <a:rPr lang="ko-KR" altLang="en-US" dirty="0" smtClean="0"/>
            </a:br>
            <a:r>
              <a:rPr lang="ko-KR" altLang="en-US" dirty="0" smtClean="0"/>
              <a:t>자전거 수요에 직접적인 영향을 줄 수 있는 요소들이 체계적으로 포함되어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해당 데이터는 </a:t>
            </a:r>
            <a:r>
              <a:rPr lang="ko-KR" altLang="en-US" dirty="0" err="1" smtClean="0"/>
              <a:t>수백편의</a:t>
            </a:r>
            <a:r>
              <a:rPr lang="ko-KR" altLang="en-US" dirty="0" smtClean="0"/>
              <a:t> 연구논문에서 도시 자전거 공유 시스템의 운영 분석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수요 예측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날씨와 교통 패턴 분석 등에 활용될 만큼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데이터 품질이 높고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변수 정의가 명확하여 </a:t>
            </a:r>
            <a:r>
              <a:rPr lang="ko-KR" altLang="en-US" dirty="0" err="1" smtClean="0"/>
              <a:t>머신러닝</a:t>
            </a:r>
            <a:r>
              <a:rPr lang="ko-KR" altLang="en-US" dirty="0" smtClean="0"/>
              <a:t> 학습에 매우 적합한 구조를 가지고 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따라서 수요 예측을 위한 모델 학습에 </a:t>
            </a:r>
            <a:r>
              <a:rPr lang="en-US" altLang="ko-KR" dirty="0" smtClean="0"/>
              <a:t>Train/validation</a:t>
            </a:r>
            <a:r>
              <a:rPr lang="en-US" altLang="ko-KR" baseline="0" dirty="0" smtClean="0"/>
              <a:t> Dataset</a:t>
            </a:r>
            <a:r>
              <a:rPr lang="ko-KR" altLang="en-US" baseline="0" dirty="0" smtClean="0"/>
              <a:t>으로 </a:t>
            </a:r>
            <a:r>
              <a:rPr lang="en-US" altLang="ko-KR" baseline="0" dirty="0" smtClean="0"/>
              <a:t>UCI Bike Sharing Dataset</a:t>
            </a:r>
            <a:r>
              <a:rPr lang="ko-KR" altLang="en-US" baseline="0" dirty="0" smtClean="0"/>
              <a:t>을 사용하기로 했습니다</a:t>
            </a:r>
            <a:r>
              <a:rPr lang="en-US" altLang="ko-KR" baseline="0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또한 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서울시 </a:t>
            </a:r>
            <a:r>
              <a:rPr lang="ko-KR" altLang="en-US" b="1" dirty="0" err="1" smtClean="0"/>
              <a:t>따릉이</a:t>
            </a:r>
            <a:r>
              <a:rPr lang="ko-KR" altLang="en-US" b="1" dirty="0" smtClean="0"/>
              <a:t> 데이터</a:t>
            </a:r>
            <a:r>
              <a:rPr lang="ko-KR" altLang="en-US" dirty="0" smtClean="0"/>
              <a:t>를 보너스 데이터로 활용하기로 했는데요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단순히 두 데이터를 합치는 것이 아니라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서울시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데이터는 ‘다른 도시에서 동일 모델이 얼마나 </a:t>
            </a:r>
            <a:r>
              <a:rPr lang="ko-KR" altLang="en-US" dirty="0" err="1" smtClean="0"/>
              <a:t>일반화되는지</a:t>
            </a:r>
            <a:r>
              <a:rPr lang="ko-KR" altLang="en-US" dirty="0" smtClean="0"/>
              <a:t>’ 확인하기 위한 </a:t>
            </a:r>
            <a:r>
              <a:rPr lang="ko-KR" altLang="en-US" b="1" dirty="0" err="1" smtClean="0"/>
              <a:t>트랜스퍼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데이터셋</a:t>
            </a:r>
            <a:r>
              <a:rPr lang="ko-KR" altLang="en-US" b="1" dirty="0" smtClean="0"/>
              <a:t> 이라는 관점으로 활용할 예정입니다</a:t>
            </a:r>
            <a:r>
              <a:rPr lang="en-US" altLang="ko-KR" b="1" dirty="0" smtClean="0"/>
              <a:t>.</a:t>
            </a:r>
            <a:br>
              <a:rPr lang="en-US" altLang="ko-KR" b="1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워싱턴 </a:t>
            </a:r>
            <a:r>
              <a:rPr lang="en-US" altLang="ko-KR" dirty="0" smtClean="0"/>
              <a:t>D.C.</a:t>
            </a:r>
            <a:r>
              <a:rPr lang="ko-KR" altLang="en-US" dirty="0" smtClean="0"/>
              <a:t>에서 학습한 모델이 서울의 이용 패턴에서도 잘 작동하는지 검증하는 것이 첫번째 역할이고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서울 데이터를 일부 활용해 모델을 미세 조정하여 지역 적응력을 높이는 데 활용 할 예정입니다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이를 통해 ‘단순 모델 </a:t>
            </a:r>
            <a:r>
              <a:rPr lang="ko-KR" altLang="en-US" dirty="0" err="1" smtClean="0"/>
              <a:t>만들기’에서</a:t>
            </a:r>
            <a:r>
              <a:rPr lang="ko-KR" altLang="en-US" dirty="0" smtClean="0"/>
              <a:t> 한 단계 더 나아가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자전거 공유 모델이 도시마다 어떻게 다르게 작동하는지 비교하고 현지화가 가능한지에 따라서 향후 확장 가능성을 확인해볼 수 있을 것 같습니다</a:t>
            </a:r>
            <a:r>
              <a:rPr lang="en-US" altLang="ko-KR" dirty="0" smtClean="0"/>
              <a:t>.”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이번 슬라이드에서는 </a:t>
            </a:r>
            <a:r>
              <a:rPr lang="ko-KR" altLang="en-US" b="1" dirty="0" smtClean="0"/>
              <a:t>서울시 </a:t>
            </a:r>
            <a:r>
              <a:rPr lang="ko-KR" altLang="en-US" b="1" dirty="0" err="1" smtClean="0"/>
              <a:t>따릉이</a:t>
            </a:r>
            <a:r>
              <a:rPr lang="ko-KR" altLang="en-US" b="1" dirty="0" smtClean="0"/>
              <a:t> 데이터가 어떤 데이터인지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그리고 </a:t>
            </a:r>
            <a:r>
              <a:rPr lang="en-US" altLang="ko-KR" b="1" dirty="0" smtClean="0"/>
              <a:t>UCI </a:t>
            </a:r>
            <a:r>
              <a:rPr lang="en-US" altLang="ko-KR" b="1" dirty="0" err="1" smtClean="0"/>
              <a:t>BikeSharing</a:t>
            </a:r>
            <a:r>
              <a:rPr lang="en-US" altLang="ko-KR" b="1" dirty="0" smtClean="0"/>
              <a:t> Dataset</a:t>
            </a:r>
            <a:r>
              <a:rPr lang="ko-KR" altLang="en-US" b="1" dirty="0" smtClean="0"/>
              <a:t>과 어떻게 통합해서 쓸 것인지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마지막으로 </a:t>
            </a:r>
            <a:r>
              <a:rPr lang="ko-KR" altLang="en-US" b="1" dirty="0" err="1" smtClean="0"/>
              <a:t>트랜스퍼</a:t>
            </a:r>
            <a:r>
              <a:rPr lang="ko-KR" altLang="en-US" b="1" dirty="0" smtClean="0"/>
              <a:t> 데이터셋으로 어떤 역할을 하게 될 것인지</a:t>
            </a:r>
            <a:r>
              <a:rPr lang="ko-KR" altLang="en-US" dirty="0" smtClean="0"/>
              <a:t>에 대해 </a:t>
            </a:r>
            <a:r>
              <a:rPr lang="ko-KR" altLang="en-US" dirty="0" err="1" smtClean="0"/>
              <a:t>설명드리겠습니다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먼저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서울시 </a:t>
            </a:r>
            <a:r>
              <a:rPr lang="ko-KR" altLang="en-US" b="1" dirty="0" err="1" smtClean="0"/>
              <a:t>따릉이</a:t>
            </a:r>
            <a:r>
              <a:rPr lang="ko-KR" altLang="en-US" b="1" dirty="0" smtClean="0"/>
              <a:t> 데이터</a:t>
            </a:r>
            <a:r>
              <a:rPr lang="ko-KR" altLang="en-US" dirty="0" smtClean="0"/>
              <a:t>부터 간단히 소개 드리겠습니다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서울시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데이터는 서울시 </a:t>
            </a:r>
            <a:r>
              <a:rPr lang="ko-KR" altLang="en-US" dirty="0" err="1" smtClean="0"/>
              <a:t>공공데이터</a:t>
            </a:r>
            <a:r>
              <a:rPr lang="ko-KR" altLang="en-US" dirty="0" smtClean="0"/>
              <a:t> 포털에서 제공하는 자전거 대여 이력 데이터입니다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각 대여 건마다 </a:t>
            </a:r>
            <a:r>
              <a:rPr lang="ko-KR" altLang="en-US" dirty="0" err="1" smtClean="0"/>
              <a:t>대여일시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반납일시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대여소 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반납소</a:t>
            </a:r>
            <a:r>
              <a:rPr lang="ko-KR" altLang="en-US" dirty="0" smtClean="0"/>
              <a:t> 번호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이용 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이동거리 등이 기록되어 있고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이를 </a:t>
            </a:r>
            <a:r>
              <a:rPr lang="ko-KR" altLang="en-US" dirty="0" err="1" smtClean="0"/>
              <a:t>대여소별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시간대별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요일별로</a:t>
            </a:r>
            <a:r>
              <a:rPr lang="ko-KR" altLang="en-US" dirty="0" smtClean="0"/>
              <a:t> 집계하면 실제 도시 환경에서의 자전거 이용 패턴을 굉장히 자세하게 파악할 수 있습니다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특히 출퇴근 시간대의 이동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주말 레저 목적 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특정 상권 또는 주거 지역에서의 수요 집중 같은</a:t>
            </a:r>
            <a:br>
              <a:rPr lang="ko-KR" altLang="en-US" dirty="0" smtClean="0"/>
            </a:br>
            <a:r>
              <a:rPr lang="ko-KR" altLang="en-US" dirty="0" smtClean="0"/>
              <a:t>‘도시형 사람 </a:t>
            </a:r>
            <a:r>
              <a:rPr lang="ko-KR" altLang="en-US" dirty="0" err="1" smtClean="0"/>
              <a:t>흐름’을</a:t>
            </a:r>
            <a:r>
              <a:rPr lang="ko-KR" altLang="en-US" dirty="0" smtClean="0"/>
              <a:t> 잘 반영하고 있다는 점이 큰 특징입니다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ko-KR" altLang="en-US" dirty="0" smtClean="0"/>
              <a:t>다음으로는</a:t>
            </a:r>
            <a:r>
              <a:rPr lang="en-US" altLang="ko-KR" dirty="0" smtClean="0"/>
              <a:t>, </a:t>
            </a:r>
            <a:r>
              <a:rPr lang="en-US" altLang="ko-KR" b="1" dirty="0" smtClean="0"/>
              <a:t>UCI </a:t>
            </a:r>
            <a:r>
              <a:rPr lang="en-US" altLang="ko-KR" b="1" dirty="0" err="1" smtClean="0"/>
              <a:t>BikeSharing</a:t>
            </a:r>
            <a:r>
              <a:rPr lang="en-US" altLang="ko-KR" b="1" dirty="0" smtClean="0"/>
              <a:t> Dataset</a:t>
            </a:r>
            <a:r>
              <a:rPr lang="ko-KR" altLang="en-US" b="1" dirty="0" smtClean="0"/>
              <a:t>과 </a:t>
            </a:r>
            <a:r>
              <a:rPr lang="ko-KR" altLang="en-US" b="1" dirty="0" err="1" smtClean="0"/>
              <a:t>따릉이</a:t>
            </a:r>
            <a:r>
              <a:rPr lang="ko-KR" altLang="en-US" b="1" dirty="0" smtClean="0"/>
              <a:t> 데이터를 어떻게 통합해서 활용할 것인지</a:t>
            </a:r>
            <a:r>
              <a:rPr lang="ko-KR" altLang="en-US" dirty="0" smtClean="0"/>
              <a:t>에 대해 </a:t>
            </a:r>
            <a:r>
              <a:rPr lang="ko-KR" altLang="en-US" dirty="0" err="1" smtClean="0"/>
              <a:t>설명드리겠습니다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두 </a:t>
            </a:r>
            <a:r>
              <a:rPr lang="ko-KR" altLang="en-US" dirty="0" err="1" smtClean="0"/>
              <a:t>데이터셋은</a:t>
            </a:r>
            <a:r>
              <a:rPr lang="ko-KR" altLang="en-US" dirty="0" smtClean="0"/>
              <a:t> 서로 다른 도시에서 수집된 데이터이기 때문에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단순히 붙여서 쓰는 것이 아니라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먼저 </a:t>
            </a:r>
            <a:r>
              <a:rPr lang="ko-KR" altLang="en-US" b="1" dirty="0" smtClean="0"/>
              <a:t>공통된 구조와 특성으로 맞추는 작업</a:t>
            </a:r>
            <a:r>
              <a:rPr lang="ko-KR" altLang="en-US" dirty="0" smtClean="0"/>
              <a:t>을 진행합니다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구체적으로는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dirty="0" smtClean="0"/>
              <a:t>UCI </a:t>
            </a:r>
            <a:r>
              <a:rPr lang="ko-KR" altLang="en-US" dirty="0" smtClean="0"/>
              <a:t>데이터셋에서 사용하는 주요 특징들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예를 들어 계절 </a:t>
            </a:r>
            <a:r>
              <a:rPr lang="en-US" altLang="ko-KR" dirty="0" smtClean="0"/>
              <a:t>season, </a:t>
            </a:r>
            <a:r>
              <a:rPr lang="ko-KR" altLang="en-US" dirty="0" smtClean="0"/>
              <a:t>연도 </a:t>
            </a:r>
            <a:r>
              <a:rPr lang="en-US" altLang="ko-KR" dirty="0" err="1" smtClean="0"/>
              <a:t>yr</a:t>
            </a:r>
            <a:r>
              <a:rPr lang="en-US" altLang="ko-KR" dirty="0" smtClean="0"/>
              <a:t>, </a:t>
            </a:r>
            <a:r>
              <a:rPr lang="ko-KR" altLang="en-US" dirty="0" smtClean="0"/>
              <a:t>월 </a:t>
            </a:r>
            <a:r>
              <a:rPr lang="en-US" altLang="ko-KR" dirty="0" err="1" smtClean="0"/>
              <a:t>mnth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 </a:t>
            </a:r>
            <a:r>
              <a:rPr lang="en-US" altLang="ko-KR" dirty="0" err="1" smtClean="0"/>
              <a:t>hr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요일 </a:t>
            </a:r>
            <a:r>
              <a:rPr lang="en-US" altLang="ko-KR" dirty="0" smtClean="0"/>
              <a:t>weekday, </a:t>
            </a:r>
            <a:r>
              <a:rPr lang="ko-KR" altLang="en-US" dirty="0" smtClean="0"/>
              <a:t>근무일 여부 </a:t>
            </a:r>
            <a:r>
              <a:rPr lang="en-US" altLang="ko-KR" dirty="0" err="1" smtClean="0"/>
              <a:t>workingday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공휴일 여부 </a:t>
            </a:r>
            <a:r>
              <a:rPr lang="en-US" altLang="ko-KR" dirty="0" smtClean="0"/>
              <a:t>holiday, </a:t>
            </a:r>
            <a:r>
              <a:rPr lang="ko-KR" altLang="en-US" dirty="0" smtClean="0"/>
              <a:t>날씨 상태 </a:t>
            </a:r>
            <a:r>
              <a:rPr lang="en-US" altLang="ko-KR" dirty="0" err="1" smtClean="0"/>
              <a:t>weathersit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그리고 기온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습도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풍속 같은 기상 변수들을 기준으로 스키마를 정의해 둔 다음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서울시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데이터도 이 스키마에 맞춰 가공할 예정입니다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err="1" smtClean="0"/>
              <a:t>따릉이</a:t>
            </a:r>
            <a:r>
              <a:rPr lang="ko-KR" altLang="en-US" dirty="0" smtClean="0"/>
              <a:t> 데이터의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원본은 개별 대여 건 단위이기 때문에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먼저 </a:t>
            </a:r>
            <a:r>
              <a:rPr lang="ko-KR" altLang="en-US" dirty="0" err="1" smtClean="0"/>
              <a:t>대여일시를</a:t>
            </a:r>
            <a:r>
              <a:rPr lang="ko-KR" altLang="en-US" dirty="0" smtClean="0"/>
              <a:t> 기준으로 </a:t>
            </a:r>
            <a:r>
              <a:rPr lang="ko-KR" altLang="en-US" b="1" dirty="0" smtClean="0"/>
              <a:t>연도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월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일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시간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요일</a:t>
            </a:r>
            <a:r>
              <a:rPr lang="ko-KR" altLang="en-US" dirty="0" smtClean="0"/>
              <a:t>을 추출하고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그 다음에 시간대별 혹은 </a:t>
            </a:r>
            <a:r>
              <a:rPr lang="ko-KR" altLang="en-US" dirty="0" err="1" smtClean="0"/>
              <a:t>일자별로</a:t>
            </a:r>
            <a:r>
              <a:rPr lang="ko-KR" altLang="en-US" dirty="0" smtClean="0"/>
              <a:t> </a:t>
            </a:r>
            <a:r>
              <a:rPr lang="ko-KR" altLang="en-US" b="1" dirty="0" smtClean="0"/>
              <a:t>대여 건수를 집계해서 </a:t>
            </a:r>
            <a:r>
              <a:rPr lang="en-US" altLang="ko-KR" b="1" dirty="0" err="1" smtClean="0"/>
              <a:t>cnt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형태의 수요 데이터</a:t>
            </a:r>
            <a:r>
              <a:rPr lang="ko-KR" altLang="en-US" dirty="0" smtClean="0"/>
              <a:t>를 만들게 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그리고 </a:t>
            </a:r>
            <a:r>
              <a:rPr lang="en-US" altLang="ko-KR" dirty="0" smtClean="0"/>
              <a:t>UCI </a:t>
            </a:r>
            <a:r>
              <a:rPr lang="ko-KR" altLang="en-US" dirty="0" smtClean="0"/>
              <a:t>데이터처럼 계절 정보를 생성하고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공휴일 여부는 국내 공휴일 데이터를 활용해 플래그를 추가합니다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기온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습도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풍속 등 기상 메타데이터가 필요하다면</a:t>
            </a:r>
            <a:r>
              <a:rPr lang="en-US" altLang="ko-KR" dirty="0" smtClean="0"/>
              <a:t>,</a:t>
            </a:r>
            <a:r>
              <a:rPr lang="ko-KR" altLang="en-US" dirty="0" smtClean="0"/>
              <a:t> 기상청 혹은 기상 데이터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에서 가져와</a:t>
            </a:r>
            <a:br>
              <a:rPr lang="ko-KR" altLang="en-US" dirty="0" smtClean="0"/>
            </a:b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데이터의 시간 정보와 매칭하여 결합하게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마지막으로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이렇게 구조를 맞춰준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데이터는</a:t>
            </a:r>
            <a:br>
              <a:rPr lang="ko-KR" altLang="en-US" dirty="0" smtClean="0"/>
            </a:br>
            <a:r>
              <a:rPr lang="ko-KR" altLang="en-US" b="1" dirty="0" err="1" smtClean="0"/>
              <a:t>트랜스퍼</a:t>
            </a:r>
            <a:r>
              <a:rPr lang="ko-KR" altLang="en-US" b="1" dirty="0" smtClean="0"/>
              <a:t> 데이터셋</a:t>
            </a:r>
            <a:r>
              <a:rPr lang="ko-KR" altLang="en-US" dirty="0" smtClean="0"/>
              <a:t>으로 활용할 계획입니다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여기서 </a:t>
            </a:r>
            <a:r>
              <a:rPr lang="ko-KR" altLang="en-US" dirty="0" err="1" smtClean="0"/>
              <a:t>트랜스퍼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데이터셋이라는</a:t>
            </a:r>
            <a:r>
              <a:rPr lang="ko-KR" altLang="en-US" dirty="0" smtClean="0"/>
              <a:t> 것은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dirty="0" smtClean="0"/>
              <a:t>‘</a:t>
            </a:r>
            <a:r>
              <a:rPr lang="ko-KR" altLang="en-US" dirty="0" smtClean="0"/>
              <a:t>워싱턴 </a:t>
            </a:r>
            <a:r>
              <a:rPr lang="en-US" altLang="ko-KR" dirty="0" smtClean="0"/>
              <a:t>D.C.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UCI </a:t>
            </a:r>
            <a:r>
              <a:rPr lang="ko-KR" altLang="en-US" dirty="0" smtClean="0"/>
              <a:t>데이터로 학습한 모델이 서울이라는 전혀 다른 도시에서도 잘 동작하는지 시험해 보고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필요하다면 서울 데이터로 모델을 미세 조정해 보는 데 사용하는 </a:t>
            </a:r>
            <a:r>
              <a:rPr lang="ko-KR" altLang="en-US" dirty="0" err="1" smtClean="0"/>
              <a:t>데이터셋’이라는</a:t>
            </a:r>
            <a:r>
              <a:rPr lang="ko-KR" altLang="en-US" dirty="0" smtClean="0"/>
              <a:t> 의미입니다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먼저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첫 번째 역할은 </a:t>
            </a:r>
            <a:r>
              <a:rPr lang="ko-KR" altLang="en-US" b="1" dirty="0" smtClean="0"/>
              <a:t>모델의 일반화 성능을 평가하는 테스트 데이터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UCI </a:t>
            </a:r>
            <a:r>
              <a:rPr lang="ko-KR" altLang="en-US" dirty="0" smtClean="0"/>
              <a:t>데이터만으로 학습한 모델을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데이터에 그대로 적용해 보면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도시가 바뀌었을 때 수요 패턴 차이 때문에 성능이 얼마나 떨어지는지 확인할 수 있습니다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이를 통해 ‘우리 모델이 특정 도시에만 특화된 모델인지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아니면 어느 정도 범용적인 패턴을 </a:t>
            </a:r>
            <a:r>
              <a:rPr lang="ko-KR" altLang="en-US" dirty="0" err="1" smtClean="0"/>
              <a:t>학습했는지’를</a:t>
            </a:r>
            <a:r>
              <a:rPr lang="ko-KR" altLang="en-US" dirty="0" smtClean="0"/>
              <a:t> 점검할 수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두 번째 역할은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모델을 서울 환경에 맞게 적응시키는 </a:t>
            </a:r>
            <a:r>
              <a:rPr lang="en-US" altLang="ko-KR" b="1" dirty="0" smtClean="0"/>
              <a:t>Fine-tuning </a:t>
            </a:r>
            <a:r>
              <a:rPr lang="ko-KR" altLang="en-US" b="1" dirty="0" smtClean="0"/>
              <a:t>데이터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UCI </a:t>
            </a:r>
            <a:r>
              <a:rPr lang="ko-KR" altLang="en-US" dirty="0" smtClean="0"/>
              <a:t>데이터로 먼저 기본적인 자전거 수요 패턴을 학습한 뒤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데이터의 일부 구간을 이용해서 모델을 다시 학습시키면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서울의 출퇴근 시간대 특징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계절별 이용 차이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기상 조건에 따른 민감도 등을 반영한</a:t>
            </a:r>
            <a:br>
              <a:rPr lang="ko-KR" altLang="en-US" dirty="0" smtClean="0"/>
            </a:br>
            <a:r>
              <a:rPr lang="ko-KR" altLang="en-US" dirty="0" smtClean="0"/>
              <a:t>‘서울 맞춤형 </a:t>
            </a:r>
            <a:r>
              <a:rPr lang="ko-KR" altLang="en-US" dirty="0" err="1" smtClean="0"/>
              <a:t>모델’로</a:t>
            </a:r>
            <a:r>
              <a:rPr lang="ko-KR" altLang="en-US" dirty="0" smtClean="0"/>
              <a:t> 전이 학습을 수행할 수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세 번째로는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도시 간 패턴 비교를 위한 분석 데이터</a:t>
            </a:r>
            <a:r>
              <a:rPr lang="ko-KR" altLang="en-US" dirty="0" smtClean="0"/>
              <a:t> 역할입니다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UCI</a:t>
            </a:r>
            <a:r>
              <a:rPr lang="ko-KR" altLang="en-US" dirty="0" smtClean="0"/>
              <a:t>와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데이터를 같은 특징 공간으로 </a:t>
            </a:r>
            <a:r>
              <a:rPr lang="ko-KR" altLang="en-US" dirty="0" err="1" smtClean="0"/>
              <a:t>맞춰두면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예를 들어 같은 기온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같은 시간대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같은 요일 조건에서</a:t>
            </a:r>
            <a:br>
              <a:rPr lang="ko-KR" altLang="en-US" dirty="0" smtClean="0"/>
            </a:br>
            <a:r>
              <a:rPr lang="ko-KR" altLang="en-US" dirty="0" smtClean="0"/>
              <a:t>워싱턴과 서울의 수요가 어떻게 다른지 직접 비교해 볼 수 있습니다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이는 단순 예측을 넘어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도시 구조</a:t>
            </a:r>
            <a:r>
              <a:rPr lang="en-US" altLang="ko-KR" dirty="0" smtClean="0"/>
              <a:t>·</a:t>
            </a:r>
            <a:r>
              <a:rPr lang="ko-KR" altLang="en-US" dirty="0" smtClean="0"/>
              <a:t>교통 수단</a:t>
            </a:r>
            <a:r>
              <a:rPr lang="en-US" altLang="ko-KR" dirty="0" smtClean="0"/>
              <a:t>·</a:t>
            </a:r>
            <a:r>
              <a:rPr lang="ko-KR" altLang="en-US" dirty="0" smtClean="0"/>
              <a:t>생활 패턴의 차이를 데이터로 설명하는 데도 활용될 수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정리하자면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서울시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데이터는</a:t>
            </a:r>
            <a:br>
              <a:rPr lang="ko-KR" altLang="en-US" dirty="0" smtClean="0"/>
            </a:br>
            <a:r>
              <a:rPr lang="ko-KR" altLang="en-US" dirty="0" smtClean="0"/>
              <a:t>단순한 보조 데이터가 아니라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b="1" dirty="0" smtClean="0"/>
              <a:t>UCI </a:t>
            </a:r>
            <a:r>
              <a:rPr lang="ko-KR" altLang="en-US" b="1" dirty="0" smtClean="0"/>
              <a:t>기반 모델의 일반화 성능을 검증하고</a:t>
            </a:r>
            <a:r>
              <a:rPr lang="en-US" altLang="ko-KR" b="1" dirty="0" smtClean="0"/>
              <a:t>,</a:t>
            </a:r>
            <a:br>
              <a:rPr lang="en-US" altLang="ko-KR" b="1" dirty="0" smtClean="0"/>
            </a:br>
            <a:r>
              <a:rPr lang="ko-KR" altLang="en-US" b="1" dirty="0" smtClean="0"/>
              <a:t>서울이라는 새로운 도메인으로 전이</a:t>
            </a:r>
            <a:r>
              <a:rPr lang="en-US" altLang="ko-KR" b="1" dirty="0" smtClean="0"/>
              <a:t>·</a:t>
            </a:r>
            <a:r>
              <a:rPr lang="ko-KR" altLang="en-US" b="1" dirty="0" smtClean="0"/>
              <a:t>적응시키는 데 중요한 </a:t>
            </a:r>
            <a:r>
              <a:rPr lang="ko-KR" altLang="en-US" b="1" dirty="0" err="1" smtClean="0"/>
              <a:t>트랜스퍼</a:t>
            </a:r>
            <a:r>
              <a:rPr lang="ko-KR" altLang="en-US" b="1" dirty="0" smtClean="0"/>
              <a:t> 데이터셋</a:t>
            </a:r>
            <a:r>
              <a:rPr lang="ko-KR" altLang="en-US" dirty="0" smtClean="0"/>
              <a:t>으로 활용될 예정입니다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최종적으로는 </a:t>
            </a:r>
            <a:r>
              <a:rPr lang="en-US" altLang="ko-KR" dirty="0" smtClean="0"/>
              <a:t>UCI </a:t>
            </a:r>
            <a:r>
              <a:rPr lang="ko-KR" altLang="en-US" dirty="0" err="1" smtClean="0"/>
              <a:t>데이터셋을</a:t>
            </a:r>
            <a:r>
              <a:rPr lang="ko-KR" altLang="en-US" dirty="0" smtClean="0"/>
              <a:t> 통해 학습한 모델이 서울시 </a:t>
            </a:r>
            <a:r>
              <a:rPr lang="ko-KR" altLang="en-US" dirty="0" err="1" smtClean="0"/>
              <a:t>따릉이</a:t>
            </a:r>
            <a:r>
              <a:rPr lang="ko-KR" altLang="en-US" dirty="0" smtClean="0"/>
              <a:t> 데이터를 </a:t>
            </a:r>
            <a:r>
              <a:rPr lang="ko-KR" altLang="en-US" dirty="0" err="1" smtClean="0"/>
              <a:t>트랜스퍼</a:t>
            </a:r>
            <a:r>
              <a:rPr lang="ko-KR" altLang="en-US" dirty="0" smtClean="0"/>
              <a:t> 데이터셋으로 추가 학습 및 검증을 통하여 가장 적절한</a:t>
            </a:r>
            <a:r>
              <a:rPr lang="ko-KR" altLang="en-US" baseline="0" dirty="0" smtClean="0"/>
              <a:t> </a:t>
            </a:r>
            <a:r>
              <a:rPr lang="ko-KR" altLang="en-US" dirty="0" smtClean="0"/>
              <a:t>모델을 선정하고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설명이 가능한 예측 데이터가 시사하는 </a:t>
            </a:r>
            <a:r>
              <a:rPr lang="ko-KR" altLang="en-US" dirty="0" err="1" smtClean="0"/>
              <a:t>인사이트로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따릉이의</a:t>
            </a:r>
            <a:r>
              <a:rPr lang="ko-KR" altLang="en-US" dirty="0" smtClean="0"/>
              <a:t> 운영방안을 제안 하는 것이 이번 프로젝트의 목표입니다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endParaRPr lang="ko-KR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0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2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jp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jp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33.png"/><Relationship Id="rId10" Type="http://schemas.openxmlformats.org/officeDocument/2006/relationships/image" Target="../media/image44.png"/><Relationship Id="rId4" Type="http://schemas.openxmlformats.org/officeDocument/2006/relationships/image" Target="../media/image17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33.png"/><Relationship Id="rId3" Type="http://schemas.openxmlformats.org/officeDocument/2006/relationships/image" Target="../media/image17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33.png"/><Relationship Id="rId3" Type="http://schemas.openxmlformats.org/officeDocument/2006/relationships/image" Target="../media/image3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17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26" Type="http://schemas.openxmlformats.org/officeDocument/2006/relationships/image" Target="../media/image105.png"/><Relationship Id="rId3" Type="http://schemas.openxmlformats.org/officeDocument/2006/relationships/image" Target="../media/image17.png"/><Relationship Id="rId21" Type="http://schemas.openxmlformats.org/officeDocument/2006/relationships/image" Target="../media/image100.png"/><Relationship Id="rId34" Type="http://schemas.openxmlformats.org/officeDocument/2006/relationships/image" Target="../media/image11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6.png"/><Relationship Id="rId20" Type="http://schemas.openxmlformats.org/officeDocument/2006/relationships/image" Target="../media/image33.pn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24" Type="http://schemas.openxmlformats.org/officeDocument/2006/relationships/image" Target="../media/image103.png"/><Relationship Id="rId32" Type="http://schemas.openxmlformats.org/officeDocument/2006/relationships/image" Target="../media/image11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36" Type="http://schemas.openxmlformats.org/officeDocument/2006/relationships/image" Target="../media/image115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31" Type="http://schemas.openxmlformats.org/officeDocument/2006/relationships/image" Target="../media/image11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114.png"/><Relationship Id="rId8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75" y="1438275"/>
            <a:ext cx="85725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4048125"/>
            <a:ext cx="1524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743325"/>
            <a:ext cx="1524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3895725"/>
            <a:ext cx="1524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3590925"/>
            <a:ext cx="152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971925"/>
            <a:ext cx="152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743325"/>
            <a:ext cx="1524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5600" y="4048125"/>
            <a:ext cx="1524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9353" y="48101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5333" y="481012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9385" y="4810125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8664" y="4810125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553414" y="2371725"/>
            <a:ext cx="70851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자전거 대여 수요 예측 분석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2553414" y="2981325"/>
            <a:ext cx="70851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UCI Bike Sharing Dataset을 활용한 머신러닝 모델 개발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4097893" y="5191125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선형회귀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5007977" y="5191125"/>
            <a:ext cx="7833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XGBoost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5957367" y="5191125"/>
            <a:ext cx="881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6973788" y="5191125"/>
            <a:ext cx="115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서울시 따릉이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831437" y="63246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Date: 2025-11-12</a:t>
            </a:r>
            <a:endParaRPr lang="en-US" sz="1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520029C5-06A1-4D3D-AAB2-228578A29061}"/>
              </a:ext>
            </a:extLst>
          </p:cNvPr>
          <p:cNvSpPr/>
          <p:nvPr/>
        </p:nvSpPr>
        <p:spPr>
          <a:xfrm>
            <a:off x="9831436" y="61341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Team</a:t>
            </a:r>
            <a:r>
              <a:rPr lang="ko-KR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altLang="ko-KR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Open Mind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3" y="1876425"/>
            <a:ext cx="5600700" cy="1562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2590800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28194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30480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828800"/>
            <a:ext cx="5600700" cy="1562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825" y="25908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825" y="28194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825" y="30480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" y="3619500"/>
            <a:ext cx="5600700" cy="1562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5" y="43815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5" y="46101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5" y="48387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619500"/>
            <a:ext cx="5600700" cy="1562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825" y="43815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825" y="46101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825" y="4838700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" y="5505450"/>
            <a:ext cx="11430000" cy="1104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724525"/>
            <a:ext cx="133350" cy="171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6057900"/>
            <a:ext cx="1209675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6172200"/>
            <a:ext cx="133350" cy="1333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33575" y="6057900"/>
            <a:ext cx="1247775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85975" y="6172200"/>
            <a:ext cx="171450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3750" y="6057900"/>
            <a:ext cx="1743075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86150" y="6172200"/>
            <a:ext cx="133350" cy="1333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29225" y="6057900"/>
            <a:ext cx="1209675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81625" y="6172200"/>
            <a:ext cx="133350" cy="1333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53775" y="6667500"/>
            <a:ext cx="104775" cy="13335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OpenMind 팀 소개</a:t>
            </a:r>
            <a:endParaRPr lang="en-US" sz="2250" dirty="0"/>
          </a:p>
        </p:txBody>
      </p:sp>
      <p:sp>
        <p:nvSpPr>
          <p:cNvPr id="40" name="Text 1"/>
          <p:cNvSpPr/>
          <p:nvPr/>
        </p:nvSpPr>
        <p:spPr>
          <a:xfrm>
            <a:off x="381000" y="10668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저희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OpenMind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박사과정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명과 석사과정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팀원으로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구성되었습니다. 각 팀원의 전문 분야를 바탕으로 자전거 대여 수요 예측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프로젝트를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진행 하겠습니다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41" name="Text 2"/>
          <p:cNvSpPr/>
          <p:nvPr/>
        </p:nvSpPr>
        <p:spPr>
          <a:xfrm>
            <a:off x="1152525" y="20193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이해선 </a:t>
            </a:r>
            <a:endParaRPr lang="en-US" sz="1350" dirty="0"/>
          </a:p>
        </p:txBody>
      </p:sp>
      <p:sp>
        <p:nvSpPr>
          <p:cNvPr id="42" name="Text 3"/>
          <p:cNvSpPr/>
          <p:nvPr/>
        </p:nvSpPr>
        <p:spPr>
          <a:xfrm>
            <a:off x="1152525" y="2286000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2025154003</a:t>
            </a:r>
            <a:endParaRPr lang="en-US" sz="1050" dirty="0"/>
          </a:p>
        </p:txBody>
      </p:sp>
      <p:sp>
        <p:nvSpPr>
          <p:cNvPr id="43" name="Text 4"/>
          <p:cNvSpPr/>
          <p:nvPr/>
        </p:nvSpPr>
        <p:spPr>
          <a:xfrm>
            <a:off x="1362075" y="2552700"/>
            <a:ext cx="2308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심텍</a:t>
            </a:r>
            <a:endParaRPr lang="en-US" sz="1050" dirty="0"/>
          </a:p>
        </p:txBody>
      </p:sp>
      <p:sp>
        <p:nvSpPr>
          <p:cNvPr id="44" name="Text 5"/>
          <p:cNvSpPr/>
          <p:nvPr/>
        </p:nvSpPr>
        <p:spPr>
          <a:xfrm>
            <a:off x="1362075" y="2781300"/>
            <a:ext cx="2137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프로세스 개발 및 설비 개발 투자</a:t>
            </a:r>
            <a:endParaRPr lang="en-US" sz="1050" dirty="0"/>
          </a:p>
        </p:txBody>
      </p:sp>
      <p:sp>
        <p:nvSpPr>
          <p:cNvPr id="45" name="Text 6"/>
          <p:cNvSpPr/>
          <p:nvPr/>
        </p:nvSpPr>
        <p:spPr>
          <a:xfrm>
            <a:off x="1362075" y="3009900"/>
            <a:ext cx="29328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인쇄 회로 기판 개발 제품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수율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공정능력 개선 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6981825" y="20193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박정수</a:t>
            </a:r>
            <a:endParaRPr lang="en-US" sz="1350" dirty="0"/>
          </a:p>
        </p:txBody>
      </p:sp>
      <p:sp>
        <p:nvSpPr>
          <p:cNvPr id="47" name="Text 8"/>
          <p:cNvSpPr/>
          <p:nvPr/>
        </p:nvSpPr>
        <p:spPr>
          <a:xfrm>
            <a:off x="6981825" y="2286000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2025154004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7191375" y="2552700"/>
            <a:ext cx="2308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에니아소프트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7191375" y="2781300"/>
            <a:ext cx="211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현황 관리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7191374" y="3009900"/>
            <a:ext cx="2009775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아이템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</a:t>
            </a:r>
            <a:endParaRPr lang="en-US" sz="1050" dirty="0"/>
          </a:p>
        </p:txBody>
      </p:sp>
      <p:sp>
        <p:nvSpPr>
          <p:cNvPr id="51" name="Text 12"/>
          <p:cNvSpPr/>
          <p:nvPr/>
        </p:nvSpPr>
        <p:spPr>
          <a:xfrm>
            <a:off x="1152525" y="3810000"/>
            <a:ext cx="1971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이원표</a:t>
            </a:r>
            <a:endParaRPr lang="en-US" sz="1350" dirty="0"/>
          </a:p>
        </p:txBody>
      </p:sp>
      <p:sp>
        <p:nvSpPr>
          <p:cNvPr id="52" name="Text 13"/>
          <p:cNvSpPr/>
          <p:nvPr/>
        </p:nvSpPr>
        <p:spPr>
          <a:xfrm>
            <a:off x="1152525" y="4076700"/>
            <a:ext cx="2366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2025254021</a:t>
            </a:r>
            <a:endParaRPr lang="en-US" sz="1050" dirty="0"/>
          </a:p>
        </p:txBody>
      </p:sp>
      <p:sp>
        <p:nvSpPr>
          <p:cNvPr id="53" name="Text 14"/>
          <p:cNvSpPr/>
          <p:nvPr/>
        </p:nvSpPr>
        <p:spPr>
          <a:xfrm>
            <a:off x="1362075" y="4343400"/>
            <a:ext cx="20459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세노텍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1362075" y="4572000"/>
            <a:ext cx="211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엔지니어링 개발 총괄</a:t>
            </a:r>
            <a:endParaRPr lang="en-US" sz="1050" dirty="0"/>
          </a:p>
        </p:txBody>
      </p:sp>
      <p:sp>
        <p:nvSpPr>
          <p:cNvPr id="55" name="Text 16"/>
          <p:cNvSpPr/>
          <p:nvPr/>
        </p:nvSpPr>
        <p:spPr>
          <a:xfrm>
            <a:off x="1362075" y="4800600"/>
            <a:ext cx="16573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개발 및 기술 전략</a:t>
            </a:r>
            <a:endParaRPr lang="en-US" sz="1050" dirty="0"/>
          </a:p>
        </p:txBody>
      </p:sp>
      <p:sp>
        <p:nvSpPr>
          <p:cNvPr id="56" name="Text 17"/>
          <p:cNvSpPr/>
          <p:nvPr/>
        </p:nvSpPr>
        <p:spPr>
          <a:xfrm>
            <a:off x="6981825" y="3810000"/>
            <a:ext cx="22193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5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전양호</a:t>
            </a:r>
            <a:endParaRPr lang="en-US" sz="1350" dirty="0"/>
          </a:p>
        </p:txBody>
      </p:sp>
      <p:sp>
        <p:nvSpPr>
          <p:cNvPr id="57" name="Text 18"/>
          <p:cNvSpPr/>
          <p:nvPr/>
        </p:nvSpPr>
        <p:spPr>
          <a:xfrm>
            <a:off x="7037070" y="4076700"/>
            <a:ext cx="2663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2025254002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7191375" y="4343400"/>
            <a:ext cx="2194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에이브이지니어스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7191375" y="4572000"/>
            <a:ext cx="24117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및 무인 이동체 제어 인터페이스 개발</a:t>
            </a:r>
            <a:endParaRPr lang="en-US" sz="1050" dirty="0"/>
          </a:p>
        </p:txBody>
      </p:sp>
      <p:sp>
        <p:nvSpPr>
          <p:cNvPr id="60" name="Text 21"/>
          <p:cNvSpPr/>
          <p:nvPr/>
        </p:nvSpPr>
        <p:spPr>
          <a:xfrm>
            <a:off x="7191375" y="4800600"/>
            <a:ext cx="23088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원격 제어 및 데이터 통신 최적화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781050" y="56769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핵심 가치</a:t>
            </a:r>
            <a:endParaRPr lang="en-US" sz="1350" dirty="0"/>
          </a:p>
        </p:txBody>
      </p:sp>
      <p:sp>
        <p:nvSpPr>
          <p:cNvPr id="62" name="Text 23"/>
          <p:cNvSpPr/>
          <p:nvPr/>
        </p:nvSpPr>
        <p:spPr>
          <a:xfrm>
            <a:off x="933450" y="6057900"/>
            <a:ext cx="12096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혁신적 사고</a:t>
            </a:r>
            <a:endParaRPr lang="en-US" sz="1050" dirty="0"/>
          </a:p>
        </p:txBody>
      </p:sp>
      <p:sp>
        <p:nvSpPr>
          <p:cNvPr id="63" name="Text 24"/>
          <p:cNvSpPr/>
          <p:nvPr/>
        </p:nvSpPr>
        <p:spPr>
          <a:xfrm>
            <a:off x="2333625" y="6057900"/>
            <a:ext cx="12477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협업과 소통</a:t>
            </a:r>
            <a:endParaRPr lang="en-US" sz="1050" dirty="0"/>
          </a:p>
        </p:txBody>
      </p:sp>
      <p:sp>
        <p:nvSpPr>
          <p:cNvPr id="64" name="Text 25"/>
          <p:cNvSpPr/>
          <p:nvPr/>
        </p:nvSpPr>
        <p:spPr>
          <a:xfrm>
            <a:off x="3695700" y="6057900"/>
            <a:ext cx="20916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 의사결정</a:t>
            </a:r>
            <a:endParaRPr lang="en-US" sz="1050" dirty="0"/>
          </a:p>
        </p:txBody>
      </p:sp>
      <p:sp>
        <p:nvSpPr>
          <p:cNvPr id="65" name="Text 26"/>
          <p:cNvSpPr/>
          <p:nvPr/>
        </p:nvSpPr>
        <p:spPr>
          <a:xfrm>
            <a:off x="5591175" y="6057900"/>
            <a:ext cx="12096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지속적 성장</a:t>
            </a:r>
            <a:endParaRPr lang="en-US" sz="1050" dirty="0"/>
          </a:p>
        </p:txBody>
      </p:sp>
      <p:sp>
        <p:nvSpPr>
          <p:cNvPr id="66" name="Text 27"/>
          <p:cNvSpPr/>
          <p:nvPr/>
        </p:nvSpPr>
        <p:spPr>
          <a:xfrm>
            <a:off x="11296650" y="66294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1/5</a:t>
            </a:r>
            <a:endParaRPr lang="en-US" sz="1050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8602201-5596-4126-A1F9-3972FD1C5170}"/>
              </a:ext>
            </a:extLst>
          </p:cNvPr>
          <p:cNvSpPr/>
          <p:nvPr/>
        </p:nvSpPr>
        <p:spPr>
          <a:xfrm>
            <a:off x="609600" y="2015490"/>
            <a:ext cx="428625" cy="571500"/>
          </a:xfrm>
          <a:prstGeom prst="ellipse">
            <a:avLst/>
          </a:prstGeom>
          <a:blipFill>
            <a:blip r:embed="rId21"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281030B-40A7-4304-B389-F7EFA8CCE4B5}"/>
              </a:ext>
            </a:extLst>
          </p:cNvPr>
          <p:cNvSpPr/>
          <p:nvPr/>
        </p:nvSpPr>
        <p:spPr>
          <a:xfrm>
            <a:off x="6414136" y="2015490"/>
            <a:ext cx="428625" cy="571500"/>
          </a:xfrm>
          <a:prstGeom prst="ellipse">
            <a:avLst/>
          </a:prstGeom>
          <a:blipFill>
            <a:blip r:embed="rId22"/>
            <a:stretch>
              <a:fillRect/>
            </a:stretch>
          </a:blip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1AFABCEF-49AE-4BE1-9804-A8EC0C12A966}"/>
              </a:ext>
            </a:extLst>
          </p:cNvPr>
          <p:cNvSpPr/>
          <p:nvPr/>
        </p:nvSpPr>
        <p:spPr>
          <a:xfrm>
            <a:off x="604838" y="3810000"/>
            <a:ext cx="428625" cy="571500"/>
          </a:xfrm>
          <a:prstGeom prst="ellipse">
            <a:avLst/>
          </a:prstGeom>
          <a:blipFill>
            <a:blip r:embed="rId2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7F8B4E0-A88F-47EE-BAC3-B163AB87376F}"/>
              </a:ext>
            </a:extLst>
          </p:cNvPr>
          <p:cNvSpPr/>
          <p:nvPr/>
        </p:nvSpPr>
        <p:spPr>
          <a:xfrm>
            <a:off x="6488430" y="3813810"/>
            <a:ext cx="428625" cy="571500"/>
          </a:xfrm>
          <a:prstGeom prst="ellipse">
            <a:avLst/>
          </a:prstGeom>
          <a:blipFill>
            <a:blip r:embed="rId24"/>
            <a:stretch>
              <a:fillRect/>
            </a:stretch>
          </a:blip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5600700" cy="2819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9700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8288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209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194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29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43000"/>
            <a:ext cx="5600700" cy="2819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409700"/>
            <a:ext cx="1714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79070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19145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25146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857500"/>
            <a:ext cx="2667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2981325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9900" y="3390900"/>
            <a:ext cx="104775" cy="1333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개요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와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목적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962025" y="13716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목적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838200" y="1790700"/>
            <a:ext cx="5600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 공유 시스템의 운영 효율성을 극대화하기 위해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예측 모델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838200" y="217170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날씨, 시간, 요일, 계절 등 다양한 환경 요인이 자전거 대여 수요에 미치는 영향 분석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838200" y="278130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Bike Sharing Dataset과 서울시 따릉이 데이터를 활용한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기반 예측 모델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838200" y="3390900"/>
            <a:ext cx="5303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모델을 바탕으로 실제 운영 환경에 적용할 수 있는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방안 제시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6724650" y="13716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소개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6858000" y="17907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Bike Sharing Dataset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858000" y="2057400"/>
            <a:ext cx="472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워싱턴 D.C.의 Capital Bikeshare 시스템에서 2011년부터 2012년까지 기록된 시간별(hour.csv) 및 일별(day.csv) 자전거 대여량 정보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7029450" y="2476500"/>
            <a:ext cx="5669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포함 변수: 기온, 습도, 풍속, 날씨, 계절, 휴일, 근무일, 시간 등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6819900" y="28575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따릉이 대여 이력 (보너스 데이터)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6819900" y="3124200"/>
            <a:ext cx="571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도시 환경에서의 자전거 공유 시스템 이용 패턴 분석을 위해 추가 활용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6962775" y="3352800"/>
            <a:ext cx="476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출퇴근 패턴, 요일별 이용 차이, 특정 대여소의 자전거 불균형 문제 등 인사이트 도출</a:t>
            </a:r>
            <a:endParaRPr lang="en-US" sz="1050" dirty="0"/>
          </a:p>
        </p:txBody>
      </p:sp>
      <p:pic>
        <p:nvPicPr>
          <p:cNvPr id="33" name="Image 36" descr="preencoded.png">
            <a:extLst>
              <a:ext uri="{FF2B5EF4-FFF2-40B4-BE49-F238E27FC236}">
                <a16:creationId xmlns:a16="http://schemas.microsoft.com/office/drawing/2014/main" id="{28588AFC-3BD1-45E3-BE7B-C0F1394B14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53775" y="6667500"/>
            <a:ext cx="104775" cy="133350"/>
          </a:xfrm>
          <a:prstGeom prst="rect">
            <a:avLst/>
          </a:prstGeom>
        </p:spPr>
      </p:pic>
      <p:sp>
        <p:nvSpPr>
          <p:cNvPr id="34" name="Text 27">
            <a:extLst>
              <a:ext uri="{FF2B5EF4-FFF2-40B4-BE49-F238E27FC236}">
                <a16:creationId xmlns:a16="http://schemas.microsoft.com/office/drawing/2014/main" id="{55087C57-0F6E-43E8-8F40-DE7ED2E0E0AE}"/>
              </a:ext>
            </a:extLst>
          </p:cNvPr>
          <p:cNvSpPr/>
          <p:nvPr/>
        </p:nvSpPr>
        <p:spPr>
          <a:xfrm>
            <a:off x="11296650" y="66294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2/5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876300"/>
            <a:ext cx="11582400" cy="2781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8700"/>
            <a:ext cx="112776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28700"/>
            <a:ext cx="95562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2825" y="1028700"/>
            <a:ext cx="2293739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6564" y="1028700"/>
            <a:ext cx="5734348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0912" y="1028700"/>
            <a:ext cx="2293888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371600"/>
            <a:ext cx="955625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5240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1371600"/>
            <a:ext cx="2293739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1371600"/>
            <a:ext cx="5734348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150495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1371600"/>
            <a:ext cx="2293888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905000"/>
            <a:ext cx="955625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05740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1905000"/>
            <a:ext cx="2293739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1905000"/>
            <a:ext cx="5734348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203835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1905000"/>
            <a:ext cx="2293888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438400"/>
            <a:ext cx="955625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590800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2438400"/>
            <a:ext cx="2293739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2438400"/>
            <a:ext cx="5734348" cy="533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257175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2438400"/>
            <a:ext cx="2293888" cy="533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971800"/>
            <a:ext cx="955625" cy="533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124200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2971800"/>
            <a:ext cx="2293739" cy="533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2971800"/>
            <a:ext cx="5734348" cy="533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3105150"/>
            <a:ext cx="133350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2971800"/>
            <a:ext cx="2293888" cy="533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3810000"/>
            <a:ext cx="11582400" cy="13716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010025"/>
            <a:ext cx="219075" cy="1714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4305300"/>
            <a:ext cx="1466850" cy="495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" y="4467225"/>
            <a:ext cx="180975" cy="1905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76450" y="4305300"/>
            <a:ext cx="1371600" cy="4953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52650" y="4467225"/>
            <a:ext cx="171450" cy="1905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00450" y="4305300"/>
            <a:ext cx="1504950" cy="4953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76650" y="4467225"/>
            <a:ext cx="142875" cy="1905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4905375"/>
            <a:ext cx="114300" cy="114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153775" y="6553200"/>
            <a:ext cx="104775" cy="133350"/>
          </a:xfrm>
          <a:prstGeom prst="rect">
            <a:avLst/>
          </a:prstGeom>
        </p:spPr>
      </p:pic>
      <p:sp>
        <p:nvSpPr>
          <p:cNvPr id="44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일정 (2025.11.13 ~ 2025.12.12)</a:t>
            </a:r>
            <a:endParaRPr lang="en-US" sz="2250" dirty="0"/>
          </a:p>
        </p:txBody>
      </p:sp>
      <p:sp>
        <p:nvSpPr>
          <p:cNvPr id="45" name="Text 1"/>
          <p:cNvSpPr/>
          <p:nvPr/>
        </p:nvSpPr>
        <p:spPr>
          <a:xfrm>
            <a:off x="571500" y="1028700"/>
            <a:ext cx="955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</a:t>
            </a:r>
            <a:endParaRPr lang="en-US" sz="1050" dirty="0"/>
          </a:p>
        </p:txBody>
      </p:sp>
      <p:sp>
        <p:nvSpPr>
          <p:cNvPr id="46" name="Text 2"/>
          <p:cNvSpPr/>
          <p:nvPr/>
        </p:nvSpPr>
        <p:spPr>
          <a:xfrm>
            <a:off x="1527125" y="1028700"/>
            <a:ext cx="229373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050" dirty="0"/>
          </a:p>
        </p:txBody>
      </p:sp>
      <p:sp>
        <p:nvSpPr>
          <p:cNvPr id="47" name="Text 3"/>
          <p:cNvSpPr/>
          <p:nvPr/>
        </p:nvSpPr>
        <p:spPr>
          <a:xfrm>
            <a:off x="3820864" y="1028700"/>
            <a:ext cx="573434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작업</a:t>
            </a:r>
            <a:endParaRPr lang="en-US" sz="1050" dirty="0"/>
          </a:p>
        </p:txBody>
      </p:sp>
      <p:sp>
        <p:nvSpPr>
          <p:cNvPr id="48" name="Text 4"/>
          <p:cNvSpPr/>
          <p:nvPr/>
        </p:nvSpPr>
        <p:spPr>
          <a:xfrm>
            <a:off x="9555212" y="1028700"/>
            <a:ext cx="229388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/ 방식</a:t>
            </a:r>
            <a:endParaRPr lang="en-US" sz="1050" dirty="0"/>
          </a:p>
        </p:txBody>
      </p:sp>
      <p:sp>
        <p:nvSpPr>
          <p:cNvPr id="49" name="Text 5"/>
          <p:cNvSpPr/>
          <p:nvPr/>
        </p:nvSpPr>
        <p:spPr>
          <a:xfrm>
            <a:off x="652463" y="15240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6"/>
          <p:cNvSpPr/>
          <p:nvPr/>
        </p:nvSpPr>
        <p:spPr>
          <a:xfrm>
            <a:off x="1527125" y="13716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11.13 ~ 11.19</a:t>
            </a:r>
            <a:endParaRPr lang="en-US" sz="1050" dirty="0"/>
          </a:p>
        </p:txBody>
      </p:sp>
      <p:sp>
        <p:nvSpPr>
          <p:cNvPr id="51" name="Text 7"/>
          <p:cNvSpPr/>
          <p:nvPr/>
        </p:nvSpPr>
        <p:spPr>
          <a:xfrm>
            <a:off x="3992314" y="1466850"/>
            <a:ext cx="30003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정리</a:t>
            </a:r>
            <a:endParaRPr lang="en-US" sz="1050" dirty="0"/>
          </a:p>
        </p:txBody>
      </p:sp>
      <p:sp>
        <p:nvSpPr>
          <p:cNvPr id="52" name="Text 8"/>
          <p:cNvSpPr/>
          <p:nvPr/>
        </p:nvSpPr>
        <p:spPr>
          <a:xfrm>
            <a:off x="3992314" y="1657350"/>
            <a:ext cx="36004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Kaggle/UCI 데이터, 날씨·시간대 데이터 병합, 결측치·형식 통일</a:t>
            </a:r>
            <a:endParaRPr lang="en-US" sz="900" dirty="0"/>
          </a:p>
        </p:txBody>
      </p:sp>
      <p:sp>
        <p:nvSpPr>
          <p:cNvPr id="53" name="Text 9"/>
          <p:cNvSpPr/>
          <p:nvPr/>
        </p:nvSpPr>
        <p:spPr>
          <a:xfrm>
            <a:off x="9555212" y="1447800"/>
            <a:ext cx="834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전체 협업</a:t>
            </a:r>
            <a:endParaRPr lang="en-US" sz="1050" dirty="0"/>
          </a:p>
        </p:txBody>
      </p:sp>
      <p:sp>
        <p:nvSpPr>
          <p:cNvPr id="54" name="Text 10"/>
          <p:cNvSpPr/>
          <p:nvPr/>
        </p:nvSpPr>
        <p:spPr>
          <a:xfrm>
            <a:off x="10250537" y="14478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55" name="Text 11"/>
          <p:cNvSpPr/>
          <p:nvPr/>
        </p:nvSpPr>
        <p:spPr>
          <a:xfrm>
            <a:off x="9555212" y="1657350"/>
            <a:ext cx="11201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Drive / Git</a:t>
            </a:r>
            <a:endParaRPr lang="en-US" sz="900" dirty="0"/>
          </a:p>
        </p:txBody>
      </p:sp>
      <p:sp>
        <p:nvSpPr>
          <p:cNvPr id="56" name="Text 12"/>
          <p:cNvSpPr/>
          <p:nvPr/>
        </p:nvSpPr>
        <p:spPr>
          <a:xfrm>
            <a:off x="652463" y="20574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13"/>
          <p:cNvSpPr/>
          <p:nvPr/>
        </p:nvSpPr>
        <p:spPr>
          <a:xfrm>
            <a:off x="1527125" y="19050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11.20 ~ 11.26</a:t>
            </a:r>
            <a:endParaRPr lang="en-US" sz="1050" dirty="0"/>
          </a:p>
        </p:txBody>
      </p:sp>
      <p:sp>
        <p:nvSpPr>
          <p:cNvPr id="58" name="Text 14"/>
          <p:cNvSpPr/>
          <p:nvPr/>
        </p:nvSpPr>
        <p:spPr>
          <a:xfrm>
            <a:off x="3992314" y="2000250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및 EDA 공동 진행</a:t>
            </a:r>
            <a:endParaRPr lang="en-US" sz="1050" dirty="0"/>
          </a:p>
        </p:txBody>
      </p:sp>
      <p:sp>
        <p:nvSpPr>
          <p:cNvPr id="59" name="Text 15"/>
          <p:cNvSpPr/>
          <p:nvPr/>
        </p:nvSpPr>
        <p:spPr>
          <a:xfrm>
            <a:off x="3992314" y="21907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 처리, 범주형 인코딩, EDA Notebook 작성, 베이스라인 모델 공유</a:t>
            </a:r>
            <a:endParaRPr lang="en-US" sz="900" dirty="0"/>
          </a:p>
        </p:txBody>
      </p:sp>
      <p:sp>
        <p:nvSpPr>
          <p:cNvPr id="60" name="Text 16"/>
          <p:cNvSpPr/>
          <p:nvPr/>
        </p:nvSpPr>
        <p:spPr>
          <a:xfrm>
            <a:off x="9555212" y="198120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전원 동일 환경</a:t>
            </a:r>
            <a:endParaRPr lang="en-US" sz="1050" dirty="0"/>
          </a:p>
        </p:txBody>
      </p:sp>
      <p:sp>
        <p:nvSpPr>
          <p:cNvPr id="61" name="Text 17"/>
          <p:cNvSpPr/>
          <p:nvPr/>
        </p:nvSpPr>
        <p:spPr>
          <a:xfrm>
            <a:off x="10374362" y="19812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62" name="Text 18"/>
          <p:cNvSpPr/>
          <p:nvPr/>
        </p:nvSpPr>
        <p:spPr>
          <a:xfrm>
            <a:off x="9555212" y="2190750"/>
            <a:ext cx="98298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Colab / VSCode</a:t>
            </a:r>
            <a:endParaRPr lang="en-US" sz="900" dirty="0"/>
          </a:p>
        </p:txBody>
      </p:sp>
      <p:sp>
        <p:nvSpPr>
          <p:cNvPr id="63" name="Text 19"/>
          <p:cNvSpPr/>
          <p:nvPr/>
        </p:nvSpPr>
        <p:spPr>
          <a:xfrm>
            <a:off x="652463" y="25908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Text 20"/>
          <p:cNvSpPr/>
          <p:nvPr/>
        </p:nvSpPr>
        <p:spPr>
          <a:xfrm>
            <a:off x="1527125" y="24384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11.27 ~ 12.03</a:t>
            </a:r>
            <a:endParaRPr lang="en-US" sz="1050" dirty="0"/>
          </a:p>
        </p:txBody>
      </p:sp>
      <p:sp>
        <p:nvSpPr>
          <p:cNvPr id="65" name="Text 21"/>
          <p:cNvSpPr/>
          <p:nvPr/>
        </p:nvSpPr>
        <p:spPr>
          <a:xfrm>
            <a:off x="3992314" y="2533650"/>
            <a:ext cx="50387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모델링</a:t>
            </a:r>
            <a:endParaRPr lang="en-US" sz="1050" dirty="0"/>
          </a:p>
        </p:txBody>
      </p:sp>
      <p:sp>
        <p:nvSpPr>
          <p:cNvPr id="66" name="Text 22"/>
          <p:cNvSpPr/>
          <p:nvPr/>
        </p:nvSpPr>
        <p:spPr>
          <a:xfrm>
            <a:off x="3992314" y="2724150"/>
            <a:ext cx="60464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LightGBM, XGBoost, CatBoost, Prophet, LSTM 등 모델 적용, 동일 train/valid split, MAE/RMSE 비교</a:t>
            </a:r>
            <a:endParaRPr lang="en-US" sz="900" dirty="0"/>
          </a:p>
        </p:txBody>
      </p:sp>
      <p:sp>
        <p:nvSpPr>
          <p:cNvPr id="67" name="Text 23"/>
          <p:cNvSpPr/>
          <p:nvPr/>
        </p:nvSpPr>
        <p:spPr>
          <a:xfrm>
            <a:off x="9555212" y="2514600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개인별 분담</a:t>
            </a:r>
            <a:endParaRPr lang="en-US" sz="1050" dirty="0"/>
          </a:p>
        </p:txBody>
      </p:sp>
      <p:sp>
        <p:nvSpPr>
          <p:cNvPr id="68" name="Text 24"/>
          <p:cNvSpPr/>
          <p:nvPr/>
        </p:nvSpPr>
        <p:spPr>
          <a:xfrm>
            <a:off x="10212437" y="25146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69" name="Text 25"/>
          <p:cNvSpPr/>
          <p:nvPr/>
        </p:nvSpPr>
        <p:spPr>
          <a:xfrm>
            <a:off x="9555212" y="2724150"/>
            <a:ext cx="110871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 담당 모델 개발</a:t>
            </a:r>
            <a:endParaRPr lang="en-US" sz="900" dirty="0"/>
          </a:p>
        </p:txBody>
      </p:sp>
      <p:sp>
        <p:nvSpPr>
          <p:cNvPr id="70" name="Text 26"/>
          <p:cNvSpPr/>
          <p:nvPr/>
        </p:nvSpPr>
        <p:spPr>
          <a:xfrm>
            <a:off x="652463" y="31242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Text 27"/>
          <p:cNvSpPr/>
          <p:nvPr/>
        </p:nvSpPr>
        <p:spPr>
          <a:xfrm>
            <a:off x="1527125" y="29718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12.04 ~ 12.12</a:t>
            </a:r>
            <a:endParaRPr lang="en-US" sz="1050" dirty="0"/>
          </a:p>
        </p:txBody>
      </p:sp>
      <p:sp>
        <p:nvSpPr>
          <p:cNvPr id="72" name="Text 28"/>
          <p:cNvSpPr/>
          <p:nvPr/>
        </p:nvSpPr>
        <p:spPr>
          <a:xfrm>
            <a:off x="3992314" y="3067050"/>
            <a:ext cx="3924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및 결론 도출</a:t>
            </a:r>
            <a:endParaRPr lang="en-US" sz="1050" dirty="0"/>
          </a:p>
        </p:txBody>
      </p:sp>
      <p:sp>
        <p:nvSpPr>
          <p:cNvPr id="73" name="Text 29"/>
          <p:cNvSpPr/>
          <p:nvPr/>
        </p:nvSpPr>
        <p:spPr>
          <a:xfrm>
            <a:off x="3992314" y="3257550"/>
            <a:ext cx="47091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Voting Regressor, Stacking, Weighted Average, SHAP 해석, 결과 보고서 작성</a:t>
            </a:r>
            <a:endParaRPr lang="en-US" sz="900" dirty="0"/>
          </a:p>
        </p:txBody>
      </p:sp>
      <p:sp>
        <p:nvSpPr>
          <p:cNvPr id="74" name="Text 30"/>
          <p:cNvSpPr/>
          <p:nvPr/>
        </p:nvSpPr>
        <p:spPr>
          <a:xfrm>
            <a:off x="9555212" y="3048000"/>
            <a:ext cx="4914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통합</a:t>
            </a:r>
            <a:endParaRPr lang="en-US" sz="1050" dirty="0"/>
          </a:p>
        </p:txBody>
      </p:sp>
      <p:sp>
        <p:nvSpPr>
          <p:cNvPr id="75" name="Text 31"/>
          <p:cNvSpPr/>
          <p:nvPr/>
        </p:nvSpPr>
        <p:spPr>
          <a:xfrm>
            <a:off x="9964787" y="30480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76" name="Text 32"/>
          <p:cNvSpPr/>
          <p:nvPr/>
        </p:nvSpPr>
        <p:spPr>
          <a:xfrm>
            <a:off x="9555212" y="3257550"/>
            <a:ext cx="94869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 완성</a:t>
            </a:r>
            <a:endParaRPr lang="en-US" sz="900" dirty="0"/>
          </a:p>
        </p:txBody>
      </p:sp>
      <p:sp>
        <p:nvSpPr>
          <p:cNvPr id="77" name="Text 33"/>
          <p:cNvSpPr/>
          <p:nvPr/>
        </p:nvSpPr>
        <p:spPr>
          <a:xfrm>
            <a:off x="752475" y="3962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방식</a:t>
            </a:r>
            <a:endParaRPr lang="en-US" sz="1350" dirty="0"/>
          </a:p>
        </p:txBody>
      </p:sp>
      <p:sp>
        <p:nvSpPr>
          <p:cNvPr id="78" name="Text 34"/>
          <p:cNvSpPr/>
          <p:nvPr/>
        </p:nvSpPr>
        <p:spPr>
          <a:xfrm>
            <a:off x="790575" y="4381500"/>
            <a:ext cx="10572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050" dirty="0"/>
          </a:p>
        </p:txBody>
      </p:sp>
      <p:sp>
        <p:nvSpPr>
          <p:cNvPr id="79" name="Text 35"/>
          <p:cNvSpPr/>
          <p:nvPr/>
        </p:nvSpPr>
        <p:spPr>
          <a:xfrm>
            <a:off x="790575" y="4572000"/>
            <a:ext cx="1268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 및 코드 공유</a:t>
            </a:r>
            <a:endParaRPr lang="en-US" sz="900" dirty="0"/>
          </a:p>
        </p:txBody>
      </p:sp>
      <p:sp>
        <p:nvSpPr>
          <p:cNvPr id="80" name="Text 36"/>
          <p:cNvSpPr/>
          <p:nvPr/>
        </p:nvSpPr>
        <p:spPr>
          <a:xfrm>
            <a:off x="2400300" y="43815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</a:t>
            </a:r>
            <a:endParaRPr lang="en-US" sz="1050" dirty="0"/>
          </a:p>
        </p:txBody>
      </p:sp>
      <p:sp>
        <p:nvSpPr>
          <p:cNvPr id="81" name="Text 37"/>
          <p:cNvSpPr/>
          <p:nvPr/>
        </p:nvSpPr>
        <p:spPr>
          <a:xfrm>
            <a:off x="2400300" y="4572000"/>
            <a:ext cx="11658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커뮤니케이션</a:t>
            </a:r>
            <a:endParaRPr lang="en-US" sz="900" dirty="0"/>
          </a:p>
        </p:txBody>
      </p:sp>
      <p:sp>
        <p:nvSpPr>
          <p:cNvPr id="82" name="Text 38"/>
          <p:cNvSpPr/>
          <p:nvPr/>
        </p:nvSpPr>
        <p:spPr>
          <a:xfrm>
            <a:off x="3895725" y="4381500"/>
            <a:ext cx="11334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</a:t>
            </a:r>
            <a:endParaRPr lang="en-US" sz="1050" dirty="0"/>
          </a:p>
        </p:txBody>
      </p:sp>
      <p:sp>
        <p:nvSpPr>
          <p:cNvPr id="83" name="Text 39"/>
          <p:cNvSpPr/>
          <p:nvPr/>
        </p:nvSpPr>
        <p:spPr>
          <a:xfrm>
            <a:off x="3895725" y="4572000"/>
            <a:ext cx="13601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 및 프로젝트 관리</a:t>
            </a:r>
            <a:endParaRPr lang="en-US" sz="900" dirty="0"/>
          </a:p>
        </p:txBody>
      </p:sp>
      <p:sp>
        <p:nvSpPr>
          <p:cNvPr id="84" name="Text 40"/>
          <p:cNvSpPr/>
          <p:nvPr/>
        </p:nvSpPr>
        <p:spPr>
          <a:xfrm>
            <a:off x="609600" y="4876800"/>
            <a:ext cx="11277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다양한 협업 툴을 활용한 효율적인 프로젝트 관리로 팀원 간 원활한 소통과 일정 준수를 실현합니다.</a:t>
            </a:r>
            <a:endParaRPr lang="en-US" sz="900" dirty="0"/>
          </a:p>
        </p:txBody>
      </p:sp>
      <p:sp>
        <p:nvSpPr>
          <p:cNvPr id="85" name="Text 41"/>
          <p:cNvSpPr/>
          <p:nvPr/>
        </p:nvSpPr>
        <p:spPr>
          <a:xfrm>
            <a:off x="11296650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3/5</a:t>
            </a:r>
            <a:endParaRPr lang="en-US" sz="1050" dirty="0"/>
          </a:p>
        </p:txBody>
      </p:sp>
      <p:pic>
        <p:nvPicPr>
          <p:cNvPr id="86" name="Image 38" descr="preencoded.png">
            <a:extLst>
              <a:ext uri="{FF2B5EF4-FFF2-40B4-BE49-F238E27FC236}">
                <a16:creationId xmlns:a16="http://schemas.microsoft.com/office/drawing/2014/main" id="{696E4436-3CDF-4D04-A5D2-FC29C6C9C5D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10175" y="4314825"/>
            <a:ext cx="1504950" cy="495300"/>
          </a:xfrm>
          <a:prstGeom prst="rect">
            <a:avLst/>
          </a:prstGeom>
        </p:spPr>
      </p:pic>
      <p:sp>
        <p:nvSpPr>
          <p:cNvPr id="87" name="Text 38">
            <a:extLst>
              <a:ext uri="{FF2B5EF4-FFF2-40B4-BE49-F238E27FC236}">
                <a16:creationId xmlns:a16="http://schemas.microsoft.com/office/drawing/2014/main" id="{31E80D66-4582-4C5A-A79A-89D75D066CB5}"/>
              </a:ext>
            </a:extLst>
          </p:cNvPr>
          <p:cNvSpPr/>
          <p:nvPr/>
        </p:nvSpPr>
        <p:spPr>
          <a:xfrm>
            <a:off x="5505450" y="4391025"/>
            <a:ext cx="11334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MS365</a:t>
            </a:r>
            <a:endParaRPr lang="en-US" sz="1050" dirty="0"/>
          </a:p>
        </p:txBody>
      </p:sp>
      <p:sp>
        <p:nvSpPr>
          <p:cNvPr id="88" name="Text 39">
            <a:extLst>
              <a:ext uri="{FF2B5EF4-FFF2-40B4-BE49-F238E27FC236}">
                <a16:creationId xmlns:a16="http://schemas.microsoft.com/office/drawing/2014/main" id="{72D52CB9-0DFA-4779-A61B-89222932A119}"/>
              </a:ext>
            </a:extLst>
          </p:cNvPr>
          <p:cNvSpPr/>
          <p:nvPr/>
        </p:nvSpPr>
        <p:spPr>
          <a:xfrm>
            <a:off x="5505450" y="4581525"/>
            <a:ext cx="13601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 및 프로젝트 관리</a:t>
            </a:r>
            <a:endParaRPr lang="en-US" sz="900" dirty="0"/>
          </a:p>
        </p:txBody>
      </p:sp>
      <p:pic>
        <p:nvPicPr>
          <p:cNvPr id="91" name="Picture 4">
            <a:extLst>
              <a:ext uri="{FF2B5EF4-FFF2-40B4-BE49-F238E27FC236}">
                <a16:creationId xmlns:a16="http://schemas.microsoft.com/office/drawing/2014/main" id="{5CFB5B74-5AEA-4CF3-B891-172FCAE58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3" t="3947" r="21841" b="34211"/>
          <a:stretch/>
        </p:blipFill>
        <p:spPr bwMode="auto">
          <a:xfrm>
            <a:off x="5247084" y="4441031"/>
            <a:ext cx="215741" cy="22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6720780" cy="529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71700"/>
            <a:ext cx="633978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95600"/>
            <a:ext cx="633978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81400"/>
            <a:ext cx="633978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67200"/>
            <a:ext cx="633978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53000"/>
            <a:ext cx="633978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638800"/>
            <a:ext cx="633978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1805" y="1066800"/>
            <a:ext cx="4480620" cy="5295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880" y="1295400"/>
            <a:ext cx="142875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0880" y="1638300"/>
            <a:ext cx="4099620" cy="1447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5180" y="1790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180" y="2095500"/>
            <a:ext cx="66675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180" y="2552700"/>
            <a:ext cx="66675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180" y="2819400"/>
            <a:ext cx="66675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0880" y="3238500"/>
            <a:ext cx="409962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5180" y="3390900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5180" y="3695700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5180" y="3962400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5180" y="42291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5180" y="44958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53775" y="6553200"/>
            <a:ext cx="104775" cy="13335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데이터셋 소개 및 변수 설명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Bike Sharing Dataset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571500" y="1638300"/>
            <a:ext cx="6339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워싱턴 D.C.의 Capital Bikeshare 시스템에서 2011년부터 2012년까지 기록된 시간별 및 일별 자전거 대여량 정보</a:t>
            </a:r>
            <a:endParaRPr lang="en-US" sz="1050" dirty="0"/>
          </a:p>
        </p:txBody>
      </p:sp>
      <p:sp>
        <p:nvSpPr>
          <p:cNvPr id="31" name="Text 3"/>
          <p:cNvSpPr/>
          <p:nvPr/>
        </p:nvSpPr>
        <p:spPr>
          <a:xfrm>
            <a:off x="571500" y="2171700"/>
            <a:ext cx="993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변수명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640830" y="2171700"/>
            <a:ext cx="993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2710160" y="2171700"/>
            <a:ext cx="20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4848820" y="2171700"/>
            <a:ext cx="20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571500" y="26289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1640830" y="26289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2710160" y="26289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인덱스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848820" y="26289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571500" y="29718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dteday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1640830" y="29718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2710160" y="29718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4848820" y="29718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571500" y="33147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1640830" y="33147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2710160" y="33147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 (1:겨울, 2:봄, 3:여름, 4:가을)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4848820" y="33147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571500" y="36576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yr</a:t>
            </a:r>
            <a:endParaRPr lang="en-US" sz="1050" dirty="0"/>
          </a:p>
        </p:txBody>
      </p:sp>
      <p:sp>
        <p:nvSpPr>
          <p:cNvPr id="48" name="Text 20"/>
          <p:cNvSpPr/>
          <p:nvPr/>
        </p:nvSpPr>
        <p:spPr>
          <a:xfrm>
            <a:off x="1640830" y="36576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49" name="Text 21"/>
          <p:cNvSpPr/>
          <p:nvPr/>
        </p:nvSpPr>
        <p:spPr>
          <a:xfrm>
            <a:off x="2710160" y="36576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 (0: 2011, 1: 2012)</a:t>
            </a:r>
            <a:endParaRPr lang="en-US" sz="1050" dirty="0"/>
          </a:p>
        </p:txBody>
      </p:sp>
      <p:sp>
        <p:nvSpPr>
          <p:cNvPr id="50" name="Text 22"/>
          <p:cNvSpPr/>
          <p:nvPr/>
        </p:nvSpPr>
        <p:spPr>
          <a:xfrm>
            <a:off x="4848820" y="36576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1" name="Text 23"/>
          <p:cNvSpPr/>
          <p:nvPr/>
        </p:nvSpPr>
        <p:spPr>
          <a:xfrm>
            <a:off x="571500" y="40005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mnth</a:t>
            </a:r>
            <a:endParaRPr lang="en-US" sz="1050" dirty="0"/>
          </a:p>
        </p:txBody>
      </p:sp>
      <p:sp>
        <p:nvSpPr>
          <p:cNvPr id="52" name="Text 24"/>
          <p:cNvSpPr/>
          <p:nvPr/>
        </p:nvSpPr>
        <p:spPr>
          <a:xfrm>
            <a:off x="1640830" y="40005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53" name="Text 25"/>
          <p:cNvSpPr/>
          <p:nvPr/>
        </p:nvSpPr>
        <p:spPr>
          <a:xfrm>
            <a:off x="2710160" y="40005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(1~12)</a:t>
            </a:r>
            <a:endParaRPr lang="en-US" sz="1050" dirty="0"/>
          </a:p>
        </p:txBody>
      </p:sp>
      <p:sp>
        <p:nvSpPr>
          <p:cNvPr id="54" name="Text 26"/>
          <p:cNvSpPr/>
          <p:nvPr/>
        </p:nvSpPr>
        <p:spPr>
          <a:xfrm>
            <a:off x="4848820" y="40005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5" name="Text 27"/>
          <p:cNvSpPr/>
          <p:nvPr/>
        </p:nvSpPr>
        <p:spPr>
          <a:xfrm>
            <a:off x="571500" y="43434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</a:t>
            </a:r>
            <a:endParaRPr lang="en-US" sz="1050" dirty="0"/>
          </a:p>
        </p:txBody>
      </p:sp>
      <p:sp>
        <p:nvSpPr>
          <p:cNvPr id="56" name="Text 28"/>
          <p:cNvSpPr/>
          <p:nvPr/>
        </p:nvSpPr>
        <p:spPr>
          <a:xfrm>
            <a:off x="1640830" y="43434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57" name="Text 29"/>
          <p:cNvSpPr/>
          <p:nvPr/>
        </p:nvSpPr>
        <p:spPr>
          <a:xfrm>
            <a:off x="2710160" y="4343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(0~23)</a:t>
            </a:r>
            <a:endParaRPr lang="en-US" sz="1050" dirty="0"/>
          </a:p>
        </p:txBody>
      </p:sp>
      <p:sp>
        <p:nvSpPr>
          <p:cNvPr id="58" name="Text 30"/>
          <p:cNvSpPr/>
          <p:nvPr/>
        </p:nvSpPr>
        <p:spPr>
          <a:xfrm>
            <a:off x="4848820" y="4343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9" name="Text 31"/>
          <p:cNvSpPr/>
          <p:nvPr/>
        </p:nvSpPr>
        <p:spPr>
          <a:xfrm>
            <a:off x="571500" y="46863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holiday</a:t>
            </a:r>
            <a:endParaRPr lang="en-US" sz="1050" dirty="0"/>
          </a:p>
        </p:txBody>
      </p:sp>
      <p:sp>
        <p:nvSpPr>
          <p:cNvPr id="60" name="Text 32"/>
          <p:cNvSpPr/>
          <p:nvPr/>
        </p:nvSpPr>
        <p:spPr>
          <a:xfrm>
            <a:off x="1640830" y="46863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Binary</a:t>
            </a:r>
            <a:endParaRPr lang="en-US" sz="1050" dirty="0"/>
          </a:p>
        </p:txBody>
      </p:sp>
      <p:sp>
        <p:nvSpPr>
          <p:cNvPr id="61" name="Text 33"/>
          <p:cNvSpPr/>
          <p:nvPr/>
        </p:nvSpPr>
        <p:spPr>
          <a:xfrm>
            <a:off x="2710160" y="46863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공휴일 여부 (1:공휴일, 0:아님)</a:t>
            </a:r>
            <a:endParaRPr lang="en-US" sz="1050" dirty="0"/>
          </a:p>
        </p:txBody>
      </p:sp>
      <p:sp>
        <p:nvSpPr>
          <p:cNvPr id="62" name="Text 34"/>
          <p:cNvSpPr/>
          <p:nvPr/>
        </p:nvSpPr>
        <p:spPr>
          <a:xfrm>
            <a:off x="4848820" y="46863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63" name="Text 35"/>
          <p:cNvSpPr/>
          <p:nvPr/>
        </p:nvSpPr>
        <p:spPr>
          <a:xfrm>
            <a:off x="571500" y="50292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weekday</a:t>
            </a:r>
            <a:endParaRPr lang="en-US" sz="1050" dirty="0"/>
          </a:p>
        </p:txBody>
      </p:sp>
      <p:sp>
        <p:nvSpPr>
          <p:cNvPr id="64" name="Text 36"/>
          <p:cNvSpPr/>
          <p:nvPr/>
        </p:nvSpPr>
        <p:spPr>
          <a:xfrm>
            <a:off x="1640830" y="50292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65" name="Text 37"/>
          <p:cNvSpPr/>
          <p:nvPr/>
        </p:nvSpPr>
        <p:spPr>
          <a:xfrm>
            <a:off x="2710160" y="50292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</a:t>
            </a:r>
            <a:endParaRPr lang="en-US" sz="1050" dirty="0"/>
          </a:p>
        </p:txBody>
      </p:sp>
      <p:sp>
        <p:nvSpPr>
          <p:cNvPr id="66" name="Text 38"/>
          <p:cNvSpPr/>
          <p:nvPr/>
        </p:nvSpPr>
        <p:spPr>
          <a:xfrm>
            <a:off x="4848820" y="50292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67" name="Text 39"/>
          <p:cNvSpPr/>
          <p:nvPr/>
        </p:nvSpPr>
        <p:spPr>
          <a:xfrm>
            <a:off x="571500" y="53721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workingday</a:t>
            </a:r>
            <a:endParaRPr lang="en-US" sz="1050" dirty="0"/>
          </a:p>
        </p:txBody>
      </p:sp>
      <p:sp>
        <p:nvSpPr>
          <p:cNvPr id="68" name="Text 40"/>
          <p:cNvSpPr/>
          <p:nvPr/>
        </p:nvSpPr>
        <p:spPr>
          <a:xfrm>
            <a:off x="1640830" y="53721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Binary</a:t>
            </a:r>
            <a:endParaRPr lang="en-US" sz="1050" dirty="0"/>
          </a:p>
        </p:txBody>
      </p:sp>
      <p:sp>
        <p:nvSpPr>
          <p:cNvPr id="69" name="Text 41"/>
          <p:cNvSpPr/>
          <p:nvPr/>
        </p:nvSpPr>
        <p:spPr>
          <a:xfrm>
            <a:off x="2710160" y="53721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근무일 여부 (1:근무일, 0:아님)</a:t>
            </a:r>
            <a:endParaRPr lang="en-US" sz="1050" dirty="0"/>
          </a:p>
        </p:txBody>
      </p:sp>
      <p:sp>
        <p:nvSpPr>
          <p:cNvPr id="70" name="Text 42"/>
          <p:cNvSpPr/>
          <p:nvPr/>
        </p:nvSpPr>
        <p:spPr>
          <a:xfrm>
            <a:off x="4848820" y="53721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71" name="Text 43"/>
          <p:cNvSpPr/>
          <p:nvPr/>
        </p:nvSpPr>
        <p:spPr>
          <a:xfrm>
            <a:off x="571500" y="5715000"/>
            <a:ext cx="119175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weathersit</a:t>
            </a:r>
            <a:endParaRPr lang="en-US" sz="1050" dirty="0"/>
          </a:p>
        </p:txBody>
      </p:sp>
      <p:sp>
        <p:nvSpPr>
          <p:cNvPr id="72" name="Text 44"/>
          <p:cNvSpPr/>
          <p:nvPr/>
        </p:nvSpPr>
        <p:spPr>
          <a:xfrm>
            <a:off x="1640830" y="5715000"/>
            <a:ext cx="119175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73" name="Text 45"/>
          <p:cNvSpPr/>
          <p:nvPr/>
        </p:nvSpPr>
        <p:spPr>
          <a:xfrm>
            <a:off x="2710160" y="5715000"/>
            <a:ext cx="20624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(1:맑음, 2:흐림/안개, 3:약한 눈/비, 4:폭우/폭설)</a:t>
            </a:r>
            <a:endParaRPr lang="en-US" sz="1050" dirty="0"/>
          </a:p>
        </p:txBody>
      </p:sp>
      <p:sp>
        <p:nvSpPr>
          <p:cNvPr id="74" name="Text 46"/>
          <p:cNvSpPr/>
          <p:nvPr/>
        </p:nvSpPr>
        <p:spPr>
          <a:xfrm>
            <a:off x="4848820" y="5715000"/>
            <a:ext cx="20624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78" name="Text 50"/>
          <p:cNvSpPr/>
          <p:nvPr/>
        </p:nvSpPr>
        <p:spPr>
          <a:xfrm>
            <a:off x="4848820" y="6248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91" name="Text 63"/>
          <p:cNvSpPr/>
          <p:nvPr/>
        </p:nvSpPr>
        <p:spPr>
          <a:xfrm>
            <a:off x="7778055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따릉이 데이터</a:t>
            </a:r>
            <a:endParaRPr lang="en-US" sz="1500" dirty="0"/>
          </a:p>
        </p:txBody>
      </p:sp>
      <p:sp>
        <p:nvSpPr>
          <p:cNvPr id="92" name="Text 64"/>
          <p:cNvSpPr/>
          <p:nvPr/>
        </p:nvSpPr>
        <p:spPr>
          <a:xfrm>
            <a:off x="7863780" y="17526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 및 특성</a:t>
            </a:r>
            <a:endParaRPr lang="en-US" sz="1200" dirty="0"/>
          </a:p>
        </p:txBody>
      </p:sp>
      <p:sp>
        <p:nvSpPr>
          <p:cNvPr id="93" name="Text 65"/>
          <p:cNvSpPr/>
          <p:nvPr/>
        </p:nvSpPr>
        <p:spPr>
          <a:xfrm>
            <a:off x="7778055" y="2057400"/>
            <a:ext cx="372814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도시 환경에서의 자전거 공유 시스템 이용 패턴 분석을 위해 추가 활용</a:t>
            </a:r>
            <a:endParaRPr lang="en-US" sz="1050" dirty="0"/>
          </a:p>
        </p:txBody>
      </p:sp>
      <p:sp>
        <p:nvSpPr>
          <p:cNvPr id="94" name="Text 66"/>
          <p:cNvSpPr/>
          <p:nvPr/>
        </p:nvSpPr>
        <p:spPr>
          <a:xfrm>
            <a:off x="7778055" y="2514600"/>
            <a:ext cx="3577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시간대, 요일, 지역 특성에 따른 이용 패턴의 차이 분석</a:t>
            </a:r>
            <a:endParaRPr lang="en-US" sz="1050" dirty="0"/>
          </a:p>
        </p:txBody>
      </p:sp>
      <p:sp>
        <p:nvSpPr>
          <p:cNvPr id="95" name="Text 67"/>
          <p:cNvSpPr/>
          <p:nvPr/>
        </p:nvSpPr>
        <p:spPr>
          <a:xfrm>
            <a:off x="7778055" y="2781300"/>
            <a:ext cx="35890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 시간대의 주거지와 업무지구 간 이동 패턴 분석</a:t>
            </a:r>
            <a:endParaRPr lang="en-US" sz="1050" dirty="0"/>
          </a:p>
        </p:txBody>
      </p:sp>
      <p:sp>
        <p:nvSpPr>
          <p:cNvPr id="96" name="Text 68"/>
          <p:cNvSpPr/>
          <p:nvPr/>
        </p:nvSpPr>
        <p:spPr>
          <a:xfrm>
            <a:off x="7825680" y="33528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인사이트</a:t>
            </a:r>
            <a:endParaRPr lang="en-US" sz="1200" dirty="0"/>
          </a:p>
        </p:txBody>
      </p:sp>
      <p:sp>
        <p:nvSpPr>
          <p:cNvPr id="97" name="Text 69"/>
          <p:cNvSpPr/>
          <p:nvPr/>
        </p:nvSpPr>
        <p:spPr>
          <a:xfrm>
            <a:off x="7844730" y="3657600"/>
            <a:ext cx="3211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평일: 통근/통학 등 필수적인 이동 수단으로 활용</a:t>
            </a:r>
            <a:endParaRPr lang="en-US" sz="1050" dirty="0"/>
          </a:p>
        </p:txBody>
      </p:sp>
      <p:sp>
        <p:nvSpPr>
          <p:cNvPr id="98" name="Text 70"/>
          <p:cNvSpPr/>
          <p:nvPr/>
        </p:nvSpPr>
        <p:spPr>
          <a:xfrm>
            <a:off x="7844730" y="3924300"/>
            <a:ext cx="3280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주말: 레저, 여가, 쇼핑 등 비필수적인 이동에 활용</a:t>
            </a:r>
            <a:endParaRPr lang="en-US" sz="1050" dirty="0"/>
          </a:p>
        </p:txBody>
      </p:sp>
      <p:sp>
        <p:nvSpPr>
          <p:cNvPr id="99" name="Text 71"/>
          <p:cNvSpPr/>
          <p:nvPr/>
        </p:nvSpPr>
        <p:spPr>
          <a:xfrm>
            <a:off x="7844730" y="41910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대여소의 자전거 고질적인 불균형 현상</a:t>
            </a:r>
            <a:endParaRPr lang="en-US" sz="1050" dirty="0"/>
          </a:p>
        </p:txBody>
      </p:sp>
      <p:sp>
        <p:nvSpPr>
          <p:cNvPr id="100" name="Text 72"/>
          <p:cNvSpPr/>
          <p:nvPr/>
        </p:nvSpPr>
        <p:spPr>
          <a:xfrm>
            <a:off x="7844730" y="4457700"/>
            <a:ext cx="2503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요인 및 계절성에 따른 수요 패턴</a:t>
            </a:r>
            <a:endParaRPr lang="en-US" sz="1050" dirty="0"/>
          </a:p>
        </p:txBody>
      </p:sp>
      <p:sp>
        <p:nvSpPr>
          <p:cNvPr id="101" name="Text 73"/>
          <p:cNvSpPr/>
          <p:nvPr/>
        </p:nvSpPr>
        <p:spPr>
          <a:xfrm>
            <a:off x="11296650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4/5</a:t>
            </a:r>
            <a:endParaRPr lang="en-US" sz="1050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DF805B61-B1C5-4E87-A6F1-10C67BBF1908}"/>
              </a:ext>
            </a:extLst>
          </p:cNvPr>
          <p:cNvSpPr/>
          <p:nvPr/>
        </p:nvSpPr>
        <p:spPr>
          <a:xfrm>
            <a:off x="3486150" y="6353175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EE55E8F-6A6D-4A64-8990-BD58FFDB51E7}"/>
              </a:ext>
            </a:extLst>
          </p:cNvPr>
          <p:cNvSpPr/>
          <p:nvPr/>
        </p:nvSpPr>
        <p:spPr>
          <a:xfrm>
            <a:off x="3486150" y="6648450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6D8AC0D5-A35F-420D-B8D9-1C57ACA28C6F}"/>
              </a:ext>
            </a:extLst>
          </p:cNvPr>
          <p:cNvSpPr/>
          <p:nvPr/>
        </p:nvSpPr>
        <p:spPr>
          <a:xfrm>
            <a:off x="3486150" y="6496050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6800"/>
            <a:ext cx="5600700" cy="160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95400"/>
            <a:ext cx="17145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76400"/>
            <a:ext cx="1714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9812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286000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895600"/>
            <a:ext cx="5600700" cy="3390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242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467100"/>
            <a:ext cx="52197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58140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7052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381500"/>
            <a:ext cx="52197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495800"/>
            <a:ext cx="3048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6196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295900"/>
            <a:ext cx="5219700" cy="800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410200"/>
            <a:ext cx="3048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534025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5075" y="5514975"/>
            <a:ext cx="5600700" cy="914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66346" y="5572126"/>
            <a:ext cx="190500" cy="2667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서울시 따릉이 데이터 활용 방안</a:t>
            </a:r>
            <a:endParaRPr lang="en-US" sz="2250" dirty="0"/>
          </a:p>
        </p:txBody>
      </p:sp>
      <p:sp>
        <p:nvSpPr>
          <p:cNvPr id="42" name="Text 1"/>
          <p:cNvSpPr/>
          <p:nvPr/>
        </p:nvSpPr>
        <p:spPr>
          <a:xfrm>
            <a:off x="857250" y="12573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따릉이 데이터 소개</a:t>
            </a:r>
            <a:endParaRPr lang="en-US" sz="1500" dirty="0"/>
          </a:p>
        </p:txBody>
      </p:sp>
      <p:sp>
        <p:nvSpPr>
          <p:cNvPr id="43" name="Text 2"/>
          <p:cNvSpPr/>
          <p:nvPr/>
        </p:nvSpPr>
        <p:spPr>
          <a:xfrm>
            <a:off x="819150" y="1638300"/>
            <a:ext cx="47777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공공데이터 포털에서 제공하는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따릉이 대여 이력 데이터</a:t>
            </a:r>
            <a:endParaRPr lang="en-US" sz="1200" dirty="0"/>
          </a:p>
        </p:txBody>
      </p:sp>
      <p:sp>
        <p:nvSpPr>
          <p:cNvPr id="44" name="Text 3"/>
          <p:cNvSpPr/>
          <p:nvPr/>
        </p:nvSpPr>
        <p:spPr>
          <a:xfrm>
            <a:off x="762000" y="1943100"/>
            <a:ext cx="3577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대여소별, 시간대별 대여량 및 반납량 정보 포함</a:t>
            </a:r>
            <a:endParaRPr lang="en-US" sz="1200" dirty="0"/>
          </a:p>
        </p:txBody>
      </p:sp>
      <p:sp>
        <p:nvSpPr>
          <p:cNvPr id="45" name="Text 4"/>
          <p:cNvSpPr/>
          <p:nvPr/>
        </p:nvSpPr>
        <p:spPr>
          <a:xfrm>
            <a:off x="838200" y="2247900"/>
            <a:ext cx="4514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날씨, 온도, 습도 등의 메타데이터 필요시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기상청 API와 결합</a:t>
            </a:r>
            <a:endParaRPr lang="en-US" sz="1200" dirty="0"/>
          </a:p>
        </p:txBody>
      </p:sp>
      <p:sp>
        <p:nvSpPr>
          <p:cNvPr id="46" name="Text 5"/>
          <p:cNvSpPr/>
          <p:nvPr/>
        </p:nvSpPr>
        <p:spPr>
          <a:xfrm>
            <a:off x="876300" y="3086100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데이터셋과 따릉이 데이터의 통합 전략</a:t>
            </a:r>
            <a:endParaRPr lang="en-US" sz="1500" dirty="0"/>
          </a:p>
        </p:txBody>
      </p:sp>
      <p:sp>
        <p:nvSpPr>
          <p:cNvPr id="47" name="Text 6"/>
          <p:cNvSpPr/>
          <p:nvPr/>
        </p:nvSpPr>
        <p:spPr>
          <a:xfrm>
            <a:off x="1066800" y="3657600"/>
            <a:ext cx="2103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특성(Feature) 일치화 작업</a:t>
            </a:r>
            <a:endParaRPr lang="en-US" sz="1200" dirty="0"/>
          </a:p>
        </p:txBody>
      </p:sp>
      <p:sp>
        <p:nvSpPr>
          <p:cNvPr id="48" name="Text 7"/>
          <p:cNvSpPr/>
          <p:nvPr/>
        </p:nvSpPr>
        <p:spPr>
          <a:xfrm>
            <a:off x="1028700" y="3962400"/>
            <a:ext cx="4648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데이터셋의 변수 매핑 및 일관성 확보</a:t>
            </a:r>
            <a:endParaRPr lang="en-US" sz="1050" dirty="0"/>
          </a:p>
        </p:txBody>
      </p:sp>
      <p:sp>
        <p:nvSpPr>
          <p:cNvPr id="49" name="Text 8"/>
          <p:cNvSpPr/>
          <p:nvPr/>
        </p:nvSpPr>
        <p:spPr>
          <a:xfrm>
            <a:off x="1066800" y="4572000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단위 표준화</a:t>
            </a:r>
            <a:endParaRPr lang="en-US" sz="1200" dirty="0"/>
          </a:p>
        </p:txBody>
      </p:sp>
      <p:sp>
        <p:nvSpPr>
          <p:cNvPr id="50" name="Text 9"/>
          <p:cNvSpPr/>
          <p:nvPr/>
        </p:nvSpPr>
        <p:spPr>
          <a:xfrm>
            <a:off x="1028700" y="4876800"/>
            <a:ext cx="4648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시간별/일별 데이터 형식 통일</a:t>
            </a:r>
            <a:endParaRPr lang="en-US" sz="1050" dirty="0"/>
          </a:p>
        </p:txBody>
      </p:sp>
      <p:sp>
        <p:nvSpPr>
          <p:cNvPr id="51" name="Text 10"/>
          <p:cNvSpPr/>
          <p:nvPr/>
        </p:nvSpPr>
        <p:spPr>
          <a:xfrm>
            <a:off x="1066800" y="5486400"/>
            <a:ext cx="20688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결측값 및 이상치 처리 방안</a:t>
            </a:r>
            <a:endParaRPr lang="en-US" sz="1200" dirty="0"/>
          </a:p>
        </p:txBody>
      </p:sp>
      <p:sp>
        <p:nvSpPr>
          <p:cNvPr id="52" name="Text 11"/>
          <p:cNvSpPr/>
          <p:nvPr/>
        </p:nvSpPr>
        <p:spPr>
          <a:xfrm>
            <a:off x="1028700" y="5791200"/>
            <a:ext cx="4648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 확보를 위한 전처리 규칙 수립</a:t>
            </a:r>
            <a:endParaRPr lang="en-US" sz="1050" dirty="0"/>
          </a:p>
        </p:txBody>
      </p:sp>
      <p:sp>
        <p:nvSpPr>
          <p:cNvPr id="69" name="Text 28"/>
          <p:cNvSpPr/>
          <p:nvPr/>
        </p:nvSpPr>
        <p:spPr>
          <a:xfrm>
            <a:off x="7164704" y="5924551"/>
            <a:ext cx="3599022" cy="1407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/>
              <a:t>UCI</a:t>
            </a:r>
            <a:r>
              <a:rPr lang="ko-KR" altLang="en-US" sz="1050" dirty="0"/>
              <a:t> </a:t>
            </a:r>
            <a:r>
              <a:rPr lang="en-US" altLang="ko-KR" sz="1050" dirty="0"/>
              <a:t>Bike</a:t>
            </a:r>
            <a:r>
              <a:rPr lang="ko-KR" altLang="en-US" sz="1050" dirty="0"/>
              <a:t> </a:t>
            </a:r>
            <a:r>
              <a:rPr lang="en-US" altLang="ko-KR" sz="1050" dirty="0"/>
              <a:t>Sharing</a:t>
            </a:r>
            <a:r>
              <a:rPr lang="ko-KR" altLang="en-US" sz="1050" dirty="0"/>
              <a:t> </a:t>
            </a:r>
            <a:r>
              <a:rPr lang="en-US" altLang="ko-KR" sz="1050" dirty="0"/>
              <a:t>Dataset </a:t>
            </a:r>
            <a:r>
              <a:rPr lang="ko-KR" altLang="en-US" sz="1050" dirty="0"/>
              <a:t>기반 모델의 일반화 성능 및 현지화 </a:t>
            </a:r>
            <a:r>
              <a:rPr lang="ko-KR" altLang="en-US" sz="1050" dirty="0" smtClean="0"/>
              <a:t>그리고 </a:t>
            </a:r>
            <a:r>
              <a:rPr lang="ko-KR" altLang="en-US" sz="1050" dirty="0"/>
              <a:t>도시 별 패턴 차이 분석 </a:t>
            </a:r>
            <a:endParaRPr lang="en-US" sz="1050" dirty="0"/>
          </a:p>
        </p:txBody>
      </p:sp>
      <p:sp>
        <p:nvSpPr>
          <p:cNvPr id="70" name="Text 29"/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5/5</a:t>
            </a:r>
            <a:endParaRPr lang="en-US" sz="1050" dirty="0"/>
          </a:p>
        </p:txBody>
      </p:sp>
      <p:pic>
        <p:nvPicPr>
          <p:cNvPr id="57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1066800"/>
            <a:ext cx="5600700" cy="3019425"/>
          </a:xfrm>
          <a:prstGeom prst="rect">
            <a:avLst/>
          </a:prstGeom>
        </p:spPr>
      </p:pic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1295400"/>
            <a:ext cx="238125" cy="190500"/>
          </a:xfrm>
          <a:prstGeom prst="rect">
            <a:avLst/>
          </a:prstGeom>
        </p:spPr>
      </p:pic>
      <p:pic>
        <p:nvPicPr>
          <p:cNvPr id="59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1676400"/>
            <a:ext cx="304800" cy="381000"/>
          </a:xfrm>
          <a:prstGeom prst="rect">
            <a:avLst/>
          </a:prstGeom>
        </p:spPr>
      </p:pic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1800225"/>
            <a:ext cx="152400" cy="152400"/>
          </a:xfrm>
          <a:prstGeom prst="rect">
            <a:avLst/>
          </a:prstGeom>
        </p:spPr>
      </p:pic>
      <p:pic>
        <p:nvPicPr>
          <p:cNvPr id="61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2524125"/>
            <a:ext cx="304800" cy="381000"/>
          </a:xfrm>
          <a:prstGeom prst="rect">
            <a:avLst/>
          </a:prstGeom>
        </p:spPr>
      </p:pic>
      <p:pic>
        <p:nvPicPr>
          <p:cNvPr id="63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2647950"/>
            <a:ext cx="152400" cy="152400"/>
          </a:xfrm>
          <a:prstGeom prst="rect">
            <a:avLst/>
          </a:prstGeom>
        </p:spPr>
      </p:pic>
      <p:pic>
        <p:nvPicPr>
          <p:cNvPr id="64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3429000"/>
            <a:ext cx="342900" cy="381000"/>
          </a:xfrm>
          <a:prstGeom prst="rect">
            <a:avLst/>
          </a:prstGeom>
        </p:spPr>
      </p:pic>
      <p:pic>
        <p:nvPicPr>
          <p:cNvPr id="65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3552825"/>
            <a:ext cx="190500" cy="152400"/>
          </a:xfrm>
          <a:prstGeom prst="rect">
            <a:avLst/>
          </a:prstGeom>
        </p:spPr>
      </p:pic>
      <p:sp>
        <p:nvSpPr>
          <p:cNvPr id="66" name="Text 12"/>
          <p:cNvSpPr/>
          <p:nvPr/>
        </p:nvSpPr>
        <p:spPr>
          <a:xfrm>
            <a:off x="6753225" y="125730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따릉이 데이터의 세 가지 역할</a:t>
            </a:r>
            <a:endParaRPr lang="en-US" sz="1500" dirty="0"/>
          </a:p>
        </p:txBody>
      </p:sp>
      <p:sp>
        <p:nvSpPr>
          <p:cNvPr id="67" name="Text 13"/>
          <p:cNvSpPr/>
          <p:nvPr/>
        </p:nvSpPr>
        <p:spPr>
          <a:xfrm>
            <a:off x="6819900" y="163830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일반화 성능을 평가하는 테스트 데이터</a:t>
            </a:r>
            <a:endParaRPr lang="en-US" sz="1200" dirty="0"/>
          </a:p>
        </p:txBody>
      </p:sp>
      <p:sp>
        <p:nvSpPr>
          <p:cNvPr id="71" name="Text 15"/>
          <p:cNvSpPr/>
          <p:nvPr/>
        </p:nvSpPr>
        <p:spPr>
          <a:xfrm>
            <a:off x="6819900" y="1933575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 smtClean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</a:t>
            </a:r>
            <a:r>
              <a:rPr lang="en-US" sz="1050" dirty="0" smtClean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도시에만 특화된 모델인지, 아니면 어느 정도 범용적인 패턴을 학습했는지 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점검할 수 있습니다.</a:t>
            </a:r>
            <a:endParaRPr lang="en-US" sz="1050" dirty="0"/>
          </a:p>
        </p:txBody>
      </p:sp>
      <p:sp>
        <p:nvSpPr>
          <p:cNvPr id="72" name="Text 16"/>
          <p:cNvSpPr/>
          <p:nvPr/>
        </p:nvSpPr>
        <p:spPr>
          <a:xfrm>
            <a:off x="6819900" y="2486025"/>
            <a:ext cx="576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서울 환경에 맞게 적응시키는 Fine-tuning 데이터</a:t>
            </a:r>
            <a:endParaRPr lang="en-US" sz="1200" dirty="0"/>
          </a:p>
        </p:txBody>
      </p:sp>
      <p:sp>
        <p:nvSpPr>
          <p:cNvPr id="74" name="Text 18"/>
          <p:cNvSpPr/>
          <p:nvPr/>
        </p:nvSpPr>
        <p:spPr>
          <a:xfrm>
            <a:off x="6819900" y="2771775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서울의 출퇴근 시간대 특징, 계절별 이용 차이, 기상 조건에 따른 민감도 등을 반영한 </a:t>
            </a: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맞춤형 모델 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전이 학습을 수행할 수 있습니다.</a:t>
            </a:r>
            <a:endParaRPr lang="en-US" sz="1050" dirty="0"/>
          </a:p>
        </p:txBody>
      </p:sp>
      <p:sp>
        <p:nvSpPr>
          <p:cNvPr id="75" name="Text 19"/>
          <p:cNvSpPr/>
          <p:nvPr/>
        </p:nvSpPr>
        <p:spPr>
          <a:xfrm>
            <a:off x="6858000" y="33909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간 패턴 비교를 위한 분석 데이터</a:t>
            </a:r>
            <a:endParaRPr lang="en-US" sz="1200" dirty="0"/>
          </a:p>
        </p:txBody>
      </p:sp>
      <p:sp>
        <p:nvSpPr>
          <p:cNvPr id="77" name="Text 21"/>
          <p:cNvSpPr/>
          <p:nvPr/>
        </p:nvSpPr>
        <p:spPr>
          <a:xfrm>
            <a:off x="6858000" y="3705225"/>
            <a:ext cx="476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 smtClean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</a:t>
            </a:r>
            <a:r>
              <a:rPr lang="en-US" sz="1050" dirty="0" smtClean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예측을 넘어, 도시 구조·교통 수단·생활 패턴의 차이를 데이터로 설명 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데도 활용될 수 있습니다.</a:t>
            </a:r>
            <a:endParaRPr lang="en-US" sz="1050" dirty="0"/>
          </a:p>
        </p:txBody>
      </p:sp>
      <p:pic>
        <p:nvPicPr>
          <p:cNvPr id="78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15075" y="4286250"/>
            <a:ext cx="190500" cy="190500"/>
          </a:xfrm>
          <a:prstGeom prst="rect">
            <a:avLst/>
          </a:prstGeom>
        </p:spPr>
      </p:pic>
      <p:pic>
        <p:nvPicPr>
          <p:cNvPr id="83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29563" y="5219700"/>
            <a:ext cx="190500" cy="266700"/>
          </a:xfrm>
          <a:prstGeom prst="rect">
            <a:avLst/>
          </a:prstGeom>
        </p:spPr>
      </p:pic>
      <p:pic>
        <p:nvPicPr>
          <p:cNvPr id="87" name="Image 36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86888" y="5219700"/>
            <a:ext cx="171450" cy="266700"/>
          </a:xfrm>
          <a:prstGeom prst="rect">
            <a:avLst/>
          </a:prstGeom>
        </p:spPr>
      </p:pic>
      <p:sp>
        <p:nvSpPr>
          <p:cNvPr id="91" name="Text 22"/>
          <p:cNvSpPr/>
          <p:nvPr/>
        </p:nvSpPr>
        <p:spPr>
          <a:xfrm>
            <a:off x="6619875" y="4248150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확장성 및 데이터 활용 효과</a:t>
            </a:r>
            <a:endParaRPr lang="en-US" sz="1500" dirty="0"/>
          </a:p>
        </p:txBody>
      </p:sp>
      <p:pic>
        <p:nvPicPr>
          <p:cNvPr id="99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5075" y="4541308"/>
            <a:ext cx="5600700" cy="914400"/>
          </a:xfrm>
          <a:prstGeom prst="rect">
            <a:avLst/>
          </a:prstGeom>
        </p:spPr>
      </p:pic>
      <p:sp>
        <p:nvSpPr>
          <p:cNvPr id="92" name="Text 23"/>
          <p:cNvSpPr/>
          <p:nvPr/>
        </p:nvSpPr>
        <p:spPr>
          <a:xfrm>
            <a:off x="6964681" y="5086350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워싱턴 D.C.</a:t>
            </a:r>
            <a:endParaRPr lang="en-US" sz="1050" dirty="0"/>
          </a:p>
        </p:txBody>
      </p:sp>
      <p:sp>
        <p:nvSpPr>
          <p:cNvPr id="93" name="Text 24"/>
          <p:cNvSpPr/>
          <p:nvPr/>
        </p:nvSpPr>
        <p:spPr>
          <a:xfrm>
            <a:off x="7026593" y="5276850"/>
            <a:ext cx="6515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데이터</a:t>
            </a:r>
            <a:endParaRPr lang="en-US" sz="900" dirty="0"/>
          </a:p>
        </p:txBody>
      </p:sp>
      <p:sp>
        <p:nvSpPr>
          <p:cNvPr id="94" name="Text 25"/>
          <p:cNvSpPr/>
          <p:nvPr/>
        </p:nvSpPr>
        <p:spPr>
          <a:xfrm>
            <a:off x="8813006" y="5078412"/>
            <a:ext cx="297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</a:t>
            </a:r>
            <a:endParaRPr lang="en-US" sz="1050" dirty="0"/>
          </a:p>
        </p:txBody>
      </p:sp>
      <p:sp>
        <p:nvSpPr>
          <p:cNvPr id="95" name="Text 26"/>
          <p:cNvSpPr/>
          <p:nvPr/>
        </p:nvSpPr>
        <p:spPr>
          <a:xfrm>
            <a:off x="8608219" y="5268912"/>
            <a:ext cx="7886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따릉이 데이터</a:t>
            </a:r>
            <a:endParaRPr lang="en-US" sz="900" dirty="0"/>
          </a:p>
        </p:txBody>
      </p:sp>
      <p:sp>
        <p:nvSpPr>
          <p:cNvPr id="96" name="Text 27"/>
          <p:cNvSpPr/>
          <p:nvPr/>
        </p:nvSpPr>
        <p:spPr>
          <a:xfrm>
            <a:off x="10251281" y="508635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예측 모델</a:t>
            </a:r>
            <a:endParaRPr lang="en-US" sz="1050" dirty="0"/>
          </a:p>
        </p:txBody>
      </p:sp>
      <p:sp>
        <p:nvSpPr>
          <p:cNvPr id="97" name="Text 28"/>
          <p:cNvSpPr/>
          <p:nvPr/>
        </p:nvSpPr>
        <p:spPr>
          <a:xfrm>
            <a:off x="10146506" y="5276850"/>
            <a:ext cx="1234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도시 환경 적용</a:t>
            </a:r>
            <a:endParaRPr lang="en-US" sz="900" dirty="0"/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038499" y="4617720"/>
            <a:ext cx="430530" cy="430530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26239" y="4714834"/>
            <a:ext cx="362001" cy="590632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20449" y="4610100"/>
            <a:ext cx="599751" cy="459549"/>
          </a:xfrm>
          <a:prstGeom prst="rect">
            <a:avLst/>
          </a:prstGeom>
        </p:spPr>
      </p:pic>
      <p:pic>
        <p:nvPicPr>
          <p:cNvPr id="100" name="그림 9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33075" y="4767228"/>
            <a:ext cx="295316" cy="485843"/>
          </a:xfrm>
          <a:prstGeom prst="rect">
            <a:avLst/>
          </a:prstGeom>
        </p:spPr>
      </p:pic>
      <p:pic>
        <p:nvPicPr>
          <p:cNvPr id="101" name="그림 10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20778" y="4640648"/>
            <a:ext cx="485347" cy="4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47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58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75" y="1438275"/>
            <a:ext cx="85725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4048125"/>
            <a:ext cx="1524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743325"/>
            <a:ext cx="1524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3895725"/>
            <a:ext cx="1524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3590925"/>
            <a:ext cx="152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971925"/>
            <a:ext cx="152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743325"/>
            <a:ext cx="1524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5600" y="4048125"/>
            <a:ext cx="1524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4283" y="548693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13199" y="5469996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67048" y="5469996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01526" y="5469996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553414" y="2371725"/>
            <a:ext cx="70851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감사합니다</a:t>
            </a:r>
            <a:r>
              <a:rPr lang="en-US" altLang="ko-KR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2553414" y="2981325"/>
            <a:ext cx="70851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UCI Bike Sharing Dataset을 활용한 머신러닝 모델 개발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8962823" y="586793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선형회귀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9635843" y="5850996"/>
            <a:ext cx="7833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XGBoost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0255030" y="5850996"/>
            <a:ext cx="881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0966650" y="5850996"/>
            <a:ext cx="115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서울시 따릉이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831437" y="63246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Date: 2025-11-12</a:t>
            </a:r>
            <a:endParaRPr lang="en-US" sz="1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075FA99-1020-4236-B77C-A4214182138D}"/>
              </a:ext>
            </a:extLst>
          </p:cNvPr>
          <p:cNvSpPr/>
          <p:nvPr/>
        </p:nvSpPr>
        <p:spPr>
          <a:xfrm>
            <a:off x="9831436" y="61341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Team</a:t>
            </a:r>
            <a:r>
              <a:rPr lang="ko-KR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altLang="ko-KR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Open Mind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354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974</Words>
  <Application>Microsoft Office PowerPoint</Application>
  <PresentationFormat>와이드스크린</PresentationFormat>
  <Paragraphs>241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Noto Sans KR</vt:lpstr>
      <vt:lpstr>Noto Serif KR</vt:lpstr>
      <vt:lpstr>ui-sans-serif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30</cp:revision>
  <dcterms:created xsi:type="dcterms:W3CDTF">2025-11-12T13:07:29Z</dcterms:created>
  <dcterms:modified xsi:type="dcterms:W3CDTF">2025-11-13T08:28:51Z</dcterms:modified>
</cp:coreProperties>
</file>